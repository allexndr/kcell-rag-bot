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57" r:id="rId5"/>
    <p:sldId id="320" r:id="rId6"/>
    <p:sldId id="321" r:id="rId7"/>
    <p:sldId id="300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2D86"/>
    <a:srgbClr val="0083BE"/>
    <a:srgbClr val="00B48C"/>
    <a:srgbClr val="FF6319"/>
    <a:srgbClr val="C7C2BA"/>
    <a:srgbClr val="DC0451"/>
    <a:srgbClr val="F2F2F2"/>
    <a:srgbClr val="C41B79"/>
    <a:srgbClr val="F9DC00"/>
    <a:srgbClr val="BED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-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Светлый стиль 2 -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Светлый стиль 3 -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Средний стиль 1 -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Средний стиль 2 -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Средний стиль 3 - 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8" autoAdjust="0"/>
    <p:restoredTop sz="94307" autoAdjust="0"/>
  </p:normalViewPr>
  <p:slideViewPr>
    <p:cSldViewPr>
      <p:cViewPr varScale="1">
        <p:scale>
          <a:sx n="47" d="100"/>
          <a:sy n="47" d="100"/>
        </p:scale>
        <p:origin x="1483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14BF71-0A03-40A4-BD8D-9ECDAC572A5B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8FC2D2-A65D-4052-8164-9D83A4805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915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756E675-BAB6-4369-942E-E065B2C3CFD0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56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0DB4-D3DE-45E9-A5CB-B6E0D1B6D4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781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0DB4-D3DE-45E9-A5CB-B6E0D1B6D4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4502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0DB4-D3DE-45E9-A5CB-B6E0D1B6D4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6702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0DB4-D3DE-45E9-A5CB-B6E0D1B6D4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4972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0DB4-D3DE-45E9-A5CB-B6E0D1B6D4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5904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0DB4-D3DE-45E9-A5CB-B6E0D1B6D4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4059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0DB4-D3DE-45E9-A5CB-B6E0D1B6D4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9570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0DB4-D3DE-45E9-A5CB-B6E0D1B6D4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9925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0DB4-D3DE-45E9-A5CB-B6E0D1B6D4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073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0DB4-D3DE-45E9-A5CB-B6E0D1B6D4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8024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0DB4-D3DE-45E9-A5CB-B6E0D1B6D4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1709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tint val="80000"/>
                <a:satMod val="300000"/>
                <a:alpha val="97000"/>
              </a:schemeClr>
            </a:gs>
            <a:gs pos="100000">
              <a:schemeClr val="bg1">
                <a:shade val="30000"/>
                <a:satMod val="200000"/>
                <a:alpha val="2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50DB4-D3DE-45E9-A5CB-B6E0D1B6D4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8522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_Work\для Артема\prezentaciya\materials\Untitled-3-03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571481"/>
            <a:ext cx="4721475" cy="2497479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454226" y="843961"/>
            <a:ext cx="405586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5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Услуга «</a:t>
            </a:r>
            <a:r>
              <a:rPr lang="ru-RU" sz="35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Мультиномер</a:t>
            </a:r>
            <a:r>
              <a:rPr lang="ru-RU" sz="35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»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38120" y="2060848"/>
            <a:ext cx="4071966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ru-RU" sz="15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Для корпоративных клиентов</a:t>
            </a:r>
            <a:r>
              <a:rPr lang="en-US" sz="15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)</a:t>
            </a:r>
          </a:p>
        </p:txBody>
      </p:sp>
      <p:pic>
        <p:nvPicPr>
          <p:cNvPr id="7" name="Picture 62">
            <a:extLst>
              <a:ext uri="{FF2B5EF4-FFF2-40B4-BE49-F238E27FC236}">
                <a16:creationId xmlns:a16="http://schemas.microsoft.com/office/drawing/2014/main" id="{9CBB9F0A-D6BF-4278-B425-549CD87D82A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76" b="-4345"/>
          <a:stretch/>
        </p:blipFill>
        <p:spPr>
          <a:xfrm>
            <a:off x="7812360" y="116632"/>
            <a:ext cx="846663" cy="487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469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19" y="188640"/>
            <a:ext cx="7664153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dirty="0">
                <a:solidFill>
                  <a:srgbClr val="652D86"/>
                </a:solidFill>
                <a:latin typeface="Pragmatica Book Reg"/>
                <a:cs typeface="Pragmatica Book Reg"/>
              </a:rPr>
              <a:t>Услуга «</a:t>
            </a:r>
            <a:r>
              <a:rPr lang="ru-RU" sz="3500" dirty="0" err="1">
                <a:solidFill>
                  <a:srgbClr val="652D86"/>
                </a:solidFill>
                <a:latin typeface="Pragmatica Book Reg"/>
                <a:cs typeface="Pragmatica Book Reg"/>
              </a:rPr>
              <a:t>Мультиномер</a:t>
            </a:r>
            <a:r>
              <a:rPr lang="ru-RU" sz="3500" dirty="0">
                <a:solidFill>
                  <a:srgbClr val="652D86"/>
                </a:solidFill>
                <a:latin typeface="Pragmatica Book Reg"/>
                <a:cs typeface="Pragmatica Book Reg"/>
              </a:rPr>
              <a:t>»</a:t>
            </a:r>
            <a:endParaRPr lang="en-US" sz="3500" dirty="0">
              <a:solidFill>
                <a:srgbClr val="652D86"/>
              </a:solidFill>
              <a:latin typeface="Pragmatica Book Reg"/>
              <a:cs typeface="Pragmatica Book Reg"/>
            </a:endParaRPr>
          </a:p>
          <a:p>
            <a:r>
              <a:rPr lang="en-US" dirty="0">
                <a:solidFill>
                  <a:srgbClr val="652D86"/>
                </a:solidFill>
                <a:latin typeface="Pragmatica Book Reg"/>
                <a:cs typeface="Pragmatica Book Reg"/>
              </a:rPr>
              <a:t>(</a:t>
            </a:r>
            <a:r>
              <a:rPr lang="ru-RU" dirty="0" err="1">
                <a:solidFill>
                  <a:srgbClr val="652D86"/>
                </a:solidFill>
                <a:latin typeface="Pragmatica Book Reg"/>
                <a:cs typeface="Pragmatica Book Reg"/>
              </a:rPr>
              <a:t>Мультисессионные</a:t>
            </a:r>
            <a:r>
              <a:rPr lang="ru-RU" dirty="0">
                <a:solidFill>
                  <a:srgbClr val="652D86"/>
                </a:solidFill>
                <a:latin typeface="Pragmatica Book Reg"/>
                <a:cs typeface="Pragmatica Book Reg"/>
              </a:rPr>
              <a:t> звонки с </a:t>
            </a:r>
            <a:r>
              <a:rPr lang="en-US" dirty="0">
                <a:solidFill>
                  <a:srgbClr val="652D86"/>
                </a:solidFill>
                <a:latin typeface="Pragmatica Book Reg"/>
                <a:cs typeface="Pragmatica Book Reg"/>
              </a:rPr>
              <a:t>GSM </a:t>
            </a:r>
            <a:r>
              <a:rPr lang="ru-RU" dirty="0">
                <a:solidFill>
                  <a:srgbClr val="652D86"/>
                </a:solidFill>
                <a:latin typeface="Pragmatica Book Reg"/>
                <a:cs typeface="Pragmatica Book Reg"/>
              </a:rPr>
              <a:t>номера</a:t>
            </a:r>
            <a:r>
              <a:rPr lang="en-US" dirty="0">
                <a:solidFill>
                  <a:srgbClr val="652D86"/>
                </a:solidFill>
                <a:latin typeface="Pragmatica Book Reg"/>
                <a:cs typeface="Pragmatica Book Reg"/>
              </a:rPr>
              <a:t>)</a:t>
            </a:r>
            <a:endParaRPr lang="ru-RU" dirty="0">
              <a:solidFill>
                <a:srgbClr val="652D86"/>
              </a:solidFill>
              <a:latin typeface="Pragmatica Book Reg"/>
              <a:cs typeface="Pragmatica Book Reg"/>
            </a:endParaRPr>
          </a:p>
        </p:txBody>
      </p:sp>
      <p:sp>
        <p:nvSpPr>
          <p:cNvPr id="3" name="Прямоугольник 1"/>
          <p:cNvSpPr/>
          <p:nvPr/>
        </p:nvSpPr>
        <p:spPr>
          <a:xfrm>
            <a:off x="251520" y="1242626"/>
            <a:ext cx="8568952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Дополнительная услуга, с помощью которой, при исходящем звонке определяется любой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GSM-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номер, закрепленный за Заказчиком.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Услуга интересна для тех компаний, который используют красивый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GSM-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номер, который разрекламирован, широко используется в рекламных акциях и известен клиентам Заказчика.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3586" y="2857867"/>
            <a:ext cx="838287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ПРЕИМУЩЕСТВА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Выделение необходимого количества сессий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Удобство использования – несколько человек могут использовать один красивый номер для исходящих звонков</a:t>
            </a:r>
          </a:p>
          <a:p>
            <a:pPr>
              <a:spcBef>
                <a:spcPts val="1200"/>
              </a:spcBef>
            </a:pP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ТРЕБОВАНИЯ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АТС, подключенная к АО </a:t>
            </a:r>
            <a:r>
              <a:rPr lang="ru-RU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Кселл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(по Е1 или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SIP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Возможность использование 6-значного идентификационного номера (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ID)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GSM-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номер должен быть </a:t>
            </a:r>
            <a:r>
              <a:rPr lang="ru-RU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Кселл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зарегистрирован на одну компанию.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20"/>
          <p:cNvGrpSpPr/>
          <p:nvPr/>
        </p:nvGrpSpPr>
        <p:grpSpPr>
          <a:xfrm>
            <a:off x="7295802" y="5644522"/>
            <a:ext cx="1391732" cy="787096"/>
            <a:chOff x="1187624" y="4869160"/>
            <a:chExt cx="788268" cy="500236"/>
          </a:xfrm>
        </p:grpSpPr>
        <p:pic>
          <p:nvPicPr>
            <p:cNvPr id="6" name="Picture 18" descr="007.pdf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5656" y="4869160"/>
              <a:ext cx="500236" cy="500236"/>
            </a:xfrm>
            <a:prstGeom prst="rect">
              <a:avLst/>
            </a:prstGeom>
          </p:spPr>
        </p:pic>
        <p:pic>
          <p:nvPicPr>
            <p:cNvPr id="7" name="Picture 156" descr="007.pdf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31640" y="4869160"/>
              <a:ext cx="500236" cy="500236"/>
            </a:xfrm>
            <a:prstGeom prst="rect">
              <a:avLst/>
            </a:prstGeom>
          </p:spPr>
        </p:pic>
        <p:pic>
          <p:nvPicPr>
            <p:cNvPr id="8" name="Picture 157" descr="007.pdf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7624" y="4869160"/>
              <a:ext cx="500236" cy="500236"/>
            </a:xfrm>
            <a:prstGeom prst="rect">
              <a:avLst/>
            </a:prstGeom>
          </p:spPr>
        </p:pic>
      </p:grpSp>
      <p:sp>
        <p:nvSpPr>
          <p:cNvPr id="9" name="Стрелка вправо 36"/>
          <p:cNvSpPr/>
          <p:nvPr/>
        </p:nvSpPr>
        <p:spPr>
          <a:xfrm>
            <a:off x="1480355" y="5991524"/>
            <a:ext cx="1944216" cy="461812"/>
          </a:xfrm>
          <a:prstGeom prst="rightArrow">
            <a:avLst/>
          </a:prstGeom>
          <a:noFill/>
          <a:ln>
            <a:solidFill>
              <a:srgbClr val="652D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38"/>
          <p:cNvSpPr/>
          <p:nvPr/>
        </p:nvSpPr>
        <p:spPr>
          <a:xfrm>
            <a:off x="1960279" y="5476726"/>
            <a:ext cx="8739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ID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+99976</a:t>
            </a:r>
          </a:p>
        </p:txBody>
      </p:sp>
      <p:grpSp>
        <p:nvGrpSpPr>
          <p:cNvPr id="14" name="Группа 49"/>
          <p:cNvGrpSpPr/>
          <p:nvPr/>
        </p:nvGrpSpPr>
        <p:grpSpPr>
          <a:xfrm>
            <a:off x="335291" y="5792365"/>
            <a:ext cx="1155380" cy="948749"/>
            <a:chOff x="313108" y="1510243"/>
            <a:chExt cx="1155380" cy="948749"/>
          </a:xfrm>
        </p:grpSpPr>
        <p:sp>
          <p:nvSpPr>
            <p:cNvPr id="15" name="Скругленный прямоугольник 50"/>
            <p:cNvSpPr/>
            <p:nvPr/>
          </p:nvSpPr>
          <p:spPr>
            <a:xfrm>
              <a:off x="577429" y="1510243"/>
              <a:ext cx="610195" cy="610195"/>
            </a:xfrm>
            <a:prstGeom prst="roundRect">
              <a:avLst>
                <a:gd name="adj" fmla="val 16670"/>
              </a:avLst>
            </a:prstGeom>
            <a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Прямоугольник 51"/>
            <p:cNvSpPr/>
            <p:nvPr/>
          </p:nvSpPr>
          <p:spPr>
            <a:xfrm>
              <a:off x="313108" y="2120438"/>
              <a:ext cx="115538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Call-</a:t>
              </a:r>
              <a:r>
                <a:rPr lang="ru-RU" sz="1600" dirty="0">
                  <a:latin typeface="Arial" panose="020B0604020202020204" pitchFamily="34" charset="0"/>
                  <a:cs typeface="Arial" panose="020B0604020202020204" pitchFamily="34" charset="0"/>
                </a:rPr>
                <a:t>центр</a:t>
              </a:r>
            </a:p>
          </p:txBody>
        </p:sp>
      </p:grpSp>
      <p:sp>
        <p:nvSpPr>
          <p:cNvPr id="17" name="Прямоугольник 52"/>
          <p:cNvSpPr/>
          <p:nvPr/>
        </p:nvSpPr>
        <p:spPr>
          <a:xfrm>
            <a:off x="7490565" y="6315395"/>
            <a:ext cx="101021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Клиенты</a:t>
            </a:r>
          </a:p>
        </p:txBody>
      </p:sp>
      <p:sp>
        <p:nvSpPr>
          <p:cNvPr id="18" name="Прямоугольник 53"/>
          <p:cNvSpPr/>
          <p:nvPr/>
        </p:nvSpPr>
        <p:spPr>
          <a:xfrm>
            <a:off x="5118647" y="5559703"/>
            <a:ext cx="214392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Исходящий номер</a:t>
            </a:r>
          </a:p>
          <a:p>
            <a:pPr algn="ctr"/>
            <a:r>
              <a:rPr lang="ru-RU" sz="1600" dirty="0">
                <a:solidFill>
                  <a:srgbClr val="FF63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+7 701 777 77 11</a:t>
            </a:r>
          </a:p>
        </p:txBody>
      </p:sp>
      <p:pic>
        <p:nvPicPr>
          <p:cNvPr id="22" name="Picture 1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8107" y="5774296"/>
            <a:ext cx="820345" cy="64633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052675" y="6484672"/>
            <a:ext cx="7549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Кселл</a:t>
            </a:r>
          </a:p>
        </p:txBody>
      </p:sp>
      <p:sp>
        <p:nvSpPr>
          <p:cNvPr id="19" name="Стрелка вправо 36">
            <a:extLst>
              <a:ext uri="{FF2B5EF4-FFF2-40B4-BE49-F238E27FC236}">
                <a16:creationId xmlns:a16="http://schemas.microsoft.com/office/drawing/2014/main" id="{267FE5CB-D076-4CA3-9934-B8FBF5D1754F}"/>
              </a:ext>
            </a:extLst>
          </p:cNvPr>
          <p:cNvSpPr/>
          <p:nvPr/>
        </p:nvSpPr>
        <p:spPr>
          <a:xfrm>
            <a:off x="5292080" y="5991524"/>
            <a:ext cx="1944216" cy="461812"/>
          </a:xfrm>
          <a:prstGeom prst="rightArrow">
            <a:avLst/>
          </a:prstGeom>
          <a:noFill/>
          <a:ln>
            <a:solidFill>
              <a:srgbClr val="652D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1" name="Picture 62">
            <a:extLst>
              <a:ext uri="{FF2B5EF4-FFF2-40B4-BE49-F238E27FC236}">
                <a16:creationId xmlns:a16="http://schemas.microsoft.com/office/drawing/2014/main" id="{0DFBB3E6-025A-4D91-9CDD-6F1F242900E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76" b="-4345"/>
          <a:stretch/>
        </p:blipFill>
        <p:spPr>
          <a:xfrm>
            <a:off x="7812360" y="116632"/>
            <a:ext cx="846663" cy="487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27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19" y="188640"/>
            <a:ext cx="7664153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dirty="0">
                <a:solidFill>
                  <a:srgbClr val="652D86"/>
                </a:solidFill>
                <a:latin typeface="Pragmatica Book Reg"/>
                <a:cs typeface="Pragmatica Book Reg"/>
              </a:rPr>
              <a:t>Услуга «</a:t>
            </a:r>
            <a:r>
              <a:rPr lang="ru-RU" sz="3500" dirty="0" err="1">
                <a:solidFill>
                  <a:srgbClr val="652D86"/>
                </a:solidFill>
                <a:latin typeface="Pragmatica Book Reg"/>
                <a:cs typeface="Pragmatica Book Reg"/>
              </a:rPr>
              <a:t>Мультиномер</a:t>
            </a:r>
            <a:r>
              <a:rPr lang="ru-RU" sz="3500" dirty="0">
                <a:solidFill>
                  <a:srgbClr val="652D86"/>
                </a:solidFill>
                <a:latin typeface="Pragmatica Book Reg"/>
                <a:cs typeface="Pragmatica Book Reg"/>
              </a:rPr>
              <a:t>»</a:t>
            </a:r>
            <a:endParaRPr lang="en-US" sz="3500" dirty="0">
              <a:solidFill>
                <a:srgbClr val="652D86"/>
              </a:solidFill>
              <a:latin typeface="Pragmatica Book Reg"/>
              <a:cs typeface="Pragmatica Book Reg"/>
            </a:endParaRPr>
          </a:p>
          <a:p>
            <a:endParaRPr lang="ru-RU" dirty="0">
              <a:solidFill>
                <a:srgbClr val="652D86"/>
              </a:solidFill>
              <a:latin typeface="Pragmatica Book Reg"/>
              <a:cs typeface="Pragmatica Book Reg"/>
            </a:endParaRPr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728742"/>
              </p:ext>
            </p:extLst>
          </p:nvPr>
        </p:nvGraphicFramePr>
        <p:xfrm>
          <a:off x="323526" y="3444062"/>
          <a:ext cx="8229600" cy="29458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99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6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34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5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Исходящие звонки*: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5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Стоимость за 1 минуту,  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5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тенге с НДС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5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Шаг тарификации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652D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5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Внутри сети Kcell, Activ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согласно ТП по услуге Бизнес телефония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5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сек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5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Внутри корпоративной группы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согласно ТП по услуге Бизнес телефония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5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сек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5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 других операторов РК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согласно ТП по услуге Бизнес телефония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5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сек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5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 городские номера РК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согласно ТП по услуге Бизнес телефония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5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сек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23526" y="1262370"/>
            <a:ext cx="684076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Абонентская плата за использование одного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GSM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-номера</a:t>
            </a:r>
          </a:p>
          <a:p>
            <a:r>
              <a:rPr lang="ru-RU" sz="7000" dirty="0">
                <a:solidFill>
                  <a:srgbClr val="652D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15 000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тг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мес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с НДС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23526" y="3140968"/>
            <a:ext cx="81516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Тарификация исходящих звонков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23527" y="6423139"/>
            <a:ext cx="309634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доступ на международные направления закрыт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62">
            <a:extLst>
              <a:ext uri="{FF2B5EF4-FFF2-40B4-BE49-F238E27FC236}">
                <a16:creationId xmlns:a16="http://schemas.microsoft.com/office/drawing/2014/main" id="{3C150589-41D7-4A28-83AB-74AECB9F181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76" b="-4345"/>
          <a:stretch/>
        </p:blipFill>
        <p:spPr>
          <a:xfrm>
            <a:off x="7812360" y="116632"/>
            <a:ext cx="846663" cy="487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304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E:\_Work\для Артема\prezentaciya\materials\Untitled-3-03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71480"/>
            <a:ext cx="4283968" cy="1876211"/>
          </a:xfrm>
          <a:prstGeom prst="rect">
            <a:avLst/>
          </a:prstGeom>
          <a:noFill/>
        </p:spPr>
      </p:pic>
      <p:sp>
        <p:nvSpPr>
          <p:cNvPr id="19" name="Прямоугольник 18"/>
          <p:cNvSpPr/>
          <p:nvPr/>
        </p:nvSpPr>
        <p:spPr>
          <a:xfrm>
            <a:off x="454226" y="843961"/>
            <a:ext cx="405586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5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Спасибо за внимание</a:t>
            </a:r>
          </a:p>
        </p:txBody>
      </p:sp>
      <p:pic>
        <p:nvPicPr>
          <p:cNvPr id="6" name="Picture 62">
            <a:extLst>
              <a:ext uri="{FF2B5EF4-FFF2-40B4-BE49-F238E27FC236}">
                <a16:creationId xmlns:a16="http://schemas.microsoft.com/office/drawing/2014/main" id="{7B592BCB-54AF-49B6-A96A-FEEF37BBF43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76" b="-4345"/>
          <a:stretch/>
        </p:blipFill>
        <p:spPr>
          <a:xfrm>
            <a:off x="7812360" y="116632"/>
            <a:ext cx="846663" cy="487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041420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BB748690335E3F45B6D32F35E393220A" ma:contentTypeVersion="0" ma:contentTypeDescription="Создание документа." ma:contentTypeScope="" ma:versionID="79695b7229812c3da6832a15d046d42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d3e22c7cd2c031952bb0ace1fddabb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0230F0C-F19E-4E05-9375-AFB456232AA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E75C47E-CB22-4C3A-80AE-C5FC540D324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91C08AA-5462-407E-88C8-AE2CF7DC8BF4}">
  <ds:schemaRefs>
    <ds:schemaRef ds:uri="http://schemas.openxmlformats.org/package/2006/metadata/core-properties"/>
    <ds:schemaRef ds:uri="http://purl.org/dc/dcmitype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12299</TotalTime>
  <Words>221</Words>
  <Application>Microsoft Office PowerPoint</Application>
  <PresentationFormat>Экран (4:3)</PresentationFormat>
  <Paragraphs>44</Paragraphs>
  <Slides>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Pragmatica Book Reg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Maxim Ten</dc:creator>
  <cp:lastModifiedBy>Alexandr Murdassov</cp:lastModifiedBy>
  <cp:revision>451</cp:revision>
  <dcterms:created xsi:type="dcterms:W3CDTF">2014-03-06T12:21:13Z</dcterms:created>
  <dcterms:modified xsi:type="dcterms:W3CDTF">2025-12-02T08:02:54Z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0x010100BB748690335E3F45B6D32F35E393220A</vt:lpwstr>
  </property>
  <property fmtid="{D5CDD505-2E9C-101B-9397-08002B2CF9AE}" pid="3" name="MSIP_Label_9cdd97af-22dc-49fa-ac47-e24224ce56c4_Enabled">
    <vt:lpwstr>true</vt:lpwstr>
  </property>
  <property fmtid="{D5CDD505-2E9C-101B-9397-08002B2CF9AE}" pid="4" name="MSIP_Label_9cdd97af-22dc-49fa-ac47-e24224ce56c4_SetDate">
    <vt:lpwstr>2025-12-02T08:02:48Z</vt:lpwstr>
  </property>
  <property fmtid="{D5CDD505-2E9C-101B-9397-08002B2CF9AE}" pid="5" name="MSIP_Label_9cdd97af-22dc-49fa-ac47-e24224ce56c4_Method">
    <vt:lpwstr>Standard</vt:lpwstr>
  </property>
  <property fmtid="{D5CDD505-2E9C-101B-9397-08002B2CF9AE}" pid="6" name="MSIP_Label_9cdd97af-22dc-49fa-ac47-e24224ce56c4_Name">
    <vt:lpwstr>General</vt:lpwstr>
  </property>
  <property fmtid="{D5CDD505-2E9C-101B-9397-08002B2CF9AE}" pid="7" name="MSIP_Label_9cdd97af-22dc-49fa-ac47-e24224ce56c4_SiteId">
    <vt:lpwstr>41149801-8e93-4eae-a438-1ff037fd4bdc</vt:lpwstr>
  </property>
  <property fmtid="{D5CDD505-2E9C-101B-9397-08002B2CF9AE}" pid="8" name="MSIP_Label_9cdd97af-22dc-49fa-ac47-e24224ce56c4_ActionId">
    <vt:lpwstr>7a733c55-963d-4b03-8f85-e725a2a05226</vt:lpwstr>
  </property>
  <property fmtid="{D5CDD505-2E9C-101B-9397-08002B2CF9AE}" pid="9" name="MSIP_Label_9cdd97af-22dc-49fa-ac47-e24224ce56c4_ContentBits">
    <vt:lpwstr>0</vt:lpwstr>
  </property>
</Properties>
</file>
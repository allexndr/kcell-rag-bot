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0"/>
  </p:notesMasterIdLst>
  <p:sldIdLst>
    <p:sldId id="256" r:id="rId5"/>
    <p:sldId id="257" r:id="rId6"/>
    <p:sldId id="280" r:id="rId7"/>
    <p:sldId id="301" r:id="rId8"/>
    <p:sldId id="289" r:id="rId9"/>
    <p:sldId id="313" r:id="rId10"/>
    <p:sldId id="294" r:id="rId11"/>
    <p:sldId id="281" r:id="rId12"/>
    <p:sldId id="302" r:id="rId13"/>
    <p:sldId id="287" r:id="rId14"/>
    <p:sldId id="295" r:id="rId15"/>
    <p:sldId id="282" r:id="rId16"/>
    <p:sldId id="303" r:id="rId17"/>
    <p:sldId id="304" r:id="rId18"/>
    <p:sldId id="305" r:id="rId19"/>
    <p:sldId id="288" r:id="rId20"/>
    <p:sldId id="296" r:id="rId21"/>
    <p:sldId id="284" r:id="rId22"/>
    <p:sldId id="307" r:id="rId23"/>
    <p:sldId id="306" r:id="rId24"/>
    <p:sldId id="308" r:id="rId25"/>
    <p:sldId id="309" r:id="rId26"/>
    <p:sldId id="310" r:id="rId27"/>
    <p:sldId id="311" r:id="rId28"/>
    <p:sldId id="279" r:id="rId29"/>
    <p:sldId id="297" r:id="rId30"/>
    <p:sldId id="312" r:id="rId31"/>
    <p:sldId id="283" r:id="rId32"/>
    <p:sldId id="290" r:id="rId33"/>
    <p:sldId id="298" r:id="rId34"/>
    <p:sldId id="285" r:id="rId35"/>
    <p:sldId id="292" r:id="rId36"/>
    <p:sldId id="299" r:id="rId37"/>
    <p:sldId id="300" r:id="rId38"/>
    <p:sldId id="314" r:id="rId3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B19D"/>
    <a:srgbClr val="35759D"/>
    <a:srgbClr val="000000"/>
    <a:srgbClr val="1984CC"/>
    <a:srgbClr val="03136A"/>
    <a:srgbClr val="FFFF00"/>
    <a:srgbClr val="B3D3EA"/>
    <a:srgbClr val="78A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2251" autoAdjust="0"/>
    <p:restoredTop sz="95179" autoAdjust="0"/>
  </p:normalViewPr>
  <p:slideViewPr>
    <p:cSldViewPr>
      <p:cViewPr varScale="1">
        <p:scale>
          <a:sx n="47" d="100"/>
          <a:sy n="47" d="100"/>
        </p:scale>
        <p:origin x="70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D9DABC-F51A-4E7F-BA4F-852389505255}" type="doc">
      <dgm:prSet loTypeId="urn:microsoft.com/office/officeart/2009/3/layout/StepUpProcess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B06B9544-FD2A-4655-86BC-A8AFEF634157}">
      <dgm:prSet phldrT="[Текст]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ВЫЯВЛЕНИЕ ПОТРЕБНОСТЕЙ ЗАКАЗЧИКА</a:t>
          </a:r>
        </a:p>
      </dgm:t>
    </dgm:pt>
    <dgm:pt modelId="{3083E75E-A949-4CA6-8706-324B567C06B6}" type="parTrans" cxnId="{A7BBE0C3-8695-4450-8E73-E5518EBA4CCE}">
      <dgm:prSet/>
      <dgm:spPr/>
      <dgm:t>
        <a:bodyPr/>
        <a:lstStyle/>
        <a:p>
          <a:endParaRPr lang="ru-RU"/>
        </a:p>
      </dgm:t>
    </dgm:pt>
    <dgm:pt modelId="{FB04986D-5EB7-40E7-A754-1AA9BF6B9901}" type="sibTrans" cxnId="{A7BBE0C3-8695-4450-8E73-E5518EBA4CCE}">
      <dgm:prSet/>
      <dgm:spPr/>
      <dgm:t>
        <a:bodyPr/>
        <a:lstStyle/>
        <a:p>
          <a:endParaRPr lang="ru-RU"/>
        </a:p>
      </dgm:t>
    </dgm:pt>
    <dgm:pt modelId="{3D0632BA-4595-4410-AD00-D6247E2961EF}">
      <dgm:prSet phldrT="[Текст]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ПРОВЕРКА НА СООТВЕТСТВИЕ ТРЕБОВАНИЯМ</a:t>
          </a:r>
        </a:p>
      </dgm:t>
    </dgm:pt>
    <dgm:pt modelId="{8DA0574C-BFDD-4907-9053-DE7AF71B8F43}" type="parTrans" cxnId="{72A9A063-3E7E-43EC-A1D5-D1A9A43C950B}">
      <dgm:prSet/>
      <dgm:spPr/>
      <dgm:t>
        <a:bodyPr/>
        <a:lstStyle/>
        <a:p>
          <a:endParaRPr lang="ru-RU"/>
        </a:p>
      </dgm:t>
    </dgm:pt>
    <dgm:pt modelId="{9A292467-E4BC-436E-A7CF-EADB5263DF21}" type="sibTrans" cxnId="{72A9A063-3E7E-43EC-A1D5-D1A9A43C950B}">
      <dgm:prSet/>
      <dgm:spPr/>
      <dgm:t>
        <a:bodyPr/>
        <a:lstStyle/>
        <a:p>
          <a:endParaRPr lang="ru-RU"/>
        </a:p>
      </dgm:t>
    </dgm:pt>
    <dgm:pt modelId="{E0CBA83B-0AE1-4E70-BAED-501E57752189}">
      <dgm:prSet phldrT="[Текст]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СОГЛАСОВАНИЕ И ОФОРМЛЕНИЕ</a:t>
          </a:r>
        </a:p>
      </dgm:t>
    </dgm:pt>
    <dgm:pt modelId="{1C353A9E-FC6E-410D-ADCD-653C576460A1}" type="parTrans" cxnId="{7CDC2BEB-A28C-4096-A0C3-9E5D596B8A18}">
      <dgm:prSet/>
      <dgm:spPr/>
      <dgm:t>
        <a:bodyPr/>
        <a:lstStyle/>
        <a:p>
          <a:endParaRPr lang="ru-RU"/>
        </a:p>
      </dgm:t>
    </dgm:pt>
    <dgm:pt modelId="{E84176C2-F5A0-4268-A23D-2C0E0DDBC52B}" type="sibTrans" cxnId="{7CDC2BEB-A28C-4096-A0C3-9E5D596B8A18}">
      <dgm:prSet/>
      <dgm:spPr/>
      <dgm:t>
        <a:bodyPr/>
        <a:lstStyle/>
        <a:p>
          <a:endParaRPr lang="ru-RU"/>
        </a:p>
      </dgm:t>
    </dgm:pt>
    <dgm:pt modelId="{BADF4F1F-3E24-48D2-A758-DEFE0D821B95}">
      <dgm:prSet phldrT="[Текст]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РЕАЛИЗАЦИЯ</a:t>
          </a:r>
        </a:p>
      </dgm:t>
    </dgm:pt>
    <dgm:pt modelId="{5AF90142-1579-432C-8F98-097D2F315D80}" type="parTrans" cxnId="{91B1A1F4-3614-4694-9E26-724A0E591BAD}">
      <dgm:prSet/>
      <dgm:spPr/>
      <dgm:t>
        <a:bodyPr/>
        <a:lstStyle/>
        <a:p>
          <a:endParaRPr lang="ru-RU"/>
        </a:p>
      </dgm:t>
    </dgm:pt>
    <dgm:pt modelId="{6975582F-1CBC-40E1-A627-027543CD92B4}" type="sibTrans" cxnId="{91B1A1F4-3614-4694-9E26-724A0E591BAD}">
      <dgm:prSet/>
      <dgm:spPr/>
      <dgm:t>
        <a:bodyPr/>
        <a:lstStyle/>
        <a:p>
          <a:endParaRPr lang="ru-RU"/>
        </a:p>
      </dgm:t>
    </dgm:pt>
    <dgm:pt modelId="{9B360381-443C-48B5-80DB-25F04AB5EB81}">
      <dgm:prSet phldrT="[Текст]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ВЗАИМОРАСЧЕТЫ</a:t>
          </a:r>
        </a:p>
      </dgm:t>
    </dgm:pt>
    <dgm:pt modelId="{9A8B2B83-4B8A-4332-8BB8-F8DC99A1A2D5}" type="parTrans" cxnId="{C6A34686-4BA7-46E9-94B9-8140F4F47AF9}">
      <dgm:prSet/>
      <dgm:spPr/>
      <dgm:t>
        <a:bodyPr/>
        <a:lstStyle/>
        <a:p>
          <a:endParaRPr lang="en-US"/>
        </a:p>
      </dgm:t>
    </dgm:pt>
    <dgm:pt modelId="{17BD984C-3A71-4A9F-A626-05418894E625}" type="sibTrans" cxnId="{C6A34686-4BA7-46E9-94B9-8140F4F47AF9}">
      <dgm:prSet/>
      <dgm:spPr/>
      <dgm:t>
        <a:bodyPr/>
        <a:lstStyle/>
        <a:p>
          <a:endParaRPr lang="en-US"/>
        </a:p>
      </dgm:t>
    </dgm:pt>
    <dgm:pt modelId="{07C8C29A-995A-4D4F-BCC0-9D20BD42A954}" type="pres">
      <dgm:prSet presAssocID="{C5D9DABC-F51A-4E7F-BA4F-852389505255}" presName="rootnode" presStyleCnt="0">
        <dgm:presLayoutVars>
          <dgm:chMax/>
          <dgm:chPref/>
          <dgm:dir/>
          <dgm:animLvl val="lvl"/>
        </dgm:presLayoutVars>
      </dgm:prSet>
      <dgm:spPr/>
    </dgm:pt>
    <dgm:pt modelId="{C06AD095-08CF-49F8-9BE2-68C37FB18EC6}" type="pres">
      <dgm:prSet presAssocID="{B06B9544-FD2A-4655-86BC-A8AFEF634157}" presName="composite" presStyleCnt="0"/>
      <dgm:spPr/>
    </dgm:pt>
    <dgm:pt modelId="{7E189567-11AA-4F08-AC7E-A613E37A7D5C}" type="pres">
      <dgm:prSet presAssocID="{B06B9544-FD2A-4655-86BC-A8AFEF634157}" presName="LShape" presStyleLbl="alignNode1" presStyleIdx="0" presStyleCnt="9"/>
      <dgm:spPr>
        <a:solidFill>
          <a:srgbClr val="0083BE"/>
        </a:solidFill>
        <a:ln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949ADC40-2F04-41A7-BA4C-22ACC934FADA}" type="pres">
      <dgm:prSet presAssocID="{B06B9544-FD2A-4655-86BC-A8AFEF634157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8FC024B3-BF65-4D16-881B-FDBA681A97EB}" type="pres">
      <dgm:prSet presAssocID="{B06B9544-FD2A-4655-86BC-A8AFEF634157}" presName="Triangle" presStyleLbl="alignNode1" presStyleIdx="1" presStyleCnt="9"/>
      <dgm:spPr>
        <a:solidFill>
          <a:srgbClr val="0083BE"/>
        </a:solidFill>
        <a:ln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1B2ED137-B13C-4E34-88E6-65516C2EAA17}" type="pres">
      <dgm:prSet presAssocID="{FB04986D-5EB7-40E7-A754-1AA9BF6B9901}" presName="sibTrans" presStyleCnt="0"/>
      <dgm:spPr/>
    </dgm:pt>
    <dgm:pt modelId="{C4C27428-2AB9-4134-923D-217A4F4BE76D}" type="pres">
      <dgm:prSet presAssocID="{FB04986D-5EB7-40E7-A754-1AA9BF6B9901}" presName="space" presStyleCnt="0"/>
      <dgm:spPr/>
    </dgm:pt>
    <dgm:pt modelId="{0F9ABCBE-B834-4F6B-B3DB-029E9CFAC683}" type="pres">
      <dgm:prSet presAssocID="{3D0632BA-4595-4410-AD00-D6247E2961EF}" presName="composite" presStyleCnt="0"/>
      <dgm:spPr/>
    </dgm:pt>
    <dgm:pt modelId="{332E606A-E716-4ACC-91A7-936025EB604A}" type="pres">
      <dgm:prSet presAssocID="{3D0632BA-4595-4410-AD00-D6247E2961EF}" presName="LShape" presStyleLbl="alignNode1" presStyleIdx="2" presStyleCnt="9"/>
      <dgm:spPr>
        <a:solidFill>
          <a:srgbClr val="00B48C"/>
        </a:solidFill>
        <a:ln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E1044C3D-2030-4809-B05F-B403BD05B688}" type="pres">
      <dgm:prSet presAssocID="{3D0632BA-4595-4410-AD00-D6247E2961EF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DD5F9363-95FD-4064-813B-89057CCC9E0D}" type="pres">
      <dgm:prSet presAssocID="{3D0632BA-4595-4410-AD00-D6247E2961EF}" presName="Triangle" presStyleLbl="alignNode1" presStyleIdx="3" presStyleCnt="9"/>
      <dgm:spPr>
        <a:solidFill>
          <a:srgbClr val="00B48C"/>
        </a:solidFill>
        <a:ln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30CEEC69-35B1-48A0-AA39-223CD937274A}" type="pres">
      <dgm:prSet presAssocID="{9A292467-E4BC-436E-A7CF-EADB5263DF21}" presName="sibTrans" presStyleCnt="0"/>
      <dgm:spPr/>
    </dgm:pt>
    <dgm:pt modelId="{BA27AD90-12D9-4344-9DE0-CEF310CF2B4C}" type="pres">
      <dgm:prSet presAssocID="{9A292467-E4BC-436E-A7CF-EADB5263DF21}" presName="space" presStyleCnt="0"/>
      <dgm:spPr/>
    </dgm:pt>
    <dgm:pt modelId="{6C46A716-AFA7-4880-A774-B23E98834C17}" type="pres">
      <dgm:prSet presAssocID="{E0CBA83B-0AE1-4E70-BAED-501E57752189}" presName="composite" presStyleCnt="0"/>
      <dgm:spPr/>
    </dgm:pt>
    <dgm:pt modelId="{DFD87986-160D-41A0-AAA7-BE1E12306CDC}" type="pres">
      <dgm:prSet presAssocID="{E0CBA83B-0AE1-4E70-BAED-501E57752189}" presName="LShape" presStyleLbl="alignNode1" presStyleIdx="4" presStyleCnt="9"/>
      <dgm:spPr>
        <a:solidFill>
          <a:srgbClr val="FF6319"/>
        </a:solidFill>
        <a:ln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771DABA8-1316-4790-84EF-9C026B36854D}" type="pres">
      <dgm:prSet presAssocID="{E0CBA83B-0AE1-4E70-BAED-501E57752189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A5FCA64F-0D36-456B-998B-3DE801824257}" type="pres">
      <dgm:prSet presAssocID="{E0CBA83B-0AE1-4E70-BAED-501E57752189}" presName="Triangle" presStyleLbl="alignNode1" presStyleIdx="5" presStyleCnt="9"/>
      <dgm:spPr>
        <a:solidFill>
          <a:srgbClr val="FF6319"/>
        </a:solidFill>
        <a:ln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DF854822-B0EF-4071-B5A9-8B9C8F0C0C83}" type="pres">
      <dgm:prSet presAssocID="{E84176C2-F5A0-4268-A23D-2C0E0DDBC52B}" presName="sibTrans" presStyleCnt="0"/>
      <dgm:spPr/>
    </dgm:pt>
    <dgm:pt modelId="{2102204A-66D4-4AFF-BFA3-82DA1E1A1991}" type="pres">
      <dgm:prSet presAssocID="{E84176C2-F5A0-4268-A23D-2C0E0DDBC52B}" presName="space" presStyleCnt="0"/>
      <dgm:spPr/>
    </dgm:pt>
    <dgm:pt modelId="{87CDF88C-BC69-43C3-BE15-047865E021F0}" type="pres">
      <dgm:prSet presAssocID="{BADF4F1F-3E24-48D2-A758-DEFE0D821B95}" presName="composite" presStyleCnt="0"/>
      <dgm:spPr/>
    </dgm:pt>
    <dgm:pt modelId="{DDD2DDE8-8351-404E-86A3-99CE8176CE04}" type="pres">
      <dgm:prSet presAssocID="{BADF4F1F-3E24-48D2-A758-DEFE0D821B95}" presName="LShape" presStyleLbl="alignNode1" presStyleIdx="6" presStyleCnt="9"/>
      <dgm:spPr>
        <a:solidFill>
          <a:srgbClr val="DC0451"/>
        </a:solidFill>
        <a:ln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0CAD07EF-84EF-42E4-BE3A-2633511BC216}" type="pres">
      <dgm:prSet presAssocID="{BADF4F1F-3E24-48D2-A758-DEFE0D821B95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8B667F0E-0519-41F2-A7E8-21E44AC617D5}" type="pres">
      <dgm:prSet presAssocID="{BADF4F1F-3E24-48D2-A758-DEFE0D821B95}" presName="Triangle" presStyleLbl="alignNode1" presStyleIdx="7" presStyleCnt="9"/>
      <dgm:spPr>
        <a:solidFill>
          <a:srgbClr val="DC0451"/>
        </a:solidFill>
        <a:ln>
          <a:solidFill>
            <a:schemeClr val="bg1">
              <a:lumMod val="75000"/>
            </a:schemeClr>
          </a:solidFill>
        </a:ln>
      </dgm:spPr>
    </dgm:pt>
    <dgm:pt modelId="{62F06EAB-B981-4FE7-BDA8-D2403660C6AD}" type="pres">
      <dgm:prSet presAssocID="{6975582F-1CBC-40E1-A627-027543CD92B4}" presName="sibTrans" presStyleCnt="0"/>
      <dgm:spPr/>
    </dgm:pt>
    <dgm:pt modelId="{4AF2A600-5080-4923-BD33-DF33042C7F8D}" type="pres">
      <dgm:prSet presAssocID="{6975582F-1CBC-40E1-A627-027543CD92B4}" presName="space" presStyleCnt="0"/>
      <dgm:spPr/>
    </dgm:pt>
    <dgm:pt modelId="{B2F146CC-0C28-4999-ADD8-1E7559EA586F}" type="pres">
      <dgm:prSet presAssocID="{9B360381-443C-48B5-80DB-25F04AB5EB81}" presName="composite" presStyleCnt="0"/>
      <dgm:spPr/>
    </dgm:pt>
    <dgm:pt modelId="{DFF5DBC3-A37A-46D5-935E-DD3B29B9814E}" type="pres">
      <dgm:prSet presAssocID="{9B360381-443C-48B5-80DB-25F04AB5EB81}" presName="LShape" presStyleLbl="alignNode1" presStyleIdx="8" presStyleCnt="9"/>
      <dgm:spPr>
        <a:solidFill>
          <a:srgbClr val="BED600"/>
        </a:solidFill>
        <a:ln>
          <a:solidFill>
            <a:schemeClr val="bg1">
              <a:lumMod val="85000"/>
            </a:schemeClr>
          </a:solidFill>
        </a:ln>
      </dgm:spPr>
    </dgm:pt>
    <dgm:pt modelId="{5465B8D4-BB9B-4319-B7C7-2AE1E872ACD0}" type="pres">
      <dgm:prSet presAssocID="{9B360381-443C-48B5-80DB-25F04AB5EB81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93BF008-2A91-48D4-A57F-76685784B523}" type="presOf" srcId="{BADF4F1F-3E24-48D2-A758-DEFE0D821B95}" destId="{0CAD07EF-84EF-42E4-BE3A-2633511BC216}" srcOrd="0" destOrd="0" presId="urn:microsoft.com/office/officeart/2009/3/layout/StepUpProcess"/>
    <dgm:cxn modelId="{11AD9D1B-4BD9-4765-BA4D-64F6791F88B6}" type="presOf" srcId="{E0CBA83B-0AE1-4E70-BAED-501E57752189}" destId="{771DABA8-1316-4790-84EF-9C026B36854D}" srcOrd="0" destOrd="0" presId="urn:microsoft.com/office/officeart/2009/3/layout/StepUpProcess"/>
    <dgm:cxn modelId="{029C1D2A-4CDE-451E-ADC3-EF25B0B90353}" type="presOf" srcId="{3D0632BA-4595-4410-AD00-D6247E2961EF}" destId="{E1044C3D-2030-4809-B05F-B403BD05B688}" srcOrd="0" destOrd="0" presId="urn:microsoft.com/office/officeart/2009/3/layout/StepUpProcess"/>
    <dgm:cxn modelId="{170E795E-A7B6-4186-8EB5-0118E83D7856}" type="presOf" srcId="{B06B9544-FD2A-4655-86BC-A8AFEF634157}" destId="{949ADC40-2F04-41A7-BA4C-22ACC934FADA}" srcOrd="0" destOrd="0" presId="urn:microsoft.com/office/officeart/2009/3/layout/StepUpProcess"/>
    <dgm:cxn modelId="{72A9A063-3E7E-43EC-A1D5-D1A9A43C950B}" srcId="{C5D9DABC-F51A-4E7F-BA4F-852389505255}" destId="{3D0632BA-4595-4410-AD00-D6247E2961EF}" srcOrd="1" destOrd="0" parTransId="{8DA0574C-BFDD-4907-9053-DE7AF71B8F43}" sibTransId="{9A292467-E4BC-436E-A7CF-EADB5263DF21}"/>
    <dgm:cxn modelId="{BE758A59-9315-4718-912B-ABDA62A589F5}" type="presOf" srcId="{C5D9DABC-F51A-4E7F-BA4F-852389505255}" destId="{07C8C29A-995A-4D4F-BCC0-9D20BD42A954}" srcOrd="0" destOrd="0" presId="urn:microsoft.com/office/officeart/2009/3/layout/StepUpProcess"/>
    <dgm:cxn modelId="{C6A34686-4BA7-46E9-94B9-8140F4F47AF9}" srcId="{C5D9DABC-F51A-4E7F-BA4F-852389505255}" destId="{9B360381-443C-48B5-80DB-25F04AB5EB81}" srcOrd="4" destOrd="0" parTransId="{9A8B2B83-4B8A-4332-8BB8-F8DC99A1A2D5}" sibTransId="{17BD984C-3A71-4A9F-A626-05418894E625}"/>
    <dgm:cxn modelId="{D0B442C1-1F59-4597-997F-D963E5591D3D}" type="presOf" srcId="{9B360381-443C-48B5-80DB-25F04AB5EB81}" destId="{5465B8D4-BB9B-4319-B7C7-2AE1E872ACD0}" srcOrd="0" destOrd="0" presId="urn:microsoft.com/office/officeart/2009/3/layout/StepUpProcess"/>
    <dgm:cxn modelId="{A7BBE0C3-8695-4450-8E73-E5518EBA4CCE}" srcId="{C5D9DABC-F51A-4E7F-BA4F-852389505255}" destId="{B06B9544-FD2A-4655-86BC-A8AFEF634157}" srcOrd="0" destOrd="0" parTransId="{3083E75E-A949-4CA6-8706-324B567C06B6}" sibTransId="{FB04986D-5EB7-40E7-A754-1AA9BF6B9901}"/>
    <dgm:cxn modelId="{7CDC2BEB-A28C-4096-A0C3-9E5D596B8A18}" srcId="{C5D9DABC-F51A-4E7F-BA4F-852389505255}" destId="{E0CBA83B-0AE1-4E70-BAED-501E57752189}" srcOrd="2" destOrd="0" parTransId="{1C353A9E-FC6E-410D-ADCD-653C576460A1}" sibTransId="{E84176C2-F5A0-4268-A23D-2C0E0DDBC52B}"/>
    <dgm:cxn modelId="{91B1A1F4-3614-4694-9E26-724A0E591BAD}" srcId="{C5D9DABC-F51A-4E7F-BA4F-852389505255}" destId="{BADF4F1F-3E24-48D2-A758-DEFE0D821B95}" srcOrd="3" destOrd="0" parTransId="{5AF90142-1579-432C-8F98-097D2F315D80}" sibTransId="{6975582F-1CBC-40E1-A627-027543CD92B4}"/>
    <dgm:cxn modelId="{61CBFE51-9211-4102-981E-BAB72ABAA977}" type="presParOf" srcId="{07C8C29A-995A-4D4F-BCC0-9D20BD42A954}" destId="{C06AD095-08CF-49F8-9BE2-68C37FB18EC6}" srcOrd="0" destOrd="0" presId="urn:microsoft.com/office/officeart/2009/3/layout/StepUpProcess"/>
    <dgm:cxn modelId="{929C323E-AB16-41E3-95B4-A133B2D66612}" type="presParOf" srcId="{C06AD095-08CF-49F8-9BE2-68C37FB18EC6}" destId="{7E189567-11AA-4F08-AC7E-A613E37A7D5C}" srcOrd="0" destOrd="0" presId="urn:microsoft.com/office/officeart/2009/3/layout/StepUpProcess"/>
    <dgm:cxn modelId="{289CD039-9F9F-4A56-8186-9ED814CAA682}" type="presParOf" srcId="{C06AD095-08CF-49F8-9BE2-68C37FB18EC6}" destId="{949ADC40-2F04-41A7-BA4C-22ACC934FADA}" srcOrd="1" destOrd="0" presId="urn:microsoft.com/office/officeart/2009/3/layout/StepUpProcess"/>
    <dgm:cxn modelId="{2ED5CFD1-47D0-496F-94A0-C61724E39952}" type="presParOf" srcId="{C06AD095-08CF-49F8-9BE2-68C37FB18EC6}" destId="{8FC024B3-BF65-4D16-881B-FDBA681A97EB}" srcOrd="2" destOrd="0" presId="urn:microsoft.com/office/officeart/2009/3/layout/StepUpProcess"/>
    <dgm:cxn modelId="{7FD3DF39-5728-4A6B-9008-6305A0464C7A}" type="presParOf" srcId="{07C8C29A-995A-4D4F-BCC0-9D20BD42A954}" destId="{1B2ED137-B13C-4E34-88E6-65516C2EAA17}" srcOrd="1" destOrd="0" presId="urn:microsoft.com/office/officeart/2009/3/layout/StepUpProcess"/>
    <dgm:cxn modelId="{ED365D5E-D618-4333-B5A0-A8FBFD17F5EC}" type="presParOf" srcId="{1B2ED137-B13C-4E34-88E6-65516C2EAA17}" destId="{C4C27428-2AB9-4134-923D-217A4F4BE76D}" srcOrd="0" destOrd="0" presId="urn:microsoft.com/office/officeart/2009/3/layout/StepUpProcess"/>
    <dgm:cxn modelId="{ED2DAFF7-3918-4331-AF5A-4AAD61E205F0}" type="presParOf" srcId="{07C8C29A-995A-4D4F-BCC0-9D20BD42A954}" destId="{0F9ABCBE-B834-4F6B-B3DB-029E9CFAC683}" srcOrd="2" destOrd="0" presId="urn:microsoft.com/office/officeart/2009/3/layout/StepUpProcess"/>
    <dgm:cxn modelId="{EB0E7EC8-77B8-4849-AC3C-7608EB45C2CE}" type="presParOf" srcId="{0F9ABCBE-B834-4F6B-B3DB-029E9CFAC683}" destId="{332E606A-E716-4ACC-91A7-936025EB604A}" srcOrd="0" destOrd="0" presId="urn:microsoft.com/office/officeart/2009/3/layout/StepUpProcess"/>
    <dgm:cxn modelId="{89E1CE88-DDA6-4149-A177-FA31B4382AD7}" type="presParOf" srcId="{0F9ABCBE-B834-4F6B-B3DB-029E9CFAC683}" destId="{E1044C3D-2030-4809-B05F-B403BD05B688}" srcOrd="1" destOrd="0" presId="urn:microsoft.com/office/officeart/2009/3/layout/StepUpProcess"/>
    <dgm:cxn modelId="{60110B40-01CF-4CBE-A839-E07B9F90AD59}" type="presParOf" srcId="{0F9ABCBE-B834-4F6B-B3DB-029E9CFAC683}" destId="{DD5F9363-95FD-4064-813B-89057CCC9E0D}" srcOrd="2" destOrd="0" presId="urn:microsoft.com/office/officeart/2009/3/layout/StepUpProcess"/>
    <dgm:cxn modelId="{2DB2B458-0303-41AC-9E1F-AA534AB5017E}" type="presParOf" srcId="{07C8C29A-995A-4D4F-BCC0-9D20BD42A954}" destId="{30CEEC69-35B1-48A0-AA39-223CD937274A}" srcOrd="3" destOrd="0" presId="urn:microsoft.com/office/officeart/2009/3/layout/StepUpProcess"/>
    <dgm:cxn modelId="{84CF0539-117E-4F28-89F5-6A5834E24074}" type="presParOf" srcId="{30CEEC69-35B1-48A0-AA39-223CD937274A}" destId="{BA27AD90-12D9-4344-9DE0-CEF310CF2B4C}" srcOrd="0" destOrd="0" presId="urn:microsoft.com/office/officeart/2009/3/layout/StepUpProcess"/>
    <dgm:cxn modelId="{372E7FAB-373A-4AE7-8ED3-87BACB866880}" type="presParOf" srcId="{07C8C29A-995A-4D4F-BCC0-9D20BD42A954}" destId="{6C46A716-AFA7-4880-A774-B23E98834C17}" srcOrd="4" destOrd="0" presId="urn:microsoft.com/office/officeart/2009/3/layout/StepUpProcess"/>
    <dgm:cxn modelId="{87CF1451-0A37-46CC-B9A2-25AE081DD0A8}" type="presParOf" srcId="{6C46A716-AFA7-4880-A774-B23E98834C17}" destId="{DFD87986-160D-41A0-AAA7-BE1E12306CDC}" srcOrd="0" destOrd="0" presId="urn:microsoft.com/office/officeart/2009/3/layout/StepUpProcess"/>
    <dgm:cxn modelId="{76B8ABB5-FA70-4C57-969C-7A93AAE672D4}" type="presParOf" srcId="{6C46A716-AFA7-4880-A774-B23E98834C17}" destId="{771DABA8-1316-4790-84EF-9C026B36854D}" srcOrd="1" destOrd="0" presId="urn:microsoft.com/office/officeart/2009/3/layout/StepUpProcess"/>
    <dgm:cxn modelId="{9333C68A-273A-4099-BD91-404F95D53158}" type="presParOf" srcId="{6C46A716-AFA7-4880-A774-B23E98834C17}" destId="{A5FCA64F-0D36-456B-998B-3DE801824257}" srcOrd="2" destOrd="0" presId="urn:microsoft.com/office/officeart/2009/3/layout/StepUpProcess"/>
    <dgm:cxn modelId="{252A1505-90AE-498C-AE11-BB438247B21A}" type="presParOf" srcId="{07C8C29A-995A-4D4F-BCC0-9D20BD42A954}" destId="{DF854822-B0EF-4071-B5A9-8B9C8F0C0C83}" srcOrd="5" destOrd="0" presId="urn:microsoft.com/office/officeart/2009/3/layout/StepUpProcess"/>
    <dgm:cxn modelId="{8693F4AE-A471-429D-A6FF-42C0F4B3B4B4}" type="presParOf" srcId="{DF854822-B0EF-4071-B5A9-8B9C8F0C0C83}" destId="{2102204A-66D4-4AFF-BFA3-82DA1E1A1991}" srcOrd="0" destOrd="0" presId="urn:microsoft.com/office/officeart/2009/3/layout/StepUpProcess"/>
    <dgm:cxn modelId="{E87377D2-176C-4F8B-A33F-1F81911AB622}" type="presParOf" srcId="{07C8C29A-995A-4D4F-BCC0-9D20BD42A954}" destId="{87CDF88C-BC69-43C3-BE15-047865E021F0}" srcOrd="6" destOrd="0" presId="urn:microsoft.com/office/officeart/2009/3/layout/StepUpProcess"/>
    <dgm:cxn modelId="{E4019F1E-5084-4894-8C4A-597084B4E2F1}" type="presParOf" srcId="{87CDF88C-BC69-43C3-BE15-047865E021F0}" destId="{DDD2DDE8-8351-404E-86A3-99CE8176CE04}" srcOrd="0" destOrd="0" presId="urn:microsoft.com/office/officeart/2009/3/layout/StepUpProcess"/>
    <dgm:cxn modelId="{CFCCFA3F-C10F-4B70-8BA6-6793D4A73A6E}" type="presParOf" srcId="{87CDF88C-BC69-43C3-BE15-047865E021F0}" destId="{0CAD07EF-84EF-42E4-BE3A-2633511BC216}" srcOrd="1" destOrd="0" presId="urn:microsoft.com/office/officeart/2009/3/layout/StepUpProcess"/>
    <dgm:cxn modelId="{AF0FE4DB-E1AC-4DD5-8F2E-315DDC510C0F}" type="presParOf" srcId="{87CDF88C-BC69-43C3-BE15-047865E021F0}" destId="{8B667F0E-0519-41F2-A7E8-21E44AC617D5}" srcOrd="2" destOrd="0" presId="urn:microsoft.com/office/officeart/2009/3/layout/StepUpProcess"/>
    <dgm:cxn modelId="{685229A8-E14A-4CA3-8692-FCD90C9C3339}" type="presParOf" srcId="{07C8C29A-995A-4D4F-BCC0-9D20BD42A954}" destId="{62F06EAB-B981-4FE7-BDA8-D2403660C6AD}" srcOrd="7" destOrd="0" presId="urn:microsoft.com/office/officeart/2009/3/layout/StepUpProcess"/>
    <dgm:cxn modelId="{FE037D19-8948-4CF5-9D19-ABEAF22C0AA5}" type="presParOf" srcId="{62F06EAB-B981-4FE7-BDA8-D2403660C6AD}" destId="{4AF2A600-5080-4923-BD33-DF33042C7F8D}" srcOrd="0" destOrd="0" presId="urn:microsoft.com/office/officeart/2009/3/layout/StepUpProcess"/>
    <dgm:cxn modelId="{79404B47-9943-40C7-A17F-7A3479121E2F}" type="presParOf" srcId="{07C8C29A-995A-4D4F-BCC0-9D20BD42A954}" destId="{B2F146CC-0C28-4999-ADD8-1E7559EA586F}" srcOrd="8" destOrd="0" presId="urn:microsoft.com/office/officeart/2009/3/layout/StepUpProcess"/>
    <dgm:cxn modelId="{37FBF74B-FCF7-4777-BAE8-95A84CF4C67F}" type="presParOf" srcId="{B2F146CC-0C28-4999-ADD8-1E7559EA586F}" destId="{DFF5DBC3-A37A-46D5-935E-DD3B29B9814E}" srcOrd="0" destOrd="0" presId="urn:microsoft.com/office/officeart/2009/3/layout/StepUpProcess"/>
    <dgm:cxn modelId="{A77E9484-A868-4078-9CB8-D246A3A572D7}" type="presParOf" srcId="{B2F146CC-0C28-4999-ADD8-1E7559EA586F}" destId="{5465B8D4-BB9B-4319-B7C7-2AE1E872ACD0}" srcOrd="1" destOrd="0" presId="urn:microsoft.com/office/officeart/2009/3/layout/StepUpProcess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189567-11AA-4F08-AC7E-A613E37A7D5C}">
      <dsp:nvSpPr>
        <dsp:cNvPr id="0" name=""/>
        <dsp:cNvSpPr/>
      </dsp:nvSpPr>
      <dsp:spPr>
        <a:xfrm rot="5400000">
          <a:off x="348144" y="1460524"/>
          <a:ext cx="980462" cy="1631466"/>
        </a:xfrm>
        <a:prstGeom prst="corner">
          <a:avLst>
            <a:gd name="adj1" fmla="val 16120"/>
            <a:gd name="adj2" fmla="val 16110"/>
          </a:avLst>
        </a:prstGeom>
        <a:solidFill>
          <a:srgbClr val="0083BE"/>
        </a:solidFill>
        <a:ln w="12700" cap="flat" cmpd="sng" algn="ctr">
          <a:noFill/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ADC40-2F04-41A7-BA4C-22ACC934FADA}">
      <dsp:nvSpPr>
        <dsp:cNvPr id="0" name=""/>
        <dsp:cNvSpPr/>
      </dsp:nvSpPr>
      <dsp:spPr>
        <a:xfrm>
          <a:off x="184481" y="1947981"/>
          <a:ext cx="1472897" cy="1291080"/>
        </a:xfrm>
        <a:prstGeom prst="rect">
          <a:avLst/>
        </a:prstGeom>
        <a:noFill/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latin typeface="Arial" panose="020B0604020202020204" pitchFamily="34" charset="0"/>
              <a:cs typeface="Arial" panose="020B0604020202020204" pitchFamily="34" charset="0"/>
            </a:rPr>
            <a:t>ВЫЯВЛЕНИЕ ПОТРЕБНОСТЕЙ ЗАКАЗЧИКА</a:t>
          </a:r>
        </a:p>
      </dsp:txBody>
      <dsp:txXfrm>
        <a:off x="184481" y="1947981"/>
        <a:ext cx="1472897" cy="1291080"/>
      </dsp:txXfrm>
    </dsp:sp>
    <dsp:sp modelId="{8FC024B3-BF65-4D16-881B-FDBA681A97EB}">
      <dsp:nvSpPr>
        <dsp:cNvPr id="0" name=""/>
        <dsp:cNvSpPr/>
      </dsp:nvSpPr>
      <dsp:spPr>
        <a:xfrm>
          <a:off x="1379473" y="1340414"/>
          <a:ext cx="277905" cy="277905"/>
        </a:xfrm>
        <a:prstGeom prst="triangle">
          <a:avLst>
            <a:gd name="adj" fmla="val 100000"/>
          </a:avLst>
        </a:prstGeom>
        <a:solidFill>
          <a:srgbClr val="0083BE"/>
        </a:solidFill>
        <a:ln w="12700" cap="flat" cmpd="sng" algn="ctr">
          <a:noFill/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E606A-E716-4ACC-91A7-936025EB604A}">
      <dsp:nvSpPr>
        <dsp:cNvPr id="0" name=""/>
        <dsp:cNvSpPr/>
      </dsp:nvSpPr>
      <dsp:spPr>
        <a:xfrm rot="5400000">
          <a:off x="2151259" y="1014342"/>
          <a:ext cx="980462" cy="1631466"/>
        </a:xfrm>
        <a:prstGeom prst="corner">
          <a:avLst>
            <a:gd name="adj1" fmla="val 16120"/>
            <a:gd name="adj2" fmla="val 16110"/>
          </a:avLst>
        </a:prstGeom>
        <a:solidFill>
          <a:srgbClr val="00B48C"/>
        </a:solidFill>
        <a:ln w="12700" cap="flat" cmpd="sng" algn="ctr">
          <a:noFill/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44C3D-2030-4809-B05F-B403BD05B688}">
      <dsp:nvSpPr>
        <dsp:cNvPr id="0" name=""/>
        <dsp:cNvSpPr/>
      </dsp:nvSpPr>
      <dsp:spPr>
        <a:xfrm>
          <a:off x="1987595" y="1501799"/>
          <a:ext cx="1472897" cy="1291080"/>
        </a:xfrm>
        <a:prstGeom prst="rect">
          <a:avLst/>
        </a:prstGeom>
        <a:noFill/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latin typeface="Arial" panose="020B0604020202020204" pitchFamily="34" charset="0"/>
              <a:cs typeface="Arial" panose="020B0604020202020204" pitchFamily="34" charset="0"/>
            </a:rPr>
            <a:t>ПРОВЕРКА НА СООТВЕТСТВИЕ ТРЕБОВАНИЯМ</a:t>
          </a:r>
        </a:p>
      </dsp:txBody>
      <dsp:txXfrm>
        <a:off x="1987595" y="1501799"/>
        <a:ext cx="1472897" cy="1291080"/>
      </dsp:txXfrm>
    </dsp:sp>
    <dsp:sp modelId="{DD5F9363-95FD-4064-813B-89057CCC9E0D}">
      <dsp:nvSpPr>
        <dsp:cNvPr id="0" name=""/>
        <dsp:cNvSpPr/>
      </dsp:nvSpPr>
      <dsp:spPr>
        <a:xfrm>
          <a:off x="3182587" y="894231"/>
          <a:ext cx="277905" cy="277905"/>
        </a:xfrm>
        <a:prstGeom prst="triangle">
          <a:avLst>
            <a:gd name="adj" fmla="val 100000"/>
          </a:avLst>
        </a:prstGeom>
        <a:solidFill>
          <a:srgbClr val="00B48C"/>
        </a:solidFill>
        <a:ln w="12700" cap="flat" cmpd="sng" algn="ctr">
          <a:noFill/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87986-160D-41A0-AAA7-BE1E12306CDC}">
      <dsp:nvSpPr>
        <dsp:cNvPr id="0" name=""/>
        <dsp:cNvSpPr/>
      </dsp:nvSpPr>
      <dsp:spPr>
        <a:xfrm rot="5400000">
          <a:off x="3954373" y="568159"/>
          <a:ext cx="980462" cy="1631466"/>
        </a:xfrm>
        <a:prstGeom prst="corner">
          <a:avLst>
            <a:gd name="adj1" fmla="val 16120"/>
            <a:gd name="adj2" fmla="val 16110"/>
          </a:avLst>
        </a:prstGeom>
        <a:solidFill>
          <a:srgbClr val="FF6319"/>
        </a:solidFill>
        <a:ln w="12700" cap="flat" cmpd="sng" algn="ctr">
          <a:noFill/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1DABA8-1316-4790-84EF-9C026B36854D}">
      <dsp:nvSpPr>
        <dsp:cNvPr id="0" name=""/>
        <dsp:cNvSpPr/>
      </dsp:nvSpPr>
      <dsp:spPr>
        <a:xfrm>
          <a:off x="3790709" y="1055616"/>
          <a:ext cx="1472897" cy="1291080"/>
        </a:xfrm>
        <a:prstGeom prst="rect">
          <a:avLst/>
        </a:prstGeom>
        <a:noFill/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latin typeface="Arial" panose="020B0604020202020204" pitchFamily="34" charset="0"/>
              <a:cs typeface="Arial" panose="020B0604020202020204" pitchFamily="34" charset="0"/>
            </a:rPr>
            <a:t>СОГЛАСОВАНИЕ И ОФОРМЛЕНИЕ</a:t>
          </a:r>
        </a:p>
      </dsp:txBody>
      <dsp:txXfrm>
        <a:off x="3790709" y="1055616"/>
        <a:ext cx="1472897" cy="1291080"/>
      </dsp:txXfrm>
    </dsp:sp>
    <dsp:sp modelId="{A5FCA64F-0D36-456B-998B-3DE801824257}">
      <dsp:nvSpPr>
        <dsp:cNvPr id="0" name=""/>
        <dsp:cNvSpPr/>
      </dsp:nvSpPr>
      <dsp:spPr>
        <a:xfrm>
          <a:off x="4985701" y="448049"/>
          <a:ext cx="277905" cy="277905"/>
        </a:xfrm>
        <a:prstGeom prst="triangle">
          <a:avLst>
            <a:gd name="adj" fmla="val 100000"/>
          </a:avLst>
        </a:prstGeom>
        <a:solidFill>
          <a:srgbClr val="FF6319"/>
        </a:solidFill>
        <a:ln w="12700" cap="flat" cmpd="sng" algn="ctr">
          <a:noFill/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2DDE8-8351-404E-86A3-99CE8176CE04}">
      <dsp:nvSpPr>
        <dsp:cNvPr id="0" name=""/>
        <dsp:cNvSpPr/>
      </dsp:nvSpPr>
      <dsp:spPr>
        <a:xfrm rot="5400000">
          <a:off x="5757487" y="121977"/>
          <a:ext cx="980462" cy="1631466"/>
        </a:xfrm>
        <a:prstGeom prst="corner">
          <a:avLst>
            <a:gd name="adj1" fmla="val 16120"/>
            <a:gd name="adj2" fmla="val 16110"/>
          </a:avLst>
        </a:prstGeom>
        <a:solidFill>
          <a:srgbClr val="DC0451"/>
        </a:solidFill>
        <a:ln w="12700" cap="flat" cmpd="sng" algn="ctr">
          <a:noFill/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AD07EF-84EF-42E4-BE3A-2633511BC216}">
      <dsp:nvSpPr>
        <dsp:cNvPr id="0" name=""/>
        <dsp:cNvSpPr/>
      </dsp:nvSpPr>
      <dsp:spPr>
        <a:xfrm>
          <a:off x="5593823" y="609434"/>
          <a:ext cx="1472897" cy="1291080"/>
        </a:xfrm>
        <a:prstGeom prst="rect">
          <a:avLst/>
        </a:prstGeom>
        <a:noFill/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latin typeface="Arial" panose="020B0604020202020204" pitchFamily="34" charset="0"/>
              <a:cs typeface="Arial" panose="020B0604020202020204" pitchFamily="34" charset="0"/>
            </a:rPr>
            <a:t>РЕАЛИЗАЦИЯ</a:t>
          </a:r>
        </a:p>
      </dsp:txBody>
      <dsp:txXfrm>
        <a:off x="5593823" y="609434"/>
        <a:ext cx="1472897" cy="1291080"/>
      </dsp:txXfrm>
    </dsp:sp>
    <dsp:sp modelId="{8B667F0E-0519-41F2-A7E8-21E44AC617D5}">
      <dsp:nvSpPr>
        <dsp:cNvPr id="0" name=""/>
        <dsp:cNvSpPr/>
      </dsp:nvSpPr>
      <dsp:spPr>
        <a:xfrm>
          <a:off x="6788816" y="1867"/>
          <a:ext cx="277905" cy="277905"/>
        </a:xfrm>
        <a:prstGeom prst="triangle">
          <a:avLst>
            <a:gd name="adj" fmla="val 100000"/>
          </a:avLst>
        </a:prstGeom>
        <a:solidFill>
          <a:srgbClr val="DC0451"/>
        </a:solidFill>
        <a:ln w="1270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5DBC3-A37A-46D5-935E-DD3B29B9814E}">
      <dsp:nvSpPr>
        <dsp:cNvPr id="0" name=""/>
        <dsp:cNvSpPr/>
      </dsp:nvSpPr>
      <dsp:spPr>
        <a:xfrm rot="5400000">
          <a:off x="7560601" y="-324204"/>
          <a:ext cx="980462" cy="1631466"/>
        </a:xfrm>
        <a:prstGeom prst="corner">
          <a:avLst>
            <a:gd name="adj1" fmla="val 16120"/>
            <a:gd name="adj2" fmla="val 16110"/>
          </a:avLst>
        </a:prstGeom>
        <a:solidFill>
          <a:srgbClr val="BED600"/>
        </a:solidFill>
        <a:ln w="12700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65B8D4-BB9B-4319-B7C7-2AE1E872ACD0}">
      <dsp:nvSpPr>
        <dsp:cNvPr id="0" name=""/>
        <dsp:cNvSpPr/>
      </dsp:nvSpPr>
      <dsp:spPr>
        <a:xfrm>
          <a:off x="7396938" y="163252"/>
          <a:ext cx="1472897" cy="1291080"/>
        </a:xfrm>
        <a:prstGeom prst="rect">
          <a:avLst/>
        </a:prstGeom>
        <a:noFill/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latin typeface="Arial" panose="020B0604020202020204" pitchFamily="34" charset="0"/>
              <a:cs typeface="Arial" panose="020B0604020202020204" pitchFamily="34" charset="0"/>
            </a:rPr>
            <a:t>ВЗАИМОРАСЧЕТЫ</a:t>
          </a:r>
        </a:p>
      </dsp:txBody>
      <dsp:txXfrm>
        <a:off x="7396938" y="163252"/>
        <a:ext cx="1472897" cy="1291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ru-RU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ru-RU"/>
          </a:p>
        </p:txBody>
      </p:sp>
      <p:sp>
        <p:nvSpPr>
          <p:cNvPr id="819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Click to edit Master text styles</a:t>
            </a:r>
          </a:p>
          <a:p>
            <a:pPr lvl="1"/>
            <a:r>
              <a:rPr lang="en-US" altLang="ru-RU"/>
              <a:t>Second level</a:t>
            </a:r>
          </a:p>
          <a:p>
            <a:pPr lvl="2"/>
            <a:r>
              <a:rPr lang="en-US" altLang="ru-RU"/>
              <a:t>Third level</a:t>
            </a:r>
          </a:p>
          <a:p>
            <a:pPr lvl="3"/>
            <a:r>
              <a:rPr lang="en-US" altLang="ru-RU"/>
              <a:t>Fourth level</a:t>
            </a:r>
          </a:p>
          <a:p>
            <a:pPr lvl="4"/>
            <a:r>
              <a:rPr lang="en-US" altLang="ru-RU"/>
              <a:t>Fifth level</a:t>
            </a:r>
          </a:p>
        </p:txBody>
      </p:sp>
      <p:sp>
        <p:nvSpPr>
          <p:cNvPr id="819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ru-RU"/>
          </a:p>
        </p:txBody>
      </p:sp>
      <p:sp>
        <p:nvSpPr>
          <p:cNvPr id="819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93518D5-ADEE-604C-88F6-4FD45F8A15B7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6233698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A734AB-61CC-FA44-8BB6-B3205839C992}" type="slidenum">
              <a:rPr lang="en-US" altLang="ru-RU"/>
              <a:pPr/>
              <a:t>1</a:t>
            </a:fld>
            <a:endParaRPr lang="en-US" altLang="ru-RU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7703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2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46682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3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51009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4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51009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5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6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7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8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48405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9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48405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10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11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12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99174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13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99174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14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991740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15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99174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16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17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18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86953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19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86953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20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8695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21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8695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22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86953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23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86953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24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86953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25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26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27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28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202317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29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30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31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8891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32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83BC2-B1A6-4C4F-80FE-566A3449F612}" type="slidenum">
              <a:rPr lang="en-US" altLang="ru-RU"/>
              <a:pPr/>
              <a:t>33</a:t>
            </a:fld>
            <a:endParaRPr lang="en-US" altLang="ru-RU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42416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F2A354-A7C3-264C-BECD-4AB0CEB569F2}" type="slidenum">
              <a:rPr lang="en-US" altLang="ru-RU"/>
              <a:pPr/>
              <a:t>34</a:t>
            </a:fld>
            <a:endParaRPr lang="en-US" altLang="ru-RU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889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990600"/>
            <a:ext cx="7772400" cy="70485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altLang="ru-RU" noProof="0"/>
              <a:t>Образец заголовка</a:t>
            </a:r>
            <a:endParaRPr lang="en-US" altLang="ru-RU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1676400"/>
            <a:ext cx="7772400" cy="6858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altLang="ru-RU" noProof="0"/>
              <a:t>Образец подзаголовка</a:t>
            </a:r>
            <a:endParaRPr lang="en-US" altLang="ru-RU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47309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770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990600" y="2606675"/>
            <a:ext cx="3581400" cy="38703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24400" y="2606675"/>
            <a:ext cx="3581400" cy="38703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06999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293643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133526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04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809836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5873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2014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477000" y="1752600"/>
            <a:ext cx="1828800" cy="47244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90600" y="1752600"/>
            <a:ext cx="5334000" cy="47244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9156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1752600"/>
            <a:ext cx="7315200" cy="71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en-US" altLang="ru-R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2606675"/>
            <a:ext cx="7315200" cy="387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hlink"/>
          </a:solidFill>
          <a:latin typeface="Microsoft Sans Serif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hlink"/>
          </a:solidFill>
          <a:latin typeface="Microsoft Sans Serif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hlink"/>
          </a:solidFill>
          <a:latin typeface="Microsoft Sans Serif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hlink"/>
          </a:solidFill>
          <a:latin typeface="Microsoft Sans Serif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hlink"/>
          </a:solidFill>
          <a:latin typeface="Microsoft Sans Serif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hlink"/>
          </a:solidFill>
          <a:latin typeface="Microsoft Sans Serif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hlink"/>
          </a:solidFill>
          <a:latin typeface="Microsoft Sans Serif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hlink"/>
          </a:solidFill>
          <a:latin typeface="Microsoft Sans Serif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3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6.jpeg"/><Relationship Id="rId4" Type="http://schemas.openxmlformats.org/officeDocument/2006/relationships/image" Target="../media/image9.jpeg"/><Relationship Id="rId9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7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3.pn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10" Type="http://schemas.openxmlformats.org/officeDocument/2006/relationships/image" Target="../media/image27.jpeg"/><Relationship Id="rId4" Type="http://schemas.openxmlformats.org/officeDocument/2006/relationships/image" Target="../media/image21.png"/><Relationship Id="rId9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3.jpeg"/><Relationship Id="rId4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7.pn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.png"/><Relationship Id="rId7" Type="http://schemas.openxmlformats.org/officeDocument/2006/relationships/image" Target="../media/image3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3.png"/><Relationship Id="rId7" Type="http://schemas.openxmlformats.org/officeDocument/2006/relationships/image" Target="../media/image4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eg"/><Relationship Id="rId5" Type="http://schemas.openxmlformats.org/officeDocument/2006/relationships/image" Target="../media/image40.gif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e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3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56.png"/><Relationship Id="rId4" Type="http://schemas.openxmlformats.org/officeDocument/2006/relationships/image" Target="../media/image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eg"/><Relationship Id="rId5" Type="http://schemas.openxmlformats.org/officeDocument/2006/relationships/image" Target="../media/image57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diagramLayout" Target="../diagrams/layout1.xml"/><Relationship Id="rId7" Type="http://schemas.openxmlformats.org/officeDocument/2006/relationships/image" Target="../media/image59.e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62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altLang="ru-RU" dirty="0"/>
              <a:t>ТОО «</a:t>
            </a:r>
            <a:r>
              <a:rPr lang="en-US" altLang="ru-RU" dirty="0" err="1"/>
              <a:t>Maxtel</a:t>
            </a:r>
            <a:r>
              <a:rPr lang="en-US" altLang="ru-RU" dirty="0"/>
              <a:t> Networks</a:t>
            </a:r>
            <a:r>
              <a:rPr lang="ru-RU" altLang="ru-RU" dirty="0"/>
              <a:t>»</a:t>
            </a:r>
            <a:endParaRPr lang="en-US" altLang="ru-RU" dirty="0"/>
          </a:p>
          <a:p>
            <a:endParaRPr lang="en-US" altLang="ru-RU" dirty="0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ru-RU" altLang="ru-RU" dirty="0"/>
              <a:t>Системный интегратор </a:t>
            </a:r>
            <a:endParaRPr lang="en-US" altLang="ru-RU" dirty="0"/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04248" y="100965"/>
            <a:ext cx="1889840" cy="1815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ru-RU" altLang="ru-RU" dirty="0">
                <a:solidFill>
                  <a:schemeClr val="bg2"/>
                </a:solidFill>
              </a:rPr>
              <a:t>Наши решения</a:t>
            </a:r>
            <a:endParaRPr lang="en-US" altLang="ru-RU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5616" y="2924944"/>
            <a:ext cx="6705600" cy="29765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altLang="ko-KR" sz="2400" dirty="0">
                <a:latin typeface="Verdana" charset="0"/>
                <a:ea typeface="굴림" charset="0"/>
              </a:rPr>
              <a:t>Мини-АТС</a:t>
            </a:r>
          </a:p>
          <a:p>
            <a:pPr>
              <a:lnSpc>
                <a:spcPct val="80000"/>
              </a:lnSpc>
            </a:pPr>
            <a:r>
              <a:rPr lang="en-US" altLang="ko-KR" sz="2400" dirty="0">
                <a:latin typeface="Verdana" charset="0"/>
                <a:ea typeface="굴림" charset="0"/>
              </a:rPr>
              <a:t>VoIP</a:t>
            </a:r>
            <a:r>
              <a:rPr lang="mr-IN" altLang="ko-KR" sz="2400" dirty="0">
                <a:latin typeface="Verdana" charset="0"/>
                <a:ea typeface="굴림" charset="0"/>
              </a:rPr>
              <a:t>–</a:t>
            </a:r>
            <a:r>
              <a:rPr lang="ru-RU" altLang="ko-KR" sz="2400" dirty="0">
                <a:latin typeface="Verdana" charset="0"/>
                <a:ea typeface="굴림" charset="0"/>
              </a:rPr>
              <a:t>шлюзы</a:t>
            </a:r>
          </a:p>
          <a:p>
            <a:pPr>
              <a:lnSpc>
                <a:spcPct val="80000"/>
              </a:lnSpc>
            </a:pPr>
            <a:r>
              <a:rPr lang="en-US" altLang="ko-KR" sz="2400" dirty="0">
                <a:latin typeface="Verdana" charset="0"/>
                <a:ea typeface="굴림" charset="0"/>
              </a:rPr>
              <a:t>SIP-</a:t>
            </a:r>
            <a:r>
              <a:rPr lang="ru-RU" altLang="ko-KR" sz="2400" dirty="0">
                <a:latin typeface="Verdana" charset="0"/>
                <a:ea typeface="굴림" charset="0"/>
              </a:rPr>
              <a:t>телефоны</a:t>
            </a:r>
          </a:p>
          <a:p>
            <a:pPr>
              <a:lnSpc>
                <a:spcPct val="80000"/>
              </a:lnSpc>
            </a:pPr>
            <a:r>
              <a:rPr lang="en-US" altLang="ko-KR" sz="2400" dirty="0">
                <a:latin typeface="Verdana" charset="0"/>
                <a:ea typeface="굴림" charset="0"/>
              </a:rPr>
              <a:t>Call-</a:t>
            </a:r>
            <a:r>
              <a:rPr lang="ru-RU" altLang="ko-KR" sz="2400" dirty="0">
                <a:latin typeface="Verdana" charset="0"/>
                <a:ea typeface="굴림" charset="0"/>
              </a:rPr>
              <a:t>центры</a:t>
            </a:r>
          </a:p>
          <a:p>
            <a:pPr>
              <a:lnSpc>
                <a:spcPct val="80000"/>
              </a:lnSpc>
            </a:pPr>
            <a:r>
              <a:rPr lang="en-US" altLang="ko-KR" sz="2400" dirty="0">
                <a:latin typeface="Verdana" charset="0"/>
                <a:ea typeface="굴림" charset="0"/>
              </a:rPr>
              <a:t>Contact-</a:t>
            </a:r>
            <a:r>
              <a:rPr lang="ru-RU" altLang="ko-KR" sz="2400" dirty="0">
                <a:latin typeface="Verdana" charset="0"/>
                <a:ea typeface="굴림" charset="0"/>
              </a:rPr>
              <a:t>центры</a:t>
            </a:r>
          </a:p>
          <a:p>
            <a:pPr>
              <a:lnSpc>
                <a:spcPct val="80000"/>
              </a:lnSpc>
            </a:pPr>
            <a:r>
              <a:rPr lang="ru-RU" altLang="ko-KR" sz="2400" dirty="0">
                <a:latin typeface="Verdana" charset="0"/>
                <a:ea typeface="굴림" charset="0"/>
              </a:rPr>
              <a:t>Системы записи разговоров</a:t>
            </a:r>
            <a:endParaRPr lang="en-US" altLang="ko-KR" sz="24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r>
              <a:rPr lang="en-US" altLang="ko-KR" sz="2400" dirty="0">
                <a:latin typeface="Verdana" charset="0"/>
                <a:ea typeface="굴림" charset="0"/>
              </a:rPr>
              <a:t>DECT-</a:t>
            </a:r>
            <a:r>
              <a:rPr lang="ru-RU" altLang="ko-KR" sz="2400" dirty="0">
                <a:latin typeface="Verdana" charset="0"/>
                <a:ea typeface="굴림" charset="0"/>
              </a:rPr>
              <a:t>системы</a:t>
            </a:r>
          </a:p>
          <a:p>
            <a:pPr>
              <a:lnSpc>
                <a:spcPct val="80000"/>
              </a:lnSpc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ru-RU" altLang="ru-RU" dirty="0">
                <a:solidFill>
                  <a:schemeClr val="bg2"/>
                </a:solidFill>
              </a:rPr>
              <a:t>Мини-АТС</a:t>
            </a:r>
            <a:endParaRPr lang="en-US" altLang="ru-RU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636912"/>
            <a:ext cx="5616624" cy="1345727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Авторизованные инженеры 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Сервисная и техническая поддержка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Расширенная гарантия от производителя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Пост гарантийное обслуживание</a:t>
            </a: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0" y="4135118"/>
            <a:ext cx="2247309" cy="670719"/>
          </a:xfrm>
          <a:prstGeom prst="rect">
            <a:avLst/>
          </a:prstGeom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84" y="4169201"/>
            <a:ext cx="2075284" cy="685997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4293096"/>
            <a:ext cx="2225824" cy="1250171"/>
          </a:xfrm>
          <a:prstGeom prst="rect">
            <a:avLst/>
          </a:prstGeom>
        </p:spPr>
      </p:pic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12" y="4976966"/>
            <a:ext cx="2987824" cy="526304"/>
          </a:xfrm>
          <a:prstGeom prst="rect">
            <a:avLst/>
          </a:prstGeom>
        </p:spPr>
      </p:pic>
      <p:pic>
        <p:nvPicPr>
          <p:cNvPr id="9" name="Рисунок 8" descr="Asterisk_Logo.sv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4008" y="5013176"/>
            <a:ext cx="1440160" cy="84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53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ru-RU" altLang="ru-RU" dirty="0">
                <a:solidFill>
                  <a:schemeClr val="bg2"/>
                </a:solidFill>
              </a:rPr>
              <a:t>Мини-АТС</a:t>
            </a:r>
            <a:r>
              <a:rPr lang="en-US" altLang="ru-RU" dirty="0">
                <a:solidFill>
                  <a:schemeClr val="bg2"/>
                </a:solidFill>
              </a:rPr>
              <a:t> </a:t>
            </a:r>
            <a:r>
              <a:rPr lang="ru-RU" altLang="ru-RU" dirty="0">
                <a:solidFill>
                  <a:schemeClr val="bg2"/>
                </a:solidFill>
              </a:rPr>
              <a:t>внешний вид</a:t>
            </a:r>
            <a:endParaRPr lang="en-US" altLang="ru-RU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636912"/>
            <a:ext cx="5616624" cy="1345727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Рисунок 11" descr="Image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728" y="3429000"/>
            <a:ext cx="2301720" cy="3068960"/>
          </a:xfrm>
          <a:prstGeom prst="rect">
            <a:avLst/>
          </a:prstGeom>
        </p:spPr>
      </p:pic>
      <p:pic>
        <p:nvPicPr>
          <p:cNvPr id="13" name="Рисунок 12" descr="S-Ser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40" y="5347334"/>
            <a:ext cx="2897882" cy="1322026"/>
          </a:xfrm>
          <a:prstGeom prst="rect">
            <a:avLst/>
          </a:prstGeom>
        </p:spPr>
      </p:pic>
      <p:pic>
        <p:nvPicPr>
          <p:cNvPr id="14" name="Рисунок 13" descr="thumb_gatew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4248" y="3356992"/>
            <a:ext cx="3089920" cy="1544960"/>
          </a:xfrm>
          <a:prstGeom prst="rect">
            <a:avLst/>
          </a:prstGeom>
        </p:spPr>
      </p:pic>
      <p:pic>
        <p:nvPicPr>
          <p:cNvPr id="15" name="Рисунок 14" descr="wpx_8ffe00c700f8c2821d761d18cf0d16b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24" y="3284984"/>
            <a:ext cx="2877200" cy="3045519"/>
          </a:xfrm>
          <a:prstGeom prst="rect">
            <a:avLst/>
          </a:prstGeom>
        </p:spPr>
      </p:pic>
      <p:pic>
        <p:nvPicPr>
          <p:cNvPr id="16" name="Изображение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780928"/>
            <a:ext cx="1656184" cy="494295"/>
          </a:xfrm>
          <a:prstGeom prst="rect">
            <a:avLst/>
          </a:prstGeom>
        </p:spPr>
      </p:pic>
      <p:pic>
        <p:nvPicPr>
          <p:cNvPr id="17" name="Изображение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5089384"/>
            <a:ext cx="1512168" cy="499856"/>
          </a:xfrm>
          <a:prstGeom prst="rect">
            <a:avLst/>
          </a:prstGeom>
        </p:spPr>
      </p:pic>
      <p:pic>
        <p:nvPicPr>
          <p:cNvPr id="18" name="Изображение 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2636912"/>
            <a:ext cx="1328395" cy="746115"/>
          </a:xfrm>
          <a:prstGeom prst="rect">
            <a:avLst/>
          </a:prstGeom>
        </p:spPr>
      </p:pic>
      <p:pic>
        <p:nvPicPr>
          <p:cNvPr id="19" name="Изображение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3429000"/>
            <a:ext cx="2160240" cy="38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53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4765"/>
            <a:ext cx="6934200" cy="715963"/>
          </a:xfrm>
        </p:spPr>
        <p:txBody>
          <a:bodyPr/>
          <a:lstStyle/>
          <a:p>
            <a:r>
              <a:rPr lang="ru-RU" altLang="ru-RU" sz="2800" dirty="0">
                <a:solidFill>
                  <a:schemeClr val="bg2"/>
                </a:solidFill>
              </a:rPr>
              <a:t>Схема подключения мини-АТС</a:t>
            </a:r>
            <a:endParaRPr lang="en-US" altLang="ru-RU" sz="2800" dirty="0">
              <a:solidFill>
                <a:schemeClr val="bg2"/>
              </a:solidFill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16016" y="2852936"/>
            <a:ext cx="92392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Двойная стрелка вверх/вниз 10"/>
          <p:cNvSpPr/>
          <p:nvPr/>
        </p:nvSpPr>
        <p:spPr bwMode="auto">
          <a:xfrm>
            <a:off x="4788024" y="1988840"/>
            <a:ext cx="216024" cy="936104"/>
          </a:xfrm>
          <a:prstGeom prst="upDownArrow">
            <a:avLst/>
          </a:prstGeom>
          <a:solidFill>
            <a:srgbClr val="35B1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Двойная стрелка вверх/вниз 11"/>
          <p:cNvSpPr/>
          <p:nvPr/>
        </p:nvSpPr>
        <p:spPr bwMode="auto">
          <a:xfrm>
            <a:off x="5292080" y="1988840"/>
            <a:ext cx="216024" cy="936104"/>
          </a:xfrm>
          <a:prstGeom prst="upDownArrow">
            <a:avLst/>
          </a:prstGeom>
          <a:solidFill>
            <a:srgbClr val="3575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1960" y="2204864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SIP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5364088" y="2204864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E1</a:t>
            </a:r>
            <a:endParaRPr lang="ru-RU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923928" y="4509120"/>
            <a:ext cx="27241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Двойная стрелка вверх/вниз 15"/>
          <p:cNvSpPr/>
          <p:nvPr/>
        </p:nvSpPr>
        <p:spPr bwMode="auto">
          <a:xfrm>
            <a:off x="5148064" y="4149080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8" name="Рисунок 17" descr="929468_v01_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0974" y="5165508"/>
            <a:ext cx="1237050" cy="927788"/>
          </a:xfrm>
          <a:prstGeom prst="rect">
            <a:avLst/>
          </a:prstGeom>
        </p:spPr>
      </p:pic>
      <p:pic>
        <p:nvPicPr>
          <p:cNvPr id="19" name="Рисунок 18" descr="929468_v01_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4008" y="5229200"/>
            <a:ext cx="1237050" cy="927788"/>
          </a:xfrm>
          <a:prstGeom prst="rect">
            <a:avLst/>
          </a:prstGeom>
        </p:spPr>
      </p:pic>
      <p:pic>
        <p:nvPicPr>
          <p:cNvPr id="20" name="Рисунок 19" descr="929468_v01_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1214" y="5229200"/>
            <a:ext cx="1237050" cy="927788"/>
          </a:xfrm>
          <a:prstGeom prst="rect">
            <a:avLst/>
          </a:prstGeom>
        </p:spPr>
      </p:pic>
      <p:cxnSp>
        <p:nvCxnSpPr>
          <p:cNvPr id="22" name="Прямая со стрелкой 21"/>
          <p:cNvCxnSpPr>
            <a:stCxn id="12" idx="5"/>
          </p:cNvCxnSpPr>
          <p:nvPr/>
        </p:nvCxnSpPr>
        <p:spPr bwMode="auto">
          <a:xfrm>
            <a:off x="5436096" y="2780928"/>
            <a:ext cx="914400" cy="914400"/>
          </a:xfrm>
          <a:prstGeom prst="straightConnector1">
            <a:avLst/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012160" y="450912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Двойная стрелка вверх/вниз 29"/>
          <p:cNvSpPr/>
          <p:nvPr/>
        </p:nvSpPr>
        <p:spPr bwMode="auto">
          <a:xfrm>
            <a:off x="4211960" y="4941168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Двойная стрелка вверх/вниз 30"/>
          <p:cNvSpPr/>
          <p:nvPr/>
        </p:nvSpPr>
        <p:spPr bwMode="auto">
          <a:xfrm>
            <a:off x="5220072" y="4941168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Двойная стрелка вверх/вниз 31"/>
          <p:cNvSpPr/>
          <p:nvPr/>
        </p:nvSpPr>
        <p:spPr bwMode="auto">
          <a:xfrm>
            <a:off x="6300192" y="4941168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4211960" y="1196752"/>
            <a:ext cx="2088232" cy="693658"/>
            <a:chOff x="4283968" y="1052736"/>
            <a:chExt cx="2088232" cy="693658"/>
          </a:xfrm>
        </p:grpSpPr>
        <p:pic>
          <p:nvPicPr>
            <p:cNvPr id="21" name="Рисунок 20" descr="logo-kcell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83968" y="1052736"/>
              <a:ext cx="1720326" cy="608162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4427984" y="1484784"/>
              <a:ext cx="19442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>
                  <a:solidFill>
                    <a:srgbClr val="7030A0"/>
                  </a:solidFill>
                </a:rPr>
                <a:t>Бизнес-телефония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012160" y="450912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1219200" y="1828800"/>
            <a:ext cx="7086600" cy="792163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ru-RU" sz="36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1907704" y="1772816"/>
            <a:ext cx="5976664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ru-RU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noProof="0" dirty="0">
                <a:latin typeface="Verdana" charset="0"/>
                <a:ea typeface="굴림" charset="0"/>
              </a:rPr>
              <a:t>Министерство Чрезвычайных ситуаций РК</a:t>
            </a:r>
            <a:endParaRPr kumimoji="0" lang="ru-RU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Международный комплекс лыжных трамплинов</a:t>
            </a:r>
            <a:endParaRPr kumimoji="0" lang="ru-RU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ko-KR" sz="1400" dirty="0">
                <a:latin typeface="Verdana" charset="0"/>
                <a:ea typeface="굴림" charset="0"/>
              </a:rPr>
              <a:t>Adidas </a:t>
            </a:r>
            <a:r>
              <a:rPr lang="ru-RU" altLang="ko-KR" sz="1400" dirty="0" err="1">
                <a:latin typeface="Verdana" charset="0"/>
                <a:ea typeface="굴림" charset="0"/>
              </a:rPr>
              <a:t>Алматы</a:t>
            </a:r>
            <a:endParaRPr lang="en-US" altLang="ko-KR" sz="1400" dirty="0">
              <a:latin typeface="Verdana" charset="0"/>
              <a:ea typeface="굴림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АО «</a:t>
            </a:r>
            <a:r>
              <a:rPr lang="ru-RU" altLang="ko-KR" sz="1400" dirty="0" err="1">
                <a:latin typeface="Verdana" charset="0"/>
                <a:ea typeface="굴림" charset="0"/>
              </a:rPr>
              <a:t>Нурбанк</a:t>
            </a:r>
            <a:r>
              <a:rPr lang="ru-RU" altLang="ko-KR" sz="1400" dirty="0">
                <a:latin typeface="Verdana" charset="0"/>
                <a:ea typeface="굴림" charset="0"/>
              </a:rPr>
              <a:t>»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Страховая компания «</a:t>
            </a:r>
            <a:r>
              <a:rPr kumimoji="0" lang="ru-RU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ЦеснаГарант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»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Нефтяная компания «КОР»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ko-KR" sz="1400" dirty="0" err="1">
                <a:latin typeface="Verdana" charset="0"/>
                <a:ea typeface="굴림" charset="0"/>
              </a:rPr>
              <a:t>Alpen</a:t>
            </a:r>
            <a:r>
              <a:rPr lang="en-US" altLang="ko-KR" sz="1400" dirty="0">
                <a:latin typeface="Verdana" charset="0"/>
                <a:ea typeface="굴림" charset="0"/>
              </a:rPr>
              <a:t> </a:t>
            </a:r>
            <a:r>
              <a:rPr lang="en-US" altLang="ko-KR" sz="1400" dirty="0" err="1">
                <a:latin typeface="Verdana" charset="0"/>
                <a:ea typeface="굴림" charset="0"/>
              </a:rPr>
              <a:t>Pharma</a:t>
            </a:r>
            <a:endParaRPr kumimoji="0" lang="ru-RU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 err="1">
                <a:latin typeface="Verdana" charset="0"/>
                <a:ea typeface="굴림" charset="0"/>
              </a:rPr>
              <a:t>АлматыЭнергоСбыт</a:t>
            </a:r>
            <a:endParaRPr lang="ru-RU" altLang="ko-KR" sz="1400" dirty="0">
              <a:latin typeface="Verdana" charset="0"/>
              <a:ea typeface="굴림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Елай</a:t>
            </a:r>
            <a:r>
              <a:rPr kumimoji="0" lang="ru-RU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</a:t>
            </a:r>
            <a:r>
              <a:rPr kumimoji="0" lang="ru-RU" altLang="ko-KR" sz="1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ЛиЛи</a:t>
            </a:r>
            <a:r>
              <a:rPr kumimoji="0" lang="ru-RU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Казахстан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ko-KR" sz="1400" noProof="0" dirty="0">
                <a:latin typeface="Verdana" charset="0"/>
                <a:ea typeface="굴림" charset="0"/>
              </a:rPr>
              <a:t>USKO </a:t>
            </a:r>
            <a:r>
              <a:rPr lang="ru-RU" altLang="ko-KR" sz="1400" noProof="0" dirty="0" err="1">
                <a:latin typeface="Verdana" charset="0"/>
                <a:ea typeface="굴림" charset="0"/>
              </a:rPr>
              <a:t>Интернешнл</a:t>
            </a:r>
            <a:endParaRPr lang="ru-RU" altLang="ko-KR" sz="1400" noProof="0" dirty="0">
              <a:latin typeface="Verdana" charset="0"/>
              <a:ea typeface="굴림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Алматинские</a:t>
            </a:r>
            <a:r>
              <a:rPr kumimoji="0" lang="ru-RU" altLang="ko-KR" sz="14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Тепловые Сети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АО «АБДИ»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АО «</a:t>
            </a:r>
            <a:r>
              <a:rPr kumimoji="0" lang="ru-RU" altLang="ko-KR" sz="1400" b="0" i="0" u="none" strike="noStrike" kern="1200" cap="none" spc="0" normalizeH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Алтиус</a:t>
            </a:r>
            <a:r>
              <a:rPr kumimoji="0" lang="ru-RU" altLang="ko-KR" sz="14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</a:t>
            </a:r>
            <a:r>
              <a:rPr kumimoji="0" lang="ru-RU" altLang="ko-KR" sz="1400" b="0" i="0" u="none" strike="noStrike" kern="1200" cap="none" spc="0" normalizeH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Пертроеум</a:t>
            </a:r>
            <a:r>
              <a:rPr kumimoji="0" lang="ru-RU" altLang="ko-KR" sz="14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»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ТОО «</a:t>
            </a:r>
            <a:r>
              <a:rPr lang="ru-RU" altLang="ko-KR" sz="1400" dirty="0" err="1">
                <a:latin typeface="Verdana" charset="0"/>
                <a:ea typeface="굴림" charset="0"/>
              </a:rPr>
              <a:t>Петрокоммерц</a:t>
            </a:r>
            <a:r>
              <a:rPr lang="ru-RU" altLang="ko-KR" sz="1400" dirty="0">
                <a:latin typeface="Verdana" charset="0"/>
                <a:ea typeface="굴림" charset="0"/>
              </a:rPr>
              <a:t> Казахстан»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АО «</a:t>
            </a:r>
            <a:r>
              <a:rPr kumimoji="0" lang="ru-RU" altLang="ko-KR" sz="1400" b="0" i="0" u="none" strike="noStrike" kern="1200" cap="none" spc="0" normalizeH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Медсервис</a:t>
            </a:r>
            <a:r>
              <a:rPr kumimoji="0" lang="ru-RU" altLang="ko-KR" sz="14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Плюс»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Центр Израильской Медицины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ТОО «Трапеза»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</p:txBody>
      </p:sp>
      <p:sp>
        <p:nvSpPr>
          <p:cNvPr id="24" name="Заголовок 23"/>
          <p:cNvSpPr>
            <a:spLocks noGrp="1"/>
          </p:cNvSpPr>
          <p:nvPr>
            <p:ph type="title"/>
          </p:nvPr>
        </p:nvSpPr>
        <p:spPr>
          <a:xfrm>
            <a:off x="1828800" y="620688"/>
            <a:ext cx="7315200" cy="715963"/>
          </a:xfrm>
        </p:spPr>
        <p:txBody>
          <a:bodyPr/>
          <a:lstStyle/>
          <a:p>
            <a:pPr lvl="0"/>
            <a:r>
              <a:rPr lang="ru-RU" altLang="ru-RU" sz="2400" dirty="0">
                <a:solidFill>
                  <a:schemeClr val="bg2"/>
                </a:solidFill>
              </a:rPr>
              <a:t>Наши проекты по Мини-АТС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012160" y="450912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1219200" y="1828800"/>
            <a:ext cx="7086600" cy="792163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ru-RU" sz="36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1907704" y="1052736"/>
            <a:ext cx="5976664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ru-RU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Количество городских линий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Тип городских линий (аналоговые,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SIP, E1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Количество внутренних линий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Тип внутренних линий (аналоговые,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SIP,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системные аппараты для </a:t>
            </a:r>
            <a:r>
              <a:rPr kumimoji="0" lang="ru-RU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ресепшн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и руководителей)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Есть ли готовая инфраструктура (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19” 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шкафы,</a:t>
            </a:r>
            <a:r>
              <a:rPr kumimoji="0" lang="ru-RU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</a:t>
            </a:r>
            <a:r>
              <a:rPr lang="ru-RU" altLang="ko-KR" sz="1400" dirty="0">
                <a:latin typeface="Verdana" charset="0"/>
                <a:ea typeface="굴림" charset="0"/>
              </a:rPr>
              <a:t>установлены ли розетки на рабочих местах, протянуты ли провода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noProof="0" dirty="0">
                <a:latin typeface="Verdana" charset="0"/>
                <a:ea typeface="굴림" charset="0"/>
              </a:rPr>
              <a:t>Какой ширины интернет канал, тип подключения, какой провайдер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Нужна ли запись разговоров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Нужна ли интеграция с </a:t>
            </a:r>
            <a:r>
              <a:rPr lang="en-US" altLang="ko-KR" sz="1400" dirty="0">
                <a:latin typeface="Verdana" charset="0"/>
                <a:ea typeface="굴림" charset="0"/>
              </a:rPr>
              <a:t>CRM</a:t>
            </a:r>
          </a:p>
          <a:p>
            <a:pPr marL="342900" lvl="0" indent="-342900" algn="l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ru-RU" altLang="ko-KR" sz="1400" dirty="0">
                <a:latin typeface="Verdana" charset="0"/>
                <a:ea typeface="굴림" charset="0"/>
              </a:rPr>
              <a:t>Нужно ли </a:t>
            </a:r>
            <a:r>
              <a:rPr lang="en-US" altLang="ko-KR" sz="1400" dirty="0">
                <a:latin typeface="Verdana" charset="0"/>
                <a:ea typeface="굴림" charset="0"/>
              </a:rPr>
              <a:t>IVR (</a:t>
            </a:r>
            <a:r>
              <a:rPr lang="ru-RU" altLang="ko-KR" sz="1400" dirty="0">
                <a:latin typeface="Verdana" charset="0"/>
                <a:ea typeface="굴림" charset="0"/>
              </a:rPr>
              <a:t>голосовое приветствие</a:t>
            </a:r>
            <a:r>
              <a:rPr lang="en-US" altLang="ko-KR" sz="1400" dirty="0">
                <a:latin typeface="Verdana" charset="0"/>
                <a:ea typeface="굴림" charset="0"/>
              </a:rPr>
              <a:t>)</a:t>
            </a:r>
            <a:endParaRPr kumimoji="0" lang="ru-RU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</p:txBody>
      </p:sp>
      <p:sp>
        <p:nvSpPr>
          <p:cNvPr id="24" name="Заголовок 23"/>
          <p:cNvSpPr>
            <a:spLocks noGrp="1"/>
          </p:cNvSpPr>
          <p:nvPr>
            <p:ph type="title"/>
          </p:nvPr>
        </p:nvSpPr>
        <p:spPr>
          <a:xfrm>
            <a:off x="1828800" y="620688"/>
            <a:ext cx="7315200" cy="715963"/>
          </a:xfrm>
        </p:spPr>
        <p:txBody>
          <a:bodyPr/>
          <a:lstStyle/>
          <a:p>
            <a:pPr lvl="0"/>
            <a:r>
              <a:rPr lang="ru-RU" altLang="ru-RU" sz="2400" dirty="0">
                <a:solidFill>
                  <a:schemeClr val="bg2"/>
                </a:solidFill>
              </a:rPr>
              <a:t>Вопросы по Мини-АТС клиенту</a:t>
            </a:r>
            <a:br>
              <a:rPr lang="en-US" altLang="ru-RU" dirty="0">
                <a:solidFill>
                  <a:schemeClr val="bg2"/>
                </a:solidFill>
              </a:rPr>
            </a:b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dirty="0">
                <a:solidFill>
                  <a:schemeClr val="bg2"/>
                </a:solidFill>
              </a:rPr>
              <a:t>VoIP </a:t>
            </a:r>
            <a:r>
              <a:rPr lang="ru-RU" altLang="ru-RU" dirty="0">
                <a:solidFill>
                  <a:schemeClr val="bg2"/>
                </a:solidFill>
              </a:rPr>
              <a:t>шлюзы</a:t>
            </a:r>
            <a:endParaRPr lang="en-US" altLang="ru-RU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789391"/>
            <a:ext cx="5616624" cy="1043924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Официальные партнеры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Шлюзы с </a:t>
            </a:r>
            <a:r>
              <a:rPr lang="en-US" altLang="ko-KR" sz="1600" dirty="0">
                <a:latin typeface="Verdana" charset="0"/>
                <a:ea typeface="굴림" charset="0"/>
              </a:rPr>
              <a:t>FXO </a:t>
            </a:r>
            <a:r>
              <a:rPr lang="ru-RU" altLang="ko-KR" sz="1600" dirty="0">
                <a:latin typeface="Verdana" charset="0"/>
                <a:ea typeface="굴림" charset="0"/>
              </a:rPr>
              <a:t>и </a:t>
            </a:r>
            <a:r>
              <a:rPr lang="en-US" altLang="ko-KR" sz="1600" dirty="0">
                <a:latin typeface="Verdana" charset="0"/>
                <a:ea typeface="굴림" charset="0"/>
              </a:rPr>
              <a:t>FXS</a:t>
            </a:r>
            <a:r>
              <a:rPr lang="ru-RU" altLang="ko-KR" sz="1600" dirty="0">
                <a:latin typeface="Verdana" charset="0"/>
                <a:ea typeface="굴림" charset="0"/>
              </a:rPr>
              <a:t> портами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Количество портов 1, 2, 4, 8, 16, 32, 48</a:t>
            </a: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12" y="4149080"/>
            <a:ext cx="2075284" cy="685997"/>
          </a:xfrm>
          <a:prstGeom prst="rect">
            <a:avLst/>
          </a:prstGeom>
        </p:spPr>
      </p:pic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4308773"/>
            <a:ext cx="2987824" cy="526304"/>
          </a:xfrm>
          <a:prstGeom prst="rect">
            <a:avLst/>
          </a:prstGeom>
        </p:spPr>
      </p:pic>
      <p:pic>
        <p:nvPicPr>
          <p:cNvPr id="7" name="Рисунок 6" descr="logo_eltex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624" y="5085184"/>
            <a:ext cx="1944216" cy="400811"/>
          </a:xfrm>
          <a:prstGeom prst="rect">
            <a:avLst/>
          </a:prstGeom>
        </p:spPr>
      </p:pic>
      <p:pic>
        <p:nvPicPr>
          <p:cNvPr id="8" name="Рисунок 7" descr="Cisco_logo.s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3928" y="5085184"/>
            <a:ext cx="1368152" cy="724693"/>
          </a:xfrm>
          <a:prstGeom prst="rect">
            <a:avLst/>
          </a:prstGeom>
        </p:spPr>
      </p:pic>
      <p:pic>
        <p:nvPicPr>
          <p:cNvPr id="9" name="Рисунок 8" descr="D-Link_Logo_Blue_stra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2120" y="5075651"/>
            <a:ext cx="1972816" cy="65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25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dirty="0">
                <a:solidFill>
                  <a:schemeClr val="bg2"/>
                </a:solidFill>
              </a:rPr>
              <a:t>VoIP </a:t>
            </a:r>
            <a:r>
              <a:rPr lang="ru-RU" altLang="ru-RU" dirty="0">
                <a:solidFill>
                  <a:schemeClr val="bg2"/>
                </a:solidFill>
              </a:rPr>
              <a:t>шлюзы</a:t>
            </a:r>
            <a:r>
              <a:rPr lang="en-US" altLang="ru-RU" dirty="0">
                <a:solidFill>
                  <a:schemeClr val="bg2"/>
                </a:solidFill>
              </a:rPr>
              <a:t> </a:t>
            </a:r>
            <a:r>
              <a:rPr lang="ru-RU" altLang="ru-RU" dirty="0">
                <a:solidFill>
                  <a:schemeClr val="bg2"/>
                </a:solidFill>
              </a:rPr>
              <a:t>внешний вид</a:t>
            </a:r>
            <a:endParaRPr lang="en-US" altLang="ru-RU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789391"/>
            <a:ext cx="5616624" cy="1043924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Рисунок 11" descr="Grandstream-GXW410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3140968"/>
            <a:ext cx="1800200" cy="945256"/>
          </a:xfrm>
          <a:prstGeom prst="rect">
            <a:avLst/>
          </a:prstGeom>
        </p:spPr>
      </p:pic>
      <p:pic>
        <p:nvPicPr>
          <p:cNvPr id="13" name="Рисунок 12" descr="cisco_linksys_spa112_at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4293096"/>
            <a:ext cx="1262633" cy="1262633"/>
          </a:xfrm>
          <a:prstGeom prst="rect">
            <a:avLst/>
          </a:prstGeom>
        </p:spPr>
      </p:pic>
      <p:pic>
        <p:nvPicPr>
          <p:cNvPr id="14" name="Рисунок 13" descr="11_600x_145817984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6096" y="5057800"/>
            <a:ext cx="1800200" cy="1800200"/>
          </a:xfrm>
          <a:prstGeom prst="rect">
            <a:avLst/>
          </a:prstGeom>
        </p:spPr>
      </p:pic>
      <p:pic>
        <p:nvPicPr>
          <p:cNvPr id="15" name="Рисунок 14" descr="d-link-dvg-5008s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3768" y="5445224"/>
            <a:ext cx="2088232" cy="1138086"/>
          </a:xfrm>
          <a:prstGeom prst="rect">
            <a:avLst/>
          </a:prstGeom>
        </p:spPr>
      </p:pic>
      <p:pic>
        <p:nvPicPr>
          <p:cNvPr id="16" name="Рисунок 15" descr="eltex_tau-72_i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080" y="2708920"/>
            <a:ext cx="3502603" cy="1415092"/>
          </a:xfrm>
          <a:prstGeom prst="rect">
            <a:avLst/>
          </a:prstGeom>
        </p:spPr>
      </p:pic>
      <p:pic>
        <p:nvPicPr>
          <p:cNvPr id="17" name="Рисунок 16" descr="yeastar_neogate_ta240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71800" y="3840229"/>
            <a:ext cx="3384376" cy="965076"/>
          </a:xfrm>
          <a:prstGeom prst="rect">
            <a:avLst/>
          </a:prstGeom>
        </p:spPr>
      </p:pic>
      <p:pic>
        <p:nvPicPr>
          <p:cNvPr id="18" name="Рисунок 17" descr="988_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4248" y="4221088"/>
            <a:ext cx="1522859" cy="84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25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 descr="ori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88" y="4653136"/>
            <a:ext cx="1090533" cy="763840"/>
          </a:xfrm>
          <a:prstGeom prst="rect">
            <a:avLst/>
          </a:prstGeom>
        </p:spPr>
      </p:pic>
      <p:pic>
        <p:nvPicPr>
          <p:cNvPr id="21" name="Рисунок 20" descr="11_600x_145817984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6" y="2564904"/>
            <a:ext cx="1129308" cy="1129308"/>
          </a:xfrm>
          <a:prstGeom prst="rect">
            <a:avLst/>
          </a:prstGeom>
        </p:spPr>
      </p:pic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4765"/>
            <a:ext cx="6934200" cy="715963"/>
          </a:xfrm>
        </p:spPr>
        <p:txBody>
          <a:bodyPr/>
          <a:lstStyle/>
          <a:p>
            <a:r>
              <a:rPr lang="ru-RU" altLang="ru-RU" sz="2800" dirty="0">
                <a:solidFill>
                  <a:schemeClr val="bg2"/>
                </a:solidFill>
              </a:rPr>
              <a:t>Схема подключения </a:t>
            </a:r>
            <a:r>
              <a:rPr lang="en-US" altLang="ru-RU" sz="2800" dirty="0">
                <a:solidFill>
                  <a:schemeClr val="bg2"/>
                </a:solidFill>
              </a:rPr>
              <a:t>VoIP-</a:t>
            </a:r>
            <a:r>
              <a:rPr lang="ru-RU" altLang="ru-RU" sz="2800" dirty="0">
                <a:solidFill>
                  <a:schemeClr val="bg2"/>
                </a:solidFill>
              </a:rPr>
              <a:t>шлюза</a:t>
            </a:r>
            <a:endParaRPr lang="en-US" altLang="ru-RU" sz="2800" dirty="0">
              <a:solidFill>
                <a:schemeClr val="bg2"/>
              </a:solidFill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Двойная стрелка вверх/вниз 10"/>
          <p:cNvSpPr/>
          <p:nvPr/>
        </p:nvSpPr>
        <p:spPr bwMode="auto">
          <a:xfrm>
            <a:off x="5148064" y="1988840"/>
            <a:ext cx="216024" cy="936104"/>
          </a:xfrm>
          <a:prstGeom prst="upDownArrow">
            <a:avLst/>
          </a:prstGeom>
          <a:solidFill>
            <a:srgbClr val="35B1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99992" y="2276872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SIP</a:t>
            </a:r>
            <a:endParaRPr lang="ru-RU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923928" y="3717032"/>
            <a:ext cx="27241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Двойная стрелка вверх/вниз 15"/>
          <p:cNvSpPr/>
          <p:nvPr/>
        </p:nvSpPr>
        <p:spPr bwMode="auto">
          <a:xfrm>
            <a:off x="5148064" y="3356992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2" name="Прямая со стрелкой 21"/>
          <p:cNvCxnSpPr/>
          <p:nvPr/>
        </p:nvCxnSpPr>
        <p:spPr bwMode="auto">
          <a:xfrm>
            <a:off x="5436096" y="2780928"/>
            <a:ext cx="914400" cy="914400"/>
          </a:xfrm>
          <a:prstGeom prst="straightConnector1">
            <a:avLst/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012160" y="450912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Двойная стрелка вверх/вниз 29"/>
          <p:cNvSpPr/>
          <p:nvPr/>
        </p:nvSpPr>
        <p:spPr bwMode="auto">
          <a:xfrm>
            <a:off x="4211960" y="4149080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Двойная стрелка вверх/вниз 30"/>
          <p:cNvSpPr/>
          <p:nvPr/>
        </p:nvSpPr>
        <p:spPr bwMode="auto">
          <a:xfrm>
            <a:off x="5220072" y="4149080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Двойная стрелка вверх/вниз 31"/>
          <p:cNvSpPr/>
          <p:nvPr/>
        </p:nvSpPr>
        <p:spPr bwMode="auto">
          <a:xfrm>
            <a:off x="6300192" y="4149080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4" name="Рисунок 23" descr="ori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4681384"/>
            <a:ext cx="1090533" cy="763840"/>
          </a:xfrm>
          <a:prstGeom prst="rect">
            <a:avLst/>
          </a:prstGeom>
        </p:spPr>
      </p:pic>
      <p:pic>
        <p:nvPicPr>
          <p:cNvPr id="26" name="Рисунок 25" descr="ori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4681384"/>
            <a:ext cx="1090533" cy="763840"/>
          </a:xfrm>
          <a:prstGeom prst="rect">
            <a:avLst/>
          </a:prstGeom>
        </p:spPr>
      </p:pic>
      <p:grpSp>
        <p:nvGrpSpPr>
          <p:cNvPr id="18" name="Группа 17"/>
          <p:cNvGrpSpPr/>
          <p:nvPr/>
        </p:nvGrpSpPr>
        <p:grpSpPr>
          <a:xfrm>
            <a:off x="4211960" y="1295182"/>
            <a:ext cx="2088232" cy="693658"/>
            <a:chOff x="4283968" y="1052736"/>
            <a:chExt cx="2088232" cy="693658"/>
          </a:xfrm>
        </p:grpSpPr>
        <p:pic>
          <p:nvPicPr>
            <p:cNvPr id="19" name="Рисунок 18" descr="logo-kcell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83968" y="1052736"/>
              <a:ext cx="1720326" cy="608162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4427984" y="1484784"/>
              <a:ext cx="19442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>
                  <a:solidFill>
                    <a:srgbClr val="7030A0"/>
                  </a:solidFill>
                </a:rPr>
                <a:t>Бизнес-телефония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012160" y="450912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1219200" y="1828800"/>
            <a:ext cx="7086600" cy="792163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ru-RU" sz="36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2123728" y="1844824"/>
            <a:ext cx="5976664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ru-RU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Количество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FXO</a:t>
            </a:r>
            <a:r>
              <a:rPr kumimoji="0" lang="en-US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</a:t>
            </a:r>
            <a:r>
              <a:rPr kumimoji="0" lang="ru-RU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портов (в него подключаются аналоговые городские линии)</a:t>
            </a:r>
            <a:endParaRPr kumimoji="0" lang="ru-RU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lvl="0" indent="-342900" algn="l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Количество </a:t>
            </a:r>
            <a:r>
              <a:rPr lang="en-US" altLang="ko-KR" sz="1400" dirty="0">
                <a:latin typeface="Verdana" charset="0"/>
                <a:ea typeface="굴림" charset="0"/>
              </a:rPr>
              <a:t>FXS </a:t>
            </a:r>
            <a:r>
              <a:rPr lang="ru-RU" altLang="ko-KR" sz="1400" dirty="0">
                <a:latin typeface="Verdana" charset="0"/>
                <a:ea typeface="굴림" charset="0"/>
              </a:rPr>
              <a:t>портов (в него подключаются аналоговые внутренние линии)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Есть ли готовая инфраструктура (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19” 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шкафы,</a:t>
            </a:r>
            <a:r>
              <a:rPr kumimoji="0" lang="ru-RU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</a:t>
            </a:r>
            <a:r>
              <a:rPr lang="ru-RU" altLang="ko-KR" sz="1400" dirty="0">
                <a:latin typeface="Verdana" charset="0"/>
                <a:ea typeface="굴림" charset="0"/>
              </a:rPr>
              <a:t>установлены ли розетки на рабочих местах, протянуты ли провода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noProof="0" dirty="0">
                <a:latin typeface="Verdana" charset="0"/>
                <a:ea typeface="굴림" charset="0"/>
              </a:rPr>
              <a:t>Какой ширины интернет канал, тип подключения, какой провайдер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</p:txBody>
      </p:sp>
      <p:sp>
        <p:nvSpPr>
          <p:cNvPr id="24" name="Заголовок 23"/>
          <p:cNvSpPr>
            <a:spLocks noGrp="1"/>
          </p:cNvSpPr>
          <p:nvPr>
            <p:ph type="title"/>
          </p:nvPr>
        </p:nvSpPr>
        <p:spPr>
          <a:xfrm>
            <a:off x="1828800" y="620688"/>
            <a:ext cx="7315200" cy="715963"/>
          </a:xfrm>
        </p:spPr>
        <p:txBody>
          <a:bodyPr/>
          <a:lstStyle/>
          <a:p>
            <a:pPr lvl="0"/>
            <a:r>
              <a:rPr lang="ru-RU" altLang="ru-RU" sz="2400" dirty="0">
                <a:solidFill>
                  <a:schemeClr val="bg2"/>
                </a:solidFill>
              </a:rPr>
              <a:t>Вопросы по </a:t>
            </a:r>
            <a:r>
              <a:rPr lang="en-US" altLang="ru-RU" sz="2400" dirty="0">
                <a:solidFill>
                  <a:schemeClr val="bg2"/>
                </a:solidFill>
              </a:rPr>
              <a:t>VoIP-</a:t>
            </a:r>
            <a:r>
              <a:rPr lang="ru-RU" altLang="ru-RU" sz="2400" dirty="0">
                <a:solidFill>
                  <a:schemeClr val="bg2"/>
                </a:solidFill>
              </a:rPr>
              <a:t>шлюзам клиенту</a:t>
            </a:r>
            <a:br>
              <a:rPr lang="en-US" altLang="ru-RU" dirty="0">
                <a:solidFill>
                  <a:schemeClr val="bg2"/>
                </a:solidFill>
              </a:rPr>
            </a:b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dirty="0">
                <a:solidFill>
                  <a:schemeClr val="bg2"/>
                </a:solidFill>
              </a:rPr>
              <a:t>SIP </a:t>
            </a:r>
            <a:r>
              <a:rPr lang="ru-RU" altLang="ru-RU" dirty="0">
                <a:solidFill>
                  <a:schemeClr val="bg2"/>
                </a:solidFill>
              </a:rPr>
              <a:t>телефоны</a:t>
            </a:r>
            <a:endParaRPr lang="en-US" altLang="ru-RU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789390"/>
            <a:ext cx="6588224" cy="1345727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Официальные партнеры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Большой модельный ряд (от простых до бизнес класса)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Широкая совместимость с большинством </a:t>
            </a:r>
            <a:r>
              <a:rPr lang="en-US" altLang="ko-KR" sz="1600" dirty="0">
                <a:latin typeface="Verdana" charset="0"/>
                <a:ea typeface="굴림" charset="0"/>
              </a:rPr>
              <a:t>SIP </a:t>
            </a:r>
            <a:r>
              <a:rPr lang="ru-RU" altLang="ko-KR" sz="1600" dirty="0">
                <a:latin typeface="Verdana" charset="0"/>
                <a:ea typeface="굴림" charset="0"/>
              </a:rPr>
              <a:t>платформ</a:t>
            </a: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12" y="4375774"/>
            <a:ext cx="2247309" cy="670719"/>
          </a:xfrm>
          <a:prstGeom prst="rect">
            <a:avLst/>
          </a:prstGeom>
        </p:spPr>
      </p:pic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5301208"/>
            <a:ext cx="2987824" cy="526304"/>
          </a:xfrm>
          <a:prstGeom prst="rect">
            <a:avLst/>
          </a:prstGeom>
        </p:spPr>
      </p:pic>
      <p:pic>
        <p:nvPicPr>
          <p:cNvPr id="7" name="Рисунок 6" descr="yealin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7904" y="4509120"/>
            <a:ext cx="1785375" cy="504056"/>
          </a:xfrm>
          <a:prstGeom prst="rect">
            <a:avLst/>
          </a:prstGeom>
        </p:spPr>
      </p:pic>
      <p:pic>
        <p:nvPicPr>
          <p:cNvPr id="8" name="Рисунок 7" descr="Cisco_logo.s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200" y="4293096"/>
            <a:ext cx="1368152" cy="72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03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sz="3200" dirty="0">
                <a:solidFill>
                  <a:schemeClr val="bg2"/>
                </a:solidFill>
              </a:rPr>
              <a:t>SIP </a:t>
            </a:r>
            <a:r>
              <a:rPr lang="ru-RU" altLang="ru-RU" sz="3200" dirty="0">
                <a:solidFill>
                  <a:schemeClr val="bg2"/>
                </a:solidFill>
              </a:rPr>
              <a:t>телефоны</a:t>
            </a:r>
            <a:r>
              <a:rPr lang="en-US" altLang="ru-RU" sz="3200" dirty="0">
                <a:solidFill>
                  <a:schemeClr val="bg2"/>
                </a:solidFill>
              </a:rPr>
              <a:t> </a:t>
            </a:r>
            <a:r>
              <a:rPr lang="ru-RU" altLang="ru-RU" sz="3200" dirty="0">
                <a:solidFill>
                  <a:schemeClr val="bg2"/>
                </a:solidFill>
              </a:rPr>
              <a:t>начального уровня</a:t>
            </a:r>
            <a:endParaRPr lang="en-US" altLang="ru-RU" sz="3200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789390"/>
            <a:ext cx="6588224" cy="1345727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Рисунок 16" descr="cisco-6941-ip-phone-cp-6941-c-k9-5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2492896"/>
            <a:ext cx="2520280" cy="2520280"/>
          </a:xfrm>
          <a:prstGeom prst="rect">
            <a:avLst/>
          </a:prstGeom>
        </p:spPr>
      </p:pic>
      <p:pic>
        <p:nvPicPr>
          <p:cNvPr id="18" name="Рисунок 17" descr="grandstream_gxp1405_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752" y="4005064"/>
            <a:ext cx="2592288" cy="2592288"/>
          </a:xfrm>
          <a:prstGeom prst="rect">
            <a:avLst/>
          </a:prstGeom>
        </p:spPr>
      </p:pic>
      <p:pic>
        <p:nvPicPr>
          <p:cNvPr id="20" name="Рисунок 19" descr="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112" y="4221088"/>
            <a:ext cx="2520280" cy="2520280"/>
          </a:xfrm>
          <a:prstGeom prst="rect">
            <a:avLst/>
          </a:prstGeom>
        </p:spPr>
      </p:pic>
      <p:pic>
        <p:nvPicPr>
          <p:cNvPr id="19" name="Рисунок 18" descr="77b55bfdda2280eccad07048500990e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3968" y="2539963"/>
            <a:ext cx="2743240" cy="196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03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sz="3600" dirty="0">
                <a:solidFill>
                  <a:schemeClr val="bg2"/>
                </a:solidFill>
              </a:rPr>
              <a:t>SIP </a:t>
            </a:r>
            <a:r>
              <a:rPr lang="ru-RU" altLang="ru-RU" sz="3200" dirty="0">
                <a:solidFill>
                  <a:schemeClr val="bg2"/>
                </a:solidFill>
              </a:rPr>
              <a:t>телефоны</a:t>
            </a:r>
            <a:r>
              <a:rPr lang="en-US" altLang="ru-RU" sz="3600" dirty="0">
                <a:solidFill>
                  <a:schemeClr val="bg2"/>
                </a:solidFill>
              </a:rPr>
              <a:t> </a:t>
            </a:r>
            <a:r>
              <a:rPr lang="ru-RU" altLang="ru-RU" sz="3200" dirty="0">
                <a:solidFill>
                  <a:schemeClr val="bg2"/>
                </a:solidFill>
              </a:rPr>
              <a:t>среднего уровня</a:t>
            </a:r>
            <a:endParaRPr lang="en-US" altLang="ru-RU" sz="3200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789390"/>
            <a:ext cx="6588224" cy="1345727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Рисунок 8" descr="data_sheet_c78-468673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4955629"/>
            <a:ext cx="2736205" cy="1641723"/>
          </a:xfrm>
          <a:prstGeom prst="rect">
            <a:avLst/>
          </a:prstGeom>
        </p:spPr>
      </p:pic>
      <p:pic>
        <p:nvPicPr>
          <p:cNvPr id="10" name="Рисунок 9" descr="GXP2200-EX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40" y="2708920"/>
            <a:ext cx="2921570" cy="1999189"/>
          </a:xfrm>
          <a:prstGeom prst="rect">
            <a:avLst/>
          </a:prstGeom>
        </p:spPr>
      </p:pic>
      <p:pic>
        <p:nvPicPr>
          <p:cNvPr id="11" name="Рисунок 10" descr="UPTA-HDV230-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512" y="2708920"/>
            <a:ext cx="2520280" cy="1976320"/>
          </a:xfrm>
          <a:prstGeom prst="rect">
            <a:avLst/>
          </a:prstGeom>
        </p:spPr>
      </p:pic>
      <p:pic>
        <p:nvPicPr>
          <p:cNvPr id="13" name="Рисунок 12" descr="yealink-exp38-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9992" y="4713036"/>
            <a:ext cx="4032448" cy="2100340"/>
          </a:xfrm>
          <a:prstGeom prst="rect">
            <a:avLst/>
          </a:prstGeom>
        </p:spPr>
      </p:pic>
      <p:pic>
        <p:nvPicPr>
          <p:cNvPr id="14" name="Рисунок 13" descr="Cisco-ip-phone-796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7695" y="3068960"/>
            <a:ext cx="2774785" cy="17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03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sz="3600" dirty="0">
                <a:solidFill>
                  <a:schemeClr val="bg2"/>
                </a:solidFill>
              </a:rPr>
              <a:t>SIP </a:t>
            </a:r>
            <a:r>
              <a:rPr lang="ru-RU" altLang="ru-RU" sz="3200" dirty="0">
                <a:solidFill>
                  <a:schemeClr val="bg2"/>
                </a:solidFill>
              </a:rPr>
              <a:t>телефоны</a:t>
            </a:r>
            <a:r>
              <a:rPr lang="en-US" altLang="ru-RU" sz="3600" dirty="0">
                <a:solidFill>
                  <a:schemeClr val="bg2"/>
                </a:solidFill>
              </a:rPr>
              <a:t> </a:t>
            </a:r>
            <a:r>
              <a:rPr lang="ru-RU" altLang="ru-RU" sz="3200" dirty="0" err="1">
                <a:solidFill>
                  <a:schemeClr val="bg2"/>
                </a:solidFill>
              </a:rPr>
              <a:t>топового</a:t>
            </a:r>
            <a:r>
              <a:rPr lang="ru-RU" altLang="ru-RU" sz="3200" dirty="0">
                <a:solidFill>
                  <a:schemeClr val="bg2"/>
                </a:solidFill>
              </a:rPr>
              <a:t> уровня</a:t>
            </a:r>
            <a:endParaRPr lang="en-US" altLang="ru-RU" sz="3200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789390"/>
            <a:ext cx="6588224" cy="1345727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Рисунок 11" descr="gxv3275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2780928"/>
            <a:ext cx="2448272" cy="2448272"/>
          </a:xfrm>
          <a:prstGeom prst="rect">
            <a:avLst/>
          </a:prstGeom>
        </p:spPr>
      </p:pic>
      <p:pic>
        <p:nvPicPr>
          <p:cNvPr id="15" name="Рисунок 14" descr="Yealink+T48G+IP+Phone+Color+Touch+Scree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00" y="2708920"/>
            <a:ext cx="2311964" cy="1626081"/>
          </a:xfrm>
          <a:prstGeom prst="rect">
            <a:avLst/>
          </a:prstGeom>
        </p:spPr>
      </p:pic>
      <p:pic>
        <p:nvPicPr>
          <p:cNvPr id="16" name="Рисунок 15" descr="0082764_yealink-sip-t58v-smart-media-android-touch-screen-ip-phon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330" y="2492896"/>
            <a:ext cx="3118542" cy="2304256"/>
          </a:xfrm>
          <a:prstGeom prst="rect">
            <a:avLst/>
          </a:prstGeom>
        </p:spPr>
      </p:pic>
      <p:pic>
        <p:nvPicPr>
          <p:cNvPr id="18" name="Рисунок 17" descr="7220038_ori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4128" y="4680520"/>
            <a:ext cx="2160620" cy="1772816"/>
          </a:xfrm>
          <a:prstGeom prst="rect">
            <a:avLst/>
          </a:prstGeom>
        </p:spPr>
      </p:pic>
      <p:pic>
        <p:nvPicPr>
          <p:cNvPr id="19" name="Рисунок 18" descr="9070 video side view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7624" y="4869513"/>
            <a:ext cx="2685182" cy="172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03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67944" y="3429000"/>
            <a:ext cx="27241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Рисунок 17" descr="929468_v01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990" y="4085388"/>
            <a:ext cx="1237050" cy="927788"/>
          </a:xfrm>
          <a:prstGeom prst="rect">
            <a:avLst/>
          </a:prstGeom>
        </p:spPr>
      </p:pic>
      <p:pic>
        <p:nvPicPr>
          <p:cNvPr id="19" name="Рисунок 18" descr="929468_v01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024" y="4149080"/>
            <a:ext cx="1237050" cy="927788"/>
          </a:xfrm>
          <a:prstGeom prst="rect">
            <a:avLst/>
          </a:prstGeom>
        </p:spPr>
      </p:pic>
      <p:pic>
        <p:nvPicPr>
          <p:cNvPr id="20" name="Рисунок 19" descr="929468_v01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230" y="4149080"/>
            <a:ext cx="1237050" cy="927788"/>
          </a:xfrm>
          <a:prstGeom prst="rect">
            <a:avLst/>
          </a:prstGeom>
        </p:spPr>
      </p:pic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156176" y="342900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Двойная стрелка вверх/вниз 29"/>
          <p:cNvSpPr/>
          <p:nvPr/>
        </p:nvSpPr>
        <p:spPr bwMode="auto">
          <a:xfrm>
            <a:off x="4355976" y="3861048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Двойная стрелка вверх/вниз 30"/>
          <p:cNvSpPr/>
          <p:nvPr/>
        </p:nvSpPr>
        <p:spPr bwMode="auto">
          <a:xfrm>
            <a:off x="5364088" y="3861048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Двойная стрелка вверх/вниз 31"/>
          <p:cNvSpPr/>
          <p:nvPr/>
        </p:nvSpPr>
        <p:spPr bwMode="auto">
          <a:xfrm>
            <a:off x="6444208" y="3861048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4765"/>
            <a:ext cx="6934200" cy="715963"/>
          </a:xfrm>
        </p:spPr>
        <p:txBody>
          <a:bodyPr/>
          <a:lstStyle/>
          <a:p>
            <a:r>
              <a:rPr lang="ru-RU" altLang="ru-RU" sz="2800" dirty="0">
                <a:solidFill>
                  <a:schemeClr val="bg2"/>
                </a:solidFill>
              </a:rPr>
              <a:t>Схема подключения </a:t>
            </a:r>
            <a:r>
              <a:rPr lang="en-US" altLang="ru-RU" sz="2800" dirty="0">
                <a:solidFill>
                  <a:schemeClr val="bg2"/>
                </a:solidFill>
              </a:rPr>
              <a:t>SIP-</a:t>
            </a:r>
            <a:r>
              <a:rPr lang="ru-RU" altLang="ru-RU" sz="2800" dirty="0">
                <a:solidFill>
                  <a:schemeClr val="bg2"/>
                </a:solidFill>
              </a:rPr>
              <a:t>телефонов</a:t>
            </a:r>
            <a:endParaRPr lang="en-US" altLang="ru-RU" sz="2800" dirty="0">
              <a:solidFill>
                <a:schemeClr val="bg2"/>
              </a:solidFill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Двойная стрелка вверх/вниз 10"/>
          <p:cNvSpPr/>
          <p:nvPr/>
        </p:nvSpPr>
        <p:spPr bwMode="auto">
          <a:xfrm>
            <a:off x="5292080" y="2708920"/>
            <a:ext cx="216024" cy="936104"/>
          </a:xfrm>
          <a:prstGeom prst="upDownArrow">
            <a:avLst/>
          </a:prstGeom>
          <a:solidFill>
            <a:srgbClr val="35B1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16016" y="2924944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SIP</a:t>
            </a:r>
            <a:endParaRPr lang="ru-RU" dirty="0"/>
          </a:p>
        </p:txBody>
      </p:sp>
      <p:cxnSp>
        <p:nvCxnSpPr>
          <p:cNvPr id="22" name="Прямая со стрелкой 21"/>
          <p:cNvCxnSpPr/>
          <p:nvPr/>
        </p:nvCxnSpPr>
        <p:spPr bwMode="auto">
          <a:xfrm>
            <a:off x="5652120" y="3501008"/>
            <a:ext cx="914400" cy="914400"/>
          </a:xfrm>
          <a:prstGeom prst="straightConnector1">
            <a:avLst/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" name="Группа 15"/>
          <p:cNvGrpSpPr/>
          <p:nvPr/>
        </p:nvGrpSpPr>
        <p:grpSpPr>
          <a:xfrm>
            <a:off x="4355976" y="1916832"/>
            <a:ext cx="2088232" cy="693658"/>
            <a:chOff x="4283968" y="1052736"/>
            <a:chExt cx="2088232" cy="693658"/>
          </a:xfrm>
        </p:grpSpPr>
        <p:pic>
          <p:nvPicPr>
            <p:cNvPr id="17" name="Рисунок 16" descr="logo-kcell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83968" y="1052736"/>
              <a:ext cx="1720326" cy="608162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4427984" y="1484784"/>
              <a:ext cx="19442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>
                  <a:solidFill>
                    <a:srgbClr val="7030A0"/>
                  </a:solidFill>
                </a:rPr>
                <a:t>Бизнес-телефония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012160" y="450912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1219200" y="1828800"/>
            <a:ext cx="7086600" cy="792163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ru-RU" sz="36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2123728" y="1844824"/>
            <a:ext cx="5976664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ru-RU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Количество начального ценового сегмента (простые сотрудники,</a:t>
            </a:r>
            <a:r>
              <a:rPr kumimoji="0" lang="ru-RU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менеджеры и т.д.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)</a:t>
            </a:r>
          </a:p>
          <a:p>
            <a:pPr marL="342900" lvl="0" indent="-342900" algn="l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Количество среднего ценового сегмента (начальники отделов, департаментов)</a:t>
            </a:r>
          </a:p>
          <a:p>
            <a:pPr marL="342900" lvl="0" indent="-342900" algn="l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Количество </a:t>
            </a:r>
            <a:r>
              <a:rPr lang="ru-RU" altLang="ko-KR" sz="1400" dirty="0" err="1">
                <a:latin typeface="Verdana" charset="0"/>
                <a:ea typeface="굴림" charset="0"/>
              </a:rPr>
              <a:t>топового</a:t>
            </a:r>
            <a:r>
              <a:rPr lang="ru-RU" altLang="ko-KR" sz="1400" dirty="0">
                <a:latin typeface="Verdana" charset="0"/>
                <a:ea typeface="굴림" charset="0"/>
              </a:rPr>
              <a:t> ценового сегмента (директора, топ менеджеры)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noProof="0" dirty="0">
                <a:latin typeface="Verdana" charset="0"/>
                <a:ea typeface="굴림" charset="0"/>
              </a:rPr>
              <a:t>Какой ширины интернет канал, тип подключения, какой провайдер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Количество </a:t>
            </a:r>
            <a:r>
              <a:rPr lang="ru-RU" altLang="ko-KR" sz="1400" dirty="0" err="1">
                <a:latin typeface="Verdana" charset="0"/>
                <a:ea typeface="굴림" charset="0"/>
              </a:rPr>
              <a:t>акаунтов</a:t>
            </a:r>
            <a:r>
              <a:rPr lang="ru-RU" altLang="ko-KR" sz="1400" dirty="0">
                <a:latin typeface="Verdana" charset="0"/>
                <a:ea typeface="굴림" charset="0"/>
              </a:rPr>
              <a:t> в телефоне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noProof="0" dirty="0">
                <a:latin typeface="Verdana" charset="0"/>
                <a:ea typeface="굴림" charset="0"/>
              </a:rPr>
              <a:t>Нужен ли </a:t>
            </a:r>
            <a:r>
              <a:rPr lang="ru-RU" altLang="ko-KR" sz="1400" noProof="0" dirty="0" err="1">
                <a:latin typeface="Verdana" charset="0"/>
                <a:ea typeface="굴림" charset="0"/>
              </a:rPr>
              <a:t>тачскрин</a:t>
            </a:r>
            <a:r>
              <a:rPr lang="ru-RU" altLang="ko-KR" sz="1400" dirty="0">
                <a:latin typeface="Verdana" charset="0"/>
                <a:ea typeface="굴림" charset="0"/>
              </a:rPr>
              <a:t> и </a:t>
            </a:r>
            <a:r>
              <a:rPr lang="en-US" altLang="ko-KR" sz="1400" dirty="0">
                <a:latin typeface="Verdana" charset="0"/>
                <a:ea typeface="굴림" charset="0"/>
              </a:rPr>
              <a:t>Android</a:t>
            </a:r>
            <a:endParaRPr lang="ru-RU" altLang="ko-KR" sz="1400" dirty="0">
              <a:latin typeface="Verdana" charset="0"/>
              <a:ea typeface="굴림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noProof="0" dirty="0">
                <a:latin typeface="Verdana" charset="0"/>
                <a:ea typeface="굴림" charset="0"/>
              </a:rPr>
              <a:t>Какое количество гибких клавиш быстрого вызова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noProof="0" dirty="0">
                <a:latin typeface="Verdana" charset="0"/>
                <a:ea typeface="굴림" charset="0"/>
              </a:rPr>
              <a:t>Нужна ли камера для видеосвязи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</p:txBody>
      </p:sp>
      <p:sp>
        <p:nvSpPr>
          <p:cNvPr id="24" name="Заголовок 23"/>
          <p:cNvSpPr>
            <a:spLocks noGrp="1"/>
          </p:cNvSpPr>
          <p:nvPr>
            <p:ph type="title"/>
          </p:nvPr>
        </p:nvSpPr>
        <p:spPr>
          <a:xfrm>
            <a:off x="1828800" y="620688"/>
            <a:ext cx="7315200" cy="715963"/>
          </a:xfrm>
        </p:spPr>
        <p:txBody>
          <a:bodyPr/>
          <a:lstStyle/>
          <a:p>
            <a:pPr lvl="0"/>
            <a:r>
              <a:rPr lang="ru-RU" altLang="ru-RU" sz="2400" dirty="0">
                <a:solidFill>
                  <a:schemeClr val="bg2"/>
                </a:solidFill>
              </a:rPr>
              <a:t>Вопросы по </a:t>
            </a:r>
            <a:r>
              <a:rPr lang="en-US" altLang="ru-RU" sz="2400" dirty="0">
                <a:solidFill>
                  <a:schemeClr val="bg2"/>
                </a:solidFill>
              </a:rPr>
              <a:t>SIP-</a:t>
            </a:r>
            <a:r>
              <a:rPr lang="ru-RU" altLang="ru-RU" sz="2400" dirty="0">
                <a:solidFill>
                  <a:schemeClr val="bg2"/>
                </a:solidFill>
              </a:rPr>
              <a:t>телефонам клиенту</a:t>
            </a:r>
            <a:br>
              <a:rPr lang="en-US" altLang="ru-RU" dirty="0">
                <a:solidFill>
                  <a:schemeClr val="bg2"/>
                </a:solidFill>
              </a:rPr>
            </a:b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dirty="0">
                <a:solidFill>
                  <a:schemeClr val="bg2"/>
                </a:solidFill>
              </a:rPr>
              <a:t>Call-</a:t>
            </a:r>
            <a:r>
              <a:rPr lang="ru-RU" altLang="ru-RU" dirty="0">
                <a:solidFill>
                  <a:schemeClr val="bg2"/>
                </a:solidFill>
              </a:rPr>
              <a:t>центр, </a:t>
            </a:r>
            <a:r>
              <a:rPr lang="en-US" altLang="ru-RU" dirty="0">
                <a:solidFill>
                  <a:schemeClr val="bg2"/>
                </a:solidFill>
              </a:rPr>
              <a:t>Contact-</a:t>
            </a:r>
            <a:r>
              <a:rPr lang="ru-RU" altLang="ru-RU" dirty="0">
                <a:solidFill>
                  <a:schemeClr val="bg2"/>
                </a:solidFill>
              </a:rPr>
              <a:t>центр</a:t>
            </a:r>
            <a:endParaRPr lang="en-US" altLang="ru-RU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563583"/>
            <a:ext cx="5616624" cy="1801521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Нужен гибкий функционал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Интеграция с </a:t>
            </a:r>
            <a:r>
              <a:rPr lang="en-US" altLang="ko-KR" sz="1600" dirty="0">
                <a:latin typeface="Verdana" charset="0"/>
                <a:ea typeface="굴림" charset="0"/>
              </a:rPr>
              <a:t>CRM, </a:t>
            </a:r>
            <a:r>
              <a:rPr lang="ru-RU" altLang="ko-KR" sz="1600" dirty="0">
                <a:latin typeface="Verdana" charset="0"/>
                <a:ea typeface="굴림" charset="0"/>
              </a:rPr>
              <a:t>базой данных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Ведение карточки клиента</a:t>
            </a:r>
            <a:endParaRPr lang="en-US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Запись разговоров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Повышение лояльности клиентов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Контроль работы персонала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Автоматизация бизнес-процессов</a:t>
            </a: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5062537"/>
            <a:ext cx="2247309" cy="670719"/>
          </a:xfrm>
          <a:prstGeom prst="rect">
            <a:avLst/>
          </a:prstGeom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4903243"/>
            <a:ext cx="2075284" cy="685997"/>
          </a:xfrm>
          <a:prstGeom prst="rect">
            <a:avLst/>
          </a:prstGeom>
        </p:spPr>
      </p:pic>
      <p:pic>
        <p:nvPicPr>
          <p:cNvPr id="9" name="Рисунок 8" descr="oktell_logo_goo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616" y="5013176"/>
            <a:ext cx="2491087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55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sz="3200" dirty="0">
                <a:solidFill>
                  <a:schemeClr val="bg2"/>
                </a:solidFill>
              </a:rPr>
              <a:t>Call-</a:t>
            </a:r>
            <a:r>
              <a:rPr lang="ru-RU" altLang="ru-RU" sz="3200" dirty="0">
                <a:solidFill>
                  <a:schemeClr val="bg2"/>
                </a:solidFill>
              </a:rPr>
              <a:t>центр. Гибкий функционал</a:t>
            </a:r>
            <a:endParaRPr lang="en-US" altLang="ru-RU" sz="3200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563583"/>
            <a:ext cx="5616624" cy="1801521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Рисунок 8" descr="363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12" y="2705049"/>
            <a:ext cx="7020272" cy="374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55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sz="3200" dirty="0">
                <a:solidFill>
                  <a:schemeClr val="bg2"/>
                </a:solidFill>
              </a:rPr>
              <a:t>Call-</a:t>
            </a:r>
            <a:r>
              <a:rPr lang="ru-RU" altLang="ru-RU" sz="3200" dirty="0">
                <a:solidFill>
                  <a:schemeClr val="bg2"/>
                </a:solidFill>
              </a:rPr>
              <a:t>центр. Интеграция с </a:t>
            </a:r>
            <a:r>
              <a:rPr lang="en-US" altLang="ru-RU" sz="3200" dirty="0">
                <a:solidFill>
                  <a:schemeClr val="bg2"/>
                </a:solidFill>
              </a:rPr>
              <a:t>CRM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563583"/>
            <a:ext cx="5616624" cy="1801521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Рисунок 9" descr="cr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3140968"/>
            <a:ext cx="2314682" cy="2304256"/>
          </a:xfrm>
          <a:prstGeom prst="rect">
            <a:avLst/>
          </a:prstGeom>
        </p:spPr>
      </p:pic>
      <p:pic>
        <p:nvPicPr>
          <p:cNvPr id="11" name="Рисунок 10" descr="BUhNIDr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3888" y="3140968"/>
            <a:ext cx="2387286" cy="2387286"/>
          </a:xfrm>
          <a:prstGeom prst="rect">
            <a:avLst/>
          </a:prstGeom>
        </p:spPr>
      </p:pic>
      <p:pic>
        <p:nvPicPr>
          <p:cNvPr id="12" name="Рисунок 11" descr="logo_bi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592" y="3140968"/>
            <a:ext cx="2357598" cy="235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55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sz="3200" dirty="0">
                <a:solidFill>
                  <a:schemeClr val="bg2"/>
                </a:solidFill>
              </a:rPr>
              <a:t>Call-</a:t>
            </a:r>
            <a:r>
              <a:rPr lang="ru-RU" altLang="ru-RU" sz="3200" dirty="0">
                <a:solidFill>
                  <a:schemeClr val="bg2"/>
                </a:solidFill>
              </a:rPr>
              <a:t>центр. Карточка клиента</a:t>
            </a:r>
            <a:endParaRPr lang="en-US" altLang="ru-RU" sz="3200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563583"/>
            <a:ext cx="5616624" cy="1801521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Рисунок 7" descr="Kartochka_klienta_dialog_Koll_Centra_Okt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2574970"/>
            <a:ext cx="5760640" cy="395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55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sz="3200" dirty="0">
                <a:solidFill>
                  <a:schemeClr val="bg2"/>
                </a:solidFill>
              </a:rPr>
              <a:t>Call-</a:t>
            </a:r>
            <a:r>
              <a:rPr lang="ru-RU" altLang="ru-RU" sz="3200" dirty="0">
                <a:solidFill>
                  <a:schemeClr val="bg2"/>
                </a:solidFill>
              </a:rPr>
              <a:t>центр. Запись разговоров</a:t>
            </a:r>
            <a:endParaRPr lang="en-US" altLang="ru-RU" sz="3200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563583"/>
            <a:ext cx="5616624" cy="1801521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 descr="stat_journal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96" y="2564904"/>
            <a:ext cx="5524790" cy="405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55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sz="3200" dirty="0">
                <a:solidFill>
                  <a:schemeClr val="bg2"/>
                </a:solidFill>
              </a:rPr>
              <a:t>Call-</a:t>
            </a:r>
            <a:r>
              <a:rPr lang="ru-RU" altLang="ru-RU" sz="3200" dirty="0">
                <a:solidFill>
                  <a:schemeClr val="bg2"/>
                </a:solidFill>
              </a:rPr>
              <a:t>центр. Отчеты</a:t>
            </a:r>
            <a:endParaRPr lang="en-US" altLang="ru-RU" sz="3200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563583"/>
            <a:ext cx="5616624" cy="1801521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 descr="sta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2472289"/>
            <a:ext cx="5184576" cy="417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55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sz="2800" dirty="0">
                <a:solidFill>
                  <a:schemeClr val="bg2"/>
                </a:solidFill>
              </a:rPr>
              <a:t>Call-</a:t>
            </a:r>
            <a:r>
              <a:rPr lang="ru-RU" altLang="ru-RU" sz="2800" dirty="0">
                <a:solidFill>
                  <a:schemeClr val="bg2"/>
                </a:solidFill>
              </a:rPr>
              <a:t>центр. Контроль работы операторов</a:t>
            </a:r>
            <a:endParaRPr lang="en-US" altLang="ru-RU" sz="2800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563583"/>
            <a:ext cx="5616624" cy="1801521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 descr="800px-Дашборд-0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63" y="2564904"/>
            <a:ext cx="7487361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55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4765"/>
            <a:ext cx="6934200" cy="715963"/>
          </a:xfrm>
        </p:spPr>
        <p:txBody>
          <a:bodyPr/>
          <a:lstStyle/>
          <a:p>
            <a:r>
              <a:rPr lang="ru-RU" altLang="ru-RU" sz="2800" dirty="0">
                <a:solidFill>
                  <a:schemeClr val="bg2"/>
                </a:solidFill>
              </a:rPr>
              <a:t>Схема подключения </a:t>
            </a:r>
            <a:r>
              <a:rPr lang="en-US" altLang="ru-RU" sz="2800" dirty="0">
                <a:solidFill>
                  <a:schemeClr val="bg2"/>
                </a:solidFill>
              </a:rPr>
              <a:t>Call-</a:t>
            </a:r>
            <a:r>
              <a:rPr lang="ru-RU" altLang="ru-RU" sz="2800" dirty="0">
                <a:solidFill>
                  <a:schemeClr val="bg2"/>
                </a:solidFill>
              </a:rPr>
              <a:t>центра</a:t>
            </a:r>
            <a:endParaRPr lang="en-US" altLang="ru-RU" sz="2800" dirty="0">
              <a:solidFill>
                <a:schemeClr val="bg2"/>
              </a:solidFill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012160" y="450912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7" name="Группа 16"/>
          <p:cNvGrpSpPr/>
          <p:nvPr/>
        </p:nvGrpSpPr>
        <p:grpSpPr>
          <a:xfrm>
            <a:off x="5220072" y="1223174"/>
            <a:ext cx="2088232" cy="693658"/>
            <a:chOff x="4283968" y="1052736"/>
            <a:chExt cx="2088232" cy="693658"/>
          </a:xfrm>
        </p:grpSpPr>
        <p:pic>
          <p:nvPicPr>
            <p:cNvPr id="18" name="Рисунок 17" descr="logo-kcell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3968" y="1052736"/>
              <a:ext cx="1720326" cy="608162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4427984" y="1484784"/>
              <a:ext cx="19442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>
                  <a:solidFill>
                    <a:srgbClr val="7030A0"/>
                  </a:solidFill>
                </a:rPr>
                <a:t>Бизнес-телефония</a:t>
              </a:r>
            </a:p>
          </p:txBody>
        </p:sp>
      </p:grpSp>
      <p:pic>
        <p:nvPicPr>
          <p:cNvPr id="20" name="Рисунок 19" descr="oktell_sh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6532" y="1916832"/>
            <a:ext cx="7087223" cy="42484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012160" y="450912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1219200" y="1828800"/>
            <a:ext cx="7086600" cy="792163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ru-RU" sz="36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1907704" y="1772816"/>
            <a:ext cx="5976664" cy="2403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ru-RU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Страховая компания «</a:t>
            </a:r>
            <a:r>
              <a:rPr lang="ru-RU" altLang="ko-KR" sz="1400" dirty="0" err="1">
                <a:latin typeface="Verdana" charset="0"/>
                <a:ea typeface="굴림" charset="0"/>
              </a:rPr>
              <a:t>ЦеснаГарант</a:t>
            </a:r>
            <a:r>
              <a:rPr lang="ru-RU" altLang="ko-KR" sz="1400" dirty="0">
                <a:latin typeface="Verdana" charset="0"/>
                <a:ea typeface="굴림" charset="0"/>
              </a:rPr>
              <a:t>»</a:t>
            </a:r>
            <a:endParaRPr kumimoji="0" lang="ru-RU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Финансовая к</a:t>
            </a:r>
            <a:r>
              <a:rPr kumimoji="0" lang="ru-RU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омпания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«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Instaforex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»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Образовательная компания «</a:t>
            </a:r>
            <a:r>
              <a:rPr lang="en-US" altLang="ko-KR" sz="1400" dirty="0" err="1">
                <a:latin typeface="Verdana" charset="0"/>
                <a:ea typeface="굴림" charset="0"/>
              </a:rPr>
              <a:t>MyChina</a:t>
            </a:r>
            <a:r>
              <a:rPr lang="ru-RU" altLang="ko-KR" sz="1400" dirty="0">
                <a:latin typeface="Verdana" charset="0"/>
                <a:ea typeface="굴림" charset="0"/>
              </a:rPr>
              <a:t>»</a:t>
            </a:r>
            <a:endParaRPr lang="en-US" altLang="ko-KR" sz="1400" dirty="0">
              <a:latin typeface="Verdana" charset="0"/>
              <a:ea typeface="굴림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АО «</a:t>
            </a:r>
            <a:r>
              <a:rPr lang="ru-RU" altLang="ko-KR" sz="1400" dirty="0" err="1">
                <a:latin typeface="Verdana" charset="0"/>
                <a:ea typeface="굴림" charset="0"/>
              </a:rPr>
              <a:t>Тенгри</a:t>
            </a:r>
            <a:r>
              <a:rPr lang="ru-RU" altLang="ko-KR" sz="1400" dirty="0">
                <a:latin typeface="Verdana" charset="0"/>
                <a:ea typeface="굴림" charset="0"/>
              </a:rPr>
              <a:t> Банк»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Страховая компания «</a:t>
            </a:r>
            <a:r>
              <a:rPr kumimoji="0" lang="ru-RU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Коммеск-Омир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»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Клиника «</a:t>
            </a:r>
            <a:r>
              <a:rPr lang="en-US" altLang="ko-KR" sz="1400" dirty="0">
                <a:latin typeface="Verdana" charset="0"/>
                <a:ea typeface="굴림" charset="0"/>
              </a:rPr>
              <a:t>ON Clinic</a:t>
            </a:r>
            <a:r>
              <a:rPr lang="ru-RU" altLang="ko-KR" sz="1400" dirty="0">
                <a:latin typeface="Verdana" charset="0"/>
                <a:ea typeface="굴림" charset="0"/>
              </a:rPr>
              <a:t>»</a:t>
            </a:r>
            <a:endParaRPr lang="en-US" altLang="ko-KR" sz="1400" dirty="0">
              <a:latin typeface="Verdana" charset="0"/>
              <a:ea typeface="굴림" charset="0"/>
            </a:endParaRPr>
          </a:p>
          <a:p>
            <a:pPr marL="342900" lvl="0" indent="-342900" algn="l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Транспортный Холдинг </a:t>
            </a:r>
            <a:r>
              <a:rPr lang="ru-RU" altLang="ko-KR" sz="1400" dirty="0" err="1">
                <a:latin typeface="Verdana" charset="0"/>
                <a:ea typeface="굴림" charset="0"/>
              </a:rPr>
              <a:t>г.Алматы</a:t>
            </a:r>
            <a:endParaRPr lang="ru-RU" altLang="ko-KR" sz="1400" dirty="0">
              <a:latin typeface="Verdana" charset="0"/>
              <a:ea typeface="굴림" charset="0"/>
            </a:endParaRPr>
          </a:p>
          <a:p>
            <a:pPr marL="342900" lvl="0" indent="-342900" algn="l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Корпорация «</a:t>
            </a:r>
            <a:r>
              <a:rPr kumimoji="0" lang="ru-RU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ТеплоРОСС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»</a:t>
            </a:r>
          </a:p>
          <a:p>
            <a:pPr marL="342900" lvl="0" indent="-342900" algn="l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Мечта </a:t>
            </a:r>
            <a:r>
              <a:rPr lang="ru-RU" altLang="ko-KR" sz="1400" dirty="0" err="1">
                <a:latin typeface="Verdana" charset="0"/>
                <a:ea typeface="굴림" charset="0"/>
              </a:rPr>
              <a:t>Маркет</a:t>
            </a:r>
            <a:r>
              <a:rPr lang="ru-RU" altLang="ko-KR" sz="1400" dirty="0">
                <a:latin typeface="Verdana" charset="0"/>
                <a:ea typeface="굴림" charset="0"/>
              </a:rPr>
              <a:t> интернет магазин</a:t>
            </a:r>
            <a:endParaRPr kumimoji="0" lang="ru-RU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</p:txBody>
      </p:sp>
      <p:sp>
        <p:nvSpPr>
          <p:cNvPr id="24" name="Заголовок 23"/>
          <p:cNvSpPr>
            <a:spLocks noGrp="1"/>
          </p:cNvSpPr>
          <p:nvPr>
            <p:ph type="title"/>
          </p:nvPr>
        </p:nvSpPr>
        <p:spPr>
          <a:xfrm>
            <a:off x="1828800" y="620688"/>
            <a:ext cx="7315200" cy="715963"/>
          </a:xfrm>
        </p:spPr>
        <p:txBody>
          <a:bodyPr/>
          <a:lstStyle/>
          <a:p>
            <a:pPr lvl="0"/>
            <a:r>
              <a:rPr lang="ru-RU" altLang="ru-RU" sz="2400" dirty="0">
                <a:solidFill>
                  <a:schemeClr val="bg2"/>
                </a:solidFill>
              </a:rPr>
              <a:t>Наши проекты </a:t>
            </a:r>
            <a:r>
              <a:rPr lang="en-US" altLang="ru-RU" sz="2400" dirty="0">
                <a:solidFill>
                  <a:schemeClr val="bg2"/>
                </a:solidFill>
              </a:rPr>
              <a:t>Call-</a:t>
            </a:r>
            <a:r>
              <a:rPr lang="ru-RU" altLang="ru-RU" sz="2400" dirty="0">
                <a:solidFill>
                  <a:schemeClr val="bg2"/>
                </a:solidFill>
              </a:rPr>
              <a:t>центров</a:t>
            </a:r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012160" y="450912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1219200" y="1828800"/>
            <a:ext cx="7086600" cy="792163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ru-RU" sz="36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1907704" y="1052736"/>
            <a:ext cx="5976664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ru-RU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Количество городских линий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Тип городских линий (аналоговые,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SIP, E1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Количество внутренних линий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Тип внутренних линий (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SIP,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Softphone</a:t>
            </a:r>
            <a:r>
              <a:rPr lang="en-US" altLang="ko-KR" sz="1400" dirty="0">
                <a:latin typeface="Verdana" charset="0"/>
                <a:ea typeface="굴림" charset="0"/>
              </a:rPr>
              <a:t>, </a:t>
            </a:r>
            <a:r>
              <a:rPr lang="ru-RU" altLang="ko-KR" sz="1400" dirty="0">
                <a:latin typeface="Verdana" charset="0"/>
                <a:ea typeface="굴림" charset="0"/>
              </a:rPr>
              <a:t>программа с интерфейсом на компьютере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Есть ли готовая инфраструктура (сервер, сетевое оборудование, гарнитуры, телефонные аппараты)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noProof="0" dirty="0">
                <a:latin typeface="Verdana" charset="0"/>
                <a:ea typeface="굴림" charset="0"/>
              </a:rPr>
              <a:t>Какой ширины интернет канал, тип подключения, какой провайдер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Нужна ли запись разговоров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Нужна ли интеграция с </a:t>
            </a:r>
            <a:r>
              <a:rPr lang="en-US" altLang="ko-KR" sz="1400" dirty="0">
                <a:latin typeface="Verdana" charset="0"/>
                <a:ea typeface="굴림" charset="0"/>
              </a:rPr>
              <a:t>CRM</a:t>
            </a:r>
            <a:r>
              <a:rPr lang="ru-RU" altLang="ko-KR" sz="1400" dirty="0">
                <a:latin typeface="Verdana" charset="0"/>
                <a:ea typeface="굴림" charset="0"/>
              </a:rPr>
              <a:t> (какая </a:t>
            </a:r>
            <a:r>
              <a:rPr lang="en-US" altLang="ko-KR" sz="1400" dirty="0">
                <a:latin typeface="Verdana" charset="0"/>
                <a:ea typeface="굴림" charset="0"/>
              </a:rPr>
              <a:t>CRM</a:t>
            </a:r>
            <a:r>
              <a:rPr lang="ru-RU" altLang="ko-KR" sz="1400" dirty="0">
                <a:latin typeface="Verdana" charset="0"/>
                <a:ea typeface="굴림" charset="0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Нужна ли интеграция с базой данных</a:t>
            </a:r>
            <a:endParaRPr lang="en-US" altLang="ko-KR" sz="1400" dirty="0">
              <a:latin typeface="Verdana" charset="0"/>
              <a:ea typeface="굴림" charset="0"/>
            </a:endParaRPr>
          </a:p>
          <a:p>
            <a:pPr marL="342900" lvl="0" indent="-342900" algn="l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ru-RU" altLang="ko-KR" sz="1400" dirty="0">
                <a:latin typeface="Verdana" charset="0"/>
                <a:ea typeface="굴림" charset="0"/>
              </a:rPr>
              <a:t>Нужно ли </a:t>
            </a:r>
            <a:r>
              <a:rPr lang="en-US" altLang="ko-KR" sz="1400" dirty="0">
                <a:latin typeface="Verdana" charset="0"/>
                <a:ea typeface="굴림" charset="0"/>
              </a:rPr>
              <a:t>IVR (</a:t>
            </a:r>
            <a:r>
              <a:rPr lang="ru-RU" altLang="ko-KR" sz="1400" dirty="0">
                <a:latin typeface="Verdana" charset="0"/>
                <a:ea typeface="굴림" charset="0"/>
              </a:rPr>
              <a:t>голосовое приветствие</a:t>
            </a:r>
            <a:r>
              <a:rPr lang="en-US" altLang="ko-KR" sz="1400" dirty="0">
                <a:latin typeface="Verdana" charset="0"/>
                <a:ea typeface="굴림" charset="0"/>
              </a:rPr>
              <a:t>)</a:t>
            </a:r>
          </a:p>
          <a:p>
            <a:pPr marL="342900" lvl="0" indent="-342900" algn="l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ru-RU" altLang="ko-KR" sz="1400" dirty="0">
                <a:latin typeface="Verdana" charset="0"/>
                <a:ea typeface="굴림" charset="0"/>
              </a:rPr>
              <a:t>Нужна ли территориально распределенная сеть (в разных городах)</a:t>
            </a:r>
          </a:p>
          <a:p>
            <a:pPr marL="342900" lvl="0" indent="-342900" algn="l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Нужен ли звонок с сайта</a:t>
            </a:r>
          </a:p>
          <a:p>
            <a:pPr marL="342900" lvl="0" indent="-342900" algn="l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ru-RU" altLang="ko-KR" sz="1400" dirty="0">
                <a:latin typeface="Verdana" charset="0"/>
                <a:ea typeface="굴림" charset="0"/>
              </a:rPr>
              <a:t>Интеграция СМС</a:t>
            </a:r>
          </a:p>
          <a:p>
            <a:pPr marL="342900" lvl="0" indent="-342900" algn="l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Нужны</a:t>
            </a:r>
            <a:r>
              <a:rPr kumimoji="0" lang="ru-RU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ли отчеты и какие?</a:t>
            </a:r>
          </a:p>
          <a:p>
            <a:pPr marL="342900" lvl="0" indent="-342900" algn="l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ru-RU" altLang="ko-KR" sz="1400" baseline="0" dirty="0">
                <a:latin typeface="Verdana" charset="0"/>
                <a:ea typeface="굴림" charset="0"/>
              </a:rPr>
              <a:t>Нужна ли карточка клиента</a:t>
            </a:r>
            <a:endParaRPr kumimoji="0" lang="ru-RU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</p:txBody>
      </p:sp>
      <p:sp>
        <p:nvSpPr>
          <p:cNvPr id="24" name="Заголовок 23"/>
          <p:cNvSpPr>
            <a:spLocks noGrp="1"/>
          </p:cNvSpPr>
          <p:nvPr>
            <p:ph type="title"/>
          </p:nvPr>
        </p:nvSpPr>
        <p:spPr>
          <a:xfrm>
            <a:off x="1828800" y="620688"/>
            <a:ext cx="7315200" cy="715963"/>
          </a:xfrm>
        </p:spPr>
        <p:txBody>
          <a:bodyPr/>
          <a:lstStyle/>
          <a:p>
            <a:pPr lvl="0"/>
            <a:r>
              <a:rPr lang="ru-RU" altLang="ru-RU" sz="2400" dirty="0">
                <a:solidFill>
                  <a:schemeClr val="bg2"/>
                </a:solidFill>
              </a:rPr>
              <a:t>Вопросы по </a:t>
            </a:r>
            <a:r>
              <a:rPr lang="en-US" altLang="ru-RU" sz="2400" dirty="0">
                <a:solidFill>
                  <a:schemeClr val="bg2"/>
                </a:solidFill>
              </a:rPr>
              <a:t>Call-</a:t>
            </a:r>
            <a:r>
              <a:rPr lang="ru-RU" altLang="ru-RU" sz="2400" dirty="0">
                <a:solidFill>
                  <a:schemeClr val="bg2"/>
                </a:solidFill>
              </a:rPr>
              <a:t>центру клиенту</a:t>
            </a:r>
            <a:br>
              <a:rPr lang="en-US" altLang="ru-RU" dirty="0">
                <a:solidFill>
                  <a:schemeClr val="bg2"/>
                </a:solidFill>
              </a:rPr>
            </a:br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529264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ru-RU" altLang="ru-RU" dirty="0">
                <a:solidFill>
                  <a:schemeClr val="bg2"/>
                </a:solidFill>
              </a:rPr>
              <a:t>Система записи разговоров</a:t>
            </a:r>
            <a:endParaRPr lang="en-US" altLang="ru-RU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789390"/>
            <a:ext cx="6804248" cy="1791738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Разбор полетов после разговора с проблемным клиентом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Фиксация обращения по телефону (диспетчерские)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Обучение новичков на примере опытных продавцов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Предотвращение утечки информации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Подключение к любым линиям связи (аналоговые линии, поток Е1, </a:t>
            </a:r>
            <a:r>
              <a:rPr lang="en-US" altLang="ko-KR" sz="1600" dirty="0">
                <a:latin typeface="Verdana" charset="0"/>
                <a:ea typeface="굴림" charset="0"/>
              </a:rPr>
              <a:t>SIP-</a:t>
            </a:r>
            <a:r>
              <a:rPr lang="ru-RU" altLang="ko-KR" sz="1600" dirty="0" err="1">
                <a:latin typeface="Verdana" charset="0"/>
                <a:ea typeface="굴림" charset="0"/>
              </a:rPr>
              <a:t>транк</a:t>
            </a:r>
            <a:r>
              <a:rPr lang="ru-RU" altLang="ko-KR" sz="1600" dirty="0">
                <a:latin typeface="Verdana" charset="0"/>
                <a:ea typeface="굴림" charset="0"/>
              </a:rPr>
              <a:t>)</a:t>
            </a: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 descr="sprecord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4653136"/>
            <a:ext cx="2857500" cy="1428750"/>
          </a:xfrm>
          <a:prstGeom prst="rect">
            <a:avLst/>
          </a:prstGeom>
        </p:spPr>
      </p:pic>
      <p:pic>
        <p:nvPicPr>
          <p:cNvPr id="8" name="Изображение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5013176"/>
            <a:ext cx="2075284" cy="685997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6084168" y="4941168"/>
            <a:ext cx="2520280" cy="792163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Спрут 7</a:t>
            </a:r>
            <a:endParaRPr kumimoji="0" lang="en-US" altLang="ru-RU" sz="4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28767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4765"/>
            <a:ext cx="6934200" cy="715963"/>
          </a:xfrm>
        </p:spPr>
        <p:txBody>
          <a:bodyPr/>
          <a:lstStyle/>
          <a:p>
            <a:r>
              <a:rPr lang="ru-RU" altLang="ru-RU" sz="2800" dirty="0">
                <a:solidFill>
                  <a:schemeClr val="bg2"/>
                </a:solidFill>
              </a:rPr>
              <a:t>Схема подключения систем записи</a:t>
            </a:r>
            <a:endParaRPr lang="en-US" altLang="ru-RU" sz="2800" dirty="0">
              <a:solidFill>
                <a:schemeClr val="bg2"/>
              </a:solidFill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16016" y="2852936"/>
            <a:ext cx="92392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Двойная стрелка вверх/вниз 10"/>
          <p:cNvSpPr/>
          <p:nvPr/>
        </p:nvSpPr>
        <p:spPr bwMode="auto">
          <a:xfrm>
            <a:off x="4788024" y="1988840"/>
            <a:ext cx="216024" cy="936104"/>
          </a:xfrm>
          <a:prstGeom prst="upDownArrow">
            <a:avLst/>
          </a:prstGeom>
          <a:solidFill>
            <a:srgbClr val="35B1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Двойная стрелка вверх/вниз 11"/>
          <p:cNvSpPr/>
          <p:nvPr/>
        </p:nvSpPr>
        <p:spPr bwMode="auto">
          <a:xfrm>
            <a:off x="5292080" y="1988840"/>
            <a:ext cx="216024" cy="936104"/>
          </a:xfrm>
          <a:prstGeom prst="upDownArrow">
            <a:avLst/>
          </a:prstGeom>
          <a:solidFill>
            <a:srgbClr val="3575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1960" y="2204864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SIP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5364088" y="2204864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E1</a:t>
            </a:r>
            <a:endParaRPr lang="ru-RU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923928" y="4509120"/>
            <a:ext cx="27241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Двойная стрелка вверх/вниз 15"/>
          <p:cNvSpPr/>
          <p:nvPr/>
        </p:nvSpPr>
        <p:spPr bwMode="auto">
          <a:xfrm>
            <a:off x="5148064" y="4149080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8" name="Рисунок 17" descr="929468_v01_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0974" y="5165508"/>
            <a:ext cx="1237050" cy="927788"/>
          </a:xfrm>
          <a:prstGeom prst="rect">
            <a:avLst/>
          </a:prstGeom>
        </p:spPr>
      </p:pic>
      <p:pic>
        <p:nvPicPr>
          <p:cNvPr id="19" name="Рисунок 18" descr="929468_v01_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4008" y="5229200"/>
            <a:ext cx="1237050" cy="927788"/>
          </a:xfrm>
          <a:prstGeom prst="rect">
            <a:avLst/>
          </a:prstGeom>
        </p:spPr>
      </p:pic>
      <p:pic>
        <p:nvPicPr>
          <p:cNvPr id="20" name="Рисунок 19" descr="929468_v01_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1214" y="5229200"/>
            <a:ext cx="1237050" cy="927788"/>
          </a:xfrm>
          <a:prstGeom prst="rect">
            <a:avLst/>
          </a:prstGeom>
        </p:spPr>
      </p:pic>
      <p:cxnSp>
        <p:nvCxnSpPr>
          <p:cNvPr id="22" name="Прямая со стрелкой 21"/>
          <p:cNvCxnSpPr>
            <a:stCxn id="12" idx="5"/>
          </p:cNvCxnSpPr>
          <p:nvPr/>
        </p:nvCxnSpPr>
        <p:spPr bwMode="auto">
          <a:xfrm>
            <a:off x="5436096" y="2780928"/>
            <a:ext cx="914400" cy="914400"/>
          </a:xfrm>
          <a:prstGeom prst="straightConnector1">
            <a:avLst/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012160" y="450912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Двойная стрелка вверх/вниз 29"/>
          <p:cNvSpPr/>
          <p:nvPr/>
        </p:nvSpPr>
        <p:spPr bwMode="auto">
          <a:xfrm>
            <a:off x="4211960" y="4941168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Двойная стрелка вверх/вниз 30"/>
          <p:cNvSpPr/>
          <p:nvPr/>
        </p:nvSpPr>
        <p:spPr bwMode="auto">
          <a:xfrm>
            <a:off x="5220072" y="4941168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Двойная стрелка вверх/вниз 31"/>
          <p:cNvSpPr/>
          <p:nvPr/>
        </p:nvSpPr>
        <p:spPr bwMode="auto">
          <a:xfrm>
            <a:off x="6300192" y="4941168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588224" y="1844824"/>
            <a:ext cx="1362075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Двойная стрелка вверх/вниз 20"/>
          <p:cNvSpPr/>
          <p:nvPr/>
        </p:nvSpPr>
        <p:spPr bwMode="auto">
          <a:xfrm rot="16200000">
            <a:off x="5832140" y="1664804"/>
            <a:ext cx="216024" cy="2016224"/>
          </a:xfrm>
          <a:prstGeom prst="upDownArrow">
            <a:avLst/>
          </a:prstGeom>
          <a:solidFill>
            <a:srgbClr val="35B1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Двойная стрелка вверх/вниз 22"/>
          <p:cNvSpPr/>
          <p:nvPr/>
        </p:nvSpPr>
        <p:spPr bwMode="auto">
          <a:xfrm rot="16200000">
            <a:off x="6084168" y="1412776"/>
            <a:ext cx="216024" cy="1512168"/>
          </a:xfrm>
          <a:prstGeom prst="upDownArrow">
            <a:avLst/>
          </a:prstGeom>
          <a:solidFill>
            <a:srgbClr val="3575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4139952" y="1223174"/>
            <a:ext cx="2088232" cy="693658"/>
            <a:chOff x="4283968" y="1052736"/>
            <a:chExt cx="2088232" cy="693658"/>
          </a:xfrm>
        </p:grpSpPr>
        <p:pic>
          <p:nvPicPr>
            <p:cNvPr id="26" name="Рисунок 25" descr="logo-kcell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83968" y="1052736"/>
              <a:ext cx="1720326" cy="608162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4427984" y="1484784"/>
              <a:ext cx="19442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>
                  <a:solidFill>
                    <a:srgbClr val="7030A0"/>
                  </a:solidFill>
                </a:rPr>
                <a:t>Бизнес-телефония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012160" y="450912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1219200" y="1828800"/>
            <a:ext cx="7086600" cy="792163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ru-RU" sz="36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1907704" y="1052736"/>
            <a:ext cx="5976664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ru-RU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Количество городских линий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Тип городских линий (аналоговые,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SIP, E1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Количество внутренних линий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Тип внутренних линий (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SIP,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Softphone</a:t>
            </a:r>
            <a:r>
              <a:rPr lang="en-US" altLang="ko-KR" sz="1400" dirty="0">
                <a:latin typeface="Verdana" charset="0"/>
                <a:ea typeface="굴림" charset="0"/>
              </a:rPr>
              <a:t>, </a:t>
            </a:r>
            <a:r>
              <a:rPr lang="ru-RU" altLang="ko-KR" sz="1400" dirty="0">
                <a:latin typeface="Verdana" charset="0"/>
                <a:ea typeface="굴림" charset="0"/>
              </a:rPr>
              <a:t>программа с интерфейсом на компьютере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Есть ли готовая инфраструктура (сервер)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noProof="0" dirty="0">
                <a:latin typeface="Verdana" charset="0"/>
                <a:ea typeface="굴림" charset="0"/>
              </a:rPr>
              <a:t>Какой ширины интернет канал, тип подключения, какой провайдер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</p:txBody>
      </p:sp>
      <p:sp>
        <p:nvSpPr>
          <p:cNvPr id="24" name="Заголовок 23"/>
          <p:cNvSpPr>
            <a:spLocks noGrp="1"/>
          </p:cNvSpPr>
          <p:nvPr>
            <p:ph type="title"/>
          </p:nvPr>
        </p:nvSpPr>
        <p:spPr>
          <a:xfrm>
            <a:off x="1828800" y="620688"/>
            <a:ext cx="7315200" cy="715963"/>
          </a:xfrm>
        </p:spPr>
        <p:txBody>
          <a:bodyPr/>
          <a:lstStyle/>
          <a:p>
            <a:pPr lvl="0"/>
            <a:r>
              <a:rPr lang="ru-RU" altLang="ru-RU" sz="2400" dirty="0">
                <a:solidFill>
                  <a:schemeClr val="bg2"/>
                </a:solidFill>
              </a:rPr>
              <a:t>Вопросы по системам записи клиенту</a:t>
            </a:r>
            <a:br>
              <a:rPr lang="en-US" altLang="ru-RU" dirty="0">
                <a:solidFill>
                  <a:schemeClr val="bg2"/>
                </a:solidFill>
              </a:rPr>
            </a:br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7921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ru-RU" dirty="0">
                <a:solidFill>
                  <a:schemeClr val="bg2"/>
                </a:solidFill>
              </a:rPr>
              <a:t>DECT-</a:t>
            </a:r>
            <a:r>
              <a:rPr lang="ru-RU" altLang="ru-RU" dirty="0">
                <a:solidFill>
                  <a:schemeClr val="bg2"/>
                </a:solidFill>
              </a:rPr>
              <a:t>системы</a:t>
            </a:r>
            <a:endParaRPr lang="en-US" altLang="ru-RU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112" y="2563583"/>
            <a:ext cx="5616624" cy="1801521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Концепция небольшой беспроводной офис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Большие территории (торговые центры, склады)</a:t>
            </a:r>
          </a:p>
          <a:p>
            <a:pPr>
              <a:lnSpc>
                <a:spcPct val="80000"/>
              </a:lnSpc>
            </a:pPr>
            <a:r>
              <a:rPr lang="ru-RU" altLang="ko-KR" sz="1600" dirty="0">
                <a:latin typeface="Verdana" charset="0"/>
                <a:ea typeface="굴림" charset="0"/>
              </a:rPr>
              <a:t>Мобильность сотрудников</a:t>
            </a:r>
          </a:p>
          <a:p>
            <a:pPr>
              <a:lnSpc>
                <a:spcPct val="80000"/>
              </a:lnSpc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16" y="4721459"/>
            <a:ext cx="2247309" cy="670719"/>
          </a:xfrm>
          <a:prstGeom prst="rect">
            <a:avLst/>
          </a:prstGeom>
        </p:spPr>
      </p:pic>
      <p:pic>
        <p:nvPicPr>
          <p:cNvPr id="9" name="Рисунок 8" descr="Gigaset_logo_logoty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9912" y="4725144"/>
            <a:ext cx="1876798" cy="720080"/>
          </a:xfrm>
          <a:prstGeom prst="rect">
            <a:avLst/>
          </a:prstGeom>
        </p:spPr>
      </p:pic>
      <p:pic>
        <p:nvPicPr>
          <p:cNvPr id="11" name="Рисунок 10" descr="yealin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6176" y="4797152"/>
            <a:ext cx="1785375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5339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4765"/>
            <a:ext cx="6934200" cy="715963"/>
          </a:xfrm>
        </p:spPr>
        <p:txBody>
          <a:bodyPr/>
          <a:lstStyle/>
          <a:p>
            <a:r>
              <a:rPr lang="ru-RU" altLang="ru-RU" sz="2800" dirty="0">
                <a:solidFill>
                  <a:schemeClr val="bg2"/>
                </a:solidFill>
              </a:rPr>
              <a:t>Схема подключения </a:t>
            </a:r>
            <a:r>
              <a:rPr lang="en-US" altLang="ru-RU" sz="2800" dirty="0">
                <a:solidFill>
                  <a:schemeClr val="bg2"/>
                </a:solidFill>
              </a:rPr>
              <a:t>DECT </a:t>
            </a:r>
            <a:r>
              <a:rPr lang="ru-RU" altLang="ru-RU" sz="2800" dirty="0">
                <a:solidFill>
                  <a:schemeClr val="bg2"/>
                </a:solidFill>
              </a:rPr>
              <a:t>систем</a:t>
            </a:r>
            <a:endParaRPr lang="en-US" altLang="ru-RU" sz="2800" dirty="0">
              <a:solidFill>
                <a:schemeClr val="bg2"/>
              </a:solidFill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Двойная стрелка вверх/вниз 10"/>
          <p:cNvSpPr/>
          <p:nvPr/>
        </p:nvSpPr>
        <p:spPr bwMode="auto">
          <a:xfrm>
            <a:off x="5076056" y="1988840"/>
            <a:ext cx="216024" cy="936104"/>
          </a:xfrm>
          <a:prstGeom prst="upDownArrow">
            <a:avLst/>
          </a:prstGeom>
          <a:solidFill>
            <a:srgbClr val="35B1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99992" y="2204864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SIP</a:t>
            </a:r>
            <a:endParaRPr lang="ru-RU" dirty="0"/>
          </a:p>
        </p:txBody>
      </p:sp>
      <p:sp>
        <p:nvSpPr>
          <p:cNvPr id="16" name="Двойная стрелка вверх/вниз 15"/>
          <p:cNvSpPr/>
          <p:nvPr/>
        </p:nvSpPr>
        <p:spPr bwMode="auto">
          <a:xfrm>
            <a:off x="5148064" y="4149080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2" name="Прямая со стрелкой 21"/>
          <p:cNvCxnSpPr/>
          <p:nvPr/>
        </p:nvCxnSpPr>
        <p:spPr bwMode="auto">
          <a:xfrm>
            <a:off x="5436096" y="2780928"/>
            <a:ext cx="914400" cy="914400"/>
          </a:xfrm>
          <a:prstGeom prst="straightConnector1">
            <a:avLst/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012160" y="450912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Двойная стрелка вверх/вниз 29"/>
          <p:cNvSpPr/>
          <p:nvPr/>
        </p:nvSpPr>
        <p:spPr bwMode="auto">
          <a:xfrm rot="2004076">
            <a:off x="3560594" y="4160968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Двойная стрелка вверх/вниз 31"/>
          <p:cNvSpPr/>
          <p:nvPr/>
        </p:nvSpPr>
        <p:spPr bwMode="auto">
          <a:xfrm rot="20387819">
            <a:off x="6825065" y="4168661"/>
            <a:ext cx="216024" cy="576064"/>
          </a:xfrm>
          <a:prstGeom prst="upDownArrow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44008" y="2924944"/>
            <a:ext cx="103822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16216" y="2924944"/>
            <a:ext cx="103822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771800" y="2924944"/>
            <a:ext cx="103822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Рисунок 32" descr="98ed3e55-015f-11e1-981d-0018f3072e90_baaefbca-d9cc-11e4-a0b6-00034730712d.1000x1000w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5816" y="5157192"/>
            <a:ext cx="941090" cy="941090"/>
          </a:xfrm>
          <a:prstGeom prst="rect">
            <a:avLst/>
          </a:prstGeom>
        </p:spPr>
      </p:pic>
      <p:pic>
        <p:nvPicPr>
          <p:cNvPr id="34" name="Рисунок 33" descr="98ed3e55-015f-11e1-981d-0018f3072e90_baaefbca-d9cc-11e4-a0b6-00034730712d.1000x1000w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1960" y="5157192"/>
            <a:ext cx="941090" cy="941090"/>
          </a:xfrm>
          <a:prstGeom prst="rect">
            <a:avLst/>
          </a:prstGeom>
        </p:spPr>
      </p:pic>
      <p:pic>
        <p:nvPicPr>
          <p:cNvPr id="35" name="Рисунок 34" descr="98ed3e55-015f-11e1-981d-0018f3072e90_baaefbca-d9cc-11e4-a0b6-00034730712d.1000x1000w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088" y="5157192"/>
            <a:ext cx="941090" cy="941090"/>
          </a:xfrm>
          <a:prstGeom prst="rect">
            <a:avLst/>
          </a:prstGeom>
        </p:spPr>
      </p:pic>
      <p:pic>
        <p:nvPicPr>
          <p:cNvPr id="36" name="Рисунок 35" descr="98ed3e55-015f-11e1-981d-0018f3072e90_baaefbca-d9cc-11e4-a0b6-00034730712d.1000x1000w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24" y="5157192"/>
            <a:ext cx="941090" cy="94109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995936" y="4221088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DECT</a:t>
            </a:r>
            <a:endParaRPr lang="ru-RU" dirty="0"/>
          </a:p>
        </p:txBody>
      </p:sp>
      <p:sp>
        <p:nvSpPr>
          <p:cNvPr id="38" name="Двойная стрелка вверх/вниз 37"/>
          <p:cNvSpPr/>
          <p:nvPr/>
        </p:nvSpPr>
        <p:spPr bwMode="auto">
          <a:xfrm rot="5400000">
            <a:off x="4139952" y="2852936"/>
            <a:ext cx="216024" cy="936104"/>
          </a:xfrm>
          <a:prstGeom prst="upDownArrow">
            <a:avLst/>
          </a:prstGeom>
          <a:solidFill>
            <a:srgbClr val="35B1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Двойная стрелка вверх/вниз 38"/>
          <p:cNvSpPr/>
          <p:nvPr/>
        </p:nvSpPr>
        <p:spPr bwMode="auto">
          <a:xfrm rot="5400000">
            <a:off x="6012160" y="2852936"/>
            <a:ext cx="216024" cy="936104"/>
          </a:xfrm>
          <a:prstGeom prst="upDownArrow">
            <a:avLst/>
          </a:prstGeom>
          <a:solidFill>
            <a:srgbClr val="35B1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4139952" y="1268760"/>
            <a:ext cx="2088232" cy="693658"/>
            <a:chOff x="4283968" y="1052736"/>
            <a:chExt cx="2088232" cy="693658"/>
          </a:xfrm>
        </p:grpSpPr>
        <p:pic>
          <p:nvPicPr>
            <p:cNvPr id="26" name="Рисунок 25" descr="logo-kcell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83968" y="1052736"/>
              <a:ext cx="1720326" cy="608162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4427984" y="1484784"/>
              <a:ext cx="19442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>
                  <a:solidFill>
                    <a:srgbClr val="7030A0"/>
                  </a:solidFill>
                </a:rPr>
                <a:t>Бизнес-телефония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3923928" y="2852936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SIP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5724128" y="2852936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SIP</a:t>
            </a:r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16632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Скругленная соединительная линия 24"/>
          <p:cNvCxnSpPr/>
          <p:nvPr/>
        </p:nvCxnSpPr>
        <p:spPr bwMode="auto">
          <a:xfrm flipV="1">
            <a:off x="6012160" y="4509120"/>
            <a:ext cx="1080120" cy="360040"/>
          </a:xfrm>
          <a:prstGeom prst="curvedConnector3">
            <a:avLst>
              <a:gd name="adj1" fmla="val 50000"/>
            </a:avLst>
          </a:prstGeom>
          <a:gradFill rotWithShape="1">
            <a:gsLst>
              <a:gs pos="0">
                <a:schemeClr val="bg2">
                  <a:gamma/>
                  <a:tint val="26667"/>
                  <a:invGamma/>
                </a:schemeClr>
              </a:gs>
              <a:gs pos="100000">
                <a:schemeClr val="bg2">
                  <a:alpha val="14999"/>
                </a:schemeClr>
              </a:gs>
            </a:gsLst>
            <a:lin ang="5400000" scaled="1"/>
          </a:gra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1219200" y="1828800"/>
            <a:ext cx="7086600" cy="792163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ru-RU" sz="36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1907704" y="1052736"/>
            <a:ext cx="5976664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ru-RU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Количество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DECT</a:t>
            </a:r>
            <a:r>
              <a:rPr kumimoji="0" lang="en-US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</a:t>
            </a:r>
            <a:r>
              <a:rPr kumimoji="0" lang="ru-RU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трубок</a:t>
            </a:r>
            <a:endParaRPr kumimoji="0" lang="ru-RU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Тип городских линий (аналоговые,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SIP, E1</a:t>
            </a: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Количество городских</a:t>
            </a:r>
            <a:r>
              <a:rPr kumimoji="0" lang="ru-RU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линий</a:t>
            </a:r>
            <a:endParaRPr kumimoji="0" lang="ru-RU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Количество трубок с разбивкой</a:t>
            </a:r>
            <a:r>
              <a:rPr kumimoji="0" lang="ru-RU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по ценовому сегменту (простые, для топ менеджмента, защищенные)</a:t>
            </a:r>
            <a:endParaRPr kumimoji="0" lang="ru-RU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Есть ли готовая инфраструктура (протянуты ли провода)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noProof="0" dirty="0">
                <a:latin typeface="Verdana" charset="0"/>
                <a:ea typeface="굴림" charset="0"/>
              </a:rPr>
              <a:t>Какой ширины интернет канал, тип подключения, какой провайдер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u-RU" altLang="ko-KR" sz="1400" dirty="0">
                <a:latin typeface="Verdana" charset="0"/>
                <a:ea typeface="굴림" charset="0"/>
              </a:rPr>
              <a:t>Сколько нужно одновременных разговоров в точке присутствия</a:t>
            </a:r>
            <a:endParaRPr lang="ru-RU" altLang="ko-KR" sz="1400" noProof="0" dirty="0">
              <a:latin typeface="Verdana" charset="0"/>
              <a:ea typeface="굴림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u-RU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Схема территории объекта</a:t>
            </a:r>
            <a:r>
              <a:rPr kumimoji="0" lang="ru-RU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charset="0"/>
                <a:ea typeface="굴림" charset="0"/>
                <a:cs typeface="+mn-cs"/>
              </a:rPr>
              <a:t> (для расстановки базовых станций)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charset="0"/>
              <a:ea typeface="굴림" charset="0"/>
              <a:cs typeface="+mn-cs"/>
            </a:endParaRPr>
          </a:p>
        </p:txBody>
      </p:sp>
      <p:sp>
        <p:nvSpPr>
          <p:cNvPr id="24" name="Заголовок 23"/>
          <p:cNvSpPr>
            <a:spLocks noGrp="1"/>
          </p:cNvSpPr>
          <p:nvPr>
            <p:ph type="title"/>
          </p:nvPr>
        </p:nvSpPr>
        <p:spPr>
          <a:xfrm>
            <a:off x="1828800" y="620688"/>
            <a:ext cx="7315200" cy="715963"/>
          </a:xfrm>
        </p:spPr>
        <p:txBody>
          <a:bodyPr/>
          <a:lstStyle/>
          <a:p>
            <a:pPr lvl="0"/>
            <a:r>
              <a:rPr lang="ru-RU" altLang="ru-RU" sz="2400" dirty="0">
                <a:solidFill>
                  <a:schemeClr val="bg2"/>
                </a:solidFill>
              </a:rPr>
              <a:t>Вопросы по </a:t>
            </a:r>
            <a:r>
              <a:rPr lang="en-US" altLang="ru-RU" sz="2400" dirty="0">
                <a:solidFill>
                  <a:schemeClr val="bg2"/>
                </a:solidFill>
              </a:rPr>
              <a:t>DECT </a:t>
            </a:r>
            <a:r>
              <a:rPr lang="ru-RU" altLang="ru-RU" sz="2400" dirty="0">
                <a:solidFill>
                  <a:schemeClr val="bg2"/>
                </a:solidFill>
              </a:rPr>
              <a:t>системам клиенту</a:t>
            </a:r>
            <a:br>
              <a:rPr lang="en-US" altLang="ru-RU" dirty="0">
                <a:solidFill>
                  <a:schemeClr val="bg2"/>
                </a:solidFill>
              </a:rPr>
            </a:br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828800"/>
            <a:ext cx="7086600" cy="1888232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hlink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ru-RU" altLang="ru-RU" dirty="0">
                <a:solidFill>
                  <a:schemeClr val="bg2"/>
                </a:solidFill>
              </a:rPr>
              <a:t>Спасибо!!!</a:t>
            </a:r>
            <a:endParaRPr lang="en-US" altLang="ru-RU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608" y="3717032"/>
            <a:ext cx="5616624" cy="1801521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  <a:buNone/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  <a:buNone/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altLang="ko-KR" sz="1600" dirty="0">
                <a:latin typeface="Verdana" charset="0"/>
                <a:ea typeface="굴림" charset="0"/>
              </a:rPr>
              <a:t>Директор</a:t>
            </a:r>
          </a:p>
          <a:p>
            <a:pPr>
              <a:lnSpc>
                <a:spcPct val="80000"/>
              </a:lnSpc>
              <a:buNone/>
            </a:pPr>
            <a:r>
              <a:rPr lang="ru-RU" altLang="ko-KR" sz="1600" dirty="0">
                <a:latin typeface="Verdana" charset="0"/>
                <a:ea typeface="굴림" charset="0"/>
              </a:rPr>
              <a:t>ТОО «</a:t>
            </a:r>
            <a:r>
              <a:rPr lang="en-US" altLang="ko-KR" sz="1600" dirty="0" err="1">
                <a:latin typeface="Verdana" charset="0"/>
                <a:ea typeface="굴림" charset="0"/>
              </a:rPr>
              <a:t>Maxtel</a:t>
            </a:r>
            <a:r>
              <a:rPr lang="en-US" altLang="ko-KR" sz="1600" dirty="0">
                <a:latin typeface="Verdana" charset="0"/>
                <a:ea typeface="굴림" charset="0"/>
              </a:rPr>
              <a:t> Networks</a:t>
            </a:r>
            <a:r>
              <a:rPr lang="ru-RU" altLang="ko-KR" sz="1600" dirty="0">
                <a:latin typeface="Verdana" charset="0"/>
                <a:ea typeface="굴림" charset="0"/>
              </a:rPr>
              <a:t>»</a:t>
            </a:r>
            <a:endParaRPr lang="en-US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altLang="ko-KR" sz="1600" dirty="0" err="1">
                <a:latin typeface="Verdana" charset="0"/>
                <a:ea typeface="굴림" charset="0"/>
              </a:rPr>
              <a:t>Гиззатуллин</a:t>
            </a:r>
            <a:r>
              <a:rPr lang="ru-RU" altLang="ko-KR" sz="1600" dirty="0">
                <a:latin typeface="Verdana" charset="0"/>
                <a:ea typeface="굴림" charset="0"/>
              </a:rPr>
              <a:t> Максим</a:t>
            </a:r>
          </a:p>
          <a:p>
            <a:pPr>
              <a:lnSpc>
                <a:spcPct val="80000"/>
              </a:lnSpc>
              <a:buNone/>
            </a:pPr>
            <a:r>
              <a:rPr lang="ru-RU" altLang="ko-KR" sz="1600" dirty="0">
                <a:latin typeface="Verdana" charset="0"/>
                <a:ea typeface="굴림" charset="0"/>
              </a:rPr>
              <a:t>Тел. +77272500505</a:t>
            </a:r>
          </a:p>
          <a:p>
            <a:pPr>
              <a:lnSpc>
                <a:spcPct val="80000"/>
              </a:lnSpc>
              <a:buNone/>
            </a:pPr>
            <a:r>
              <a:rPr lang="ru-RU" altLang="ko-KR" sz="1600" dirty="0">
                <a:latin typeface="Verdana" charset="0"/>
                <a:ea typeface="굴림" charset="0"/>
              </a:rPr>
              <a:t>Сот. +77772860030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600" dirty="0">
                <a:latin typeface="Verdana" charset="0"/>
                <a:ea typeface="굴림" charset="0"/>
              </a:rPr>
              <a:t>E-mail: mg@maxtel.kz</a:t>
            </a:r>
          </a:p>
          <a:p>
            <a:pPr>
              <a:lnSpc>
                <a:spcPct val="80000"/>
              </a:lnSpc>
              <a:buNone/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ru-RU" altLang="ko-KR" sz="1600" dirty="0">
              <a:latin typeface="Verdana" charset="0"/>
              <a:ea typeface="굴림" charset="0"/>
            </a:endParaRPr>
          </a:p>
          <a:p>
            <a:pPr>
              <a:lnSpc>
                <a:spcPct val="80000"/>
              </a:lnSpc>
            </a:pPr>
            <a:endParaRPr lang="en-US" altLang="ko-KR" sz="1600" dirty="0">
              <a:latin typeface="Verdana" charset="0"/>
              <a:ea typeface="굴림" charset="0"/>
            </a:endParaRPr>
          </a:p>
        </p:txBody>
      </p:sp>
      <p:pic>
        <p:nvPicPr>
          <p:cNvPr id="4" name="Picture 19" descr="логтип Maxt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44624"/>
            <a:ext cx="112412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235339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270000" y="188640"/>
            <a:ext cx="568807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solidFill>
                  <a:srgbClr val="652D86"/>
                </a:solidFill>
                <a:latin typeface="Pragmatica Book Reg"/>
                <a:cs typeface="Pragmatica Book Reg"/>
              </a:rPr>
              <a:t>Системная интеграция</a:t>
            </a:r>
          </a:p>
        </p:txBody>
      </p:sp>
      <p:graphicFrame>
        <p:nvGraphicFramePr>
          <p:cNvPr id="48" name="Схема 5"/>
          <p:cNvGraphicFramePr/>
          <p:nvPr>
            <p:extLst>
              <p:ext uri="{D42A27DB-BD31-4B8C-83A1-F6EECF244321}">
                <p14:modId xmlns:p14="http://schemas.microsoft.com/office/powerpoint/2010/main" val="3554709878"/>
              </p:ext>
            </p:extLst>
          </p:nvPr>
        </p:nvGraphicFramePr>
        <p:xfrm>
          <a:off x="135749" y="1562147"/>
          <a:ext cx="8892478" cy="3240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9" name="Group 48"/>
          <p:cNvGrpSpPr/>
          <p:nvPr/>
        </p:nvGrpSpPr>
        <p:grpSpPr>
          <a:xfrm>
            <a:off x="570351" y="2016401"/>
            <a:ext cx="792088" cy="792088"/>
            <a:chOff x="2495600" y="1648350"/>
            <a:chExt cx="792088" cy="792088"/>
          </a:xfrm>
        </p:grpSpPr>
        <p:sp>
          <p:nvSpPr>
            <p:cNvPr id="50" name="Овал 7"/>
            <p:cNvSpPr/>
            <p:nvPr/>
          </p:nvSpPr>
          <p:spPr>
            <a:xfrm>
              <a:off x="2495600" y="1648350"/>
              <a:ext cx="792088" cy="79208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83BE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51" name="Picture 3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11624" y="1864374"/>
              <a:ext cx="401608" cy="401608"/>
            </a:xfrm>
            <a:prstGeom prst="rect">
              <a:avLst/>
            </a:prstGeom>
            <a:effectLst/>
          </p:spPr>
        </p:pic>
      </p:grpSp>
      <p:grpSp>
        <p:nvGrpSpPr>
          <p:cNvPr id="52" name="Group 51"/>
          <p:cNvGrpSpPr/>
          <p:nvPr/>
        </p:nvGrpSpPr>
        <p:grpSpPr>
          <a:xfrm>
            <a:off x="2356520" y="1572726"/>
            <a:ext cx="792088" cy="792088"/>
            <a:chOff x="4655840" y="1135400"/>
            <a:chExt cx="792088" cy="792088"/>
          </a:xfrm>
        </p:grpSpPr>
        <p:sp>
          <p:nvSpPr>
            <p:cNvPr id="54" name="Овал 16"/>
            <p:cNvSpPr/>
            <p:nvPr/>
          </p:nvSpPr>
          <p:spPr>
            <a:xfrm>
              <a:off x="4655840" y="1135400"/>
              <a:ext cx="792088" cy="79208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B48C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55" name="Picture 7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50022" y="1308333"/>
              <a:ext cx="403724" cy="446222"/>
            </a:xfrm>
            <a:prstGeom prst="rect">
              <a:avLst/>
            </a:prstGeom>
          </p:spPr>
        </p:pic>
      </p:grpSp>
      <p:grpSp>
        <p:nvGrpSpPr>
          <p:cNvPr id="59" name="Group 58"/>
          <p:cNvGrpSpPr/>
          <p:nvPr/>
        </p:nvGrpSpPr>
        <p:grpSpPr>
          <a:xfrm>
            <a:off x="4139952" y="1093866"/>
            <a:ext cx="792088" cy="792088"/>
            <a:chOff x="6744072" y="559558"/>
            <a:chExt cx="792088" cy="792088"/>
          </a:xfrm>
        </p:grpSpPr>
        <p:sp>
          <p:nvSpPr>
            <p:cNvPr id="60" name="Овал 26"/>
            <p:cNvSpPr/>
            <p:nvPr/>
          </p:nvSpPr>
          <p:spPr>
            <a:xfrm>
              <a:off x="6744072" y="559558"/>
              <a:ext cx="792088" cy="79208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319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61" name="Picture 2" descr="C:\Users\vladimir.kim\Desktop\SHUT\hand.pn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8088" y="812830"/>
              <a:ext cx="527402" cy="3250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2" name="Group 61"/>
          <p:cNvGrpSpPr/>
          <p:nvPr/>
        </p:nvGrpSpPr>
        <p:grpSpPr>
          <a:xfrm>
            <a:off x="5958078" y="628926"/>
            <a:ext cx="792088" cy="792088"/>
            <a:chOff x="8825437" y="136182"/>
            <a:chExt cx="792088" cy="792088"/>
          </a:xfrm>
        </p:grpSpPr>
        <p:sp>
          <p:nvSpPr>
            <p:cNvPr id="63" name="Овал 19"/>
            <p:cNvSpPr/>
            <p:nvPr/>
          </p:nvSpPr>
          <p:spPr>
            <a:xfrm>
              <a:off x="8825437" y="136182"/>
              <a:ext cx="792088" cy="79208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DC0451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64" name="Picture 4" descr="C:\Users\vladimir.kim\Desktop\SHUT\galochka.pn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35706" y="291046"/>
              <a:ext cx="387520" cy="456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5" name="Равно 1"/>
          <p:cNvSpPr/>
          <p:nvPr/>
        </p:nvSpPr>
        <p:spPr>
          <a:xfrm>
            <a:off x="398629" y="4251535"/>
            <a:ext cx="1080120" cy="564750"/>
          </a:xfrm>
          <a:prstGeom prst="mathEqual">
            <a:avLst/>
          </a:prstGeom>
          <a:solidFill>
            <a:srgbClr val="0083BE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6" name="Прямоугольник 2"/>
          <p:cNvSpPr/>
          <p:nvPr/>
        </p:nvSpPr>
        <p:spPr>
          <a:xfrm>
            <a:off x="121715" y="4977071"/>
            <a:ext cx="1620000" cy="1728192"/>
          </a:xfrm>
          <a:prstGeom prst="rect">
            <a:avLst/>
          </a:prstGeom>
          <a:solidFill>
            <a:srgbClr val="0083BE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олилиния 22"/>
          <p:cNvSpPr/>
          <p:nvPr/>
        </p:nvSpPr>
        <p:spPr>
          <a:xfrm>
            <a:off x="121715" y="4977071"/>
            <a:ext cx="1620000" cy="1728192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defTabSz="711200">
              <a:lnSpc>
                <a:spcPct val="90000"/>
              </a:lnSpc>
              <a:spcBef>
                <a:spcPts val="600"/>
              </a:spcBef>
              <a:spcAft>
                <a:spcPct val="35000"/>
              </a:spcAft>
            </a:pP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Заявка на подключение (опросник)</a:t>
            </a:r>
            <a:endParaRPr lang="en-US" sz="1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11200">
              <a:lnSpc>
                <a:spcPct val="90000"/>
              </a:lnSpc>
              <a:spcBef>
                <a:spcPts val="600"/>
              </a:spcBef>
              <a:spcAft>
                <a:spcPct val="35000"/>
              </a:spcAft>
            </a:pP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Составление ТЗ</a:t>
            </a:r>
            <a:endParaRPr lang="ru-RU" sz="1500" b="1" dirty="0">
              <a:solidFill>
                <a:schemeClr val="bg1"/>
              </a:solidFill>
            </a:endParaRPr>
          </a:p>
        </p:txBody>
      </p:sp>
      <p:sp>
        <p:nvSpPr>
          <p:cNvPr id="68" name="Прямоугольник 30"/>
          <p:cNvSpPr/>
          <p:nvPr/>
        </p:nvSpPr>
        <p:spPr>
          <a:xfrm>
            <a:off x="1963300" y="4483955"/>
            <a:ext cx="1620000" cy="1728192"/>
          </a:xfrm>
          <a:prstGeom prst="rect">
            <a:avLst/>
          </a:prstGeom>
          <a:solidFill>
            <a:srgbClr val="00B48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олилиния 29"/>
          <p:cNvSpPr/>
          <p:nvPr/>
        </p:nvSpPr>
        <p:spPr>
          <a:xfrm>
            <a:off x="1963300" y="4483955"/>
            <a:ext cx="1620000" cy="1728192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defTabSz="711200">
              <a:lnSpc>
                <a:spcPct val="90000"/>
              </a:lnSpc>
              <a:spcBef>
                <a:spcPts val="600"/>
              </a:spcBef>
              <a:spcAft>
                <a:spcPct val="35000"/>
              </a:spcAft>
            </a:pP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Проверка на наличие доп. оборудования</a:t>
            </a:r>
          </a:p>
          <a:p>
            <a:pPr defTabSz="711200">
              <a:lnSpc>
                <a:spcPct val="90000"/>
              </a:lnSpc>
              <a:spcBef>
                <a:spcPts val="600"/>
              </a:spcBef>
              <a:spcAft>
                <a:spcPct val="35000"/>
              </a:spcAft>
            </a:pPr>
            <a:r>
              <a:rPr lang="ru-RU"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Отправка </a:t>
            </a: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КП</a:t>
            </a:r>
          </a:p>
        </p:txBody>
      </p:sp>
      <p:sp>
        <p:nvSpPr>
          <p:cNvPr id="70" name="Равно 31"/>
          <p:cNvSpPr/>
          <p:nvPr/>
        </p:nvSpPr>
        <p:spPr>
          <a:xfrm>
            <a:off x="2281775" y="3722310"/>
            <a:ext cx="1080120" cy="564750"/>
          </a:xfrm>
          <a:prstGeom prst="mathEqual">
            <a:avLst/>
          </a:prstGeom>
          <a:solidFill>
            <a:srgbClr val="00B48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1" name="Равно 33"/>
          <p:cNvSpPr/>
          <p:nvPr/>
        </p:nvSpPr>
        <p:spPr>
          <a:xfrm>
            <a:off x="4090180" y="3201666"/>
            <a:ext cx="1080120" cy="564750"/>
          </a:xfrm>
          <a:prstGeom prst="mathEqual">
            <a:avLst/>
          </a:prstGeom>
          <a:solidFill>
            <a:srgbClr val="FF631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2" name="Прямоугольник 36"/>
          <p:cNvSpPr/>
          <p:nvPr/>
        </p:nvSpPr>
        <p:spPr>
          <a:xfrm>
            <a:off x="5585576" y="3417690"/>
            <a:ext cx="1620000" cy="1728192"/>
          </a:xfrm>
          <a:prstGeom prst="rect">
            <a:avLst/>
          </a:prstGeom>
          <a:solidFill>
            <a:srgbClr val="DC045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олилиния 37"/>
          <p:cNvSpPr/>
          <p:nvPr/>
        </p:nvSpPr>
        <p:spPr>
          <a:xfrm>
            <a:off x="5599431" y="3401294"/>
            <a:ext cx="1619323" cy="1728192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defTabSz="711200">
              <a:lnSpc>
                <a:spcPct val="90000"/>
              </a:lnSpc>
              <a:spcBef>
                <a:spcPts val="600"/>
              </a:spcBef>
              <a:spcAft>
                <a:spcPct val="35000"/>
              </a:spcAft>
            </a:pP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Поставка, монтаж и установка оборудования</a:t>
            </a:r>
          </a:p>
          <a:p>
            <a:pPr defTabSz="711200">
              <a:lnSpc>
                <a:spcPct val="90000"/>
              </a:lnSpc>
              <a:spcBef>
                <a:spcPts val="600"/>
              </a:spcBef>
              <a:spcAft>
                <a:spcPct val="35000"/>
              </a:spcAft>
            </a:pP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Подключение услуги</a:t>
            </a:r>
          </a:p>
        </p:txBody>
      </p:sp>
      <p:sp>
        <p:nvSpPr>
          <p:cNvPr id="74" name="Равно 38"/>
          <p:cNvSpPr/>
          <p:nvPr/>
        </p:nvSpPr>
        <p:spPr>
          <a:xfrm>
            <a:off x="5904051" y="2711465"/>
            <a:ext cx="1080120" cy="564750"/>
          </a:xfrm>
          <a:prstGeom prst="mathEqual">
            <a:avLst/>
          </a:prstGeom>
          <a:solidFill>
            <a:srgbClr val="DC045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5" name="Прямоугольник 39"/>
          <p:cNvSpPr/>
          <p:nvPr/>
        </p:nvSpPr>
        <p:spPr>
          <a:xfrm>
            <a:off x="3788293" y="3951997"/>
            <a:ext cx="1620000" cy="1728192"/>
          </a:xfrm>
          <a:prstGeom prst="rect">
            <a:avLst/>
          </a:prstGeom>
          <a:solidFill>
            <a:srgbClr val="FF631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Полилиния 40"/>
          <p:cNvSpPr/>
          <p:nvPr/>
        </p:nvSpPr>
        <p:spPr>
          <a:xfrm>
            <a:off x="3788293" y="3935601"/>
            <a:ext cx="1620000" cy="1728192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defTabSz="711200">
              <a:lnSpc>
                <a:spcPct val="90000"/>
              </a:lnSpc>
              <a:spcBef>
                <a:spcPts val="600"/>
              </a:spcBef>
              <a:spcAft>
                <a:spcPct val="35000"/>
              </a:spcAft>
            </a:pP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Подписание договора</a:t>
            </a:r>
          </a:p>
          <a:p>
            <a:pPr defTabSz="711200">
              <a:lnSpc>
                <a:spcPct val="90000"/>
              </a:lnSpc>
              <a:spcBef>
                <a:spcPts val="600"/>
              </a:spcBef>
              <a:spcAft>
                <a:spcPct val="35000"/>
              </a:spcAft>
            </a:pP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Подготовка документации</a:t>
            </a:r>
          </a:p>
        </p:txBody>
      </p:sp>
      <p:sp>
        <p:nvSpPr>
          <p:cNvPr id="77" name="Овал 19"/>
          <p:cNvSpPr/>
          <p:nvPr/>
        </p:nvSpPr>
        <p:spPr>
          <a:xfrm>
            <a:off x="7762767" y="174901"/>
            <a:ext cx="792088" cy="792088"/>
          </a:xfrm>
          <a:prstGeom prst="ellipse">
            <a:avLst/>
          </a:prstGeom>
          <a:solidFill>
            <a:schemeClr val="bg1"/>
          </a:solidFill>
          <a:ln>
            <a:solidFill>
              <a:srgbClr val="BED6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8" name="Полилиния 37"/>
          <p:cNvSpPr/>
          <p:nvPr/>
        </p:nvSpPr>
        <p:spPr>
          <a:xfrm>
            <a:off x="7431120" y="2940787"/>
            <a:ext cx="1619323" cy="1728192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  <a:solidFill>
            <a:srgbClr val="BED6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defTabSz="711200">
              <a:lnSpc>
                <a:spcPct val="90000"/>
              </a:lnSpc>
              <a:spcBef>
                <a:spcPts val="600"/>
              </a:spcBef>
              <a:spcAft>
                <a:spcPct val="35000"/>
              </a:spcAft>
            </a:pP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Согласование актов по взаиморасчету</a:t>
            </a:r>
          </a:p>
          <a:p>
            <a:pPr defTabSz="711200">
              <a:lnSpc>
                <a:spcPct val="90000"/>
              </a:lnSpc>
              <a:spcBef>
                <a:spcPts val="600"/>
              </a:spcBef>
              <a:spcAft>
                <a:spcPct val="35000"/>
              </a:spcAft>
            </a:pP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Оплата вознаграждения</a:t>
            </a:r>
          </a:p>
        </p:txBody>
      </p:sp>
      <p:sp>
        <p:nvSpPr>
          <p:cNvPr id="79" name="Равно 38"/>
          <p:cNvSpPr/>
          <p:nvPr/>
        </p:nvSpPr>
        <p:spPr>
          <a:xfrm>
            <a:off x="7742668" y="2248759"/>
            <a:ext cx="1080120" cy="564750"/>
          </a:xfrm>
          <a:prstGeom prst="mathEqual">
            <a:avLst/>
          </a:prstGeom>
          <a:solidFill>
            <a:srgbClr val="BED6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0" name="Plus Sign 79"/>
          <p:cNvSpPr/>
          <p:nvPr/>
        </p:nvSpPr>
        <p:spPr>
          <a:xfrm>
            <a:off x="7917638" y="332135"/>
            <a:ext cx="482346" cy="482346"/>
          </a:xfrm>
          <a:prstGeom prst="mathPlus">
            <a:avLst/>
          </a:prstGeom>
          <a:solidFill>
            <a:srgbClr val="BED60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14849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-template-24">
  <a:themeElements>
    <a:clrScheme name="powerpoint-template-24 10">
      <a:dk1>
        <a:srgbClr val="4D4D4D"/>
      </a:dk1>
      <a:lt1>
        <a:srgbClr val="FFFFFF"/>
      </a:lt1>
      <a:dk2>
        <a:srgbClr val="4D4D4D"/>
      </a:dk2>
      <a:lt2>
        <a:srgbClr val="4377BA"/>
      </a:lt2>
      <a:accent1>
        <a:srgbClr val="5793D1"/>
      </a:accent1>
      <a:accent2>
        <a:srgbClr val="5FA2DB"/>
      </a:accent2>
      <a:accent3>
        <a:srgbClr val="FFFFFF"/>
      </a:accent3>
      <a:accent4>
        <a:srgbClr val="404040"/>
      </a:accent4>
      <a:accent5>
        <a:srgbClr val="B4C8E5"/>
      </a:accent5>
      <a:accent6>
        <a:srgbClr val="5592C6"/>
      </a:accent6>
      <a:hlink>
        <a:srgbClr val="A29AA3"/>
      </a:hlink>
      <a:folHlink>
        <a:srgbClr val="DDDDDD"/>
      </a:folHlink>
    </a:clrScheme>
    <a:fontScheme name="powerpoint-template-24">
      <a:majorFont>
        <a:latin typeface="Microsoft Sans Serif"/>
        <a:ea typeface=""/>
        <a:cs typeface=""/>
      </a:majorFont>
      <a:minorFont>
        <a:latin typeface="Microsoft Sans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u-RU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u-RU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owerpoint-template-24 1">
        <a:dk1>
          <a:srgbClr val="4D4D4D"/>
        </a:dk1>
        <a:lt1>
          <a:srgbClr val="FFFFFF"/>
        </a:lt1>
        <a:dk2>
          <a:srgbClr val="4D4D4D"/>
        </a:dk2>
        <a:lt2>
          <a:srgbClr val="0C209B"/>
        </a:lt2>
        <a:accent1>
          <a:srgbClr val="2167BF"/>
        </a:accent1>
        <a:accent2>
          <a:srgbClr val="C60C0D"/>
        </a:accent2>
        <a:accent3>
          <a:srgbClr val="FFFFFF"/>
        </a:accent3>
        <a:accent4>
          <a:srgbClr val="404040"/>
        </a:accent4>
        <a:accent5>
          <a:srgbClr val="ABB8DC"/>
        </a:accent5>
        <a:accent6>
          <a:srgbClr val="B30A0B"/>
        </a:accent6>
        <a:hlink>
          <a:srgbClr val="4793C7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2">
        <a:dk1>
          <a:srgbClr val="4D4D4D"/>
        </a:dk1>
        <a:lt1>
          <a:srgbClr val="FFFFFF"/>
        </a:lt1>
        <a:dk2>
          <a:srgbClr val="4D4D4D"/>
        </a:dk2>
        <a:lt2>
          <a:srgbClr val="CC0000"/>
        </a:lt2>
        <a:accent1>
          <a:srgbClr val="FF9933"/>
        </a:accent1>
        <a:accent2>
          <a:srgbClr val="009900"/>
        </a:accent2>
        <a:accent3>
          <a:srgbClr val="FFFFFF"/>
        </a:accent3>
        <a:accent4>
          <a:srgbClr val="404040"/>
        </a:accent4>
        <a:accent5>
          <a:srgbClr val="FFCAAD"/>
        </a:accent5>
        <a:accent6>
          <a:srgbClr val="008A00"/>
        </a:accent6>
        <a:hlink>
          <a:srgbClr val="3366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3">
        <a:dk1>
          <a:srgbClr val="4D4D4D"/>
        </a:dk1>
        <a:lt1>
          <a:srgbClr val="FFFFFF"/>
        </a:lt1>
        <a:dk2>
          <a:srgbClr val="4D4D4D"/>
        </a:dk2>
        <a:lt2>
          <a:srgbClr val="0E0F83"/>
        </a:lt2>
        <a:accent1>
          <a:srgbClr val="4049D2"/>
        </a:accent1>
        <a:accent2>
          <a:srgbClr val="494FD9"/>
        </a:accent2>
        <a:accent3>
          <a:srgbClr val="FFFFFF"/>
        </a:accent3>
        <a:accent4>
          <a:srgbClr val="404040"/>
        </a:accent4>
        <a:accent5>
          <a:srgbClr val="AFB1E5"/>
        </a:accent5>
        <a:accent6>
          <a:srgbClr val="4147C4"/>
        </a:accent6>
        <a:hlink>
          <a:srgbClr val="757DD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4">
        <a:dk1>
          <a:srgbClr val="4D4D4D"/>
        </a:dk1>
        <a:lt1>
          <a:srgbClr val="FFFFFF"/>
        </a:lt1>
        <a:dk2>
          <a:srgbClr val="4D4D4D"/>
        </a:dk2>
        <a:lt2>
          <a:srgbClr val="4B8ACD"/>
        </a:lt2>
        <a:accent1>
          <a:srgbClr val="5C98C2"/>
        </a:accent1>
        <a:accent2>
          <a:srgbClr val="93BAD6"/>
        </a:accent2>
        <a:accent3>
          <a:srgbClr val="FFFFFF"/>
        </a:accent3>
        <a:accent4>
          <a:srgbClr val="404040"/>
        </a:accent4>
        <a:accent5>
          <a:srgbClr val="B5CADD"/>
        </a:accent5>
        <a:accent6>
          <a:srgbClr val="85A8C2"/>
        </a:accent6>
        <a:hlink>
          <a:srgbClr val="AECDE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5">
        <a:dk1>
          <a:srgbClr val="4D4D4D"/>
        </a:dk1>
        <a:lt1>
          <a:srgbClr val="FFFFFF"/>
        </a:lt1>
        <a:dk2>
          <a:srgbClr val="4D4D4D"/>
        </a:dk2>
        <a:lt2>
          <a:srgbClr val="114682"/>
        </a:lt2>
        <a:accent1>
          <a:srgbClr val="295B99"/>
        </a:accent1>
        <a:accent2>
          <a:srgbClr val="406DA6"/>
        </a:accent2>
        <a:accent3>
          <a:srgbClr val="FFFFFF"/>
        </a:accent3>
        <a:accent4>
          <a:srgbClr val="404040"/>
        </a:accent4>
        <a:accent5>
          <a:srgbClr val="ACB5CA"/>
        </a:accent5>
        <a:accent6>
          <a:srgbClr val="396296"/>
        </a:accent6>
        <a:hlink>
          <a:srgbClr val="5F84B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6">
        <a:dk1>
          <a:srgbClr val="4D4D4D"/>
        </a:dk1>
        <a:lt1>
          <a:srgbClr val="FFFFFF"/>
        </a:lt1>
        <a:dk2>
          <a:srgbClr val="4D4D4D"/>
        </a:dk2>
        <a:lt2>
          <a:srgbClr val="1984CC"/>
        </a:lt2>
        <a:accent1>
          <a:srgbClr val="0960AF"/>
        </a:accent1>
        <a:accent2>
          <a:srgbClr val="05438C"/>
        </a:accent2>
        <a:accent3>
          <a:srgbClr val="FFFFFF"/>
        </a:accent3>
        <a:accent4>
          <a:srgbClr val="404040"/>
        </a:accent4>
        <a:accent5>
          <a:srgbClr val="AAB6D4"/>
        </a:accent5>
        <a:accent6>
          <a:srgbClr val="043C7E"/>
        </a:accent6>
        <a:hlink>
          <a:srgbClr val="02306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7">
        <a:dk1>
          <a:srgbClr val="4D4D4D"/>
        </a:dk1>
        <a:lt1>
          <a:srgbClr val="FFFFFF"/>
        </a:lt1>
        <a:dk2>
          <a:srgbClr val="4D4D4D"/>
        </a:dk2>
        <a:lt2>
          <a:srgbClr val="116DE4"/>
        </a:lt2>
        <a:accent1>
          <a:srgbClr val="235CAF"/>
        </a:accent1>
        <a:accent2>
          <a:srgbClr val="54A1EE"/>
        </a:accent2>
        <a:accent3>
          <a:srgbClr val="FFFFFF"/>
        </a:accent3>
        <a:accent4>
          <a:srgbClr val="404040"/>
        </a:accent4>
        <a:accent5>
          <a:srgbClr val="ACB5D4"/>
        </a:accent5>
        <a:accent6>
          <a:srgbClr val="4B91D8"/>
        </a:accent6>
        <a:hlink>
          <a:srgbClr val="1391E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8">
        <a:dk1>
          <a:srgbClr val="4D4D4D"/>
        </a:dk1>
        <a:lt1>
          <a:srgbClr val="FFFFFF"/>
        </a:lt1>
        <a:dk2>
          <a:srgbClr val="4D4D4D"/>
        </a:dk2>
        <a:lt2>
          <a:srgbClr val="246DD8"/>
        </a:lt2>
        <a:accent1>
          <a:srgbClr val="2FC5F1"/>
        </a:accent1>
        <a:accent2>
          <a:srgbClr val="218DEB"/>
        </a:accent2>
        <a:accent3>
          <a:srgbClr val="FFFFFF"/>
        </a:accent3>
        <a:accent4>
          <a:srgbClr val="404040"/>
        </a:accent4>
        <a:accent5>
          <a:srgbClr val="ADDFF7"/>
        </a:accent5>
        <a:accent6>
          <a:srgbClr val="1D7FD5"/>
        </a:accent6>
        <a:hlink>
          <a:srgbClr val="39A1EB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9">
        <a:dk1>
          <a:srgbClr val="4D4D4D"/>
        </a:dk1>
        <a:lt1>
          <a:srgbClr val="FFFFFF"/>
        </a:lt1>
        <a:dk2>
          <a:srgbClr val="4D4D4D"/>
        </a:dk2>
        <a:lt2>
          <a:srgbClr val="4377BA"/>
        </a:lt2>
        <a:accent1>
          <a:srgbClr val="5793D1"/>
        </a:accent1>
        <a:accent2>
          <a:srgbClr val="5FA2DB"/>
        </a:accent2>
        <a:accent3>
          <a:srgbClr val="FFFFFF"/>
        </a:accent3>
        <a:accent4>
          <a:srgbClr val="404040"/>
        </a:accent4>
        <a:accent5>
          <a:srgbClr val="B4C8E5"/>
        </a:accent5>
        <a:accent6>
          <a:srgbClr val="5592C6"/>
        </a:accent6>
        <a:hlink>
          <a:srgbClr val="68AEE3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0">
        <a:dk1>
          <a:srgbClr val="4D4D4D"/>
        </a:dk1>
        <a:lt1>
          <a:srgbClr val="FFFFFF"/>
        </a:lt1>
        <a:dk2>
          <a:srgbClr val="4D4D4D"/>
        </a:dk2>
        <a:lt2>
          <a:srgbClr val="4377BA"/>
        </a:lt2>
        <a:accent1>
          <a:srgbClr val="5793D1"/>
        </a:accent1>
        <a:accent2>
          <a:srgbClr val="5FA2DB"/>
        </a:accent2>
        <a:accent3>
          <a:srgbClr val="FFFFFF"/>
        </a:accent3>
        <a:accent4>
          <a:srgbClr val="404040"/>
        </a:accent4>
        <a:accent5>
          <a:srgbClr val="B4C8E5"/>
        </a:accent5>
        <a:accent6>
          <a:srgbClr val="5592C6"/>
        </a:accent6>
        <a:hlink>
          <a:srgbClr val="A29AA3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48690335E3F45B6D32F35E393220A" ma:contentTypeVersion="0" ma:contentTypeDescription="Create a new document." ma:contentTypeScope="" ma:versionID="7bebcf5451cb4fd0a5969123f2c8bff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e49189b09f1ade3a025730c41919c3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D6D7B2-49B0-4EF2-9F2E-002816A94D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E1C6304-A983-4134-839E-D43F82327D3A}">
  <ds:schemaRefs>
    <ds:schemaRef ds:uri="http://purl.org/dc/terms/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B2FC6D7-3840-43B7-820C-B74413F701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powerpoint-template</Template>
  <TotalTime>1001</TotalTime>
  <Words>927</Words>
  <Application>Microsoft Office PowerPoint</Application>
  <PresentationFormat>Экран (4:3)</PresentationFormat>
  <Paragraphs>235</Paragraphs>
  <Slides>35</Slides>
  <Notes>34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0" baseType="lpstr">
      <vt:lpstr>Arial</vt:lpstr>
      <vt:lpstr>Microsoft Sans Serif</vt:lpstr>
      <vt:lpstr>Pragmatica Book Reg</vt:lpstr>
      <vt:lpstr>Verdana</vt:lpstr>
      <vt:lpstr>powerpoint-template-24</vt:lpstr>
      <vt:lpstr>Системный интегратор </vt:lpstr>
      <vt:lpstr>Наши решения</vt:lpstr>
      <vt:lpstr>Мини-АТС</vt:lpstr>
      <vt:lpstr>Мини-АТС внешний вид</vt:lpstr>
      <vt:lpstr>Схема подключения мини-АТС</vt:lpstr>
      <vt:lpstr>Наши проекты по Мини-АТС</vt:lpstr>
      <vt:lpstr>Вопросы по Мини-АТС клиенту </vt:lpstr>
      <vt:lpstr>VoIP шлюзы</vt:lpstr>
      <vt:lpstr>VoIP шлюзы внешний вид</vt:lpstr>
      <vt:lpstr>Схема подключения VoIP-шлюза</vt:lpstr>
      <vt:lpstr>Вопросы по VoIP-шлюзам клиенту </vt:lpstr>
      <vt:lpstr>SIP телефоны</vt:lpstr>
      <vt:lpstr>SIP телефоны начального уровня</vt:lpstr>
      <vt:lpstr>SIP телефоны среднего уровня</vt:lpstr>
      <vt:lpstr>SIP телефоны топового уровня</vt:lpstr>
      <vt:lpstr>Схема подключения SIP-телефонов</vt:lpstr>
      <vt:lpstr>Вопросы по SIP-телефонам клиенту </vt:lpstr>
      <vt:lpstr>Call-центр, Contact-центр</vt:lpstr>
      <vt:lpstr>Call-центр. Гибкий функционал</vt:lpstr>
      <vt:lpstr>Call-центр. Интеграция с CRM</vt:lpstr>
      <vt:lpstr>Call-центр. Карточка клиента</vt:lpstr>
      <vt:lpstr>Call-центр. Запись разговоров</vt:lpstr>
      <vt:lpstr>Call-центр. Отчеты</vt:lpstr>
      <vt:lpstr>Call-центр. Контроль работы операторов</vt:lpstr>
      <vt:lpstr>Схема подключения Call-центра</vt:lpstr>
      <vt:lpstr>Наши проекты Call-центров</vt:lpstr>
      <vt:lpstr>Вопросы по Call-центру клиенту </vt:lpstr>
      <vt:lpstr>Система записи разговоров</vt:lpstr>
      <vt:lpstr>Схема подключения систем записи</vt:lpstr>
      <vt:lpstr>Вопросы по системам записи клиенту </vt:lpstr>
      <vt:lpstr>DECT-системы</vt:lpstr>
      <vt:lpstr>Схема подключения DECT систем</vt:lpstr>
      <vt:lpstr>Вопросы по DECT системам клиенту </vt:lpstr>
      <vt:lpstr>Спасибо!!!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Пользователь Microsoft Office</dc:creator>
  <cp:lastModifiedBy>Alexandr Murdassov</cp:lastModifiedBy>
  <cp:revision>100</cp:revision>
  <dcterms:created xsi:type="dcterms:W3CDTF">2017-06-05T09:14:51Z</dcterms:created>
  <dcterms:modified xsi:type="dcterms:W3CDTF">2025-12-02T08:02:07Z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0x010100BB748690335E3F45B6D32F35E393220A</vt:lpwstr>
  </property>
  <property fmtid="{D5CDD505-2E9C-101B-9397-08002B2CF9AE}" pid="3" name="MSIP_Label_9cdd97af-22dc-49fa-ac47-e24224ce56c4_Enabled">
    <vt:lpwstr>true</vt:lpwstr>
  </property>
  <property fmtid="{D5CDD505-2E9C-101B-9397-08002B2CF9AE}" pid="4" name="MSIP_Label_9cdd97af-22dc-49fa-ac47-e24224ce56c4_SetDate">
    <vt:lpwstr>2025-12-02T08:02:01Z</vt:lpwstr>
  </property>
  <property fmtid="{D5CDD505-2E9C-101B-9397-08002B2CF9AE}" pid="5" name="MSIP_Label_9cdd97af-22dc-49fa-ac47-e24224ce56c4_Method">
    <vt:lpwstr>Standard</vt:lpwstr>
  </property>
  <property fmtid="{D5CDD505-2E9C-101B-9397-08002B2CF9AE}" pid="6" name="MSIP_Label_9cdd97af-22dc-49fa-ac47-e24224ce56c4_Name">
    <vt:lpwstr>General</vt:lpwstr>
  </property>
  <property fmtid="{D5CDD505-2E9C-101B-9397-08002B2CF9AE}" pid="7" name="MSIP_Label_9cdd97af-22dc-49fa-ac47-e24224ce56c4_SiteId">
    <vt:lpwstr>41149801-8e93-4eae-a438-1ff037fd4bdc</vt:lpwstr>
  </property>
  <property fmtid="{D5CDD505-2E9C-101B-9397-08002B2CF9AE}" pid="8" name="MSIP_Label_9cdd97af-22dc-49fa-ac47-e24224ce56c4_ActionId">
    <vt:lpwstr>d7e71385-688a-423b-924f-64a416bb1130</vt:lpwstr>
  </property>
  <property fmtid="{D5CDD505-2E9C-101B-9397-08002B2CF9AE}" pid="9" name="MSIP_Label_9cdd97af-22dc-49fa-ac47-e24224ce56c4_ContentBits">
    <vt:lpwstr>0</vt:lpwstr>
  </property>
</Properties>
</file>
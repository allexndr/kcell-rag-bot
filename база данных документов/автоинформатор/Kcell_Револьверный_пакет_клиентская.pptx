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57" r:id="rId5"/>
    <p:sldId id="292" r:id="rId6"/>
    <p:sldId id="294" r:id="rId7"/>
    <p:sldId id="297" r:id="rId8"/>
    <p:sldId id="296" r:id="rId9"/>
    <p:sldId id="293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319"/>
    <a:srgbClr val="0083BE"/>
    <a:srgbClr val="DC0451"/>
    <a:srgbClr val="652D86"/>
    <a:srgbClr val="BED600"/>
    <a:srgbClr val="00B48C"/>
    <a:srgbClr val="C41B79"/>
    <a:srgbClr val="F9DC00"/>
    <a:srgbClr val="F2F2F2"/>
    <a:srgbClr val="C7C2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94192" autoAdjust="0"/>
  </p:normalViewPr>
  <p:slideViewPr>
    <p:cSldViewPr>
      <p:cViewPr varScale="1">
        <p:scale>
          <a:sx n="47" d="100"/>
          <a:sy n="47" d="100"/>
        </p:scale>
        <p:origin x="1483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14BF71-0A03-40A4-BD8D-9ECDAC572A5B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8FC2D2-A65D-4052-8164-9D83A48057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915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756E675-BAB6-4369-942E-E065B2C3CFD0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156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756E675-BAB6-4369-942E-E065B2C3CFD0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156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756E675-BAB6-4369-942E-E065B2C3CFD0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1563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756E675-BAB6-4369-942E-E065B2C3CFD0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156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0DB4-D3DE-45E9-A5CB-B6E0D1B6D4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73B71-AF36-4904-B6DC-C1237FAA8E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781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0DB4-D3DE-45E9-A5CB-B6E0D1B6D4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73B71-AF36-4904-B6DC-C1237FAA8E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4502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0DB4-D3DE-45E9-A5CB-B6E0D1B6D4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73B71-AF36-4904-B6DC-C1237FAA8E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6702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0DB4-D3DE-45E9-A5CB-B6E0D1B6D4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73B71-AF36-4904-B6DC-C1237FAA8E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4972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0DB4-D3DE-45E9-A5CB-B6E0D1B6D4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73B71-AF36-4904-B6DC-C1237FAA8E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5904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0DB4-D3DE-45E9-A5CB-B6E0D1B6D4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73B71-AF36-4904-B6DC-C1237FAA8E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4059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0DB4-D3DE-45E9-A5CB-B6E0D1B6D4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73B71-AF36-4904-B6DC-C1237FAA8E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9570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0DB4-D3DE-45E9-A5CB-B6E0D1B6D4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73B71-AF36-4904-B6DC-C1237FAA8E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9925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0DB4-D3DE-45E9-A5CB-B6E0D1B6D4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73B71-AF36-4904-B6DC-C1237FAA8E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3073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0DB4-D3DE-45E9-A5CB-B6E0D1B6D4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73B71-AF36-4904-B6DC-C1237FAA8E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8024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0DB4-D3DE-45E9-A5CB-B6E0D1B6D4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73B71-AF36-4904-B6DC-C1237FAA8E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1709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tint val="80000"/>
                <a:satMod val="300000"/>
                <a:alpha val="97000"/>
              </a:schemeClr>
            </a:gs>
            <a:gs pos="100000">
              <a:schemeClr val="bg1">
                <a:shade val="30000"/>
                <a:satMod val="200000"/>
                <a:alpha val="2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650DB4-D3DE-45E9-A5CB-B6E0D1B6D4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273B71-AF36-4904-B6DC-C1237FAA8E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8522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13" Type="http://schemas.openxmlformats.org/officeDocument/2006/relationships/image" Target="../media/image15.emf"/><Relationship Id="rId3" Type="http://schemas.openxmlformats.org/officeDocument/2006/relationships/image" Target="../media/image5.emf"/><Relationship Id="rId7" Type="http://schemas.openxmlformats.org/officeDocument/2006/relationships/image" Target="../media/image9.emf"/><Relationship Id="rId12" Type="http://schemas.openxmlformats.org/officeDocument/2006/relationships/image" Target="../media/image14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emf"/><Relationship Id="rId11" Type="http://schemas.openxmlformats.org/officeDocument/2006/relationships/image" Target="../media/image13.emf"/><Relationship Id="rId5" Type="http://schemas.openxmlformats.org/officeDocument/2006/relationships/image" Target="../media/image7.emf"/><Relationship Id="rId15" Type="http://schemas.openxmlformats.org/officeDocument/2006/relationships/image" Target="../media/image17.png"/><Relationship Id="rId10" Type="http://schemas.openxmlformats.org/officeDocument/2006/relationships/image" Target="../media/image12.emf"/><Relationship Id="rId4" Type="http://schemas.openxmlformats.org/officeDocument/2006/relationships/image" Target="../media/image6.emf"/><Relationship Id="rId9" Type="http://schemas.openxmlformats.org/officeDocument/2006/relationships/image" Target="../media/image11.emf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8.emf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_Work\для Артема\prezentaciya\materials\Untitled-3-03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643489"/>
            <a:ext cx="4716016" cy="2065431"/>
          </a:xfrm>
          <a:prstGeom prst="rect">
            <a:avLst/>
          </a:prstGeom>
          <a:noFill/>
        </p:spPr>
      </p:pic>
      <p:pic>
        <p:nvPicPr>
          <p:cNvPr id="2051" name="Picture 3" descr="E:\_Work\для Артема\prezentaciya\materials\Untitled-3-01.png"/>
          <p:cNvPicPr>
            <a:picLocks noChangeAspect="1" noChangeArrowheads="1"/>
          </p:cNvPicPr>
          <p:nvPr/>
        </p:nvPicPr>
        <p:blipFill rotWithShape="1">
          <a:blip r:embed="rId4"/>
          <a:srcRect l="41017"/>
          <a:stretch/>
        </p:blipFill>
        <p:spPr bwMode="auto">
          <a:xfrm>
            <a:off x="7524328" y="5894389"/>
            <a:ext cx="1060889" cy="963612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454226" y="640720"/>
            <a:ext cx="4261790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5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Услуга «Револьверный пакет»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38120" y="2313747"/>
            <a:ext cx="4421912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ru-RU" sz="15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Для корпоративных клиентов</a:t>
            </a:r>
            <a:r>
              <a:rPr lang="en-US" sz="15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89469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/>
          <p:cNvSpPr/>
          <p:nvPr/>
        </p:nvSpPr>
        <p:spPr>
          <a:xfrm>
            <a:off x="1715280" y="398228"/>
            <a:ext cx="6055107" cy="6055107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mpd="sng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5833546" y="850332"/>
            <a:ext cx="2213532" cy="221353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mpd="sng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7887218">
            <a:off x="6035214" y="1016712"/>
            <a:ext cx="1822541" cy="186774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0" tIns="45720" rIns="91440" bIns="45720">
            <a:prstTxWarp prst="textCircle">
              <a:avLst>
                <a:gd name="adj" fmla="val 12"/>
              </a:avLst>
            </a:prstTxWarp>
            <a:spAutoFit/>
          </a:bodyPr>
          <a:lstStyle/>
          <a:p>
            <a:pPr algn="ctr"/>
            <a:r>
              <a:rPr lang="ru-RU" sz="1500" b="1" dirty="0">
                <a:ln w="12700">
                  <a:noFill/>
                  <a:prstDash val="solid"/>
                </a:ln>
                <a:solidFill>
                  <a:srgbClr val="652D86"/>
                </a:solidFill>
                <a:effectLst/>
                <a:latin typeface="Pragmatica Book Reg"/>
                <a:cs typeface="Pragmatica Book Reg"/>
              </a:rPr>
              <a:t>Компания основана в1998 году</a:t>
            </a:r>
            <a:r>
              <a:rPr lang="en-US" sz="1500" b="1" dirty="0">
                <a:ln w="12700">
                  <a:noFill/>
                  <a:prstDash val="solid"/>
                </a:ln>
                <a:solidFill>
                  <a:srgbClr val="652D86"/>
                </a:solidFill>
                <a:effectLst/>
                <a:latin typeface="Pragmatica Book Reg"/>
                <a:cs typeface="Pragmatica Book Reg"/>
              </a:rPr>
              <a:t>***</a:t>
            </a:r>
            <a:endParaRPr lang="ru-RU" sz="800" b="1" dirty="0">
              <a:ln w="12700">
                <a:noFill/>
                <a:prstDash val="solid"/>
              </a:ln>
              <a:solidFill>
                <a:srgbClr val="652D86"/>
              </a:solidFill>
              <a:effectLst/>
              <a:latin typeface="Pragmatica Book Reg"/>
              <a:cs typeface="Pragmatica Book Reg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2476181" y="1073904"/>
            <a:ext cx="4394957" cy="4394958"/>
          </a:xfrm>
          <a:prstGeom prst="ellipse">
            <a:avLst/>
          </a:prstGeom>
          <a:solidFill>
            <a:srgbClr val="652D86"/>
          </a:solidFill>
          <a:ln w="19050" cmpd="sng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1475656" y="3340556"/>
            <a:ext cx="2351878" cy="2351878"/>
          </a:xfrm>
          <a:prstGeom prst="ellipse">
            <a:avLst/>
          </a:prstGeom>
          <a:solidFill>
            <a:srgbClr val="C41B79"/>
          </a:solidFill>
          <a:ln w="19050" cmpd="sng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3013512" y="1611233"/>
            <a:ext cx="3320298" cy="3320298"/>
          </a:xfrm>
          <a:prstGeom prst="ellipse">
            <a:avLst/>
          </a:prstGeom>
          <a:solidFill>
            <a:srgbClr val="BED600"/>
          </a:solidFill>
          <a:ln w="19050" cmpd="sng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3491880" y="2060848"/>
            <a:ext cx="2351878" cy="2351878"/>
          </a:xfrm>
          <a:prstGeom prst="ellipse">
            <a:avLst/>
          </a:prstGeom>
          <a:solidFill>
            <a:srgbClr val="FFFFFF"/>
          </a:solidFill>
          <a:ln w="19050" cmpd="sng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3912759" y="2510481"/>
            <a:ext cx="1521803" cy="1521804"/>
          </a:xfrm>
          <a:prstGeom prst="ellipse">
            <a:avLst/>
          </a:prstGeom>
          <a:solidFill>
            <a:srgbClr val="652D86"/>
          </a:solidFill>
          <a:ln w="19050" cmpd="sng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251520" y="188640"/>
            <a:ext cx="2797234" cy="612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500" dirty="0">
                <a:solidFill>
                  <a:srgbClr val="652D86"/>
                </a:solidFill>
                <a:latin typeface="Arial" pitchFamily="34" charset="0"/>
                <a:cs typeface="Arial" pitchFamily="34" charset="0"/>
              </a:rPr>
              <a:t>О компании</a:t>
            </a:r>
          </a:p>
        </p:txBody>
      </p:sp>
      <p:sp>
        <p:nvSpPr>
          <p:cNvPr id="10" name="Rectangle 9"/>
          <p:cNvSpPr/>
          <p:nvPr/>
        </p:nvSpPr>
        <p:spPr>
          <a:xfrm rot="7739855">
            <a:off x="2967910" y="1696582"/>
            <a:ext cx="3350720" cy="320430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0" tIns="45720" rIns="91440" bIns="45720">
            <a:prstTxWarp prst="textCircle">
              <a:avLst>
                <a:gd name="adj" fmla="val 12"/>
              </a:avLst>
            </a:prstTxWarp>
            <a:spAutoFit/>
          </a:bodyPr>
          <a:lstStyle/>
          <a:p>
            <a:pPr algn="ctr"/>
            <a:r>
              <a:rPr lang="ru-RU" sz="1500" b="1" dirty="0">
                <a:ln w="12700">
                  <a:noFill/>
                  <a:prstDash val="solid"/>
                </a:ln>
                <a:solidFill>
                  <a:srgbClr val="FFFFFF"/>
                </a:solidFill>
                <a:effectLst/>
                <a:latin typeface="Pragmatica Book Reg"/>
                <a:cs typeface="Pragmatica Book Reg"/>
              </a:rPr>
              <a:t>Роуминг в более </a:t>
            </a:r>
            <a:r>
              <a:rPr lang="ru-RU" sz="2000" b="1" dirty="0">
                <a:ln w="12700">
                  <a:noFill/>
                  <a:prstDash val="solid"/>
                </a:ln>
                <a:solidFill>
                  <a:srgbClr val="FFFFFF"/>
                </a:solidFill>
                <a:effectLst/>
                <a:latin typeface="Pragmatica Book Reg"/>
                <a:cs typeface="Pragmatica Book Reg"/>
              </a:rPr>
              <a:t>350</a:t>
            </a:r>
            <a:r>
              <a:rPr lang="ru-RU" sz="1500" b="1" dirty="0">
                <a:ln w="12700">
                  <a:noFill/>
                  <a:prstDash val="solid"/>
                </a:ln>
                <a:solidFill>
                  <a:srgbClr val="FFFFFF"/>
                </a:solidFill>
                <a:effectLst/>
                <a:latin typeface="Pragmatica Book Reg"/>
                <a:cs typeface="Pragmatica Book Reg"/>
              </a:rPr>
              <a:t> странах (роуминг в стандарте GSM в более 150 странах</a:t>
            </a:r>
            <a:r>
              <a:rPr lang="en-US" sz="1500" b="1" dirty="0">
                <a:ln w="12700">
                  <a:noFill/>
                  <a:prstDash val="solid"/>
                </a:ln>
                <a:solidFill>
                  <a:srgbClr val="FFFFFF"/>
                </a:solidFill>
                <a:effectLst/>
                <a:latin typeface="Pragmatica Book Reg"/>
                <a:cs typeface="Pragmatica Book Reg"/>
              </a:rPr>
              <a:t>*</a:t>
            </a:r>
            <a:r>
              <a:rPr lang="ru-RU" sz="1500" b="1" dirty="0">
                <a:ln w="12700">
                  <a:noFill/>
                  <a:prstDash val="solid"/>
                </a:ln>
                <a:solidFill>
                  <a:srgbClr val="FFFFFF"/>
                </a:solidFill>
                <a:effectLst/>
                <a:latin typeface="Pragmatica Book Reg"/>
                <a:cs typeface="Pragmatica Book Reg"/>
              </a:rPr>
              <a:t>*</a:t>
            </a:r>
            <a:r>
              <a:rPr lang="en-US" sz="1500" b="1" dirty="0">
                <a:ln w="12700">
                  <a:noFill/>
                  <a:prstDash val="solid"/>
                </a:ln>
                <a:solidFill>
                  <a:srgbClr val="FFFFFF"/>
                </a:solidFill>
                <a:effectLst/>
                <a:latin typeface="Pragmatica Book Reg"/>
                <a:cs typeface="Pragmatica Book Reg"/>
              </a:rPr>
              <a:t>*</a:t>
            </a:r>
            <a:endParaRPr lang="ru-RU" sz="1500" b="1" dirty="0">
              <a:ln w="12700">
                <a:noFill/>
                <a:prstDash val="solid"/>
              </a:ln>
              <a:solidFill>
                <a:srgbClr val="FFFFFF"/>
              </a:solidFill>
              <a:effectLst/>
              <a:latin typeface="Pragmatica Book Reg"/>
              <a:cs typeface="Pragmatica Book Reg"/>
            </a:endParaRPr>
          </a:p>
          <a:p>
            <a:pPr algn="ctr"/>
            <a:endParaRPr lang="ru-RU" sz="1500" b="1" cap="none" spc="0" dirty="0" err="1">
              <a:ln w="12700">
                <a:noFill/>
                <a:prstDash val="solid"/>
              </a:ln>
              <a:solidFill>
                <a:srgbClr val="FFFFFF"/>
              </a:solidFill>
              <a:effectLst/>
              <a:latin typeface="Pragmatica Book Reg"/>
              <a:cs typeface="Pragmatica Book Reg"/>
            </a:endParaRPr>
          </a:p>
        </p:txBody>
      </p:sp>
      <p:sp>
        <p:nvSpPr>
          <p:cNvPr id="14" name="Rectangle 13"/>
          <p:cNvSpPr/>
          <p:nvPr/>
        </p:nvSpPr>
        <p:spPr>
          <a:xfrm rot="5656258">
            <a:off x="3239855" y="1894233"/>
            <a:ext cx="2907486" cy="284974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0" tIns="45720" rIns="91440" bIns="45720">
            <a:prstTxWarp prst="textCircle">
              <a:avLst>
                <a:gd name="adj" fmla="val 12"/>
              </a:avLst>
            </a:prstTxWarp>
            <a:spAutoFit/>
          </a:bodyPr>
          <a:lstStyle/>
          <a:p>
            <a:pPr algn="ctr"/>
            <a:r>
              <a:rPr lang="ru-RU" sz="1500" b="1" dirty="0">
                <a:ln w="12700">
                  <a:noFill/>
                  <a:prstDash val="solid"/>
                </a:ln>
                <a:solidFill>
                  <a:srgbClr val="652D86"/>
                </a:solidFill>
                <a:effectLst/>
                <a:latin typeface="Pragmatica Book Reg"/>
                <a:cs typeface="Pragmatica Book Reg"/>
              </a:rPr>
              <a:t>Более </a:t>
            </a:r>
            <a:r>
              <a:rPr lang="ru-RU" sz="2000" b="1" dirty="0">
                <a:ln w="12700">
                  <a:noFill/>
                  <a:prstDash val="solid"/>
                </a:ln>
                <a:solidFill>
                  <a:srgbClr val="652D86"/>
                </a:solidFill>
                <a:effectLst/>
                <a:latin typeface="Pragmatica Book Reg"/>
                <a:cs typeface="Pragmatica Book Reg"/>
              </a:rPr>
              <a:t>11.4</a:t>
            </a:r>
            <a:r>
              <a:rPr lang="ru-RU" sz="1500" b="1" dirty="0">
                <a:ln w="12700">
                  <a:noFill/>
                  <a:prstDash val="solid"/>
                </a:ln>
                <a:solidFill>
                  <a:srgbClr val="652D86"/>
                </a:solidFill>
                <a:effectLst/>
                <a:latin typeface="Pragmatica Book Reg"/>
                <a:cs typeface="Pragmatica Book Reg"/>
              </a:rPr>
              <a:t> млн. активных абонентов*</a:t>
            </a:r>
            <a:r>
              <a:rPr lang="en-US" sz="1500" b="1" dirty="0">
                <a:ln w="12700">
                  <a:noFill/>
                  <a:prstDash val="solid"/>
                </a:ln>
                <a:solidFill>
                  <a:srgbClr val="652D86"/>
                </a:solidFill>
                <a:effectLst/>
                <a:latin typeface="Pragmatica Book Reg"/>
                <a:cs typeface="Pragmatica Book Reg"/>
              </a:rPr>
              <a:t>*</a:t>
            </a:r>
            <a:endParaRPr lang="ru-RU" sz="800" b="1" cap="none" spc="0" dirty="0">
              <a:ln w="12700">
                <a:noFill/>
                <a:prstDash val="solid"/>
              </a:ln>
              <a:solidFill>
                <a:srgbClr val="652D86"/>
              </a:solidFill>
              <a:effectLst/>
              <a:latin typeface="Pragmatica Book Reg"/>
              <a:cs typeface="Pragmatica Book Reg"/>
            </a:endParaRPr>
          </a:p>
        </p:txBody>
      </p:sp>
      <p:sp>
        <p:nvSpPr>
          <p:cNvPr id="15" name="Rectangle 14"/>
          <p:cNvSpPr/>
          <p:nvPr/>
        </p:nvSpPr>
        <p:spPr>
          <a:xfrm rot="6161240">
            <a:off x="3716428" y="2347205"/>
            <a:ext cx="1952167" cy="19133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0" tIns="45720" rIns="91440" bIns="45720">
            <a:prstTxWarp prst="textCircle">
              <a:avLst>
                <a:gd name="adj" fmla="val 12"/>
              </a:avLst>
            </a:prstTxWarp>
            <a:spAutoFit/>
          </a:bodyPr>
          <a:lstStyle/>
          <a:p>
            <a:pPr algn="ctr"/>
            <a:r>
              <a:rPr lang="ru-RU" sz="1500" b="1" dirty="0">
                <a:ln w="12700">
                  <a:noFill/>
                  <a:prstDash val="solid"/>
                </a:ln>
                <a:solidFill>
                  <a:srgbClr val="652D86"/>
                </a:solidFill>
                <a:effectLst/>
                <a:latin typeface="Pragmatica Book Reg"/>
                <a:cs typeface="Pragmatica Book Reg"/>
              </a:rPr>
              <a:t>Более </a:t>
            </a:r>
            <a:r>
              <a:rPr lang="ru-RU" sz="2000" b="1" dirty="0">
                <a:ln w="12700">
                  <a:noFill/>
                  <a:prstDash val="solid"/>
                </a:ln>
                <a:solidFill>
                  <a:srgbClr val="652D86"/>
                </a:solidFill>
                <a:effectLst/>
                <a:latin typeface="Pragmatica Book Reg"/>
                <a:cs typeface="Pragmatica Book Reg"/>
              </a:rPr>
              <a:t>1</a:t>
            </a:r>
            <a:r>
              <a:rPr lang="en-US" sz="2000" b="1" dirty="0">
                <a:ln w="12700">
                  <a:noFill/>
                  <a:prstDash val="solid"/>
                </a:ln>
                <a:solidFill>
                  <a:srgbClr val="652D86"/>
                </a:solidFill>
                <a:latin typeface="Pragmatica Book Reg"/>
                <a:cs typeface="Pragmatica Book Reg"/>
              </a:rPr>
              <a:t>3</a:t>
            </a:r>
            <a:r>
              <a:rPr lang="ru-RU" sz="1500" b="1" dirty="0">
                <a:ln w="12700">
                  <a:noFill/>
                  <a:prstDash val="solid"/>
                </a:ln>
                <a:solidFill>
                  <a:srgbClr val="652D86"/>
                </a:solidFill>
                <a:effectLst/>
                <a:latin typeface="Pragmatica Book Reg"/>
                <a:cs typeface="Pragmatica Book Reg"/>
              </a:rPr>
              <a:t> млн. </a:t>
            </a:r>
            <a:r>
              <a:rPr lang="en-US" sz="1500" b="1" dirty="0" err="1">
                <a:ln w="12700">
                  <a:noFill/>
                  <a:prstDash val="solid"/>
                </a:ln>
                <a:solidFill>
                  <a:srgbClr val="652D86"/>
                </a:solidFill>
                <a:effectLst/>
                <a:latin typeface="Pragmatica Book Reg"/>
                <a:cs typeface="Pragmatica Book Reg"/>
              </a:rPr>
              <a:t>a</a:t>
            </a:r>
            <a:r>
              <a:rPr lang="ru-RU" sz="1500" b="1" dirty="0" err="1">
                <a:ln w="12700">
                  <a:noFill/>
                  <a:prstDash val="solid"/>
                </a:ln>
                <a:solidFill>
                  <a:srgbClr val="652D86"/>
                </a:solidFill>
                <a:effectLst/>
                <a:latin typeface="Pragmatica Book Reg"/>
                <a:cs typeface="Pragmatica Book Reg"/>
              </a:rPr>
              <a:t>бонентов</a:t>
            </a:r>
            <a:r>
              <a:rPr lang="en-US" sz="1500" b="1" dirty="0">
                <a:ln w="12700">
                  <a:noFill/>
                  <a:prstDash val="solid"/>
                </a:ln>
                <a:solidFill>
                  <a:srgbClr val="652D86"/>
                </a:solidFill>
                <a:effectLst/>
                <a:latin typeface="Pragmatica Book Reg"/>
                <a:cs typeface="Pragmatica Book Reg"/>
              </a:rPr>
              <a:t>*</a:t>
            </a:r>
            <a:endParaRPr lang="ru-RU" sz="800" b="1" cap="none" spc="0" dirty="0">
              <a:ln w="12700">
                <a:noFill/>
                <a:prstDash val="solid"/>
              </a:ln>
              <a:solidFill>
                <a:srgbClr val="652D86"/>
              </a:solidFill>
              <a:effectLst/>
              <a:latin typeface="Pragmatica Book Reg"/>
              <a:cs typeface="Pragmatica Book Reg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77106" y="3324342"/>
            <a:ext cx="1589576" cy="502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700" dirty="0">
                <a:solidFill>
                  <a:schemeClr val="bg1"/>
                </a:solidFill>
                <a:latin typeface="Pragmatica Book Reg"/>
                <a:cs typeface="Pragmatica Book Reg"/>
              </a:rPr>
              <a:t>Ведущий оператор мобильной</a:t>
            </a:r>
          </a:p>
          <a:p>
            <a:pPr algn="ctr"/>
            <a:r>
              <a:rPr lang="ru-RU" sz="700" dirty="0">
                <a:solidFill>
                  <a:schemeClr val="bg1"/>
                </a:solidFill>
                <a:latin typeface="Pragmatica Book Reg"/>
                <a:cs typeface="Pragmatica Book Reg"/>
              </a:rPr>
              <a:t>связи в Казахстане по доле рынка, доходу и количеству</a:t>
            </a:r>
          </a:p>
          <a:p>
            <a:pPr algn="ctr"/>
            <a:r>
              <a:rPr lang="ru-RU" sz="700" dirty="0">
                <a:solidFill>
                  <a:schemeClr val="bg1"/>
                </a:solidFill>
                <a:latin typeface="Pragmatica Book Reg"/>
                <a:cs typeface="Pragmatica Book Reg"/>
              </a:rPr>
              <a:t>абонентов</a:t>
            </a:r>
            <a:endParaRPr lang="en-US" sz="700" dirty="0">
              <a:solidFill>
                <a:schemeClr val="bg1"/>
              </a:solidFill>
              <a:latin typeface="Pragmatica Book Reg"/>
              <a:cs typeface="Pragmatica Book Reg"/>
            </a:endParaRPr>
          </a:p>
        </p:txBody>
      </p:sp>
      <p:sp>
        <p:nvSpPr>
          <p:cNvPr id="19" name="Rectangle 18"/>
          <p:cNvSpPr/>
          <p:nvPr/>
        </p:nvSpPr>
        <p:spPr>
          <a:xfrm rot="1841029">
            <a:off x="1710674" y="3531437"/>
            <a:ext cx="1933658" cy="194118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0" tIns="45720" rIns="91440" bIns="45720">
            <a:prstTxWarp prst="textCircle">
              <a:avLst>
                <a:gd name="adj" fmla="val 12"/>
              </a:avLst>
            </a:prstTxWarp>
            <a:spAutoFit/>
          </a:bodyPr>
          <a:lstStyle/>
          <a:p>
            <a:pPr algn="ctr"/>
            <a:r>
              <a:rPr lang="ru-RU" sz="2000" b="1">
                <a:ln w="12700">
                  <a:noFill/>
                  <a:prstDash val="solid"/>
                </a:ln>
                <a:solidFill>
                  <a:srgbClr val="FFFFFF"/>
                </a:solidFill>
                <a:effectLst/>
                <a:latin typeface="Pragmatica Book Reg"/>
                <a:cs typeface="Pragmatica Book Reg"/>
              </a:rPr>
              <a:t>5100</a:t>
            </a:r>
            <a:r>
              <a:rPr lang="ru-RU" sz="1500" b="1">
                <a:ln w="12700">
                  <a:noFill/>
                  <a:prstDash val="solid"/>
                </a:ln>
                <a:solidFill>
                  <a:srgbClr val="FFFFFF"/>
                </a:solidFill>
                <a:effectLst/>
                <a:latin typeface="Pragmatica Book Reg"/>
                <a:cs typeface="Pragmatica Book Reg"/>
              </a:rPr>
              <a:t> </a:t>
            </a:r>
            <a:r>
              <a:rPr lang="ru-RU" sz="1500" b="1" dirty="0">
                <a:ln w="12700">
                  <a:noFill/>
                  <a:prstDash val="solid"/>
                </a:ln>
                <a:solidFill>
                  <a:srgbClr val="FFFFFF"/>
                </a:solidFill>
                <a:effectLst/>
                <a:latin typeface="Pragmatica Book Reg"/>
                <a:cs typeface="Pragmatica Book Reg"/>
              </a:rPr>
              <a:t>населенных пунктов</a:t>
            </a:r>
            <a:endParaRPr lang="ru-RU" sz="800" b="1" dirty="0">
              <a:ln w="12700">
                <a:noFill/>
                <a:prstDash val="solid"/>
              </a:ln>
              <a:solidFill>
                <a:srgbClr val="FFFFFF"/>
              </a:solidFill>
              <a:effectLst/>
              <a:latin typeface="Pragmatica Book Reg"/>
              <a:cs typeface="Pragmatica Book Reg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59866" y="4654840"/>
            <a:ext cx="1589576" cy="38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chemeClr val="bg1"/>
                </a:solidFill>
                <a:latin typeface="Pragmatica Book Reg"/>
                <a:cs typeface="Pragmatica Book Reg"/>
              </a:rPr>
              <a:t>покрыто нашей</a:t>
            </a:r>
          </a:p>
          <a:p>
            <a:r>
              <a:rPr lang="ru-RU" sz="1000" dirty="0">
                <a:solidFill>
                  <a:schemeClr val="bg1"/>
                </a:solidFill>
                <a:latin typeface="Pragmatica Book Reg"/>
                <a:cs typeface="Pragmatica Book Reg"/>
              </a:rPr>
              <a:t>компанией</a:t>
            </a:r>
            <a:endParaRPr lang="en-US" sz="1000" dirty="0">
              <a:solidFill>
                <a:schemeClr val="bg1"/>
              </a:solidFill>
              <a:latin typeface="Pragmatica Book Reg"/>
              <a:cs typeface="Pragmatica Book Reg"/>
            </a:endParaRPr>
          </a:p>
        </p:txBody>
      </p:sp>
      <p:sp>
        <p:nvSpPr>
          <p:cNvPr id="13" name="TextBox 12"/>
          <p:cNvSpPr txBox="1"/>
          <p:nvPr/>
        </p:nvSpPr>
        <p:spPr>
          <a:xfrm rot="20458791">
            <a:off x="5202963" y="5867846"/>
            <a:ext cx="731756" cy="325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800" dirty="0">
                <a:solidFill>
                  <a:srgbClr val="652D86"/>
                </a:solidFill>
                <a:latin typeface="Pragmatica Book Reg"/>
                <a:cs typeface="Pragmatica Book Reg"/>
              </a:rPr>
              <a:t>Мобильный</a:t>
            </a:r>
          </a:p>
          <a:p>
            <a:pPr algn="ctr"/>
            <a:r>
              <a:rPr lang="ru-RU" sz="800" dirty="0">
                <a:solidFill>
                  <a:srgbClr val="652D86"/>
                </a:solidFill>
                <a:latin typeface="Pragmatica Book Reg"/>
                <a:cs typeface="Pragmatica Book Reg"/>
              </a:rPr>
              <a:t>контент</a:t>
            </a:r>
            <a:endParaRPr lang="en-US" sz="800" dirty="0">
              <a:solidFill>
                <a:srgbClr val="652D86"/>
              </a:solidFill>
              <a:latin typeface="Pragmatica Book Reg"/>
              <a:cs typeface="Pragmatica Book Reg"/>
            </a:endParaRPr>
          </a:p>
        </p:txBody>
      </p:sp>
      <p:sp>
        <p:nvSpPr>
          <p:cNvPr id="22" name="TextBox 21"/>
          <p:cNvSpPr txBox="1"/>
          <p:nvPr/>
        </p:nvSpPr>
        <p:spPr>
          <a:xfrm rot="19305844">
            <a:off x="6060489" y="5544138"/>
            <a:ext cx="534649" cy="2069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solidFill>
                  <a:srgbClr val="652D86"/>
                </a:solidFill>
                <a:latin typeface="Pragmatica Book Reg"/>
                <a:cs typeface="Pragmatica Book Reg"/>
              </a:rPr>
              <a:t>Internet</a:t>
            </a:r>
          </a:p>
        </p:txBody>
      </p:sp>
      <p:sp>
        <p:nvSpPr>
          <p:cNvPr id="23" name="TextBox 22"/>
          <p:cNvSpPr txBox="1"/>
          <p:nvPr/>
        </p:nvSpPr>
        <p:spPr>
          <a:xfrm rot="18294026">
            <a:off x="6726454" y="4896301"/>
            <a:ext cx="423777" cy="2069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solidFill>
                  <a:srgbClr val="652D86"/>
                </a:solidFill>
                <a:latin typeface="Pragmatica Book Reg"/>
                <a:cs typeface="Pragmatica Book Reg"/>
              </a:rPr>
              <a:t>MMS</a:t>
            </a:r>
          </a:p>
        </p:txBody>
      </p:sp>
      <p:sp>
        <p:nvSpPr>
          <p:cNvPr id="24" name="TextBox 23"/>
          <p:cNvSpPr txBox="1"/>
          <p:nvPr/>
        </p:nvSpPr>
        <p:spPr>
          <a:xfrm rot="17330798">
            <a:off x="7154362" y="4111333"/>
            <a:ext cx="399139" cy="2069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solidFill>
                  <a:srgbClr val="652D86"/>
                </a:solidFill>
                <a:latin typeface="Pragmatica Book Reg"/>
                <a:cs typeface="Pragmatica Book Reg"/>
              </a:rPr>
              <a:t>SMS</a:t>
            </a:r>
          </a:p>
        </p:txBody>
      </p:sp>
      <p:sp>
        <p:nvSpPr>
          <p:cNvPr id="25" name="TextBox 24"/>
          <p:cNvSpPr txBox="1"/>
          <p:nvPr/>
        </p:nvSpPr>
        <p:spPr>
          <a:xfrm rot="16200000">
            <a:off x="7176511" y="3247588"/>
            <a:ext cx="682479" cy="325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800" dirty="0">
                <a:solidFill>
                  <a:srgbClr val="652D86"/>
                </a:solidFill>
                <a:latin typeface="Pragmatica Book Reg"/>
                <a:cs typeface="Pragmatica Book Reg"/>
              </a:rPr>
              <a:t>Голосовая</a:t>
            </a:r>
          </a:p>
          <a:p>
            <a:pPr algn="ctr"/>
            <a:r>
              <a:rPr lang="ru-RU" sz="800" dirty="0">
                <a:solidFill>
                  <a:srgbClr val="652D86"/>
                </a:solidFill>
                <a:latin typeface="Pragmatica Book Reg"/>
                <a:cs typeface="Pragmatica Book Reg"/>
              </a:rPr>
              <a:t>связь</a:t>
            </a:r>
            <a:endParaRPr lang="en-US" sz="800" dirty="0">
              <a:solidFill>
                <a:srgbClr val="652D86"/>
              </a:solidFill>
              <a:latin typeface="Pragmatica Book Reg"/>
              <a:cs typeface="Pragmatica Book Reg"/>
            </a:endParaRPr>
          </a:p>
        </p:txBody>
      </p:sp>
      <p:sp>
        <p:nvSpPr>
          <p:cNvPr id="26" name="Rectangle 25"/>
          <p:cNvSpPr/>
          <p:nvPr/>
        </p:nvSpPr>
        <p:spPr>
          <a:xfrm rot="514680">
            <a:off x="2112548" y="702711"/>
            <a:ext cx="5156266" cy="525713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0" tIns="45720" rIns="91440" bIns="45720">
            <a:prstTxWarp prst="textArchDown">
              <a:avLst/>
            </a:prstTxWarp>
            <a:spAutoFit/>
          </a:bodyPr>
          <a:lstStyle/>
          <a:p>
            <a:pPr algn="ctr"/>
            <a:r>
              <a:rPr lang="en-US" sz="2000" b="1" dirty="0" err="1">
                <a:ln w="12700">
                  <a:noFill/>
                  <a:prstDash val="solid"/>
                </a:ln>
                <a:solidFill>
                  <a:srgbClr val="652D86"/>
                </a:solidFill>
                <a:effectLst/>
                <a:latin typeface="Pragmatica Book Reg"/>
                <a:cs typeface="Pragmatica Book Reg"/>
              </a:rPr>
              <a:t>Услуги</a:t>
            </a:r>
            <a:r>
              <a:rPr lang="en-US" sz="2000" b="1" dirty="0">
                <a:ln w="12700">
                  <a:noFill/>
                  <a:prstDash val="solid"/>
                </a:ln>
                <a:solidFill>
                  <a:srgbClr val="652D86"/>
                </a:solidFill>
                <a:effectLst/>
                <a:latin typeface="Pragmatica Book Reg"/>
                <a:cs typeface="Pragmatica Book Reg"/>
              </a:rPr>
              <a:t>:</a:t>
            </a:r>
            <a:endParaRPr lang="ru-RU" sz="2000" b="1" dirty="0">
              <a:ln w="12700">
                <a:noFill/>
                <a:prstDash val="solid"/>
              </a:ln>
              <a:solidFill>
                <a:srgbClr val="652D86"/>
              </a:solidFill>
              <a:effectLst/>
              <a:latin typeface="Pragmatica Book Reg"/>
              <a:cs typeface="Pragmatica Book Reg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737" y="2525622"/>
            <a:ext cx="1144025" cy="821764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985" y="3978510"/>
            <a:ext cx="1140267" cy="696829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5777" y="2869917"/>
            <a:ext cx="432048" cy="432048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9188" y="3030474"/>
            <a:ext cx="1106766" cy="133463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4881" y="2932388"/>
            <a:ext cx="1245111" cy="1864764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8754" y="5500199"/>
            <a:ext cx="268399" cy="365999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6378" y="5215409"/>
            <a:ext cx="341599" cy="341599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5486" y="4649041"/>
            <a:ext cx="426999" cy="402599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03504" y="3926630"/>
            <a:ext cx="329400" cy="402599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78658" y="3271383"/>
            <a:ext cx="292800" cy="2928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395536" y="6021288"/>
            <a:ext cx="1492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ln w="12700">
                  <a:noFill/>
                  <a:prstDash val="solid"/>
                </a:ln>
                <a:solidFill>
                  <a:srgbClr val="652D86"/>
                </a:solidFill>
                <a:latin typeface="Pragmatica Book Reg"/>
                <a:cs typeface="Pragmatica Book Reg"/>
              </a:rPr>
              <a:t>*     </a:t>
            </a:r>
            <a:r>
              <a:rPr lang="ru-RU" sz="800" b="1" dirty="0">
                <a:ln w="12700">
                  <a:noFill/>
                  <a:prstDash val="solid"/>
                </a:ln>
                <a:solidFill>
                  <a:srgbClr val="652D86"/>
                </a:solidFill>
                <a:latin typeface="Pragmatica Book Reg"/>
                <a:cs typeface="Pragmatica Book Reg"/>
              </a:rPr>
              <a:t>(17 октября 2014 года)</a:t>
            </a:r>
            <a:endParaRPr lang="en-US" sz="800" b="1" dirty="0">
              <a:ln w="12700">
                <a:noFill/>
                <a:prstDash val="solid"/>
              </a:ln>
              <a:solidFill>
                <a:srgbClr val="652D86"/>
              </a:solidFill>
              <a:latin typeface="Pragmatica Book Reg"/>
              <a:cs typeface="Pragmatica Book Reg"/>
            </a:endParaRPr>
          </a:p>
          <a:p>
            <a:r>
              <a:rPr lang="en-US" sz="800" b="1" dirty="0">
                <a:ln w="12700">
                  <a:noFill/>
                  <a:prstDash val="solid"/>
                </a:ln>
                <a:solidFill>
                  <a:srgbClr val="652D86"/>
                </a:solidFill>
                <a:latin typeface="Pragmatica Book Reg"/>
                <a:cs typeface="Pragmatica Book Reg"/>
              </a:rPr>
              <a:t>**   </a:t>
            </a:r>
            <a:r>
              <a:rPr lang="ru-RU" sz="800" b="1" dirty="0">
                <a:ln w="12700">
                  <a:noFill/>
                  <a:prstDash val="solid"/>
                </a:ln>
                <a:solidFill>
                  <a:srgbClr val="652D86"/>
                </a:solidFill>
                <a:latin typeface="Pragmatica Book Reg"/>
                <a:cs typeface="Pragmatica Book Reg"/>
              </a:rPr>
              <a:t>(17 июля 2014 года)</a:t>
            </a:r>
          </a:p>
          <a:p>
            <a:r>
              <a:rPr lang="en-US" sz="800" b="1" dirty="0">
                <a:ln w="12700">
                  <a:noFill/>
                  <a:prstDash val="solid"/>
                </a:ln>
                <a:solidFill>
                  <a:srgbClr val="652D86"/>
                </a:solidFill>
                <a:latin typeface="Pragmatica Book Reg"/>
                <a:cs typeface="Pragmatica Book Reg"/>
              </a:rPr>
              <a:t>*** (</a:t>
            </a:r>
            <a:r>
              <a:rPr lang="ru-RU" sz="800" b="1" dirty="0">
                <a:ln w="12700">
                  <a:noFill/>
                  <a:prstDash val="solid"/>
                </a:ln>
                <a:solidFill>
                  <a:srgbClr val="652D86"/>
                </a:solidFill>
                <a:latin typeface="Pragmatica Book Reg"/>
                <a:cs typeface="Pragmatica Book Reg"/>
              </a:rPr>
              <a:t>бренды </a:t>
            </a:r>
            <a:r>
              <a:rPr lang="ru-RU" sz="800" b="1" dirty="0" err="1">
                <a:ln w="12700">
                  <a:noFill/>
                  <a:prstDash val="solid"/>
                </a:ln>
                <a:solidFill>
                  <a:srgbClr val="652D86"/>
                </a:solidFill>
                <a:latin typeface="Pragmatica Book Reg"/>
                <a:cs typeface="Pragmatica Book Reg"/>
              </a:rPr>
              <a:t>Kcell</a:t>
            </a:r>
            <a:r>
              <a:rPr lang="ru-RU" sz="800" b="1" dirty="0">
                <a:ln w="12700">
                  <a:noFill/>
                  <a:prstDash val="solid"/>
                </a:ln>
                <a:solidFill>
                  <a:srgbClr val="652D86"/>
                </a:solidFill>
                <a:latin typeface="Pragmatica Book Reg"/>
                <a:cs typeface="Pragmatica Book Reg"/>
              </a:rPr>
              <a:t> и </a:t>
            </a:r>
            <a:r>
              <a:rPr lang="ru-RU" sz="800" b="1" dirty="0" err="1">
                <a:ln w="12700">
                  <a:noFill/>
                  <a:prstDash val="solid"/>
                </a:ln>
                <a:solidFill>
                  <a:srgbClr val="652D86"/>
                </a:solidFill>
                <a:latin typeface="Pragmatica Book Reg"/>
                <a:cs typeface="Pragmatica Book Reg"/>
              </a:rPr>
              <a:t>Activ</a:t>
            </a:r>
            <a:r>
              <a:rPr lang="ru-RU" sz="800" b="1" dirty="0">
                <a:ln w="12700">
                  <a:noFill/>
                  <a:prstDash val="solid"/>
                </a:ln>
                <a:solidFill>
                  <a:srgbClr val="652D86"/>
                </a:solidFill>
                <a:latin typeface="Pragmatica Book Reg"/>
                <a:cs typeface="Pragmatica Book Reg"/>
              </a:rPr>
              <a:t>)</a:t>
            </a:r>
          </a:p>
        </p:txBody>
      </p:sp>
      <p:pic>
        <p:nvPicPr>
          <p:cNvPr id="1496" name="Picture 1495">
            <a:extLst>
              <a:ext uri="{FF2B5EF4-FFF2-40B4-BE49-F238E27FC236}">
                <a16:creationId xmlns:a16="http://schemas.microsoft.com/office/drawing/2014/main" id="{75E9611D-F588-4A42-86DA-245D66D3BB3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68344" y="6257925"/>
            <a:ext cx="1038225" cy="600075"/>
          </a:xfrm>
          <a:prstGeom prst="rect">
            <a:avLst/>
          </a:prstGeom>
        </p:spPr>
      </p:pic>
      <p:grpSp>
        <p:nvGrpSpPr>
          <p:cNvPr id="1499" name="Group 1498">
            <a:extLst>
              <a:ext uri="{FF2B5EF4-FFF2-40B4-BE49-F238E27FC236}">
                <a16:creationId xmlns:a16="http://schemas.microsoft.com/office/drawing/2014/main" id="{A4CB0D0E-F3E6-4121-8E7A-34B5C9C34492}"/>
              </a:ext>
            </a:extLst>
          </p:cNvPr>
          <p:cNvGrpSpPr/>
          <p:nvPr/>
        </p:nvGrpSpPr>
        <p:grpSpPr>
          <a:xfrm>
            <a:off x="6516216" y="1526004"/>
            <a:ext cx="1024860" cy="831492"/>
            <a:chOff x="6516216" y="1526004"/>
            <a:chExt cx="1024860" cy="831492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516216" y="1526004"/>
              <a:ext cx="1024860" cy="831492"/>
            </a:xfrm>
            <a:prstGeom prst="rect">
              <a:avLst/>
            </a:prstGeom>
          </p:spPr>
        </p:pic>
        <p:pic>
          <p:nvPicPr>
            <p:cNvPr id="1498" name="Picture 1497">
              <a:extLst>
                <a:ext uri="{FF2B5EF4-FFF2-40B4-BE49-F238E27FC236}">
                  <a16:creationId xmlns:a16="http://schemas.microsoft.com/office/drawing/2014/main" id="{E7F54E24-F1BE-438B-9A29-24953C7397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778333" y="1611233"/>
              <a:ext cx="257175" cy="295275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4DAD151-93F5-4278-8249-A1D20E0C76B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2704" y="2769826"/>
            <a:ext cx="150435" cy="144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932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6366935"/>
            <a:ext cx="9152467" cy="498095"/>
          </a:xfrm>
          <a:prstGeom prst="rect">
            <a:avLst/>
          </a:prstGeom>
        </p:spPr>
      </p:pic>
      <p:pic>
        <p:nvPicPr>
          <p:cNvPr id="20" name="Picture 19" descr="2_Kcell_Single_C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48" t="-8337" b="-1"/>
          <a:stretch/>
        </p:blipFill>
        <p:spPr>
          <a:xfrm>
            <a:off x="8388424" y="6351714"/>
            <a:ext cx="646246" cy="49809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1519" y="188640"/>
            <a:ext cx="7664153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500" dirty="0">
                <a:solidFill>
                  <a:srgbClr val="652D86"/>
                </a:solidFill>
                <a:latin typeface="Pragmatica Book Reg"/>
                <a:cs typeface="Pragmatica Book Reg"/>
              </a:rPr>
              <a:t>Услуга «Револьверный пакет»</a:t>
            </a:r>
            <a:endParaRPr lang="en-US" sz="3500" dirty="0">
              <a:solidFill>
                <a:srgbClr val="652D86"/>
              </a:solidFill>
              <a:latin typeface="Pragmatica Book Reg"/>
              <a:cs typeface="Pragmatica Book Reg"/>
            </a:endParaRPr>
          </a:p>
          <a:p>
            <a:r>
              <a:rPr lang="en-US" dirty="0">
                <a:solidFill>
                  <a:srgbClr val="652D86"/>
                </a:solidFill>
                <a:latin typeface="Pragmatica Book Reg"/>
                <a:cs typeface="Pragmatica Book Reg"/>
              </a:rPr>
              <a:t>(</a:t>
            </a:r>
            <a:r>
              <a:rPr lang="ru-RU" dirty="0">
                <a:solidFill>
                  <a:srgbClr val="652D86"/>
                </a:solidFill>
                <a:latin typeface="Pragmatica Book Reg"/>
                <a:cs typeface="Pragmatica Book Reg"/>
              </a:rPr>
              <a:t>исходящие звонки со случайных номеров</a:t>
            </a:r>
            <a:r>
              <a:rPr lang="en-US" dirty="0">
                <a:solidFill>
                  <a:srgbClr val="652D86"/>
                </a:solidFill>
                <a:latin typeface="Pragmatica Book Reg"/>
                <a:cs typeface="Pragmatica Book Reg"/>
              </a:rPr>
              <a:t>)</a:t>
            </a:r>
            <a:endParaRPr lang="ru-RU" dirty="0">
              <a:solidFill>
                <a:srgbClr val="652D86"/>
              </a:solidFill>
              <a:latin typeface="Pragmatica Book Reg"/>
              <a:cs typeface="Pragmatica Book Reg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251520" y="1242626"/>
            <a:ext cx="8568952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Услуга, с помощью которой при исходящем звонке номера чередуются из закрепленного за клиентом пакета абонентских номеров.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600"/>
              </a:spcBef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Данная услуга позволяет банкам и коллекторским компаниям увеличить количество успешных дозвонов до должников, за счет постоянной смены исходящего номера.</a:t>
            </a:r>
          </a:p>
        </p:txBody>
      </p:sp>
      <p:grpSp>
        <p:nvGrpSpPr>
          <p:cNvPr id="12" name="Группа 11"/>
          <p:cNvGrpSpPr/>
          <p:nvPr/>
        </p:nvGrpSpPr>
        <p:grpSpPr>
          <a:xfrm>
            <a:off x="6889206" y="3645024"/>
            <a:ext cx="2078448" cy="925197"/>
            <a:chOff x="6395937" y="3575398"/>
            <a:chExt cx="2078448" cy="925197"/>
          </a:xfrm>
        </p:grpSpPr>
        <p:cxnSp>
          <p:nvCxnSpPr>
            <p:cNvPr id="30" name="Straight Connector 15"/>
            <p:cNvCxnSpPr/>
            <p:nvPr/>
          </p:nvCxnSpPr>
          <p:spPr>
            <a:xfrm flipV="1">
              <a:off x="6395937" y="3789040"/>
              <a:ext cx="737969" cy="711555"/>
            </a:xfrm>
            <a:prstGeom prst="line">
              <a:avLst/>
            </a:prstGeom>
            <a:ln w="127000">
              <a:solidFill>
                <a:srgbClr val="652D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16"/>
            <p:cNvCxnSpPr/>
            <p:nvPr/>
          </p:nvCxnSpPr>
          <p:spPr>
            <a:xfrm>
              <a:off x="7133906" y="3702746"/>
              <a:ext cx="534438" cy="580746"/>
            </a:xfrm>
            <a:prstGeom prst="line">
              <a:avLst/>
            </a:prstGeom>
            <a:ln w="127000">
              <a:solidFill>
                <a:srgbClr val="652D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17"/>
            <p:cNvCxnSpPr/>
            <p:nvPr/>
          </p:nvCxnSpPr>
          <p:spPr>
            <a:xfrm flipV="1">
              <a:off x="7661201" y="3575398"/>
              <a:ext cx="813184" cy="792087"/>
            </a:xfrm>
            <a:prstGeom prst="straightConnector1">
              <a:avLst/>
            </a:prstGeom>
            <a:ln w="127000">
              <a:solidFill>
                <a:srgbClr val="652D8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/>
          <p:cNvSpPr txBox="1"/>
          <p:nvPr/>
        </p:nvSpPr>
        <p:spPr>
          <a:xfrm>
            <a:off x="6732240" y="4541584"/>
            <a:ext cx="2221461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</a:t>
            </a:r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500" b="1" dirty="0">
                <a:solidFill>
                  <a:srgbClr val="DC0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15%</a:t>
            </a:r>
            <a:r>
              <a:rPr lang="ru-RU" sz="25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повышение качества дозвона </a:t>
            </a:r>
            <a:endParaRPr lang="en-GB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93587" y="2857867"/>
            <a:ext cx="6438654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ПРЕИМУЩЕСТВА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Повышение количества успешных дозвонов до абонентов до 15%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Гибкость в выборе пакета номеров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Возможность обратного дозвона</a:t>
            </a:r>
          </a:p>
          <a:p>
            <a:pPr>
              <a:spcBef>
                <a:spcPts val="1200"/>
              </a:spcBef>
            </a:pPr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ТРЕБОВАНИЯ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Подключение к АО «</a:t>
            </a:r>
            <a:r>
              <a:rPr lang="ru-RU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Кселл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» (по Е1 или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SIP)</a:t>
            </a:r>
            <a:endParaRPr lang="ru-RU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подключение услуги требуется использование 6-значного цифрового идентификатора (АОН) и префикса (+99998) перед набираемым номером</a:t>
            </a:r>
          </a:p>
        </p:txBody>
      </p:sp>
    </p:spTree>
    <p:extLst>
      <p:ext uri="{BB962C8B-B14F-4D97-AF65-F5344CB8AC3E}">
        <p14:creationId xmlns:p14="http://schemas.microsoft.com/office/powerpoint/2010/main" val="74530402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6366935"/>
            <a:ext cx="9152467" cy="49809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51519" y="188640"/>
            <a:ext cx="7664153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500" dirty="0">
                <a:solidFill>
                  <a:srgbClr val="652D86"/>
                </a:solidFill>
                <a:latin typeface="Pragmatica Book Reg"/>
                <a:cs typeface="Pragmatica Book Reg"/>
              </a:rPr>
              <a:t>Услуга «Револьверный пакет»</a:t>
            </a:r>
            <a:endParaRPr lang="en-US" sz="3500" dirty="0">
              <a:solidFill>
                <a:srgbClr val="652D86"/>
              </a:solidFill>
              <a:latin typeface="Pragmatica Book Reg"/>
              <a:cs typeface="Pragmatica Book Reg"/>
            </a:endParaRPr>
          </a:p>
          <a:p>
            <a:r>
              <a:rPr lang="en-US" dirty="0">
                <a:solidFill>
                  <a:srgbClr val="652D86"/>
                </a:solidFill>
                <a:latin typeface="Pragmatica Book Reg"/>
                <a:cs typeface="Pragmatica Book Reg"/>
              </a:rPr>
              <a:t>(</a:t>
            </a:r>
            <a:r>
              <a:rPr lang="ru-RU" dirty="0">
                <a:solidFill>
                  <a:srgbClr val="652D86"/>
                </a:solidFill>
                <a:latin typeface="Pragmatica Book Reg"/>
                <a:cs typeface="Pragmatica Book Reg"/>
              </a:rPr>
              <a:t>Технология</a:t>
            </a:r>
            <a:r>
              <a:rPr lang="en-US" dirty="0">
                <a:solidFill>
                  <a:srgbClr val="652D86"/>
                </a:solidFill>
                <a:latin typeface="Pragmatica Book Reg"/>
                <a:cs typeface="Pragmatica Book Reg"/>
              </a:rPr>
              <a:t>)</a:t>
            </a:r>
            <a:endParaRPr lang="ru-RU" dirty="0">
              <a:solidFill>
                <a:srgbClr val="652D86"/>
              </a:solidFill>
              <a:latin typeface="Pragmatica Book Reg"/>
              <a:cs typeface="Pragmatica Book Reg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7092280" y="2636912"/>
            <a:ext cx="2088232" cy="1510258"/>
            <a:chOff x="7111432" y="2555610"/>
            <a:chExt cx="2088232" cy="1510258"/>
          </a:xfrm>
        </p:grpSpPr>
        <p:grpSp>
          <p:nvGrpSpPr>
            <p:cNvPr id="22" name="Group 20"/>
            <p:cNvGrpSpPr/>
            <p:nvPr/>
          </p:nvGrpSpPr>
          <p:grpSpPr>
            <a:xfrm>
              <a:off x="7111432" y="2555610"/>
              <a:ext cx="2088232" cy="1292327"/>
              <a:chOff x="1187624" y="4869159"/>
              <a:chExt cx="788268" cy="500237"/>
            </a:xfrm>
          </p:grpSpPr>
          <p:pic>
            <p:nvPicPr>
              <p:cNvPr id="23" name="Picture 18" descr="007.pdf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75656" y="4869160"/>
                <a:ext cx="500236" cy="500236"/>
              </a:xfrm>
              <a:prstGeom prst="rect">
                <a:avLst/>
              </a:prstGeom>
            </p:spPr>
          </p:pic>
          <p:pic>
            <p:nvPicPr>
              <p:cNvPr id="24" name="Picture 156" descr="007.pdf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31640" y="4869160"/>
                <a:ext cx="500236" cy="500236"/>
              </a:xfrm>
              <a:prstGeom prst="rect">
                <a:avLst/>
              </a:prstGeom>
            </p:spPr>
          </p:pic>
          <p:pic>
            <p:nvPicPr>
              <p:cNvPr id="26" name="Picture 157" descr="007.pdf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87624" y="4869159"/>
                <a:ext cx="500236" cy="500236"/>
              </a:xfrm>
              <a:prstGeom prst="rect">
                <a:avLst/>
              </a:prstGeom>
            </p:spPr>
          </p:pic>
        </p:grpSp>
        <p:sp>
          <p:nvSpPr>
            <p:cNvPr id="29" name="Прямоугольник 52"/>
            <p:cNvSpPr/>
            <p:nvPr/>
          </p:nvSpPr>
          <p:spPr>
            <a:xfrm>
              <a:off x="7583610" y="3696536"/>
              <a:ext cx="124175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ru-RU" dirty="0">
                  <a:latin typeface="Arial" panose="020B0604020202020204" pitchFamily="34" charset="0"/>
                  <a:cs typeface="Arial" panose="020B0604020202020204" pitchFamily="34" charset="0"/>
                </a:rPr>
                <a:t>Должники</a:t>
              </a:r>
            </a:p>
          </p:txBody>
        </p:sp>
      </p:grpSp>
      <p:sp>
        <p:nvSpPr>
          <p:cNvPr id="4" name="Rectangle 3"/>
          <p:cNvSpPr/>
          <p:nvPr/>
        </p:nvSpPr>
        <p:spPr>
          <a:xfrm>
            <a:off x="6228184" y="3547885"/>
            <a:ext cx="13821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algn="ctr"/>
            <a:r>
              <a:rPr lang="ru-RU" sz="1200" b="1" dirty="0">
                <a:solidFill>
                  <a:srgbClr val="DC0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+7 7</a:t>
            </a:r>
            <a:r>
              <a:rPr lang="en-US" sz="1200" b="1" dirty="0">
                <a:solidFill>
                  <a:srgbClr val="DC0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78</a:t>
            </a:r>
            <a:r>
              <a:rPr lang="ru-RU" sz="1200" b="1" dirty="0">
                <a:solidFill>
                  <a:srgbClr val="DC0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856 79 64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907704" y="2841319"/>
            <a:ext cx="971241" cy="1389477"/>
            <a:chOff x="1562325" y="2619714"/>
            <a:chExt cx="971241" cy="1389477"/>
          </a:xfrm>
        </p:grpSpPr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62325" y="2619714"/>
              <a:ext cx="971241" cy="971241"/>
            </a:xfrm>
            <a:prstGeom prst="rect">
              <a:avLst/>
            </a:prstGeom>
          </p:spPr>
        </p:pic>
        <p:sp>
          <p:nvSpPr>
            <p:cNvPr id="31" name="Прямоугольник 52"/>
            <p:cNvSpPr/>
            <p:nvPr/>
          </p:nvSpPr>
          <p:spPr>
            <a:xfrm>
              <a:off x="1696626" y="3639859"/>
              <a:ext cx="62831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ru-RU" dirty="0">
                  <a:latin typeface="Arial" panose="020B0604020202020204" pitchFamily="34" charset="0"/>
                  <a:cs typeface="Arial" panose="020B0604020202020204" pitchFamily="34" charset="0"/>
                </a:rPr>
                <a:t>АТС</a:t>
              </a:r>
            </a:p>
          </p:txBody>
        </p:sp>
      </p:grpSp>
      <p:grpSp>
        <p:nvGrpSpPr>
          <p:cNvPr id="47" name="Группа 49"/>
          <p:cNvGrpSpPr/>
          <p:nvPr/>
        </p:nvGrpSpPr>
        <p:grpSpPr>
          <a:xfrm>
            <a:off x="422130" y="3078423"/>
            <a:ext cx="1228606" cy="789467"/>
            <a:chOff x="-1402" y="1510243"/>
            <a:chExt cx="1784402" cy="1146605"/>
          </a:xfrm>
        </p:grpSpPr>
        <p:sp>
          <p:nvSpPr>
            <p:cNvPr id="50" name="Скругленный прямоугольник 50"/>
            <p:cNvSpPr/>
            <p:nvPr/>
          </p:nvSpPr>
          <p:spPr>
            <a:xfrm>
              <a:off x="577428" y="1510243"/>
              <a:ext cx="610195" cy="610195"/>
            </a:xfrm>
            <a:prstGeom prst="roundRect">
              <a:avLst>
                <a:gd name="adj" fmla="val 16670"/>
              </a:avLst>
            </a:prstGeom>
            <a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1" name="Прямоугольник 51"/>
            <p:cNvSpPr/>
            <p:nvPr/>
          </p:nvSpPr>
          <p:spPr>
            <a:xfrm>
              <a:off x="-1402" y="2120438"/>
              <a:ext cx="1784402" cy="53641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u-RU" dirty="0">
                  <a:latin typeface="Arial" panose="020B0604020202020204" pitchFamily="34" charset="0"/>
                  <a:cs typeface="Arial" panose="020B0604020202020204" pitchFamily="34" charset="0"/>
                </a:rPr>
                <a:t>Оператор</a:t>
              </a:r>
            </a:p>
          </p:txBody>
        </p:sp>
      </p:grpSp>
      <p:sp>
        <p:nvSpPr>
          <p:cNvPr id="8" name="Double Brace 7"/>
          <p:cNvSpPr/>
          <p:nvPr/>
        </p:nvSpPr>
        <p:spPr>
          <a:xfrm>
            <a:off x="4213786" y="2120943"/>
            <a:ext cx="2016224" cy="2510704"/>
          </a:xfrm>
          <a:prstGeom prst="bracePair">
            <a:avLst/>
          </a:prstGeom>
          <a:solidFill>
            <a:srgbClr val="652D86"/>
          </a:solidFill>
          <a:ln>
            <a:solidFill>
              <a:srgbClr val="652D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4530844" y="2314466"/>
            <a:ext cx="1382109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 algn="ctr"/>
            <a:r>
              <a:rPr lang="ru-RU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+7 701 561 87 11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algn="ctr"/>
            <a:r>
              <a:rPr lang="ru-RU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+7 7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r>
              <a:rPr lang="ru-RU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546 15 78</a:t>
            </a:r>
          </a:p>
          <a:p>
            <a:pPr marL="0" lvl="1" algn="ctr"/>
            <a:r>
              <a:rPr lang="ru-RU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+7 702 154 97 46</a:t>
            </a:r>
          </a:p>
          <a:p>
            <a:pPr marL="0" lvl="1" algn="ctr"/>
            <a:r>
              <a:rPr lang="ru-RU" sz="1200" b="1" dirty="0">
                <a:solidFill>
                  <a:srgbClr val="DC0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+7 7</a:t>
            </a:r>
            <a:r>
              <a:rPr lang="en-US" sz="1200" b="1" dirty="0">
                <a:solidFill>
                  <a:srgbClr val="DC0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78</a:t>
            </a:r>
            <a:r>
              <a:rPr lang="ru-RU" sz="1200" b="1" dirty="0">
                <a:solidFill>
                  <a:srgbClr val="DC0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856 79 64</a:t>
            </a:r>
          </a:p>
          <a:p>
            <a:pPr marL="0" lvl="1" algn="ctr"/>
            <a:r>
              <a:rPr lang="ru-RU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+7 701 756 88 65</a:t>
            </a:r>
          </a:p>
          <a:p>
            <a:pPr marL="0" lvl="1" algn="ctr"/>
            <a:r>
              <a:rPr lang="ru-RU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+7 775 121 45 45</a:t>
            </a:r>
          </a:p>
          <a:p>
            <a:pPr marL="0" lvl="1" algn="ctr"/>
            <a:r>
              <a:rPr lang="ru-RU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+7 775 154 45 77</a:t>
            </a:r>
          </a:p>
          <a:p>
            <a:pPr marL="0" lvl="1" algn="ctr"/>
            <a:r>
              <a:rPr lang="ru-RU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+7 701 515 45 33</a:t>
            </a:r>
          </a:p>
          <a:p>
            <a:pPr marL="0" lvl="1" algn="ctr"/>
            <a:r>
              <a:rPr lang="ru-RU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+7 778 454 76 12</a:t>
            </a:r>
          </a:p>
          <a:p>
            <a:pPr marL="0" lvl="1" algn="ctr"/>
            <a:r>
              <a:rPr lang="ru-RU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+7 778 014 78 61</a:t>
            </a:r>
          </a:p>
          <a:p>
            <a:pPr marL="0" lvl="1" algn="ctr"/>
            <a:r>
              <a:rPr lang="ru-RU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+7 702 147 98 44</a:t>
            </a:r>
            <a:endParaRPr lang="en-US" dirty="0"/>
          </a:p>
        </p:txBody>
      </p:sp>
      <p:sp>
        <p:nvSpPr>
          <p:cNvPr id="13" name="Right Arrow 12"/>
          <p:cNvSpPr/>
          <p:nvPr/>
        </p:nvSpPr>
        <p:spPr>
          <a:xfrm>
            <a:off x="1410823" y="3252686"/>
            <a:ext cx="352865" cy="245873"/>
          </a:xfrm>
          <a:prstGeom prst="rightArrow">
            <a:avLst/>
          </a:prstGeom>
          <a:noFill/>
          <a:ln>
            <a:solidFill>
              <a:srgbClr val="652D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ight Arrow 61"/>
          <p:cNvSpPr/>
          <p:nvPr/>
        </p:nvSpPr>
        <p:spPr>
          <a:xfrm>
            <a:off x="2987824" y="3252686"/>
            <a:ext cx="1224136" cy="259034"/>
          </a:xfrm>
          <a:prstGeom prst="rightArrow">
            <a:avLst/>
          </a:prstGeom>
          <a:noFill/>
          <a:ln>
            <a:solidFill>
              <a:srgbClr val="652D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ight Arrow 62"/>
          <p:cNvSpPr/>
          <p:nvPr/>
        </p:nvSpPr>
        <p:spPr>
          <a:xfrm>
            <a:off x="6374027" y="3246778"/>
            <a:ext cx="1099772" cy="259034"/>
          </a:xfrm>
          <a:prstGeom prst="rightArrow">
            <a:avLst/>
          </a:prstGeom>
          <a:noFill/>
          <a:ln>
            <a:solidFill>
              <a:srgbClr val="652D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5" name="Picture 2" descr="C:\Users\vladimir.kim\Desktop\SHUT\logo-kcell.png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09" t="503"/>
          <a:stretch/>
        </p:blipFill>
        <p:spPr bwMode="auto">
          <a:xfrm>
            <a:off x="4860032" y="1747054"/>
            <a:ext cx="582242" cy="329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Rectangle 65"/>
          <p:cNvSpPr/>
          <p:nvPr/>
        </p:nvSpPr>
        <p:spPr>
          <a:xfrm>
            <a:off x="2812923" y="3542594"/>
            <a:ext cx="1615061" cy="2875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/>
            <a:r>
              <a:rPr lang="ru-RU" sz="1200" b="1" dirty="0">
                <a:solidFill>
                  <a:srgbClr val="0083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123456</a:t>
            </a:r>
          </a:p>
        </p:txBody>
      </p:sp>
      <p:sp>
        <p:nvSpPr>
          <p:cNvPr id="16" name="Cloud Callout 15"/>
          <p:cNvSpPr/>
          <p:nvPr/>
        </p:nvSpPr>
        <p:spPr>
          <a:xfrm>
            <a:off x="6543448" y="4742329"/>
            <a:ext cx="2042020" cy="974133"/>
          </a:xfrm>
          <a:prstGeom prst="cloudCallout">
            <a:avLst>
              <a:gd name="adj1" fmla="val -27617"/>
              <a:gd name="adj2" fmla="val -144792"/>
            </a:avLst>
          </a:prstGeom>
          <a:solidFill>
            <a:schemeClr val="bg1"/>
          </a:solidFill>
          <a:ln>
            <a:solidFill>
              <a:srgbClr val="652D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ru-RU" sz="1200" dirty="0">
              <a:solidFill>
                <a:srgbClr val="DC04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1200" dirty="0">
                <a:solidFill>
                  <a:srgbClr val="DC0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Номер, который увидит должник</a:t>
            </a:r>
            <a:endParaRPr lang="en-US" sz="1200" dirty="0">
              <a:solidFill>
                <a:srgbClr val="DC04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dirty="0"/>
          </a:p>
        </p:txBody>
      </p:sp>
      <p:sp>
        <p:nvSpPr>
          <p:cNvPr id="67" name="Cloud Callout 66"/>
          <p:cNvSpPr/>
          <p:nvPr/>
        </p:nvSpPr>
        <p:spPr>
          <a:xfrm>
            <a:off x="2143901" y="4857428"/>
            <a:ext cx="2042020" cy="1235868"/>
          </a:xfrm>
          <a:prstGeom prst="cloudCallout">
            <a:avLst>
              <a:gd name="adj1" fmla="val 14675"/>
              <a:gd name="adj2" fmla="val -131509"/>
            </a:avLst>
          </a:prstGeom>
          <a:solidFill>
            <a:schemeClr val="bg1"/>
          </a:solidFill>
          <a:ln>
            <a:solidFill>
              <a:srgbClr val="652D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ru-RU" sz="1200" dirty="0">
              <a:solidFill>
                <a:srgbClr val="DC04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1200" dirty="0">
                <a:solidFill>
                  <a:srgbClr val="0083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Цифровой идентификатор (6 цифр) для инициации звонка</a:t>
            </a:r>
            <a:endParaRPr lang="en-US" sz="1200" dirty="0">
              <a:solidFill>
                <a:srgbClr val="0083B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dirty="0"/>
          </a:p>
        </p:txBody>
      </p:sp>
      <p:sp>
        <p:nvSpPr>
          <p:cNvPr id="68" name="Cloud Callout 67"/>
          <p:cNvSpPr/>
          <p:nvPr/>
        </p:nvSpPr>
        <p:spPr>
          <a:xfrm>
            <a:off x="1907704" y="1158723"/>
            <a:ext cx="2042020" cy="974133"/>
          </a:xfrm>
          <a:prstGeom prst="cloudCallout">
            <a:avLst>
              <a:gd name="adj1" fmla="val -64932"/>
              <a:gd name="adj2" fmla="val 99004"/>
            </a:avLst>
          </a:prstGeom>
          <a:solidFill>
            <a:schemeClr val="bg1"/>
          </a:solidFill>
          <a:ln>
            <a:solidFill>
              <a:srgbClr val="652D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rgbClr val="FF63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Префикс и набираемый номер</a:t>
            </a:r>
            <a:endParaRPr lang="en-US" dirty="0">
              <a:solidFill>
                <a:srgbClr val="FF6319"/>
              </a:solidFill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-98116" y="2420888"/>
            <a:ext cx="21498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/>
            <a:r>
              <a:rPr lang="ru-RU" sz="1200" b="1" dirty="0">
                <a:latin typeface="Arial" panose="020B0604020202020204" pitchFamily="34" charset="0"/>
                <a:cs typeface="Arial" panose="020B0604020202020204" pitchFamily="34" charset="0"/>
              </a:rPr>
              <a:t>Я набираю </a:t>
            </a:r>
          </a:p>
          <a:p>
            <a:pPr marL="0" lvl="1" algn="ctr"/>
            <a:r>
              <a:rPr lang="ru-RU" sz="1200" b="1" dirty="0">
                <a:solidFill>
                  <a:srgbClr val="FF63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+99998 (номер должника)</a:t>
            </a:r>
          </a:p>
        </p:txBody>
      </p:sp>
      <p:sp>
        <p:nvSpPr>
          <p:cNvPr id="70" name="Cloud Callout 69"/>
          <p:cNvSpPr/>
          <p:nvPr/>
        </p:nvSpPr>
        <p:spPr>
          <a:xfrm>
            <a:off x="6564543" y="778867"/>
            <a:ext cx="2042020" cy="1626685"/>
          </a:xfrm>
          <a:prstGeom prst="cloudCallout">
            <a:avLst>
              <a:gd name="adj1" fmla="val -79237"/>
              <a:gd name="adj2" fmla="val 42270"/>
            </a:avLst>
          </a:prstGeom>
          <a:solidFill>
            <a:schemeClr val="bg1"/>
          </a:solidFill>
          <a:ln>
            <a:solidFill>
              <a:srgbClr val="652D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1200" dirty="0">
                <a:solidFill>
                  <a:srgbClr val="DC0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Пакет номеров, с которого случайным образом происходит звонок</a:t>
            </a:r>
            <a:endParaRPr lang="en-US" dirty="0"/>
          </a:p>
        </p:txBody>
      </p:sp>
      <p:pic>
        <p:nvPicPr>
          <p:cNvPr id="32" name="Picture 31" descr="2_Kcell_Single_C.png">
            <a:extLst>
              <a:ext uri="{FF2B5EF4-FFF2-40B4-BE49-F238E27FC236}">
                <a16:creationId xmlns:a16="http://schemas.microsoft.com/office/drawing/2014/main" id="{4A8D444D-0594-4BD8-BC9D-E971338FB7F5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48" t="-8337" b="-1"/>
          <a:stretch/>
        </p:blipFill>
        <p:spPr>
          <a:xfrm>
            <a:off x="8388424" y="6351714"/>
            <a:ext cx="646246" cy="498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389052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6366935"/>
            <a:ext cx="9152467" cy="498095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61452"/>
              </p:ext>
            </p:extLst>
          </p:nvPr>
        </p:nvGraphicFramePr>
        <p:xfrm>
          <a:off x="323526" y="1422068"/>
          <a:ext cx="8229600" cy="115132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02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4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Пакет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652D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абонентских номеров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652D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Абонентская плата в месяц за Пакет, 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тенге с НДС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652D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Пакет 1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652D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1-60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36 000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Пакет 2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652D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61-100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50 000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Пакет 3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652D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101-250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100 000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Пакет </a:t>
                      </a:r>
                      <a:r>
                        <a:rPr lang="en-US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652D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251-</a:t>
                      </a:r>
                      <a:r>
                        <a:rPr lang="en-US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500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150 000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2819291"/>
              </p:ext>
            </p:extLst>
          </p:nvPr>
        </p:nvGraphicFramePr>
        <p:xfrm>
          <a:off x="323526" y="4887564"/>
          <a:ext cx="8229600" cy="12618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99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6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34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Исходящие звонки*: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652D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Стоимость за 1 минуту,  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тенге с НДС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652D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Шаг тарификации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652D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Внутри сети Kcell, Activ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652D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сек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Внутри корпоративной группы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652D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сек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 других операторов РК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652D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сек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 городские номера РК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652D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сек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7442921"/>
              </p:ext>
            </p:extLst>
          </p:nvPr>
        </p:nvGraphicFramePr>
        <p:xfrm>
          <a:off x="323526" y="3140972"/>
          <a:ext cx="8246349" cy="115132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80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7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Пакет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652D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абонентских номеров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652D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Единовременная плата за замену номеров, тенге с НДС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652D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Пакет 1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652D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1-60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36 000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Пакет 2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652D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61-100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50 000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Пакет 3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652D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101-250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100 000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Пакет </a:t>
                      </a:r>
                      <a:r>
                        <a:rPr lang="en-US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652D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251-</a:t>
                      </a:r>
                      <a:r>
                        <a:rPr lang="en-US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500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150 000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23526" y="1124744"/>
            <a:ext cx="68407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Абонентская плата за Пакет номеров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23526" y="4584470"/>
            <a:ext cx="81516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Тарификация исходящих звонков с Пакета абонентских номеров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3526" y="2854607"/>
            <a:ext cx="34943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Замена револьверного пакета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51519" y="188640"/>
            <a:ext cx="7664153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500" dirty="0">
                <a:solidFill>
                  <a:srgbClr val="652D86"/>
                </a:solidFill>
                <a:latin typeface="Pragmatica Book Reg"/>
                <a:cs typeface="Pragmatica Book Reg"/>
              </a:rPr>
              <a:t>Услуга «Револьверный пакет»</a:t>
            </a:r>
            <a:endParaRPr lang="en-US" sz="3500" dirty="0">
              <a:solidFill>
                <a:srgbClr val="652D86"/>
              </a:solidFill>
              <a:latin typeface="Pragmatica Book Reg"/>
              <a:cs typeface="Pragmatica Book Reg"/>
            </a:endParaRPr>
          </a:p>
          <a:p>
            <a:r>
              <a:rPr lang="en-US" dirty="0">
                <a:solidFill>
                  <a:srgbClr val="652D86"/>
                </a:solidFill>
                <a:latin typeface="Pragmatica Book Reg"/>
                <a:cs typeface="Pragmatica Book Reg"/>
              </a:rPr>
              <a:t>(</a:t>
            </a:r>
            <a:r>
              <a:rPr lang="ru-RU" dirty="0">
                <a:solidFill>
                  <a:srgbClr val="652D86"/>
                </a:solidFill>
                <a:latin typeface="Pragmatica Book Reg"/>
                <a:cs typeface="Pragmatica Book Reg"/>
              </a:rPr>
              <a:t>Тарификация услуги</a:t>
            </a:r>
            <a:r>
              <a:rPr lang="en-US" dirty="0">
                <a:solidFill>
                  <a:srgbClr val="652D86"/>
                </a:solidFill>
                <a:latin typeface="Pragmatica Book Reg"/>
                <a:cs typeface="Pragmatica Book Reg"/>
              </a:rPr>
              <a:t>)</a:t>
            </a:r>
            <a:endParaRPr lang="ru-RU" dirty="0">
              <a:solidFill>
                <a:srgbClr val="652D86"/>
              </a:solidFill>
              <a:latin typeface="Pragmatica Book Reg"/>
              <a:cs typeface="Pragmatica Book Reg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3527" y="6143824"/>
            <a:ext cx="309634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доступ на международные направления закрыт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 descr="2_Kcell_Single_C.png">
            <a:extLst>
              <a:ext uri="{FF2B5EF4-FFF2-40B4-BE49-F238E27FC236}">
                <a16:creationId xmlns:a16="http://schemas.microsoft.com/office/drawing/2014/main" id="{E2EB5F52-7D96-433B-A359-B33D0E50151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48" t="-8337" b="-1"/>
          <a:stretch/>
        </p:blipFill>
        <p:spPr>
          <a:xfrm>
            <a:off x="8388424" y="6351714"/>
            <a:ext cx="646246" cy="498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541273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 descr="E:\_Work\для Артема\prezentaciya\materials\Untitled-3-03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571480"/>
            <a:ext cx="4283968" cy="1876211"/>
          </a:xfrm>
          <a:prstGeom prst="rect">
            <a:avLst/>
          </a:prstGeom>
          <a:noFill/>
        </p:spPr>
      </p:pic>
      <p:sp>
        <p:nvSpPr>
          <p:cNvPr id="19" name="Прямоугольник 18"/>
          <p:cNvSpPr/>
          <p:nvPr/>
        </p:nvSpPr>
        <p:spPr>
          <a:xfrm>
            <a:off x="454226" y="843961"/>
            <a:ext cx="405586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5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Спасибо за внимание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BA69EB1-7B11-43A4-B015-CB39C29548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8344" y="6257925"/>
            <a:ext cx="103822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823826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BB748690335E3F45B6D32F35E393220A" ma:contentTypeVersion="0" ma:contentTypeDescription="Создание документа." ma:contentTypeScope="" ma:versionID="79695b7229812c3da6832a15d046d42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d3e22c7cd2c031952bb0ace1fddabb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E291875-3E01-4A52-8F1F-1315ECE708F6}">
  <ds:schemaRefs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F945B2A-9182-4412-A1ED-5E302FD5AA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8D148AC-6177-493E-8779-E2E029F56F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4267</TotalTime>
  <Words>477</Words>
  <Application>Microsoft Office PowerPoint</Application>
  <PresentationFormat>Экран (4:3)</PresentationFormat>
  <Paragraphs>123</Paragraphs>
  <Slides>6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Pragmatica Book Reg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Maxim Ten</dc:creator>
  <cp:lastModifiedBy>Alexandr Murdassov</cp:lastModifiedBy>
  <cp:revision>253</cp:revision>
  <dcterms:created xsi:type="dcterms:W3CDTF">2014-03-06T12:21:13Z</dcterms:created>
  <dcterms:modified xsi:type="dcterms:W3CDTF">2025-12-02T08:04:32Z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0x010100BB748690335E3F45B6D32F35E393220A</vt:lpwstr>
  </property>
  <property fmtid="{D5CDD505-2E9C-101B-9397-08002B2CF9AE}" pid="3" name="MSIP_Label_9cdd97af-22dc-49fa-ac47-e24224ce56c4_Enabled">
    <vt:lpwstr>true</vt:lpwstr>
  </property>
  <property fmtid="{D5CDD505-2E9C-101B-9397-08002B2CF9AE}" pid="4" name="MSIP_Label_9cdd97af-22dc-49fa-ac47-e24224ce56c4_SetDate">
    <vt:lpwstr>2025-12-02T08:04:27Z</vt:lpwstr>
  </property>
  <property fmtid="{D5CDD505-2E9C-101B-9397-08002B2CF9AE}" pid="5" name="MSIP_Label_9cdd97af-22dc-49fa-ac47-e24224ce56c4_Method">
    <vt:lpwstr>Standard</vt:lpwstr>
  </property>
  <property fmtid="{D5CDD505-2E9C-101B-9397-08002B2CF9AE}" pid="6" name="MSIP_Label_9cdd97af-22dc-49fa-ac47-e24224ce56c4_Name">
    <vt:lpwstr>General</vt:lpwstr>
  </property>
  <property fmtid="{D5CDD505-2E9C-101B-9397-08002B2CF9AE}" pid="7" name="MSIP_Label_9cdd97af-22dc-49fa-ac47-e24224ce56c4_SiteId">
    <vt:lpwstr>41149801-8e93-4eae-a438-1ff037fd4bdc</vt:lpwstr>
  </property>
  <property fmtid="{D5CDD505-2E9C-101B-9397-08002B2CF9AE}" pid="8" name="MSIP_Label_9cdd97af-22dc-49fa-ac47-e24224ce56c4_ActionId">
    <vt:lpwstr>de0c8b4b-fb90-4bf9-903d-b131b0e5ce86</vt:lpwstr>
  </property>
  <property fmtid="{D5CDD505-2E9C-101B-9397-08002B2CF9AE}" pid="9" name="MSIP_Label_9cdd97af-22dc-49fa-ac47-e24224ce56c4_ContentBits">
    <vt:lpwstr>0</vt:lpwstr>
  </property>
</Properties>
</file>
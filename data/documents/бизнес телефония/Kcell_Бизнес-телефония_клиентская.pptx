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66" r:id="rId5"/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7" r:id="rId1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6D71E"/>
    <a:srgbClr val="A9C139"/>
    <a:srgbClr val="6A2D9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D7AC3CCA-C797-4891-BE02-D94E43425B78}" styleName="Средний стиль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51" d="100"/>
          <a:sy n="51" d="100"/>
        </p:scale>
        <p:origin x="888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C19CA99-B6F1-411F-BB33-6E94DC1C0A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EED8790-7822-42DB-8BA0-11C85EDEBC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51714D1-8954-43CD-9FD1-2F62151BD7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439829-0637-48DE-AA38-F19BBA55A17C}" type="datetimeFigureOut">
              <a:rPr lang="ru-RU" smtClean="0"/>
              <a:t>02.12.2025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CEAA6AF-9A41-435E-8397-8558DC9E77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BA88BBF-7E84-4F1F-A425-B7DE0225CC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23499-98BD-4F2A-BA1C-A86176DFA76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59582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BB2BD63-972D-4317-AB82-4D31B85F51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E38AB22-03C3-44E6-876A-506E26B3F4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58ACC46-5989-4360-8C37-6C2F11E88C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439829-0637-48DE-AA38-F19BBA55A17C}" type="datetimeFigureOut">
              <a:rPr lang="ru-RU" smtClean="0"/>
              <a:t>02.12.2025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342CC8E-74A4-410F-AE6B-044534FF53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DC08CFC-1ED1-452F-A411-77A5E77E45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23499-98BD-4F2A-BA1C-A86176DFA76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828894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058685B-1A68-421F-BFA5-3B18D471D5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8C5B2FF-4CDC-4BE0-962D-4F7474B18F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B4C3149-8F4C-402F-9752-94CCCE3128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439829-0637-48DE-AA38-F19BBA55A17C}" type="datetimeFigureOut">
              <a:rPr lang="ru-RU" smtClean="0"/>
              <a:t>02.12.2025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2C0E263-35B1-449B-AAD1-500B8748CF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FFB1488-5D30-413A-A893-3EFA5908E7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23499-98BD-4F2A-BA1C-A86176DFA76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052094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9F289FD-8C3A-4B24-9D5B-3B59CC2FC5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0C5D7C9-10D5-4E96-8E65-2C26AA161A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F4D0153-C852-4A79-B1DF-3F1DF08E34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42F9E7A-77D2-4D60-9755-A5D15A8E53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439829-0637-48DE-AA38-F19BBA55A17C}" type="datetimeFigureOut">
              <a:rPr lang="ru-RU" smtClean="0"/>
              <a:t>02.12.2025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3106AF6-7F11-4472-A7C4-0A324EAC8B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048DD58-A0B0-4EA2-A3AE-95A2EC9C6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23499-98BD-4F2A-BA1C-A86176DFA76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944591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73E5D54-3773-419D-B915-336B369FBA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0810589-37E8-4595-8E0D-65E5CEEC12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E8E8F215-667A-4B47-9760-0EA9D9B34D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9A90C3B7-4162-4BE7-B5A4-C5D028B9373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50CD4708-706A-4C76-B840-CB4DC94DCF4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1E7B60C5-F388-4078-92F6-169A5035B1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439829-0637-48DE-AA38-F19BBA55A17C}" type="datetimeFigureOut">
              <a:rPr lang="ru-RU" smtClean="0"/>
              <a:t>02.12.2025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21051BE-FF18-422A-9CAF-7CDD27F9EA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5F98DCEC-EB32-4437-9080-82A22C49F2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23499-98BD-4F2A-BA1C-A86176DFA76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858440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CA5ED9C-6822-4E19-B01C-70B658FDD1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65369DAE-F304-4FD3-AA65-AC4EB0B553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439829-0637-48DE-AA38-F19BBA55A17C}" type="datetimeFigureOut">
              <a:rPr lang="ru-RU" smtClean="0"/>
              <a:t>02.12.2025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533ECE6E-B198-4CA5-81FB-C3D28FD29C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02804F13-2286-4C53-AFF6-BF5D80A6A5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23499-98BD-4F2A-BA1C-A86176DFA76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687051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FAA2785C-3C5A-479A-9548-2C623F3161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439829-0637-48DE-AA38-F19BBA55A17C}" type="datetimeFigureOut">
              <a:rPr lang="ru-RU" smtClean="0"/>
              <a:t>02.12.2025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A2E889B7-3156-4F6C-BCF0-1B2F8895DA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8E51CF2-D4B4-40A0-BC35-C2BDBA204D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23499-98BD-4F2A-BA1C-A86176DFA76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651834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91382DA-A39B-402D-B2D3-A396115B5B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62C679B-4127-4C6C-8E44-F0141EE7EC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20E728E-E4B2-4966-A256-AC965F960D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1A346A4-C3BE-411E-8574-450D5DA81F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439829-0637-48DE-AA38-F19BBA55A17C}" type="datetimeFigureOut">
              <a:rPr lang="ru-RU" smtClean="0"/>
              <a:t>02.12.2025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B3511CE-3FD6-4533-9A97-7E5233EA19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D587944-A0B8-45BB-96A5-5033051AE5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23499-98BD-4F2A-BA1C-A86176DFA76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532458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E0E9640-65B2-4048-8883-81B049AAB3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30C412C8-5DD2-46EE-96E9-17745B91567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F5FF958-461E-4BF5-AA30-B9E1EB6223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CD83968-192E-4614-8C48-2F895AE0CD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439829-0637-48DE-AA38-F19BBA55A17C}" type="datetimeFigureOut">
              <a:rPr lang="ru-RU" smtClean="0"/>
              <a:t>02.12.2025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FB3AF01-8312-4A46-B902-696A97C41F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6876C78-B1B9-44E6-ACFF-FECDA997AB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23499-98BD-4F2A-BA1C-A86176DFA76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145666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736B922-B45C-458F-8746-F1614B0431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C8C01CA2-DE1D-47AE-9DDA-2AA17C5AC4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5330EB9-B55E-4E94-8608-4FEDE65CEB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439829-0637-48DE-AA38-F19BBA55A17C}" type="datetimeFigureOut">
              <a:rPr lang="ru-RU" smtClean="0"/>
              <a:t>02.12.2025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0258E41-8464-4B3D-99BA-D608FA48F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2AD19DF-ECDB-4DE6-A6E1-BDA67782B1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23499-98BD-4F2A-BA1C-A86176DFA76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87660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1747869D-BAB3-4D40-994A-1BADAA9D96C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70FE2174-262E-4ECB-A24B-A4751A8C18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12136F9-6063-44E6-90A9-38AC149849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439829-0637-48DE-AA38-F19BBA55A17C}" type="datetimeFigureOut">
              <a:rPr lang="ru-RU" smtClean="0"/>
              <a:t>02.12.2025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18FF736-779F-45A5-B05B-581BCC6883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DB5BD2A-98AD-46C8-9223-2E0FBC2415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23499-98BD-4F2A-BA1C-A86176DFA76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389501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34BEDAA-8DE4-402B-A881-F83D6C14EA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1D46D6B-C510-4266-8DB8-FC9586738C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FED6387-A028-4CEF-9143-4622AE17073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439829-0637-48DE-AA38-F19BBA55A17C}" type="datetimeFigureOut">
              <a:rPr lang="ru-RU" smtClean="0"/>
              <a:t>02.12.2025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A4EC98B-9A65-4F7A-A031-65C1B74F49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089E291-104F-481D-908A-B80913E310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523499-98BD-4F2A-BA1C-A86176DFA76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764092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emf"/><Relationship Id="rId13" Type="http://schemas.openxmlformats.org/officeDocument/2006/relationships/image" Target="../media/image13.emf"/><Relationship Id="rId3" Type="http://schemas.openxmlformats.org/officeDocument/2006/relationships/image" Target="../media/image3.svg"/><Relationship Id="rId7" Type="http://schemas.openxmlformats.org/officeDocument/2006/relationships/image" Target="../media/image7.emf"/><Relationship Id="rId12" Type="http://schemas.openxmlformats.org/officeDocument/2006/relationships/image" Target="../media/image12.emf"/><Relationship Id="rId2" Type="http://schemas.openxmlformats.org/officeDocument/2006/relationships/image" Target="../media/image2.png"/><Relationship Id="rId16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emf"/><Relationship Id="rId11" Type="http://schemas.openxmlformats.org/officeDocument/2006/relationships/image" Target="../media/image11.emf"/><Relationship Id="rId5" Type="http://schemas.openxmlformats.org/officeDocument/2006/relationships/image" Target="../media/image5.emf"/><Relationship Id="rId15" Type="http://schemas.openxmlformats.org/officeDocument/2006/relationships/image" Target="../media/image15.png"/><Relationship Id="rId10" Type="http://schemas.openxmlformats.org/officeDocument/2006/relationships/image" Target="../media/image10.emf"/><Relationship Id="rId4" Type="http://schemas.openxmlformats.org/officeDocument/2006/relationships/image" Target="../media/image4.emf"/><Relationship Id="rId9" Type="http://schemas.openxmlformats.org/officeDocument/2006/relationships/image" Target="../media/image9.emf"/><Relationship Id="rId14" Type="http://schemas.openxmlformats.org/officeDocument/2006/relationships/image" Target="../media/image14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svg"/><Relationship Id="rId5" Type="http://schemas.openxmlformats.org/officeDocument/2006/relationships/image" Target="../media/image2.png"/><Relationship Id="rId4" Type="http://schemas.openxmlformats.org/officeDocument/2006/relationships/image" Target="../media/image1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3.sv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svg"/><Relationship Id="rId3" Type="http://schemas.openxmlformats.org/officeDocument/2006/relationships/image" Target="../media/image25.png"/><Relationship Id="rId7" Type="http://schemas.openxmlformats.org/officeDocument/2006/relationships/image" Target="../media/image2.png"/><Relationship Id="rId2" Type="http://schemas.openxmlformats.org/officeDocument/2006/relationships/image" Target="../media/image24.e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5" Type="http://schemas.openxmlformats.org/officeDocument/2006/relationships/image" Target="../media/image27.emf"/><Relationship Id="rId4" Type="http://schemas.openxmlformats.org/officeDocument/2006/relationships/image" Target="../media/image26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svg"/><Relationship Id="rId5" Type="http://schemas.openxmlformats.org/officeDocument/2006/relationships/image" Target="../media/image2.png"/><Relationship Id="rId4" Type="http://schemas.openxmlformats.org/officeDocument/2006/relationships/image" Target="../media/image3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4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A196220-C1B9-05B1-382F-74423F30155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96016" y="1109542"/>
            <a:ext cx="2091294" cy="684760"/>
          </a:xfrm>
          <a:prstGeom prst="rect">
            <a:avLst/>
          </a:prstGeom>
        </p:spPr>
      </p:pic>
      <p:sp>
        <p:nvSpPr>
          <p:cNvPr id="6" name="Ipad Stats">
            <a:extLst>
              <a:ext uri="{FF2B5EF4-FFF2-40B4-BE49-F238E27FC236}">
                <a16:creationId xmlns:a16="http://schemas.microsoft.com/office/drawing/2014/main" id="{DDC38C63-9A74-4680-8F11-0CFAA93FB2B4}"/>
              </a:ext>
            </a:extLst>
          </p:cNvPr>
          <p:cNvSpPr/>
          <p:nvPr/>
        </p:nvSpPr>
        <p:spPr>
          <a:xfrm>
            <a:off x="1040186" y="4508810"/>
            <a:ext cx="5714474" cy="95408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45708" tIns="45708" rIns="45708" bIns="45708" numCol="1" anchor="t">
            <a:spAutoFit/>
          </a:bodyPr>
          <a:lstStyle>
            <a:lvl1pPr>
              <a:defRPr sz="7500" b="1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 lvl="0" indent="-182563"/>
            <a:r>
              <a:rPr lang="ru-RU" sz="2800" b="0" dirty="0">
                <a:solidFill>
                  <a:srgbClr val="A9C139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" charset="0"/>
              </a:rPr>
              <a:t>Для корпоративных </a:t>
            </a:r>
          </a:p>
          <a:p>
            <a:pPr lvl="0" indent="-182563"/>
            <a:r>
              <a:rPr lang="ru-RU" sz="2800" b="0" dirty="0">
                <a:solidFill>
                  <a:srgbClr val="A9C139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  <a:cs typeface="Helvetica" charset="0"/>
              </a:rPr>
              <a:t>клиентов</a:t>
            </a:r>
          </a:p>
        </p:txBody>
      </p:sp>
      <p:sp>
        <p:nvSpPr>
          <p:cNvPr id="7" name="Название…">
            <a:extLst>
              <a:ext uri="{FF2B5EF4-FFF2-40B4-BE49-F238E27FC236}">
                <a16:creationId xmlns:a16="http://schemas.microsoft.com/office/drawing/2014/main" id="{A5683E19-C208-40F5-B1C1-8BCAAA80803E}"/>
              </a:ext>
            </a:extLst>
          </p:cNvPr>
          <p:cNvSpPr txBox="1"/>
          <p:nvPr/>
        </p:nvSpPr>
        <p:spPr>
          <a:xfrm>
            <a:off x="987778" y="2355918"/>
            <a:ext cx="8142721" cy="1897955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25400" tIns="25400" rIns="25400" bIns="25400" anchor="ctr">
            <a:spAutoFit/>
          </a:bodyPr>
          <a:lstStyle/>
          <a:p>
            <a:pPr>
              <a:spcBef>
                <a:spcPts val="0"/>
              </a:spcBef>
              <a:defRPr sz="8000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r>
              <a:rPr lang="ru-RU" sz="6000" b="1" dirty="0">
                <a:solidFill>
                  <a:srgbClr val="6A2D9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Услуга «Бизнес- </a:t>
            </a:r>
          </a:p>
          <a:p>
            <a:pPr>
              <a:spcBef>
                <a:spcPts val="0"/>
              </a:spcBef>
              <a:defRPr sz="8000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r>
              <a:rPr lang="ru-RU" sz="6000" b="1" dirty="0">
                <a:solidFill>
                  <a:srgbClr val="6A2D9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телефония»</a:t>
            </a:r>
            <a:endParaRPr sz="6000" b="1" dirty="0">
              <a:solidFill>
                <a:srgbClr val="6A2D9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73905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93F08AAB-991C-4074-7AA1-AEE91E63A1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52322" y="399717"/>
            <a:ext cx="736255" cy="241075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20646250-8944-40A4-BA81-CF7BE2EC82EC}"/>
              </a:ext>
            </a:extLst>
          </p:cNvPr>
          <p:cNvSpPr txBox="1"/>
          <p:nvPr/>
        </p:nvSpPr>
        <p:spPr>
          <a:xfrm>
            <a:off x="9274084" y="5672527"/>
            <a:ext cx="264207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n w="12700">
                  <a:noFill/>
                  <a:prstDash val="solid"/>
                </a:ln>
                <a:solidFill>
                  <a:srgbClr val="652D86"/>
                </a:solidFill>
                <a:latin typeface="Helvetica Neue"/>
                <a:cs typeface="Pragmatica Book Reg"/>
              </a:rPr>
              <a:t>*     </a:t>
            </a:r>
            <a:r>
              <a:rPr lang="ru-RU" sz="1600" b="1" dirty="0">
                <a:ln w="12700">
                  <a:noFill/>
                  <a:prstDash val="solid"/>
                </a:ln>
                <a:solidFill>
                  <a:srgbClr val="652D86"/>
                </a:solidFill>
                <a:latin typeface="Helvetica Neue"/>
                <a:cs typeface="Pragmatica Book Reg"/>
              </a:rPr>
              <a:t>(17 июля 2014 года)</a:t>
            </a:r>
            <a:endParaRPr lang="en-US" sz="1600" b="1" dirty="0">
              <a:ln w="12700">
                <a:noFill/>
                <a:prstDash val="solid"/>
              </a:ln>
              <a:solidFill>
                <a:srgbClr val="652D86"/>
              </a:solidFill>
              <a:latin typeface="Helvetica Neue"/>
              <a:cs typeface="Pragmatica Book Reg"/>
            </a:endParaRPr>
          </a:p>
          <a:p>
            <a:r>
              <a:rPr lang="en-US" sz="1600" b="1" dirty="0">
                <a:ln w="12700">
                  <a:noFill/>
                  <a:prstDash val="solid"/>
                </a:ln>
                <a:solidFill>
                  <a:srgbClr val="652D86"/>
                </a:solidFill>
                <a:latin typeface="Helvetica Neue"/>
                <a:cs typeface="Pragmatica Book Reg"/>
              </a:rPr>
              <a:t>**   </a:t>
            </a:r>
            <a:r>
              <a:rPr lang="ru-RU" sz="1600" b="1" dirty="0">
                <a:ln w="12700">
                  <a:noFill/>
                  <a:prstDash val="solid"/>
                </a:ln>
                <a:solidFill>
                  <a:srgbClr val="652D86"/>
                </a:solidFill>
                <a:latin typeface="Helvetica Neue"/>
                <a:cs typeface="Pragmatica Book Reg"/>
              </a:rPr>
              <a:t>(17 июля 2014 года)</a:t>
            </a:r>
          </a:p>
          <a:p>
            <a:r>
              <a:rPr lang="en-US" sz="1600" b="1" dirty="0">
                <a:ln w="12700">
                  <a:noFill/>
                  <a:prstDash val="solid"/>
                </a:ln>
                <a:solidFill>
                  <a:srgbClr val="652D86"/>
                </a:solidFill>
                <a:latin typeface="Helvetica Neue"/>
                <a:cs typeface="Pragmatica Book Reg"/>
              </a:rPr>
              <a:t>*** (</a:t>
            </a:r>
            <a:r>
              <a:rPr lang="ru-RU" sz="1600" b="1" dirty="0">
                <a:ln w="12700">
                  <a:noFill/>
                  <a:prstDash val="solid"/>
                </a:ln>
                <a:solidFill>
                  <a:srgbClr val="652D86"/>
                </a:solidFill>
                <a:latin typeface="Helvetica Neue"/>
                <a:cs typeface="Pragmatica Book Reg"/>
              </a:rPr>
              <a:t>бренды </a:t>
            </a:r>
            <a:r>
              <a:rPr lang="ru-RU" sz="1600" b="1" dirty="0" err="1">
                <a:ln w="12700">
                  <a:noFill/>
                  <a:prstDash val="solid"/>
                </a:ln>
                <a:solidFill>
                  <a:srgbClr val="652D86"/>
                </a:solidFill>
                <a:latin typeface="Helvetica Neue"/>
                <a:cs typeface="Pragmatica Book Reg"/>
              </a:rPr>
              <a:t>Kcell</a:t>
            </a:r>
            <a:r>
              <a:rPr lang="ru-RU" sz="1600" b="1" dirty="0">
                <a:ln w="12700">
                  <a:noFill/>
                  <a:prstDash val="solid"/>
                </a:ln>
                <a:solidFill>
                  <a:srgbClr val="652D86"/>
                </a:solidFill>
                <a:latin typeface="Helvetica Neue"/>
                <a:cs typeface="Pragmatica Book Reg"/>
              </a:rPr>
              <a:t> и </a:t>
            </a:r>
            <a:r>
              <a:rPr lang="en-US" sz="1600" b="1" dirty="0">
                <a:ln w="12700">
                  <a:noFill/>
                  <a:prstDash val="solid"/>
                </a:ln>
                <a:solidFill>
                  <a:srgbClr val="652D86"/>
                </a:solidFill>
                <a:latin typeface="Helvetica Neue"/>
                <a:cs typeface="Pragmatica Book Reg"/>
              </a:rPr>
              <a:t>a</a:t>
            </a:r>
            <a:r>
              <a:rPr lang="ru-RU" sz="1600" b="1" dirty="0" err="1">
                <a:ln w="12700">
                  <a:noFill/>
                  <a:prstDash val="solid"/>
                </a:ln>
                <a:solidFill>
                  <a:srgbClr val="652D86"/>
                </a:solidFill>
                <a:latin typeface="Helvetica Neue"/>
                <a:cs typeface="Pragmatica Book Reg"/>
              </a:rPr>
              <a:t>ctiv</a:t>
            </a:r>
            <a:r>
              <a:rPr lang="ru-RU" sz="1600" b="1" dirty="0">
                <a:ln w="12700">
                  <a:noFill/>
                  <a:prstDash val="solid"/>
                </a:ln>
                <a:solidFill>
                  <a:srgbClr val="652D86"/>
                </a:solidFill>
                <a:latin typeface="Helvetica Neue"/>
                <a:cs typeface="Pragmatica Book Reg"/>
              </a:rPr>
              <a:t>)</a:t>
            </a:r>
          </a:p>
        </p:txBody>
      </p:sp>
      <p:grpSp>
        <p:nvGrpSpPr>
          <p:cNvPr id="42" name="Группа 41">
            <a:extLst>
              <a:ext uri="{FF2B5EF4-FFF2-40B4-BE49-F238E27FC236}">
                <a16:creationId xmlns:a16="http://schemas.microsoft.com/office/drawing/2014/main" id="{3AE60B6A-2267-46A8-BB1B-3A3E646A818B}"/>
              </a:ext>
            </a:extLst>
          </p:cNvPr>
          <p:cNvGrpSpPr/>
          <p:nvPr/>
        </p:nvGrpSpPr>
        <p:grpSpPr>
          <a:xfrm>
            <a:off x="2678290" y="451210"/>
            <a:ext cx="6571422" cy="6055107"/>
            <a:chOff x="2817438" y="434263"/>
            <a:chExt cx="6571422" cy="6055107"/>
          </a:xfrm>
        </p:grpSpPr>
        <p:sp>
          <p:nvSpPr>
            <p:cNvPr id="4" name="Oval 43">
              <a:extLst>
                <a:ext uri="{FF2B5EF4-FFF2-40B4-BE49-F238E27FC236}">
                  <a16:creationId xmlns:a16="http://schemas.microsoft.com/office/drawing/2014/main" id="{1286527A-66EA-43E1-803D-DF5AE0276F52}"/>
                </a:ext>
              </a:extLst>
            </p:cNvPr>
            <p:cNvSpPr/>
            <p:nvPr/>
          </p:nvSpPr>
          <p:spPr>
            <a:xfrm>
              <a:off x="3057064" y="434263"/>
              <a:ext cx="6055107" cy="6055107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19050" cmpd="sng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Oval 42">
              <a:extLst>
                <a:ext uri="{FF2B5EF4-FFF2-40B4-BE49-F238E27FC236}">
                  <a16:creationId xmlns:a16="http://schemas.microsoft.com/office/drawing/2014/main" id="{F97980DE-CC63-4112-A1B2-59D8345592C4}"/>
                </a:ext>
              </a:extLst>
            </p:cNvPr>
            <p:cNvSpPr/>
            <p:nvPr/>
          </p:nvSpPr>
          <p:spPr>
            <a:xfrm>
              <a:off x="7175328" y="926122"/>
              <a:ext cx="2213532" cy="2213532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19050" cmpd="sng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16">
              <a:extLst>
                <a:ext uri="{FF2B5EF4-FFF2-40B4-BE49-F238E27FC236}">
                  <a16:creationId xmlns:a16="http://schemas.microsoft.com/office/drawing/2014/main" id="{7224F884-1937-4D9A-9A98-2CFA2B54A36A}"/>
                </a:ext>
              </a:extLst>
            </p:cNvPr>
            <p:cNvSpPr/>
            <p:nvPr/>
          </p:nvSpPr>
          <p:spPr>
            <a:xfrm rot="7887218">
              <a:off x="7376997" y="1092503"/>
              <a:ext cx="1822541" cy="1867749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91440" tIns="45720" rIns="91440" bIns="45720">
              <a:prstTxWarp prst="textCircle">
                <a:avLst>
                  <a:gd name="adj" fmla="val 12"/>
                </a:avLst>
              </a:prstTxWarp>
              <a:spAutoFit/>
            </a:bodyPr>
            <a:lstStyle/>
            <a:p>
              <a:pPr algn="ctr"/>
              <a:r>
                <a:rPr lang="ru-RU" sz="1400" b="1" dirty="0">
                  <a:ln w="12700">
                    <a:noFill/>
                    <a:prstDash val="solid"/>
                  </a:ln>
                  <a:solidFill>
                    <a:srgbClr val="652D86"/>
                  </a:solidFill>
                  <a:effectLst/>
                  <a:latin typeface="Helvetica" panose="020B0604020202020204" pitchFamily="34" charset="0"/>
                  <a:cs typeface="Helvetica" panose="020B0604020202020204" pitchFamily="34" charset="0"/>
                </a:rPr>
                <a:t>Компания основана в1998 году</a:t>
              </a:r>
              <a:r>
                <a:rPr lang="en-US" sz="1400" b="1" dirty="0">
                  <a:ln w="12700">
                    <a:noFill/>
                    <a:prstDash val="solid"/>
                  </a:ln>
                  <a:solidFill>
                    <a:srgbClr val="652D86"/>
                  </a:solidFill>
                  <a:effectLst/>
                  <a:latin typeface="Helvetica" panose="020B0604020202020204" pitchFamily="34" charset="0"/>
                  <a:cs typeface="Helvetica" panose="020B0604020202020204" pitchFamily="34" charset="0"/>
                </a:rPr>
                <a:t>***</a:t>
              </a:r>
              <a:endParaRPr lang="ru-RU" sz="1400" b="1" dirty="0">
                <a:ln w="12700">
                  <a:noFill/>
                  <a:prstDash val="solid"/>
                </a:ln>
                <a:solidFill>
                  <a:srgbClr val="652D86"/>
                </a:solidFill>
                <a:effectLst/>
                <a:latin typeface="Helvetica" panose="020B0604020202020204" pitchFamily="34" charset="0"/>
                <a:cs typeface="Helvetica" panose="020B0604020202020204" pitchFamily="34" charset="0"/>
              </a:endParaRPr>
            </a:p>
          </p:txBody>
        </p:sp>
        <p:sp>
          <p:nvSpPr>
            <p:cNvPr id="7" name="Oval 40">
              <a:extLst>
                <a:ext uri="{FF2B5EF4-FFF2-40B4-BE49-F238E27FC236}">
                  <a16:creationId xmlns:a16="http://schemas.microsoft.com/office/drawing/2014/main" id="{BF7E0067-B7C9-451F-B783-5E76665F0665}"/>
                </a:ext>
              </a:extLst>
            </p:cNvPr>
            <p:cNvSpPr/>
            <p:nvPr/>
          </p:nvSpPr>
          <p:spPr>
            <a:xfrm>
              <a:off x="3817965" y="1149694"/>
              <a:ext cx="4394957" cy="4394958"/>
            </a:xfrm>
            <a:prstGeom prst="ellipse">
              <a:avLst/>
            </a:prstGeom>
            <a:solidFill>
              <a:srgbClr val="652D86"/>
            </a:solidFill>
            <a:ln w="19050" cmpd="sng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41">
              <a:extLst>
                <a:ext uri="{FF2B5EF4-FFF2-40B4-BE49-F238E27FC236}">
                  <a16:creationId xmlns:a16="http://schemas.microsoft.com/office/drawing/2014/main" id="{1D99DC5E-2A27-4C42-837F-D3391A6EC1F7}"/>
                </a:ext>
              </a:extLst>
            </p:cNvPr>
            <p:cNvSpPr/>
            <p:nvPr/>
          </p:nvSpPr>
          <p:spPr>
            <a:xfrm>
              <a:off x="2817438" y="3416346"/>
              <a:ext cx="2351878" cy="2351878"/>
            </a:xfrm>
            <a:prstGeom prst="ellipse">
              <a:avLst/>
            </a:prstGeom>
            <a:solidFill>
              <a:srgbClr val="6A2D91"/>
            </a:solidFill>
            <a:ln w="19050" cmpd="sng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39">
              <a:extLst>
                <a:ext uri="{FF2B5EF4-FFF2-40B4-BE49-F238E27FC236}">
                  <a16:creationId xmlns:a16="http://schemas.microsoft.com/office/drawing/2014/main" id="{DFDD1DFB-707F-4A08-A81C-0C58082E2042}"/>
                </a:ext>
              </a:extLst>
            </p:cNvPr>
            <p:cNvSpPr/>
            <p:nvPr/>
          </p:nvSpPr>
          <p:spPr>
            <a:xfrm>
              <a:off x="4355294" y="1687023"/>
              <a:ext cx="3320298" cy="3320298"/>
            </a:xfrm>
            <a:prstGeom prst="ellipse">
              <a:avLst/>
            </a:prstGeom>
            <a:solidFill>
              <a:srgbClr val="BED600"/>
            </a:solidFill>
            <a:ln w="19050" cmpd="sng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38">
              <a:extLst>
                <a:ext uri="{FF2B5EF4-FFF2-40B4-BE49-F238E27FC236}">
                  <a16:creationId xmlns:a16="http://schemas.microsoft.com/office/drawing/2014/main" id="{C1452E33-B6A2-43BC-AE28-C8F1F191390F}"/>
                </a:ext>
              </a:extLst>
            </p:cNvPr>
            <p:cNvSpPr/>
            <p:nvPr/>
          </p:nvSpPr>
          <p:spPr>
            <a:xfrm>
              <a:off x="4833662" y="2136638"/>
              <a:ext cx="2351878" cy="2351878"/>
            </a:xfrm>
            <a:prstGeom prst="ellipse">
              <a:avLst/>
            </a:prstGeom>
            <a:solidFill>
              <a:srgbClr val="FFFFFF"/>
            </a:solidFill>
            <a:ln w="19050" cmpd="sng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35">
              <a:extLst>
                <a:ext uri="{FF2B5EF4-FFF2-40B4-BE49-F238E27FC236}">
                  <a16:creationId xmlns:a16="http://schemas.microsoft.com/office/drawing/2014/main" id="{2823000C-F012-4B28-9B3A-10E43BDE9343}"/>
                </a:ext>
              </a:extLst>
            </p:cNvPr>
            <p:cNvSpPr/>
            <p:nvPr/>
          </p:nvSpPr>
          <p:spPr>
            <a:xfrm>
              <a:off x="5254543" y="2586271"/>
              <a:ext cx="1521803" cy="1521804"/>
            </a:xfrm>
            <a:prstGeom prst="ellipse">
              <a:avLst/>
            </a:prstGeom>
            <a:solidFill>
              <a:srgbClr val="652D86"/>
            </a:solidFill>
            <a:ln w="19050" cmpd="sng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9">
              <a:extLst>
                <a:ext uri="{FF2B5EF4-FFF2-40B4-BE49-F238E27FC236}">
                  <a16:creationId xmlns:a16="http://schemas.microsoft.com/office/drawing/2014/main" id="{051A7B51-E464-4998-A1FA-0ABA1A9DD6B9}"/>
                </a:ext>
              </a:extLst>
            </p:cNvPr>
            <p:cNvSpPr/>
            <p:nvPr/>
          </p:nvSpPr>
          <p:spPr>
            <a:xfrm rot="7739855">
              <a:off x="4309692" y="1772372"/>
              <a:ext cx="3350720" cy="3204304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91440" tIns="45720" rIns="91440" bIns="45720">
              <a:prstTxWarp prst="textCircle">
                <a:avLst>
                  <a:gd name="adj" fmla="val 12"/>
                </a:avLst>
              </a:prstTxWarp>
              <a:spAutoFit/>
            </a:bodyPr>
            <a:lstStyle/>
            <a:p>
              <a:pPr algn="ctr"/>
              <a:r>
                <a:rPr lang="ru-RU" sz="1400" b="1" dirty="0">
                  <a:ln w="12700">
                    <a:noFill/>
                    <a:prstDash val="solid"/>
                  </a:ln>
                  <a:solidFill>
                    <a:srgbClr val="FFFFFF"/>
                  </a:solidFill>
                  <a:effectLst/>
                  <a:latin typeface="Helvetica" panose="020B0604020202020204" pitchFamily="34" charset="0"/>
                  <a:cs typeface="Helvetica" panose="020B0604020202020204" pitchFamily="34" charset="0"/>
                </a:rPr>
                <a:t>Роуминг в более 350 странах (роуминг в стандарте GSM в более 150 странах</a:t>
              </a:r>
              <a:r>
                <a:rPr lang="en-US" sz="1400" b="1" dirty="0">
                  <a:ln w="12700">
                    <a:noFill/>
                    <a:prstDash val="solid"/>
                  </a:ln>
                  <a:solidFill>
                    <a:srgbClr val="FFFFFF"/>
                  </a:solidFill>
                  <a:effectLst/>
                  <a:latin typeface="Helvetica" panose="020B0604020202020204" pitchFamily="34" charset="0"/>
                  <a:cs typeface="Helvetica" panose="020B0604020202020204" pitchFamily="34" charset="0"/>
                </a:rPr>
                <a:t>*</a:t>
              </a:r>
              <a:r>
                <a:rPr lang="ru-RU" sz="1400" b="1" dirty="0">
                  <a:ln w="12700">
                    <a:noFill/>
                    <a:prstDash val="solid"/>
                  </a:ln>
                  <a:solidFill>
                    <a:srgbClr val="FFFFFF"/>
                  </a:solidFill>
                  <a:effectLst/>
                  <a:latin typeface="Helvetica" panose="020B0604020202020204" pitchFamily="34" charset="0"/>
                  <a:cs typeface="Helvetica" panose="020B0604020202020204" pitchFamily="34" charset="0"/>
                </a:rPr>
                <a:t>*</a:t>
              </a:r>
              <a:r>
                <a:rPr lang="en-US" sz="1400" b="1" dirty="0">
                  <a:ln w="12700">
                    <a:noFill/>
                    <a:prstDash val="solid"/>
                  </a:ln>
                  <a:solidFill>
                    <a:srgbClr val="FFFFFF"/>
                  </a:solidFill>
                  <a:effectLst/>
                  <a:latin typeface="Helvetica" panose="020B0604020202020204" pitchFamily="34" charset="0"/>
                  <a:cs typeface="Helvetica" panose="020B0604020202020204" pitchFamily="34" charset="0"/>
                </a:rPr>
                <a:t>*</a:t>
              </a:r>
              <a:endParaRPr lang="ru-RU" sz="1400" b="1" dirty="0">
                <a:ln w="12700">
                  <a:noFill/>
                  <a:prstDash val="solid"/>
                </a:ln>
                <a:solidFill>
                  <a:srgbClr val="FFFFFF"/>
                </a:solidFill>
                <a:effectLst/>
                <a:latin typeface="Helvetica" panose="020B0604020202020204" pitchFamily="34" charset="0"/>
                <a:cs typeface="Helvetica" panose="020B0604020202020204" pitchFamily="34" charset="0"/>
              </a:endParaRPr>
            </a:p>
            <a:p>
              <a:pPr algn="ctr"/>
              <a:endParaRPr lang="ru-RU" sz="1500" b="1" cap="none" spc="0" dirty="0" err="1">
                <a:ln w="12700">
                  <a:noFill/>
                  <a:prstDash val="solid"/>
                </a:ln>
                <a:solidFill>
                  <a:srgbClr val="FFFFFF"/>
                </a:solidFill>
                <a:effectLst/>
                <a:latin typeface="Pragmatica Book Reg"/>
                <a:cs typeface="Pragmatica Book Reg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90563CFA-B78C-4C74-B276-7A3C78EA4AC2}"/>
                </a:ext>
              </a:extLst>
            </p:cNvPr>
            <p:cNvSpPr/>
            <p:nvPr/>
          </p:nvSpPr>
          <p:spPr>
            <a:xfrm rot="5656258">
              <a:off x="4581638" y="1970024"/>
              <a:ext cx="2907486" cy="2849749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91440" tIns="45720" rIns="91440" bIns="45720">
              <a:prstTxWarp prst="textCircle">
                <a:avLst>
                  <a:gd name="adj" fmla="val 12"/>
                </a:avLst>
              </a:prstTxWarp>
              <a:spAutoFit/>
            </a:bodyPr>
            <a:lstStyle/>
            <a:p>
              <a:pPr algn="ctr"/>
              <a:r>
                <a:rPr lang="ru-RU" sz="1400" b="1" dirty="0">
                  <a:ln w="12700">
                    <a:noFill/>
                    <a:prstDash val="solid"/>
                  </a:ln>
                  <a:solidFill>
                    <a:srgbClr val="652D86"/>
                  </a:solidFill>
                  <a:effectLst/>
                  <a:latin typeface="Helvetica" panose="020B0604020202020204" pitchFamily="34" charset="0"/>
                  <a:cs typeface="Helvetica" panose="020B0604020202020204" pitchFamily="34" charset="0"/>
                </a:rPr>
                <a:t>Более 11.4 млн. активных абонентов*</a:t>
              </a:r>
              <a:r>
                <a:rPr lang="en-US" sz="1400" b="1" dirty="0">
                  <a:ln w="12700">
                    <a:noFill/>
                    <a:prstDash val="solid"/>
                  </a:ln>
                  <a:solidFill>
                    <a:srgbClr val="652D86"/>
                  </a:solidFill>
                  <a:effectLst/>
                  <a:latin typeface="Helvetica" panose="020B0604020202020204" pitchFamily="34" charset="0"/>
                  <a:cs typeface="Helvetica" panose="020B0604020202020204" pitchFamily="34" charset="0"/>
                </a:rPr>
                <a:t>*</a:t>
              </a:r>
              <a:endParaRPr lang="ru-RU" sz="1400" b="1" cap="none" spc="0" dirty="0">
                <a:ln w="12700">
                  <a:noFill/>
                  <a:prstDash val="solid"/>
                </a:ln>
                <a:solidFill>
                  <a:srgbClr val="652D86"/>
                </a:solidFill>
                <a:effectLst/>
                <a:latin typeface="Helvetica" panose="020B0604020202020204" pitchFamily="34" charset="0"/>
                <a:cs typeface="Helvetica" panose="020B0604020202020204" pitchFamily="34" charset="0"/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2D53FF1E-DB39-4A4A-B8F6-80B5BCB6A0F1}"/>
                </a:ext>
              </a:extLst>
            </p:cNvPr>
            <p:cNvSpPr/>
            <p:nvPr/>
          </p:nvSpPr>
          <p:spPr>
            <a:xfrm rot="6161240">
              <a:off x="5058211" y="2422996"/>
              <a:ext cx="1952167" cy="1913399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91440" tIns="45720" rIns="91440" bIns="45720">
              <a:prstTxWarp prst="textCircle">
                <a:avLst>
                  <a:gd name="adj" fmla="val 12"/>
                </a:avLst>
              </a:prstTxWarp>
              <a:spAutoFit/>
            </a:bodyPr>
            <a:lstStyle/>
            <a:p>
              <a:pPr algn="ctr"/>
              <a:r>
                <a:rPr lang="ru-RU" sz="1400" b="1" dirty="0">
                  <a:ln w="12700">
                    <a:noFill/>
                    <a:prstDash val="solid"/>
                  </a:ln>
                  <a:solidFill>
                    <a:srgbClr val="652D86"/>
                  </a:solidFill>
                  <a:effectLst/>
                  <a:latin typeface="Helvetica" panose="020B0604020202020204" pitchFamily="34" charset="0"/>
                  <a:cs typeface="Helvetica" panose="020B0604020202020204" pitchFamily="34" charset="0"/>
                </a:rPr>
                <a:t>Более 12.8 млн. </a:t>
              </a:r>
              <a:r>
                <a:rPr lang="en-US" sz="1400" b="1" dirty="0" err="1">
                  <a:ln w="12700">
                    <a:noFill/>
                    <a:prstDash val="solid"/>
                  </a:ln>
                  <a:solidFill>
                    <a:srgbClr val="652D86"/>
                  </a:solidFill>
                  <a:effectLst/>
                  <a:latin typeface="Helvetica" panose="020B0604020202020204" pitchFamily="34" charset="0"/>
                  <a:cs typeface="Helvetica" panose="020B0604020202020204" pitchFamily="34" charset="0"/>
                </a:rPr>
                <a:t>a</a:t>
              </a:r>
              <a:r>
                <a:rPr lang="ru-RU" sz="1400" b="1" dirty="0" err="1">
                  <a:ln w="12700">
                    <a:noFill/>
                    <a:prstDash val="solid"/>
                  </a:ln>
                  <a:solidFill>
                    <a:srgbClr val="652D86"/>
                  </a:solidFill>
                  <a:effectLst/>
                  <a:latin typeface="Helvetica" panose="020B0604020202020204" pitchFamily="34" charset="0"/>
                  <a:cs typeface="Helvetica" panose="020B0604020202020204" pitchFamily="34" charset="0"/>
                </a:rPr>
                <a:t>бонентов</a:t>
              </a:r>
              <a:r>
                <a:rPr lang="en-US" sz="1400" b="1" dirty="0">
                  <a:ln w="12700">
                    <a:noFill/>
                    <a:prstDash val="solid"/>
                  </a:ln>
                  <a:solidFill>
                    <a:srgbClr val="652D86"/>
                  </a:solidFill>
                  <a:effectLst/>
                  <a:latin typeface="Helvetica" panose="020B0604020202020204" pitchFamily="34" charset="0"/>
                  <a:cs typeface="Helvetica" panose="020B0604020202020204" pitchFamily="34" charset="0"/>
                </a:rPr>
                <a:t>*</a:t>
              </a:r>
              <a:endParaRPr lang="ru-RU" sz="1400" b="1" cap="none" spc="0" dirty="0">
                <a:ln w="12700">
                  <a:noFill/>
                  <a:prstDash val="solid"/>
                </a:ln>
                <a:solidFill>
                  <a:srgbClr val="652D86"/>
                </a:solidFill>
                <a:effectLst/>
                <a:latin typeface="Helvetica" panose="020B0604020202020204" pitchFamily="34" charset="0"/>
                <a:cs typeface="Helvetica" panose="020B0604020202020204" pitchFamily="34" charset="0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2547E784-F6B8-4790-99D0-541B20AD5902}"/>
                </a:ext>
              </a:extLst>
            </p:cNvPr>
            <p:cNvSpPr txBox="1"/>
            <p:nvPr/>
          </p:nvSpPr>
          <p:spPr>
            <a:xfrm>
              <a:off x="5218888" y="3471156"/>
              <a:ext cx="158957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600" dirty="0">
                  <a:solidFill>
                    <a:schemeClr val="bg1"/>
                  </a:solidFill>
                  <a:latin typeface="Helvetica" panose="020B0604020202020204" pitchFamily="34" charset="0"/>
                  <a:cs typeface="Helvetica" panose="020B0604020202020204" pitchFamily="34" charset="0"/>
                </a:rPr>
                <a:t>Ведущий оператор мобильной</a:t>
              </a:r>
            </a:p>
            <a:p>
              <a:pPr algn="ctr"/>
              <a:r>
                <a:rPr lang="ru-RU" sz="600" dirty="0">
                  <a:solidFill>
                    <a:schemeClr val="bg1"/>
                  </a:solidFill>
                  <a:latin typeface="Helvetica" panose="020B0604020202020204" pitchFamily="34" charset="0"/>
                  <a:cs typeface="Helvetica" panose="020B0604020202020204" pitchFamily="34" charset="0"/>
                </a:rPr>
                <a:t>связи в Казахстане по доле рынка, доходу и количеству</a:t>
              </a:r>
            </a:p>
            <a:p>
              <a:pPr algn="ctr"/>
              <a:r>
                <a:rPr lang="ru-RU" sz="600" dirty="0">
                  <a:solidFill>
                    <a:schemeClr val="bg1"/>
                  </a:solidFill>
                  <a:latin typeface="Helvetica" panose="020B0604020202020204" pitchFamily="34" charset="0"/>
                  <a:cs typeface="Helvetica" panose="020B0604020202020204" pitchFamily="34" charset="0"/>
                </a:rPr>
                <a:t>абонентов</a:t>
              </a:r>
              <a:endParaRPr lang="en-US" sz="600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endParaRPr>
            </a:p>
          </p:txBody>
        </p:sp>
        <p:sp>
          <p:nvSpPr>
            <p:cNvPr id="17" name="Rectangle 18">
              <a:extLst>
                <a:ext uri="{FF2B5EF4-FFF2-40B4-BE49-F238E27FC236}">
                  <a16:creationId xmlns:a16="http://schemas.microsoft.com/office/drawing/2014/main" id="{A218E489-2F59-4DD3-8895-40F26A981E52}"/>
                </a:ext>
              </a:extLst>
            </p:cNvPr>
            <p:cNvSpPr/>
            <p:nvPr/>
          </p:nvSpPr>
          <p:spPr>
            <a:xfrm rot="1841029">
              <a:off x="3052456" y="3607227"/>
              <a:ext cx="1933658" cy="194118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91440" tIns="45720" rIns="91440" bIns="45720">
              <a:prstTxWarp prst="textCircle">
                <a:avLst>
                  <a:gd name="adj" fmla="val 12"/>
                </a:avLst>
              </a:prstTxWarp>
              <a:spAutoFit/>
            </a:bodyPr>
            <a:lstStyle/>
            <a:p>
              <a:pPr algn="ctr"/>
              <a:r>
                <a:rPr lang="ru-RU" sz="1400" b="1" dirty="0">
                  <a:ln w="12700">
                    <a:noFill/>
                    <a:prstDash val="solid"/>
                  </a:ln>
                  <a:solidFill>
                    <a:srgbClr val="FFFFFF"/>
                  </a:solidFill>
                  <a:effectLst/>
                  <a:latin typeface="Helvetica" panose="020B0604020202020204" pitchFamily="34" charset="0"/>
                  <a:cs typeface="Helvetica" panose="020B0604020202020204" pitchFamily="34" charset="0"/>
                </a:rPr>
                <a:t>5100 населенных пунктов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AF6AC4F8-25DE-4E04-8231-06A42BB7A736}"/>
                </a:ext>
              </a:extLst>
            </p:cNvPr>
            <p:cNvSpPr txBox="1"/>
            <p:nvPr/>
          </p:nvSpPr>
          <p:spPr>
            <a:xfrm>
              <a:off x="3301648" y="4730630"/>
              <a:ext cx="158957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1000" dirty="0">
                  <a:solidFill>
                    <a:schemeClr val="bg1"/>
                  </a:solidFill>
                  <a:latin typeface="Helvetica" panose="020B0604020202020204" pitchFamily="34" charset="0"/>
                  <a:cs typeface="Helvetica" panose="020B0604020202020204" pitchFamily="34" charset="0"/>
                </a:rPr>
                <a:t>покрыто нашей</a:t>
              </a:r>
            </a:p>
            <a:p>
              <a:r>
                <a:rPr lang="ru-RU" sz="1000" dirty="0">
                  <a:solidFill>
                    <a:schemeClr val="bg1"/>
                  </a:solidFill>
                  <a:latin typeface="Helvetica" panose="020B0604020202020204" pitchFamily="34" charset="0"/>
                  <a:cs typeface="Helvetica" panose="020B0604020202020204" pitchFamily="34" charset="0"/>
                </a:rPr>
                <a:t>компанией</a:t>
              </a:r>
              <a:endParaRPr lang="en-US" sz="1000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4ACFD4F5-17D1-4B97-9C02-0BBCECF98E61}"/>
                </a:ext>
              </a:extLst>
            </p:cNvPr>
            <p:cNvSpPr txBox="1"/>
            <p:nvPr/>
          </p:nvSpPr>
          <p:spPr>
            <a:xfrm rot="20458791">
              <a:off x="6538566" y="5936971"/>
              <a:ext cx="74411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ru-RU" sz="800" dirty="0">
                  <a:solidFill>
                    <a:srgbClr val="652D86"/>
                  </a:solidFill>
                  <a:latin typeface="Helvetica" panose="020B0604020202020204" pitchFamily="34" charset="0"/>
                  <a:cs typeface="Helvetica" panose="020B0604020202020204" pitchFamily="34" charset="0"/>
                </a:rPr>
                <a:t>Мобильный</a:t>
              </a:r>
            </a:p>
            <a:p>
              <a:pPr algn="ctr"/>
              <a:r>
                <a:rPr lang="ru-RU" sz="800" dirty="0">
                  <a:solidFill>
                    <a:srgbClr val="652D86"/>
                  </a:solidFill>
                  <a:latin typeface="Helvetica" panose="020B0604020202020204" pitchFamily="34" charset="0"/>
                  <a:cs typeface="Helvetica" panose="020B0604020202020204" pitchFamily="34" charset="0"/>
                </a:rPr>
                <a:t>контент</a:t>
              </a:r>
              <a:endParaRPr lang="en-US" sz="800" dirty="0">
                <a:solidFill>
                  <a:srgbClr val="652D86"/>
                </a:solidFill>
                <a:latin typeface="Helvetica" panose="020B0604020202020204" pitchFamily="34" charset="0"/>
                <a:cs typeface="Helvetica" panose="020B0604020202020204" pitchFamily="34" charset="0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46382C22-124F-43B5-80DA-6181653F8E91}"/>
                </a:ext>
              </a:extLst>
            </p:cNvPr>
            <p:cNvSpPr txBox="1"/>
            <p:nvPr/>
          </p:nvSpPr>
          <p:spPr>
            <a:xfrm rot="19305844">
              <a:off x="7401736" y="5615687"/>
              <a:ext cx="535723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800" dirty="0">
                  <a:solidFill>
                    <a:srgbClr val="652D86"/>
                  </a:solidFill>
                  <a:latin typeface="Helvetica" panose="020B0604020202020204" pitchFamily="34" charset="0"/>
                  <a:cs typeface="Helvetica" panose="020B0604020202020204" pitchFamily="34" charset="0"/>
                </a:rPr>
                <a:t>Internet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B8BC2FE8-968D-4673-94EE-7899BEBCBB09}"/>
                </a:ext>
              </a:extLst>
            </p:cNvPr>
            <p:cNvSpPr txBox="1"/>
            <p:nvPr/>
          </p:nvSpPr>
          <p:spPr>
            <a:xfrm rot="18294026">
              <a:off x="8068369" y="4967850"/>
              <a:ext cx="423514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800" dirty="0">
                  <a:solidFill>
                    <a:srgbClr val="652D86"/>
                  </a:solidFill>
                  <a:latin typeface="Helvetica" panose="020B0604020202020204" pitchFamily="34" charset="0"/>
                  <a:cs typeface="Helvetica" panose="020B0604020202020204" pitchFamily="34" charset="0"/>
                </a:rPr>
                <a:t>MMS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4F9C247C-C888-4AF8-8E08-D0F9F0AA5D4E}"/>
                </a:ext>
              </a:extLst>
            </p:cNvPr>
            <p:cNvSpPr txBox="1"/>
            <p:nvPr/>
          </p:nvSpPr>
          <p:spPr>
            <a:xfrm rot="17330798">
              <a:off x="8491973" y="4182882"/>
              <a:ext cx="407484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800" dirty="0">
                  <a:solidFill>
                    <a:srgbClr val="652D86"/>
                  </a:solidFill>
                  <a:latin typeface="Helvetica" panose="020B0604020202020204" pitchFamily="34" charset="0"/>
                  <a:cs typeface="Helvetica" panose="020B0604020202020204" pitchFamily="34" charset="0"/>
                </a:rPr>
                <a:t>SMS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6657FD2C-0BAA-4B7B-9A9E-6F7B52E4789F}"/>
                </a:ext>
              </a:extLst>
            </p:cNvPr>
            <p:cNvSpPr txBox="1"/>
            <p:nvPr/>
          </p:nvSpPr>
          <p:spPr>
            <a:xfrm rot="16200000">
              <a:off x="8513126" y="3316713"/>
              <a:ext cx="69281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ru-RU" sz="800" dirty="0">
                  <a:solidFill>
                    <a:srgbClr val="652D86"/>
                  </a:solidFill>
                  <a:latin typeface="Helvetica" panose="020B0604020202020204" pitchFamily="34" charset="0"/>
                  <a:cs typeface="Helvetica" panose="020B0604020202020204" pitchFamily="34" charset="0"/>
                </a:rPr>
                <a:t>Голосовая</a:t>
              </a:r>
            </a:p>
            <a:p>
              <a:pPr algn="ctr"/>
              <a:r>
                <a:rPr lang="ru-RU" sz="800" dirty="0">
                  <a:solidFill>
                    <a:srgbClr val="652D86"/>
                  </a:solidFill>
                  <a:latin typeface="Helvetica" panose="020B0604020202020204" pitchFamily="34" charset="0"/>
                  <a:cs typeface="Helvetica" panose="020B0604020202020204" pitchFamily="34" charset="0"/>
                </a:rPr>
                <a:t>связь</a:t>
              </a:r>
              <a:endParaRPr lang="en-US" sz="800" dirty="0">
                <a:solidFill>
                  <a:srgbClr val="652D86"/>
                </a:solidFill>
                <a:latin typeface="Helvetica" panose="020B0604020202020204" pitchFamily="34" charset="0"/>
                <a:cs typeface="Helvetica" panose="020B0604020202020204" pitchFamily="34" charset="0"/>
              </a:endParaRPr>
            </a:p>
          </p:txBody>
        </p:sp>
        <p:sp>
          <p:nvSpPr>
            <p:cNvPr id="24" name="Rectangle 25">
              <a:extLst>
                <a:ext uri="{FF2B5EF4-FFF2-40B4-BE49-F238E27FC236}">
                  <a16:creationId xmlns:a16="http://schemas.microsoft.com/office/drawing/2014/main" id="{40B1DD17-8EAB-45E4-90BD-34A1F22D0970}"/>
                </a:ext>
              </a:extLst>
            </p:cNvPr>
            <p:cNvSpPr/>
            <p:nvPr/>
          </p:nvSpPr>
          <p:spPr>
            <a:xfrm rot="514680">
              <a:off x="3454330" y="778502"/>
              <a:ext cx="5156266" cy="5257139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91440" tIns="45720" rIns="91440" bIns="45720">
              <a:prstTxWarp prst="textArchDown">
                <a:avLst/>
              </a:prstTxWarp>
              <a:spAutoFit/>
            </a:bodyPr>
            <a:lstStyle/>
            <a:p>
              <a:pPr algn="ctr"/>
              <a:r>
                <a:rPr lang="en-US" sz="2000" b="1" dirty="0" err="1">
                  <a:ln w="12700">
                    <a:noFill/>
                    <a:prstDash val="solid"/>
                  </a:ln>
                  <a:solidFill>
                    <a:srgbClr val="652D86"/>
                  </a:solidFill>
                  <a:effectLst/>
                  <a:latin typeface="Helvetica" panose="020B0604020202020204" pitchFamily="34" charset="0"/>
                  <a:cs typeface="Helvetica" panose="020B0604020202020204" pitchFamily="34" charset="0"/>
                </a:rPr>
                <a:t>Услуги</a:t>
              </a:r>
              <a:r>
                <a:rPr lang="en-US" sz="2000" b="1" dirty="0">
                  <a:ln w="12700">
                    <a:noFill/>
                    <a:prstDash val="solid"/>
                  </a:ln>
                  <a:solidFill>
                    <a:srgbClr val="652D86"/>
                  </a:solidFill>
                  <a:effectLst/>
                  <a:latin typeface="Helvetica" panose="020B0604020202020204" pitchFamily="34" charset="0"/>
                  <a:cs typeface="Helvetica" panose="020B0604020202020204" pitchFamily="34" charset="0"/>
                </a:rPr>
                <a:t>:</a:t>
              </a:r>
              <a:endParaRPr lang="ru-RU" sz="2000" b="1" dirty="0">
                <a:ln w="12700">
                  <a:noFill/>
                  <a:prstDash val="solid"/>
                </a:ln>
                <a:solidFill>
                  <a:srgbClr val="652D86"/>
                </a:solidFill>
                <a:effectLst/>
                <a:latin typeface="Helvetica" panose="020B0604020202020204" pitchFamily="34" charset="0"/>
                <a:cs typeface="Helvetica" panose="020B0604020202020204" pitchFamily="34" charset="0"/>
              </a:endParaRPr>
            </a:p>
          </p:txBody>
        </p:sp>
        <p:pic>
          <p:nvPicPr>
            <p:cNvPr id="25" name="Picture 17">
              <a:extLst>
                <a:ext uri="{FF2B5EF4-FFF2-40B4-BE49-F238E27FC236}">
                  <a16:creationId xmlns:a16="http://schemas.microsoft.com/office/drawing/2014/main" id="{53020EC8-1ACD-499C-9B47-8A973597583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413039" y="2607236"/>
              <a:ext cx="1144025" cy="821764"/>
            </a:xfrm>
            <a:prstGeom prst="rect">
              <a:avLst/>
            </a:prstGeom>
          </p:spPr>
        </p:pic>
        <p:pic>
          <p:nvPicPr>
            <p:cNvPr id="26" name="Picture 20">
              <a:extLst>
                <a:ext uri="{FF2B5EF4-FFF2-40B4-BE49-F238E27FC236}">
                  <a16:creationId xmlns:a16="http://schemas.microsoft.com/office/drawing/2014/main" id="{E4AC5665-777E-4234-9F91-62E1F0DC04F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393769" y="4054301"/>
              <a:ext cx="1140267" cy="696829"/>
            </a:xfrm>
            <a:prstGeom prst="rect">
              <a:avLst/>
            </a:prstGeom>
          </p:spPr>
        </p:pic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52D31490-7B7C-4F27-8D30-CBE894AE276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897559" y="2945707"/>
              <a:ext cx="432048" cy="432048"/>
            </a:xfrm>
            <a:prstGeom prst="rect">
              <a:avLst/>
            </a:prstGeom>
          </p:spPr>
        </p:pic>
        <p:pic>
          <p:nvPicPr>
            <p:cNvPr id="28" name="Picture 28">
              <a:extLst>
                <a:ext uri="{FF2B5EF4-FFF2-40B4-BE49-F238E27FC236}">
                  <a16:creationId xmlns:a16="http://schemas.microsoft.com/office/drawing/2014/main" id="{749FAF2C-EF82-4939-AE3B-B110B94D81C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030970" y="3106264"/>
              <a:ext cx="1106766" cy="1334630"/>
            </a:xfrm>
            <a:prstGeom prst="rect">
              <a:avLst/>
            </a:prstGeom>
          </p:spPr>
        </p:pic>
        <p:pic>
          <p:nvPicPr>
            <p:cNvPr id="29" name="Picture 29">
              <a:extLst>
                <a:ext uri="{FF2B5EF4-FFF2-40B4-BE49-F238E27FC236}">
                  <a16:creationId xmlns:a16="http://schemas.microsoft.com/office/drawing/2014/main" id="{4D54575E-864A-4AA7-9C3A-3BBE26CC7611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4596665" y="3008178"/>
              <a:ext cx="1245111" cy="1864764"/>
            </a:xfrm>
            <a:prstGeom prst="rect">
              <a:avLst/>
            </a:prstGeom>
          </p:spPr>
        </p:pic>
        <p:pic>
          <p:nvPicPr>
            <p:cNvPr id="30" name="Picture 30">
              <a:extLst>
                <a:ext uri="{FF2B5EF4-FFF2-40B4-BE49-F238E27FC236}">
                  <a16:creationId xmlns:a16="http://schemas.microsoft.com/office/drawing/2014/main" id="{CD3A3160-FFB5-4E5A-9705-42685B46C93B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lum bright="-22000" contrast="-78000"/>
            </a:blip>
            <a:stretch>
              <a:fillRect/>
            </a:stretch>
          </p:blipFill>
          <p:spPr>
            <a:xfrm>
              <a:off x="6660538" y="5575990"/>
              <a:ext cx="268399" cy="365999"/>
            </a:xfrm>
            <a:prstGeom prst="rect">
              <a:avLst/>
            </a:prstGeom>
          </p:spPr>
        </p:pic>
        <p:pic>
          <p:nvPicPr>
            <p:cNvPr id="31" name="Picture 31">
              <a:extLst>
                <a:ext uri="{FF2B5EF4-FFF2-40B4-BE49-F238E27FC236}">
                  <a16:creationId xmlns:a16="http://schemas.microsoft.com/office/drawing/2014/main" id="{7288195B-2188-4476-AE52-837DC4A570EA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lum bright="-22000" contrast="-78000"/>
            </a:blip>
            <a:stretch>
              <a:fillRect/>
            </a:stretch>
          </p:blipFill>
          <p:spPr>
            <a:xfrm>
              <a:off x="7298162" y="5291199"/>
              <a:ext cx="341599" cy="341599"/>
            </a:xfrm>
            <a:prstGeom prst="rect">
              <a:avLst/>
            </a:prstGeom>
          </p:spPr>
        </p:pic>
        <p:pic>
          <p:nvPicPr>
            <p:cNvPr id="32" name="Picture 32">
              <a:extLst>
                <a:ext uri="{FF2B5EF4-FFF2-40B4-BE49-F238E27FC236}">
                  <a16:creationId xmlns:a16="http://schemas.microsoft.com/office/drawing/2014/main" id="{5F281389-1CBA-4C03-8628-0A2C219342E0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lum bright="-22000" contrast="-78000"/>
            </a:blip>
            <a:stretch>
              <a:fillRect/>
            </a:stretch>
          </p:blipFill>
          <p:spPr>
            <a:xfrm>
              <a:off x="7827270" y="4724832"/>
              <a:ext cx="426999" cy="402599"/>
            </a:xfrm>
            <a:prstGeom prst="rect">
              <a:avLst/>
            </a:prstGeom>
          </p:spPr>
        </p:pic>
        <p:pic>
          <p:nvPicPr>
            <p:cNvPr id="33" name="Picture 33">
              <a:extLst>
                <a:ext uri="{FF2B5EF4-FFF2-40B4-BE49-F238E27FC236}">
                  <a16:creationId xmlns:a16="http://schemas.microsoft.com/office/drawing/2014/main" id="{0C65B6D8-D3C7-4288-B58A-ED6537ACF71B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lum bright="-22000" contrast="-78000"/>
            </a:blip>
            <a:stretch>
              <a:fillRect/>
            </a:stretch>
          </p:blipFill>
          <p:spPr>
            <a:xfrm>
              <a:off x="8245286" y="4002421"/>
              <a:ext cx="329400" cy="402599"/>
            </a:xfrm>
            <a:prstGeom prst="rect">
              <a:avLst/>
            </a:prstGeom>
          </p:spPr>
        </p:pic>
        <p:pic>
          <p:nvPicPr>
            <p:cNvPr id="34" name="Picture 34">
              <a:extLst>
                <a:ext uri="{FF2B5EF4-FFF2-40B4-BE49-F238E27FC236}">
                  <a16:creationId xmlns:a16="http://schemas.microsoft.com/office/drawing/2014/main" id="{52902B69-FFBF-4075-8315-3E1CFA47F2DD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lum bright="-22000" contrast="-78000"/>
            </a:blip>
            <a:stretch>
              <a:fillRect/>
            </a:stretch>
          </p:blipFill>
          <p:spPr>
            <a:xfrm>
              <a:off x="8420440" y="3347173"/>
              <a:ext cx="292800" cy="292800"/>
            </a:xfrm>
            <a:prstGeom prst="rect">
              <a:avLst/>
            </a:prstGeom>
          </p:spPr>
        </p:pic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69EAC623-4184-4989-B12C-FCD63F30E10C}"/>
                </a:ext>
              </a:extLst>
            </p:cNvPr>
            <p:cNvGrpSpPr/>
            <p:nvPr/>
          </p:nvGrpSpPr>
          <p:grpSpPr>
            <a:xfrm>
              <a:off x="7857998" y="1601794"/>
              <a:ext cx="1024860" cy="831492"/>
              <a:chOff x="6516216" y="1526004"/>
              <a:chExt cx="1024860" cy="831492"/>
            </a:xfrm>
          </p:grpSpPr>
          <p:pic>
            <p:nvPicPr>
              <p:cNvPr id="38" name="Picture 45">
                <a:extLst>
                  <a:ext uri="{FF2B5EF4-FFF2-40B4-BE49-F238E27FC236}">
                    <a16:creationId xmlns:a16="http://schemas.microsoft.com/office/drawing/2014/main" id="{9DE02AC1-9831-4ACC-A76F-DFB29A137CE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6516216" y="1526004"/>
                <a:ext cx="1024860" cy="831492"/>
              </a:xfrm>
              <a:prstGeom prst="rect">
                <a:avLst/>
              </a:prstGeom>
            </p:spPr>
          </p:pic>
          <p:pic>
            <p:nvPicPr>
              <p:cNvPr id="39" name="Picture 46">
                <a:extLst>
                  <a:ext uri="{FF2B5EF4-FFF2-40B4-BE49-F238E27FC236}">
                    <a16:creationId xmlns:a16="http://schemas.microsoft.com/office/drawing/2014/main" id="{EECA4433-25D8-466A-825B-A1B058AA8DF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6778333" y="1611233"/>
                <a:ext cx="257175" cy="295275"/>
              </a:xfrm>
              <a:prstGeom prst="rect">
                <a:avLst/>
              </a:prstGeom>
            </p:spPr>
          </p:pic>
        </p:grpSp>
        <p:pic>
          <p:nvPicPr>
            <p:cNvPr id="40" name="Picture 2">
              <a:extLst>
                <a:ext uri="{FF2B5EF4-FFF2-40B4-BE49-F238E27FC236}">
                  <a16:creationId xmlns:a16="http://schemas.microsoft.com/office/drawing/2014/main" id="{79A91D10-94A3-47A4-BFF2-67E1E13AEAC0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983429" y="2839443"/>
              <a:ext cx="146377" cy="147877"/>
            </a:xfrm>
            <a:prstGeom prst="rect">
              <a:avLst/>
            </a:prstGeom>
          </p:spPr>
        </p:pic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A845476C-CEB8-45BC-AF55-71F2E82036B0}"/>
              </a:ext>
            </a:extLst>
          </p:cNvPr>
          <p:cNvSpPr txBox="1"/>
          <p:nvPr/>
        </p:nvSpPr>
        <p:spPr>
          <a:xfrm>
            <a:off x="677622" y="479046"/>
            <a:ext cx="5884482" cy="58477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ru-RU" sz="2800" b="1" dirty="0">
                <a:solidFill>
                  <a:srgbClr val="6A2E92"/>
                </a:solidFill>
                <a:latin typeface="Helvetica" panose="020B0604020202020204" pitchFamily="34" charset="0"/>
                <a:ea typeface="+mj-ea"/>
                <a:cs typeface="Helvetica" panose="020B0604020202020204" pitchFamily="34" charset="0"/>
              </a:rPr>
              <a:t>О компании</a:t>
            </a:r>
            <a:endParaRPr lang="en-US" sz="2800" b="1" dirty="0">
              <a:solidFill>
                <a:srgbClr val="6A2E92"/>
              </a:solidFill>
              <a:latin typeface="Helvetica" panose="020B0604020202020204" pitchFamily="34" charset="0"/>
              <a:ea typeface="+mj-ea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58662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Равнобедренный треугольник 12">
            <a:extLst>
              <a:ext uri="{FF2B5EF4-FFF2-40B4-BE49-F238E27FC236}">
                <a16:creationId xmlns:a16="http://schemas.microsoft.com/office/drawing/2014/main" id="{1706B1FF-F9F6-4CC5-8F10-5EE98F1B4BBC}"/>
              </a:ext>
            </a:extLst>
          </p:cNvPr>
          <p:cNvSpPr/>
          <p:nvPr/>
        </p:nvSpPr>
        <p:spPr>
          <a:xfrm rot="5400000">
            <a:off x="9873978" y="3780218"/>
            <a:ext cx="3827108" cy="775098"/>
          </a:xfrm>
          <a:prstGeom prst="triangle">
            <a:avLst/>
          </a:prstGeom>
          <a:solidFill>
            <a:srgbClr val="6A2D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1A9FFE91-3520-4099-9FCE-7D42685D3DEC}"/>
              </a:ext>
            </a:extLst>
          </p:cNvPr>
          <p:cNvSpPr/>
          <p:nvPr/>
        </p:nvSpPr>
        <p:spPr>
          <a:xfrm>
            <a:off x="4011517" y="2244560"/>
            <a:ext cx="3310772" cy="3827104"/>
          </a:xfrm>
          <a:prstGeom prst="roundRect">
            <a:avLst>
              <a:gd name="adj" fmla="val 0"/>
            </a:avLst>
          </a:prstGeom>
          <a:solidFill>
            <a:srgbClr val="6A2D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buClr>
                <a:srgbClr val="6A2D91"/>
              </a:buClr>
            </a:pPr>
            <a:endParaRPr lang="ru-RU" sz="2000" b="1" dirty="0">
              <a:solidFill>
                <a:srgbClr val="6A2D91"/>
              </a:solidFill>
              <a:latin typeface="Pragmatica Black"/>
            </a:endParaRPr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A1A1339A-D466-4714-B2EA-353B80F10DD6}"/>
              </a:ext>
            </a:extLst>
          </p:cNvPr>
          <p:cNvSpPr/>
          <p:nvPr/>
        </p:nvSpPr>
        <p:spPr>
          <a:xfrm>
            <a:off x="8110138" y="2254216"/>
            <a:ext cx="3310772" cy="3827104"/>
          </a:xfrm>
          <a:prstGeom prst="roundRect">
            <a:avLst>
              <a:gd name="adj" fmla="val 0"/>
            </a:avLst>
          </a:prstGeom>
          <a:solidFill>
            <a:srgbClr val="6A2D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buClr>
                <a:srgbClr val="6A2D91"/>
              </a:buClr>
            </a:pPr>
            <a:endParaRPr lang="ru-RU" sz="2000" dirty="0">
              <a:solidFill>
                <a:srgbClr val="6A2D91"/>
              </a:solidFill>
              <a:latin typeface="Pragmatica Black"/>
            </a:endParaRPr>
          </a:p>
        </p:txBody>
      </p:sp>
      <p:sp>
        <p:nvSpPr>
          <p:cNvPr id="16" name="Равнобедренный треугольник 15">
            <a:extLst>
              <a:ext uri="{FF2B5EF4-FFF2-40B4-BE49-F238E27FC236}">
                <a16:creationId xmlns:a16="http://schemas.microsoft.com/office/drawing/2014/main" id="{92ABB724-7C70-459F-86E4-5367CEF5C00C}"/>
              </a:ext>
            </a:extLst>
          </p:cNvPr>
          <p:cNvSpPr/>
          <p:nvPr/>
        </p:nvSpPr>
        <p:spPr>
          <a:xfrm rot="5400000">
            <a:off x="1695247" y="3760105"/>
            <a:ext cx="3827110" cy="775098"/>
          </a:xfrm>
          <a:prstGeom prst="triangle">
            <a:avLst/>
          </a:prstGeom>
          <a:solidFill>
            <a:srgbClr val="6A2D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Прямоугольник: скругленные углы 16">
            <a:extLst>
              <a:ext uri="{FF2B5EF4-FFF2-40B4-BE49-F238E27FC236}">
                <a16:creationId xmlns:a16="http://schemas.microsoft.com/office/drawing/2014/main" id="{EDA49499-F394-4C1C-8D4C-02E765DEB291}"/>
              </a:ext>
            </a:extLst>
          </p:cNvPr>
          <p:cNvSpPr/>
          <p:nvPr/>
        </p:nvSpPr>
        <p:spPr>
          <a:xfrm>
            <a:off x="0" y="2234098"/>
            <a:ext cx="3228410" cy="3827104"/>
          </a:xfrm>
          <a:prstGeom prst="roundRect">
            <a:avLst>
              <a:gd name="adj" fmla="val 0"/>
            </a:avLst>
          </a:prstGeom>
          <a:solidFill>
            <a:srgbClr val="6A2D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buClr>
                <a:srgbClr val="6A2D91"/>
              </a:buClr>
            </a:pPr>
            <a:endParaRPr lang="ru-RU" sz="2000" b="1" dirty="0">
              <a:solidFill>
                <a:srgbClr val="6A2D91"/>
              </a:solidFill>
              <a:latin typeface="Pragmatica Black"/>
            </a:endParaRPr>
          </a:p>
        </p:txBody>
      </p:sp>
      <p:sp>
        <p:nvSpPr>
          <p:cNvPr id="18" name="Равнобедренный треугольник 17">
            <a:extLst>
              <a:ext uri="{FF2B5EF4-FFF2-40B4-BE49-F238E27FC236}">
                <a16:creationId xmlns:a16="http://schemas.microsoft.com/office/drawing/2014/main" id="{76D546F9-DBDB-4728-86B6-2216AE48393A}"/>
              </a:ext>
            </a:extLst>
          </p:cNvPr>
          <p:cNvSpPr/>
          <p:nvPr/>
        </p:nvSpPr>
        <p:spPr>
          <a:xfrm rot="5400000">
            <a:off x="5794421" y="3760099"/>
            <a:ext cx="3827108" cy="775098"/>
          </a:xfrm>
          <a:prstGeom prst="triangle">
            <a:avLst/>
          </a:prstGeom>
          <a:solidFill>
            <a:srgbClr val="6A2D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3722DCA-4CBF-4D86-9AB3-FCE47B75A560}"/>
              </a:ext>
            </a:extLst>
          </p:cNvPr>
          <p:cNvSpPr txBox="1"/>
          <p:nvPr/>
        </p:nvSpPr>
        <p:spPr>
          <a:xfrm>
            <a:off x="8592317" y="3830363"/>
            <a:ext cx="2920313" cy="1938992"/>
          </a:xfrm>
          <a:prstGeom prst="rect">
            <a:avLst/>
          </a:prstGeom>
          <a:noFill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lvl="0"/>
            <a:r>
              <a:rPr lang="ru-RU" sz="2400" dirty="0">
                <a:ln w="18415" cmpd="sng">
                  <a:noFill/>
                  <a:prstDash val="solid"/>
                </a:ln>
                <a:solidFill>
                  <a:schemeClr val="bg1"/>
                </a:solidFill>
                <a:latin typeface="Helvetica Neue"/>
                <a:cs typeface="Arial" panose="020B0604020202020204" pitchFamily="34" charset="0"/>
              </a:rPr>
              <a:t>Часто звоните </a:t>
            </a:r>
            <a:endParaRPr lang="en-US" sz="2400" dirty="0">
              <a:ln w="18415" cmpd="sng">
                <a:noFill/>
                <a:prstDash val="solid"/>
              </a:ln>
              <a:solidFill>
                <a:schemeClr val="bg1"/>
              </a:solidFill>
              <a:latin typeface="Helvetica Neue"/>
              <a:cs typeface="Arial" panose="020B0604020202020204" pitchFamily="34" charset="0"/>
            </a:endParaRPr>
          </a:p>
          <a:p>
            <a:pPr lvl="0"/>
            <a:r>
              <a:rPr lang="ru-RU" sz="2400" dirty="0">
                <a:ln w="18415" cmpd="sng">
                  <a:noFill/>
                  <a:prstDash val="solid"/>
                </a:ln>
                <a:solidFill>
                  <a:schemeClr val="bg1"/>
                </a:solidFill>
                <a:latin typeface="Helvetica Neue"/>
                <a:cs typeface="Arial" panose="020B0604020202020204" pitchFamily="34" charset="0"/>
              </a:rPr>
              <a:t>на мобильные направления</a:t>
            </a:r>
            <a:r>
              <a:rPr lang="en-US" sz="2400" dirty="0">
                <a:ln w="18415" cmpd="sng">
                  <a:noFill/>
                  <a:prstDash val="solid"/>
                </a:ln>
                <a:solidFill>
                  <a:schemeClr val="bg1"/>
                </a:solidFill>
                <a:latin typeface="Helvetica Neue"/>
                <a:cs typeface="Arial" panose="020B0604020202020204" pitchFamily="34" charset="0"/>
              </a:rPr>
              <a:t> </a:t>
            </a:r>
          </a:p>
          <a:p>
            <a:pPr lvl="0"/>
            <a:r>
              <a:rPr lang="ru-RU" sz="2400" dirty="0">
                <a:ln w="18415" cmpd="sng">
                  <a:noFill/>
                  <a:prstDash val="solid"/>
                </a:ln>
                <a:solidFill>
                  <a:schemeClr val="bg1"/>
                </a:solidFill>
                <a:latin typeface="Helvetica Neue"/>
                <a:cs typeface="Arial" panose="020B0604020202020204" pitchFamily="34" charset="0"/>
              </a:rPr>
              <a:t>с офисных телефонов</a:t>
            </a:r>
            <a:r>
              <a:rPr lang="en-US" sz="2400" dirty="0">
                <a:ln w="18415" cmpd="sng">
                  <a:noFill/>
                  <a:prstDash val="solid"/>
                </a:ln>
                <a:solidFill>
                  <a:schemeClr val="bg1"/>
                </a:solidFill>
                <a:latin typeface="Helvetica Neue"/>
                <a:cs typeface="Arial" panose="020B0604020202020204" pitchFamily="34" charset="0"/>
              </a:rPr>
              <a:t>?</a:t>
            </a:r>
            <a:endParaRPr lang="ru-RU" sz="2400" dirty="0">
              <a:ln w="18415" cmpd="sng">
                <a:noFill/>
                <a:prstDash val="solid"/>
              </a:ln>
              <a:solidFill>
                <a:schemeClr val="bg1"/>
              </a:solidFill>
              <a:latin typeface="Helvetica Neue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0F771DA-3862-49CB-925B-C50AE2CB25B8}"/>
              </a:ext>
            </a:extLst>
          </p:cNvPr>
          <p:cNvSpPr txBox="1"/>
          <p:nvPr/>
        </p:nvSpPr>
        <p:spPr>
          <a:xfrm>
            <a:off x="4519132" y="4015029"/>
            <a:ext cx="2557979" cy="1569660"/>
          </a:xfrm>
          <a:prstGeom prst="rect">
            <a:avLst/>
          </a:prstGeom>
          <a:noFill/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lvl="0"/>
            <a:r>
              <a:rPr lang="ru-RU" sz="2400" dirty="0">
                <a:ln w="18415" cmpd="sng">
                  <a:noFill/>
                  <a:prstDash val="solid"/>
                </a:ln>
                <a:solidFill>
                  <a:schemeClr val="bg1"/>
                </a:solidFill>
                <a:latin typeface="Helvetica Neue"/>
                <a:cs typeface="Arial" panose="020B0604020202020204" pitchFamily="34" charset="0"/>
              </a:rPr>
              <a:t>Увеличились затраты</a:t>
            </a:r>
            <a:r>
              <a:rPr lang="en-US" sz="2400" dirty="0">
                <a:ln w="18415" cmpd="sng">
                  <a:noFill/>
                  <a:prstDash val="solid"/>
                </a:ln>
                <a:solidFill>
                  <a:schemeClr val="bg1"/>
                </a:solidFill>
                <a:latin typeface="Helvetica Neue"/>
                <a:cs typeface="Arial" panose="020B0604020202020204" pitchFamily="34" charset="0"/>
              </a:rPr>
              <a:t> </a:t>
            </a:r>
            <a:r>
              <a:rPr lang="ru-RU" sz="2400" dirty="0">
                <a:ln w="18415" cmpd="sng">
                  <a:noFill/>
                  <a:prstDash val="solid"/>
                </a:ln>
                <a:solidFill>
                  <a:schemeClr val="bg1"/>
                </a:solidFill>
                <a:latin typeface="Helvetica Neue"/>
                <a:cs typeface="Arial" panose="020B0604020202020204" pitchFamily="34" charset="0"/>
              </a:rPr>
              <a:t>на телефонные звонки?</a:t>
            </a:r>
            <a:endParaRPr lang="ru-RU" sz="2400" dirty="0">
              <a:ln w="18415" cmpd="sng">
                <a:noFill/>
                <a:prstDash val="solid"/>
              </a:ln>
              <a:solidFill>
                <a:schemeClr val="bg1"/>
              </a:solidFill>
              <a:latin typeface="Helvetica Neue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211E7EA-0CF5-465D-8E73-8427037FCB66}"/>
              </a:ext>
            </a:extLst>
          </p:cNvPr>
          <p:cNvSpPr txBox="1"/>
          <p:nvPr/>
        </p:nvSpPr>
        <p:spPr>
          <a:xfrm>
            <a:off x="538694" y="4015029"/>
            <a:ext cx="2897038" cy="1569660"/>
          </a:xfrm>
          <a:prstGeom prst="rect">
            <a:avLst/>
          </a:prstGeom>
          <a:noFill/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lvl="0"/>
            <a:r>
              <a:rPr lang="ru-RU" sz="2400" dirty="0">
                <a:ln w="18415" cmpd="sng">
                  <a:noFill/>
                  <a:prstDash val="solid"/>
                </a:ln>
                <a:solidFill>
                  <a:srgbClr val="FFFFFF"/>
                </a:solidFill>
                <a:latin typeface="Helvetica Neue"/>
                <a:cs typeface="Arial" panose="020B0604020202020204" pitchFamily="34" charset="0"/>
              </a:rPr>
              <a:t>Все больше сотрудников находится вне офиса?</a:t>
            </a:r>
            <a:endParaRPr lang="ru-RU" sz="2400" dirty="0">
              <a:ln w="18415" cmpd="sng">
                <a:noFill/>
                <a:prstDash val="solid"/>
              </a:ln>
              <a:solidFill>
                <a:srgbClr val="FFFFFF"/>
              </a:solidFill>
              <a:latin typeface="Helvetica Neue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C77F0F7-AA8F-47FF-B787-7FCBA4E00439}"/>
              </a:ext>
            </a:extLst>
          </p:cNvPr>
          <p:cNvSpPr txBox="1"/>
          <p:nvPr/>
        </p:nvSpPr>
        <p:spPr>
          <a:xfrm>
            <a:off x="677622" y="901077"/>
            <a:ext cx="5884482" cy="58477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ru-RU" sz="3600" b="1" dirty="0">
                <a:solidFill>
                  <a:srgbClr val="6A2E92"/>
                </a:solidFill>
                <a:latin typeface="Helvetica" panose="020B0604020202020204" pitchFamily="34" charset="0"/>
                <a:ea typeface="+mj-ea"/>
                <a:cs typeface="Helvetica" panose="020B0604020202020204" pitchFamily="34" charset="0"/>
              </a:rPr>
              <a:t>Область применения</a:t>
            </a:r>
            <a:endParaRPr lang="en-US" sz="3600" b="1" dirty="0">
              <a:solidFill>
                <a:srgbClr val="6A2E92"/>
              </a:solidFill>
              <a:latin typeface="Helvetica" panose="020B0604020202020204" pitchFamily="34" charset="0"/>
              <a:ea typeface="+mj-ea"/>
              <a:cs typeface="Helvetica" panose="020B0604020202020204" pitchFamily="34" charset="0"/>
            </a:endParaRPr>
          </a:p>
        </p:txBody>
      </p:sp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94BB7AA8-2FA3-4585-8B12-B3BC1A0667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7401" y="2652500"/>
            <a:ext cx="1143633" cy="1143633"/>
          </a:xfrm>
          <a:prstGeom prst="rect">
            <a:avLst/>
          </a:prstGeom>
        </p:spPr>
      </p:pic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6E374062-B7E4-492B-AEE5-6948F08B189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38495" y="2708090"/>
            <a:ext cx="1032452" cy="1032452"/>
          </a:xfrm>
          <a:prstGeom prst="rect">
            <a:avLst/>
          </a:prstGeom>
        </p:spPr>
      </p:pic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2B72D150-47E6-443A-A9EB-1F03A5AA968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3899" y="2708090"/>
            <a:ext cx="1032452" cy="1032452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75734BE-952A-9234-3B13-FA2347E2394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952322" y="399717"/>
            <a:ext cx="736255" cy="241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88511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Скругленный прямоугольник 61">
            <a:extLst>
              <a:ext uri="{FF2B5EF4-FFF2-40B4-BE49-F238E27FC236}">
                <a16:creationId xmlns:a16="http://schemas.microsoft.com/office/drawing/2014/main" id="{A7F2A375-E62E-4765-BDA2-F32C0F20FC5B}"/>
              </a:ext>
            </a:extLst>
          </p:cNvPr>
          <p:cNvSpPr/>
          <p:nvPr/>
        </p:nvSpPr>
        <p:spPr>
          <a:xfrm>
            <a:off x="721211" y="2993924"/>
            <a:ext cx="5865454" cy="969378"/>
          </a:xfrm>
          <a:prstGeom prst="roundRect">
            <a:avLst>
              <a:gd name="adj" fmla="val 13383"/>
            </a:avLst>
          </a:prstGeom>
          <a:solidFill>
            <a:srgbClr val="A6D7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KZ" dirty="0"/>
          </a:p>
        </p:txBody>
      </p:sp>
      <p:sp>
        <p:nvSpPr>
          <p:cNvPr id="30" name="Скругленный прямоугольник 61">
            <a:extLst>
              <a:ext uri="{FF2B5EF4-FFF2-40B4-BE49-F238E27FC236}">
                <a16:creationId xmlns:a16="http://schemas.microsoft.com/office/drawing/2014/main" id="{327A12AB-D8A0-4BFD-9FCE-CAE031DF594B}"/>
              </a:ext>
            </a:extLst>
          </p:cNvPr>
          <p:cNvSpPr/>
          <p:nvPr/>
        </p:nvSpPr>
        <p:spPr>
          <a:xfrm>
            <a:off x="696650" y="4128577"/>
            <a:ext cx="5865454" cy="969378"/>
          </a:xfrm>
          <a:prstGeom prst="roundRect">
            <a:avLst>
              <a:gd name="adj" fmla="val 13383"/>
            </a:avLst>
          </a:prstGeom>
          <a:solidFill>
            <a:srgbClr val="A6D7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KZ" dirty="0"/>
          </a:p>
        </p:txBody>
      </p:sp>
      <p:sp>
        <p:nvSpPr>
          <p:cNvPr id="31" name="Скругленный прямоугольник 61">
            <a:extLst>
              <a:ext uri="{FF2B5EF4-FFF2-40B4-BE49-F238E27FC236}">
                <a16:creationId xmlns:a16="http://schemas.microsoft.com/office/drawing/2014/main" id="{B6AA97A5-0F58-40F1-AA67-AAFD02EAF15D}"/>
              </a:ext>
            </a:extLst>
          </p:cNvPr>
          <p:cNvSpPr/>
          <p:nvPr/>
        </p:nvSpPr>
        <p:spPr>
          <a:xfrm>
            <a:off x="721899" y="5256668"/>
            <a:ext cx="5865454" cy="969378"/>
          </a:xfrm>
          <a:prstGeom prst="roundRect">
            <a:avLst>
              <a:gd name="adj" fmla="val 13383"/>
            </a:avLst>
          </a:prstGeom>
          <a:solidFill>
            <a:srgbClr val="A6D7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KZ" dirty="0"/>
          </a:p>
        </p:txBody>
      </p:sp>
      <p:sp>
        <p:nvSpPr>
          <p:cNvPr id="32" name="Скругленный прямоугольник 61">
            <a:extLst>
              <a:ext uri="{FF2B5EF4-FFF2-40B4-BE49-F238E27FC236}">
                <a16:creationId xmlns:a16="http://schemas.microsoft.com/office/drawing/2014/main" id="{706F8C9D-53CD-4415-ABE3-7A033FC66C6E}"/>
              </a:ext>
            </a:extLst>
          </p:cNvPr>
          <p:cNvSpPr/>
          <p:nvPr/>
        </p:nvSpPr>
        <p:spPr>
          <a:xfrm>
            <a:off x="6726503" y="2993924"/>
            <a:ext cx="4962075" cy="969378"/>
          </a:xfrm>
          <a:prstGeom prst="roundRect">
            <a:avLst>
              <a:gd name="adj" fmla="val 13383"/>
            </a:avLst>
          </a:prstGeom>
          <a:solidFill>
            <a:srgbClr val="A6D7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KZ" dirty="0"/>
          </a:p>
        </p:txBody>
      </p:sp>
      <p:sp>
        <p:nvSpPr>
          <p:cNvPr id="33" name="Скругленный прямоугольник 61">
            <a:extLst>
              <a:ext uri="{FF2B5EF4-FFF2-40B4-BE49-F238E27FC236}">
                <a16:creationId xmlns:a16="http://schemas.microsoft.com/office/drawing/2014/main" id="{1DED7013-FD0A-4F96-BA50-574FFB0F7848}"/>
              </a:ext>
            </a:extLst>
          </p:cNvPr>
          <p:cNvSpPr/>
          <p:nvPr/>
        </p:nvSpPr>
        <p:spPr>
          <a:xfrm>
            <a:off x="6726503" y="4123170"/>
            <a:ext cx="4962075" cy="969378"/>
          </a:xfrm>
          <a:prstGeom prst="roundRect">
            <a:avLst>
              <a:gd name="adj" fmla="val 13383"/>
            </a:avLst>
          </a:prstGeom>
          <a:solidFill>
            <a:srgbClr val="A6D7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KZ" dirty="0"/>
          </a:p>
        </p:txBody>
      </p:sp>
      <p:sp>
        <p:nvSpPr>
          <p:cNvPr id="34" name="Скругленный прямоугольник 61">
            <a:extLst>
              <a:ext uri="{FF2B5EF4-FFF2-40B4-BE49-F238E27FC236}">
                <a16:creationId xmlns:a16="http://schemas.microsoft.com/office/drawing/2014/main" id="{7F5D3C97-BF32-4A5C-8631-E9ACE59BECBD}"/>
              </a:ext>
            </a:extLst>
          </p:cNvPr>
          <p:cNvSpPr/>
          <p:nvPr/>
        </p:nvSpPr>
        <p:spPr>
          <a:xfrm>
            <a:off x="6726503" y="5256668"/>
            <a:ext cx="4962075" cy="969378"/>
          </a:xfrm>
          <a:prstGeom prst="roundRect">
            <a:avLst>
              <a:gd name="adj" fmla="val 13383"/>
            </a:avLst>
          </a:prstGeom>
          <a:solidFill>
            <a:srgbClr val="A6D7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KZ" dirty="0"/>
          </a:p>
        </p:txBody>
      </p:sp>
      <p:sp>
        <p:nvSpPr>
          <p:cNvPr id="6" name="Полилиния 43">
            <a:extLst>
              <a:ext uri="{FF2B5EF4-FFF2-40B4-BE49-F238E27FC236}">
                <a16:creationId xmlns:a16="http://schemas.microsoft.com/office/drawing/2014/main" id="{AADE3F7B-BD80-4E1C-B2D7-87FBE8E99E00}"/>
              </a:ext>
            </a:extLst>
          </p:cNvPr>
          <p:cNvSpPr/>
          <p:nvPr/>
        </p:nvSpPr>
        <p:spPr>
          <a:xfrm>
            <a:off x="7001905" y="5397255"/>
            <a:ext cx="3725892" cy="688203"/>
          </a:xfrm>
          <a:custGeom>
            <a:avLst/>
            <a:gdLst>
              <a:gd name="connsiteX0" fmla="*/ 0 w 3737625"/>
              <a:gd name="connsiteY0" fmla="*/ 0 h 688203"/>
              <a:gd name="connsiteX1" fmla="*/ 3737625 w 3737625"/>
              <a:gd name="connsiteY1" fmla="*/ 0 h 688203"/>
              <a:gd name="connsiteX2" fmla="*/ 3737625 w 3737625"/>
              <a:gd name="connsiteY2" fmla="*/ 688203 h 688203"/>
              <a:gd name="connsiteX3" fmla="*/ 0 w 3737625"/>
              <a:gd name="connsiteY3" fmla="*/ 688203 h 688203"/>
              <a:gd name="connsiteX4" fmla="*/ 0 w 3737625"/>
              <a:gd name="connsiteY4" fmla="*/ 0 h 6882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37625" h="688203">
                <a:moveTo>
                  <a:pt x="0" y="0"/>
                </a:moveTo>
                <a:lnTo>
                  <a:pt x="3737625" y="0"/>
                </a:lnTo>
                <a:lnTo>
                  <a:pt x="3737625" y="688203"/>
                </a:lnTo>
                <a:lnTo>
                  <a:pt x="0" y="688203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13792" tIns="113792" rIns="113792" bIns="113792" numCol="1" spcCol="1270" anchor="ctr" anchorCtr="0">
            <a:noAutofit/>
          </a:bodyPr>
          <a:lstStyle/>
          <a:p>
            <a:pPr lvl="0" algn="l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ru-RU" b="1" kern="1200" dirty="0">
                <a:solidFill>
                  <a:srgbClr val="6A2D91"/>
                </a:solidFill>
                <a:latin typeface="Helvetica Neue"/>
                <a:cs typeface="Arial" panose="020B0604020202020204" pitchFamily="34" charset="0"/>
              </a:rPr>
              <a:t>Качество связи не зависит от покрытия базовой станции</a:t>
            </a:r>
            <a:endParaRPr lang="ru-RU" b="1" kern="1200" dirty="0">
              <a:solidFill>
                <a:srgbClr val="6A2D91"/>
              </a:solidFill>
              <a:latin typeface="Helvetica Neue"/>
            </a:endParaRPr>
          </a:p>
        </p:txBody>
      </p:sp>
      <p:sp>
        <p:nvSpPr>
          <p:cNvPr id="9" name="Полилиния 23">
            <a:extLst>
              <a:ext uri="{FF2B5EF4-FFF2-40B4-BE49-F238E27FC236}">
                <a16:creationId xmlns:a16="http://schemas.microsoft.com/office/drawing/2014/main" id="{2A4DA234-82DB-4930-8FD7-A227D983A641}"/>
              </a:ext>
            </a:extLst>
          </p:cNvPr>
          <p:cNvSpPr/>
          <p:nvPr/>
        </p:nvSpPr>
        <p:spPr>
          <a:xfrm>
            <a:off x="7001905" y="4253847"/>
            <a:ext cx="4686673" cy="688203"/>
          </a:xfrm>
          <a:custGeom>
            <a:avLst/>
            <a:gdLst>
              <a:gd name="connsiteX0" fmla="*/ 0 w 3737625"/>
              <a:gd name="connsiteY0" fmla="*/ 0 h 688203"/>
              <a:gd name="connsiteX1" fmla="*/ 3737625 w 3737625"/>
              <a:gd name="connsiteY1" fmla="*/ 0 h 688203"/>
              <a:gd name="connsiteX2" fmla="*/ 3737625 w 3737625"/>
              <a:gd name="connsiteY2" fmla="*/ 688203 h 688203"/>
              <a:gd name="connsiteX3" fmla="*/ 0 w 3737625"/>
              <a:gd name="connsiteY3" fmla="*/ 688203 h 688203"/>
              <a:gd name="connsiteX4" fmla="*/ 0 w 3737625"/>
              <a:gd name="connsiteY4" fmla="*/ 0 h 6882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37625" h="688203">
                <a:moveTo>
                  <a:pt x="0" y="0"/>
                </a:moveTo>
                <a:lnTo>
                  <a:pt x="3737625" y="0"/>
                </a:lnTo>
                <a:lnTo>
                  <a:pt x="3737625" y="688203"/>
                </a:lnTo>
                <a:lnTo>
                  <a:pt x="0" y="688203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13792" tIns="113792" rIns="113792" bIns="113792" numCol="1" spcCol="1270" anchor="ctr" anchorCtr="0">
            <a:noAutofit/>
          </a:bodyPr>
          <a:lstStyle/>
          <a:p>
            <a:pPr lvl="0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ru-RU" b="1" dirty="0">
                <a:solidFill>
                  <a:srgbClr val="6A2D91"/>
                </a:solidFill>
                <a:latin typeface="Helvetica Neue"/>
                <a:cs typeface="Arial" panose="020B0604020202020204" pitchFamily="34" charset="0"/>
              </a:rPr>
              <a:t>Бесплатная организация </a:t>
            </a:r>
            <a:r>
              <a:rPr lang="en-US" b="1" dirty="0">
                <a:solidFill>
                  <a:srgbClr val="6A2D91"/>
                </a:solidFill>
                <a:latin typeface="Helvetica Neue"/>
                <a:cs typeface="Arial" panose="020B0604020202020204" pitchFamily="34" charset="0"/>
              </a:rPr>
              <a:t>VPN</a:t>
            </a:r>
            <a:r>
              <a:rPr lang="ru-RU" b="1" dirty="0">
                <a:solidFill>
                  <a:srgbClr val="6A2D91"/>
                </a:solidFill>
                <a:latin typeface="Helvetica Neue"/>
                <a:cs typeface="Arial" panose="020B0604020202020204" pitchFamily="34" charset="0"/>
              </a:rPr>
              <a:t> канала по </a:t>
            </a:r>
            <a:r>
              <a:rPr lang="en-US" b="1" dirty="0">
                <a:solidFill>
                  <a:srgbClr val="6A2D91"/>
                </a:solidFill>
                <a:latin typeface="Helvetica Neue"/>
                <a:cs typeface="Arial" panose="020B0604020202020204" pitchFamily="34" charset="0"/>
              </a:rPr>
              <a:t>SIP</a:t>
            </a:r>
            <a:r>
              <a:rPr lang="ru-RU" b="1" dirty="0">
                <a:solidFill>
                  <a:srgbClr val="6A2D91"/>
                </a:solidFill>
                <a:latin typeface="Helvetica Neue"/>
                <a:cs typeface="Arial" panose="020B0604020202020204" pitchFamily="34" charset="0"/>
              </a:rPr>
              <a:t> (при необходимости)</a:t>
            </a:r>
            <a:endParaRPr lang="ru-RU" b="1" dirty="0">
              <a:solidFill>
                <a:srgbClr val="6A2D91"/>
              </a:solidFill>
              <a:latin typeface="Helvetica Neue"/>
            </a:endParaRPr>
          </a:p>
        </p:txBody>
      </p:sp>
      <p:sp>
        <p:nvSpPr>
          <p:cNvPr id="12" name="Полилиния 28">
            <a:extLst>
              <a:ext uri="{FF2B5EF4-FFF2-40B4-BE49-F238E27FC236}">
                <a16:creationId xmlns:a16="http://schemas.microsoft.com/office/drawing/2014/main" id="{FD37F4A2-A52F-4040-9ACA-76B7707575B1}"/>
              </a:ext>
            </a:extLst>
          </p:cNvPr>
          <p:cNvSpPr/>
          <p:nvPr/>
        </p:nvSpPr>
        <p:spPr>
          <a:xfrm>
            <a:off x="933514" y="4265883"/>
            <a:ext cx="4684629" cy="688203"/>
          </a:xfrm>
          <a:custGeom>
            <a:avLst/>
            <a:gdLst>
              <a:gd name="connsiteX0" fmla="*/ 0 w 3737625"/>
              <a:gd name="connsiteY0" fmla="*/ 0 h 688203"/>
              <a:gd name="connsiteX1" fmla="*/ 3737625 w 3737625"/>
              <a:gd name="connsiteY1" fmla="*/ 0 h 688203"/>
              <a:gd name="connsiteX2" fmla="*/ 3737625 w 3737625"/>
              <a:gd name="connsiteY2" fmla="*/ 688203 h 688203"/>
              <a:gd name="connsiteX3" fmla="*/ 0 w 3737625"/>
              <a:gd name="connsiteY3" fmla="*/ 688203 h 688203"/>
              <a:gd name="connsiteX4" fmla="*/ 0 w 3737625"/>
              <a:gd name="connsiteY4" fmla="*/ 0 h 6882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37625" h="688203">
                <a:moveTo>
                  <a:pt x="0" y="0"/>
                </a:moveTo>
                <a:lnTo>
                  <a:pt x="3737625" y="0"/>
                </a:lnTo>
                <a:lnTo>
                  <a:pt x="3737625" y="688203"/>
                </a:lnTo>
                <a:lnTo>
                  <a:pt x="0" y="688203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13792" tIns="113792" rIns="113792" bIns="113792" numCol="1" spcCol="1270" anchor="ctr" anchorCtr="0">
            <a:noAutofit/>
          </a:bodyPr>
          <a:lstStyle/>
          <a:p>
            <a:pPr lvl="0" algn="l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ru-RU" b="1" dirty="0">
                <a:solidFill>
                  <a:srgbClr val="6A2D91"/>
                </a:solidFill>
                <a:latin typeface="Helvetica Neue"/>
                <a:cs typeface="Arial" panose="020B0604020202020204" pitchFamily="34" charset="0"/>
              </a:rPr>
              <a:t>Бесплатное в</a:t>
            </a:r>
            <a:r>
              <a:rPr lang="ru-RU" b="1" kern="1200" dirty="0">
                <a:solidFill>
                  <a:srgbClr val="6A2D91"/>
                </a:solidFill>
                <a:latin typeface="Helvetica Neue"/>
                <a:cs typeface="Arial" panose="020B0604020202020204" pitchFamily="34" charset="0"/>
              </a:rPr>
              <a:t>ыделение необходимого числа каналов</a:t>
            </a:r>
            <a:r>
              <a:rPr lang="en-US" b="1" kern="1200" dirty="0">
                <a:solidFill>
                  <a:srgbClr val="6A2D91"/>
                </a:solidFill>
                <a:latin typeface="Helvetica Neue"/>
                <a:cs typeface="Arial" panose="020B0604020202020204" pitchFamily="34" charset="0"/>
              </a:rPr>
              <a:t> (</a:t>
            </a:r>
            <a:r>
              <a:rPr lang="ru-RU" b="1" kern="1200" dirty="0">
                <a:solidFill>
                  <a:srgbClr val="6A2D91"/>
                </a:solidFill>
                <a:latin typeface="Helvetica Neue"/>
                <a:cs typeface="Arial" panose="020B0604020202020204" pitchFamily="34" charset="0"/>
              </a:rPr>
              <a:t>сессий</a:t>
            </a:r>
            <a:r>
              <a:rPr lang="en-US" b="1" kern="1200" dirty="0">
                <a:solidFill>
                  <a:srgbClr val="6A2D91"/>
                </a:solidFill>
                <a:latin typeface="Helvetica Neue"/>
                <a:cs typeface="Arial" panose="020B0604020202020204" pitchFamily="34" charset="0"/>
              </a:rPr>
              <a:t>)</a:t>
            </a:r>
            <a:endParaRPr lang="ru-RU" b="1" kern="1200" dirty="0">
              <a:solidFill>
                <a:srgbClr val="6A2D91"/>
              </a:solidFill>
              <a:latin typeface="Helvetica Neue"/>
            </a:endParaRPr>
          </a:p>
        </p:txBody>
      </p:sp>
      <p:sp>
        <p:nvSpPr>
          <p:cNvPr id="15" name="Полилиния 30">
            <a:extLst>
              <a:ext uri="{FF2B5EF4-FFF2-40B4-BE49-F238E27FC236}">
                <a16:creationId xmlns:a16="http://schemas.microsoft.com/office/drawing/2014/main" id="{CCDDC449-90B3-4622-9D22-1E77C1760942}"/>
              </a:ext>
            </a:extLst>
          </p:cNvPr>
          <p:cNvSpPr/>
          <p:nvPr/>
        </p:nvSpPr>
        <p:spPr>
          <a:xfrm>
            <a:off x="928747" y="5397255"/>
            <a:ext cx="5495499" cy="688203"/>
          </a:xfrm>
          <a:custGeom>
            <a:avLst/>
            <a:gdLst>
              <a:gd name="connsiteX0" fmla="*/ 0 w 3737625"/>
              <a:gd name="connsiteY0" fmla="*/ 0 h 688203"/>
              <a:gd name="connsiteX1" fmla="*/ 3737625 w 3737625"/>
              <a:gd name="connsiteY1" fmla="*/ 0 h 688203"/>
              <a:gd name="connsiteX2" fmla="*/ 3737625 w 3737625"/>
              <a:gd name="connsiteY2" fmla="*/ 688203 h 688203"/>
              <a:gd name="connsiteX3" fmla="*/ 0 w 3737625"/>
              <a:gd name="connsiteY3" fmla="*/ 688203 h 688203"/>
              <a:gd name="connsiteX4" fmla="*/ 0 w 3737625"/>
              <a:gd name="connsiteY4" fmla="*/ 0 h 6882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37625" h="688203">
                <a:moveTo>
                  <a:pt x="0" y="0"/>
                </a:moveTo>
                <a:lnTo>
                  <a:pt x="3737625" y="0"/>
                </a:lnTo>
                <a:lnTo>
                  <a:pt x="3737625" y="688203"/>
                </a:lnTo>
                <a:lnTo>
                  <a:pt x="0" y="688203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13792" tIns="113792" rIns="113792" bIns="113792" numCol="1" spcCol="1270" anchor="ctr" anchorCtr="0">
            <a:noAutofit/>
          </a:bodyPr>
          <a:lstStyle/>
          <a:p>
            <a:pPr lvl="0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ru-RU" b="1" kern="1200" dirty="0">
                <a:solidFill>
                  <a:srgbClr val="6A2D91"/>
                </a:solidFill>
                <a:latin typeface="Helvetica Neue"/>
                <a:cs typeface="Arial" panose="020B0604020202020204" pitchFamily="34" charset="0"/>
              </a:rPr>
              <a:t>Бесплатное </a:t>
            </a:r>
            <a:r>
              <a:rPr lang="ru-RU" b="1" dirty="0">
                <a:solidFill>
                  <a:srgbClr val="6A2D91"/>
                </a:solidFill>
                <a:latin typeface="Helvetica Neue"/>
                <a:cs typeface="Arial" panose="020B0604020202020204" pitchFamily="34" charset="0"/>
              </a:rPr>
              <a:t>в</a:t>
            </a:r>
            <a:r>
              <a:rPr lang="ru-RU" b="1" kern="1200" dirty="0">
                <a:solidFill>
                  <a:srgbClr val="6A2D91"/>
                </a:solidFill>
                <a:latin typeface="Helvetica Neue"/>
                <a:cs typeface="Arial" panose="020B0604020202020204" pitchFamily="34" charset="0"/>
              </a:rPr>
              <a:t>ыделение необходимого количества виртуальных номеров (номера вида +7 778 1234567)</a:t>
            </a:r>
            <a:endParaRPr lang="ru-RU" b="1" kern="1200" dirty="0">
              <a:solidFill>
                <a:srgbClr val="6A2D91"/>
              </a:solidFill>
              <a:latin typeface="Helvetica Neue"/>
            </a:endParaRPr>
          </a:p>
        </p:txBody>
      </p:sp>
      <p:sp>
        <p:nvSpPr>
          <p:cNvPr id="18" name="Полилиния 32">
            <a:extLst>
              <a:ext uri="{FF2B5EF4-FFF2-40B4-BE49-F238E27FC236}">
                <a16:creationId xmlns:a16="http://schemas.microsoft.com/office/drawing/2014/main" id="{7ABF7CD9-05A7-4814-AB61-475BD9720170}"/>
              </a:ext>
            </a:extLst>
          </p:cNvPr>
          <p:cNvSpPr/>
          <p:nvPr/>
        </p:nvSpPr>
        <p:spPr>
          <a:xfrm>
            <a:off x="7001905" y="3159198"/>
            <a:ext cx="4686673" cy="688203"/>
          </a:xfrm>
          <a:custGeom>
            <a:avLst/>
            <a:gdLst>
              <a:gd name="connsiteX0" fmla="*/ 0 w 3737625"/>
              <a:gd name="connsiteY0" fmla="*/ 0 h 688203"/>
              <a:gd name="connsiteX1" fmla="*/ 3737625 w 3737625"/>
              <a:gd name="connsiteY1" fmla="*/ 0 h 688203"/>
              <a:gd name="connsiteX2" fmla="*/ 3737625 w 3737625"/>
              <a:gd name="connsiteY2" fmla="*/ 688203 h 688203"/>
              <a:gd name="connsiteX3" fmla="*/ 0 w 3737625"/>
              <a:gd name="connsiteY3" fmla="*/ 688203 h 688203"/>
              <a:gd name="connsiteX4" fmla="*/ 0 w 3737625"/>
              <a:gd name="connsiteY4" fmla="*/ 0 h 6882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37625" h="688203">
                <a:moveTo>
                  <a:pt x="0" y="0"/>
                </a:moveTo>
                <a:lnTo>
                  <a:pt x="3737625" y="0"/>
                </a:lnTo>
                <a:lnTo>
                  <a:pt x="3737625" y="688203"/>
                </a:lnTo>
                <a:lnTo>
                  <a:pt x="0" y="688203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13792" tIns="113792" rIns="113792" bIns="113792" numCol="1" spcCol="1270" anchor="ctr" anchorCtr="0">
            <a:noAutofit/>
          </a:bodyPr>
          <a:lstStyle/>
          <a:p>
            <a:pPr lvl="0" algn="l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ru-RU" b="1" kern="1200" dirty="0">
                <a:solidFill>
                  <a:srgbClr val="6A2D91"/>
                </a:solidFill>
                <a:latin typeface="Helvetica Neue"/>
                <a:cs typeface="Arial" panose="020B0604020202020204" pitchFamily="34" charset="0"/>
              </a:rPr>
              <a:t>Бесплатное </a:t>
            </a:r>
            <a:r>
              <a:rPr lang="ru-RU" b="1" dirty="0">
                <a:solidFill>
                  <a:srgbClr val="6A2D91"/>
                </a:solidFill>
                <a:latin typeface="Helvetica Neue"/>
                <a:cs typeface="Arial" panose="020B0604020202020204" pitchFamily="34" charset="0"/>
              </a:rPr>
              <a:t>т</a:t>
            </a:r>
            <a:r>
              <a:rPr lang="ru-RU" b="1" kern="1200" dirty="0">
                <a:solidFill>
                  <a:srgbClr val="6A2D91"/>
                </a:solidFill>
                <a:latin typeface="Helvetica Neue"/>
                <a:cs typeface="Arial" panose="020B0604020202020204" pitchFamily="34" charset="0"/>
              </a:rPr>
              <a:t>естирование при подключении по </a:t>
            </a:r>
            <a:r>
              <a:rPr lang="en-US" b="1" kern="1200" dirty="0">
                <a:solidFill>
                  <a:srgbClr val="6A2D91"/>
                </a:solidFill>
                <a:latin typeface="Helvetica Neue"/>
                <a:cs typeface="Arial" panose="020B0604020202020204" pitchFamily="34" charset="0"/>
              </a:rPr>
              <a:t>SIP</a:t>
            </a:r>
            <a:endParaRPr lang="ru-RU" b="1" kern="1200" dirty="0">
              <a:solidFill>
                <a:srgbClr val="6A2D91"/>
              </a:solidFill>
              <a:latin typeface="Helvetica Neue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D58BEE8-F854-433F-82C0-B3DFA718DFD8}"/>
              </a:ext>
            </a:extLst>
          </p:cNvPr>
          <p:cNvSpPr txBox="1"/>
          <p:nvPr/>
        </p:nvSpPr>
        <p:spPr>
          <a:xfrm>
            <a:off x="677622" y="1197353"/>
            <a:ext cx="1066292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bg2">
                    <a:lumMod val="25000"/>
                  </a:schemeClr>
                </a:solidFill>
                <a:latin typeface="Helvetica Neue"/>
                <a:cs typeface="Arial" panose="020B0604020202020204" pitchFamily="34" charset="0"/>
              </a:rPr>
              <a:t>Услуга </a:t>
            </a:r>
            <a:r>
              <a:rPr lang="ru-RU" b="1" dirty="0">
                <a:solidFill>
                  <a:srgbClr val="6A2D91"/>
                </a:solidFill>
                <a:latin typeface="Helvetica Neue"/>
                <a:cs typeface="Arial" panose="020B0604020202020204" pitchFamily="34" charset="0"/>
              </a:rPr>
              <a:t>«Бизнес-телефония» </a:t>
            </a:r>
            <a:r>
              <a:rPr lang="ru-RU" dirty="0">
                <a:solidFill>
                  <a:schemeClr val="bg2">
                    <a:lumMod val="25000"/>
                  </a:schemeClr>
                </a:solidFill>
                <a:latin typeface="Helvetica Neue"/>
                <a:cs typeface="Arial" panose="020B0604020202020204" pitchFamily="34" charset="0"/>
              </a:rPr>
              <a:t>позволяет использовать услуги связи через подключенную АТС заказчика, уменьшая, таким образом, расходы на связь при звонках со стационарных телефонов на любые направления.</a:t>
            </a:r>
            <a:endParaRPr lang="ru-RU" dirty="0">
              <a:solidFill>
                <a:schemeClr val="bg2">
                  <a:lumMod val="25000"/>
                </a:schemeClr>
              </a:solidFill>
              <a:latin typeface="Helvetica Neue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C83560A-4F78-4C18-99D2-A2CBF59CD25F}"/>
              </a:ext>
            </a:extLst>
          </p:cNvPr>
          <p:cNvSpPr txBox="1"/>
          <p:nvPr/>
        </p:nvSpPr>
        <p:spPr>
          <a:xfrm>
            <a:off x="696650" y="2360522"/>
            <a:ext cx="4320831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500" b="1" dirty="0">
                <a:solidFill>
                  <a:srgbClr val="6A2D91"/>
                </a:solidFill>
                <a:latin typeface="Helvetica Neue"/>
                <a:cs typeface="Pragmatica Book Reg"/>
              </a:rPr>
              <a:t>Преимущества</a:t>
            </a:r>
          </a:p>
        </p:txBody>
      </p:sp>
      <p:sp>
        <p:nvSpPr>
          <p:cNvPr id="24" name="Полилиния 33">
            <a:extLst>
              <a:ext uri="{FF2B5EF4-FFF2-40B4-BE49-F238E27FC236}">
                <a16:creationId xmlns:a16="http://schemas.microsoft.com/office/drawing/2014/main" id="{E6AD1702-0B09-4239-AAFE-7086F6A62960}"/>
              </a:ext>
            </a:extLst>
          </p:cNvPr>
          <p:cNvSpPr/>
          <p:nvPr/>
        </p:nvSpPr>
        <p:spPr>
          <a:xfrm>
            <a:off x="933514" y="3159199"/>
            <a:ext cx="3665111" cy="688203"/>
          </a:xfrm>
          <a:custGeom>
            <a:avLst/>
            <a:gdLst>
              <a:gd name="connsiteX0" fmla="*/ 0 w 3737625"/>
              <a:gd name="connsiteY0" fmla="*/ 0 h 688203"/>
              <a:gd name="connsiteX1" fmla="*/ 3737625 w 3737625"/>
              <a:gd name="connsiteY1" fmla="*/ 0 h 688203"/>
              <a:gd name="connsiteX2" fmla="*/ 3737625 w 3737625"/>
              <a:gd name="connsiteY2" fmla="*/ 688203 h 688203"/>
              <a:gd name="connsiteX3" fmla="*/ 0 w 3737625"/>
              <a:gd name="connsiteY3" fmla="*/ 688203 h 688203"/>
              <a:gd name="connsiteX4" fmla="*/ 0 w 3737625"/>
              <a:gd name="connsiteY4" fmla="*/ 0 h 6882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37625" h="688203">
                <a:moveTo>
                  <a:pt x="0" y="0"/>
                </a:moveTo>
                <a:lnTo>
                  <a:pt x="3737625" y="0"/>
                </a:lnTo>
                <a:lnTo>
                  <a:pt x="3737625" y="688203"/>
                </a:lnTo>
                <a:lnTo>
                  <a:pt x="0" y="688203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13792" tIns="113792" rIns="113792" bIns="113792" numCol="1" spcCol="1270" anchor="ctr" anchorCtr="0">
            <a:noAutofit/>
          </a:bodyPr>
          <a:lstStyle/>
          <a:p>
            <a:pPr lvl="0" algn="l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ru-RU" b="1" kern="1200" dirty="0">
                <a:solidFill>
                  <a:srgbClr val="6A2D91"/>
                </a:solidFill>
                <a:latin typeface="Helvetica Neue"/>
                <a:cs typeface="Arial" panose="020B0604020202020204" pitchFamily="34" charset="0"/>
              </a:rPr>
              <a:t>Бесплатное подключение услуги</a:t>
            </a:r>
            <a:endParaRPr lang="ru-RU" b="1" kern="1200" dirty="0">
              <a:solidFill>
                <a:srgbClr val="6A2D91"/>
              </a:solidFill>
              <a:latin typeface="Helvetica Neue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98E675B-3840-4F1F-8568-870AE3F0BC59}"/>
              </a:ext>
            </a:extLst>
          </p:cNvPr>
          <p:cNvSpPr txBox="1"/>
          <p:nvPr/>
        </p:nvSpPr>
        <p:spPr>
          <a:xfrm>
            <a:off x="677622" y="479046"/>
            <a:ext cx="5884482" cy="58477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ru-RU" sz="2800" b="1" dirty="0">
                <a:solidFill>
                  <a:srgbClr val="6A2E92"/>
                </a:solidFill>
                <a:latin typeface="Helvetica" panose="020B0604020202020204" pitchFamily="34" charset="0"/>
                <a:ea typeface="+mj-ea"/>
                <a:cs typeface="Helvetica" panose="020B0604020202020204" pitchFamily="34" charset="0"/>
              </a:rPr>
              <a:t>Определение услуги </a:t>
            </a:r>
            <a:endParaRPr lang="en-US" sz="2800" b="1" dirty="0">
              <a:solidFill>
                <a:srgbClr val="6A2E92"/>
              </a:solidFill>
              <a:latin typeface="Helvetica" panose="020B0604020202020204" pitchFamily="34" charset="0"/>
              <a:ea typeface="+mj-ea"/>
              <a:cs typeface="Helvetica" panose="020B0604020202020204" pitchFamily="34" charset="0"/>
            </a:endParaRP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044D3F8F-8978-F518-5ED8-A53C6B3438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52322" y="399717"/>
            <a:ext cx="736255" cy="241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95231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Скругленный прямоугольник 61">
            <a:extLst>
              <a:ext uri="{FF2B5EF4-FFF2-40B4-BE49-F238E27FC236}">
                <a16:creationId xmlns:a16="http://schemas.microsoft.com/office/drawing/2014/main" id="{D360EA31-DC2A-4D06-A6DA-EFCA9D30743E}"/>
              </a:ext>
            </a:extLst>
          </p:cNvPr>
          <p:cNvSpPr/>
          <p:nvPr/>
        </p:nvSpPr>
        <p:spPr>
          <a:xfrm>
            <a:off x="8413737" y="1307109"/>
            <a:ext cx="3223518" cy="969378"/>
          </a:xfrm>
          <a:prstGeom prst="roundRect">
            <a:avLst>
              <a:gd name="adj" fmla="val 13383"/>
            </a:avLst>
          </a:prstGeom>
          <a:solidFill>
            <a:srgbClr val="A6D7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KZ" dirty="0"/>
          </a:p>
        </p:txBody>
      </p:sp>
      <p:sp>
        <p:nvSpPr>
          <p:cNvPr id="83" name="Скругленный прямоугольник 61">
            <a:extLst>
              <a:ext uri="{FF2B5EF4-FFF2-40B4-BE49-F238E27FC236}">
                <a16:creationId xmlns:a16="http://schemas.microsoft.com/office/drawing/2014/main" id="{566B825C-F9FB-446B-A08F-CBBEE04179D5}"/>
              </a:ext>
            </a:extLst>
          </p:cNvPr>
          <p:cNvSpPr/>
          <p:nvPr/>
        </p:nvSpPr>
        <p:spPr>
          <a:xfrm>
            <a:off x="721211" y="1311721"/>
            <a:ext cx="3223518" cy="969378"/>
          </a:xfrm>
          <a:prstGeom prst="roundRect">
            <a:avLst>
              <a:gd name="adj" fmla="val 13383"/>
            </a:avLst>
          </a:prstGeom>
          <a:solidFill>
            <a:srgbClr val="A6D7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KZ" dirty="0"/>
          </a:p>
        </p:txBody>
      </p:sp>
      <p:sp>
        <p:nvSpPr>
          <p:cNvPr id="76" name="Скругленный прямоугольник 61">
            <a:extLst>
              <a:ext uri="{FF2B5EF4-FFF2-40B4-BE49-F238E27FC236}">
                <a16:creationId xmlns:a16="http://schemas.microsoft.com/office/drawing/2014/main" id="{43B4BEEB-D525-4563-9360-7DBAB2AECC97}"/>
              </a:ext>
            </a:extLst>
          </p:cNvPr>
          <p:cNvSpPr/>
          <p:nvPr/>
        </p:nvSpPr>
        <p:spPr>
          <a:xfrm>
            <a:off x="721210" y="4441249"/>
            <a:ext cx="10916045" cy="1877652"/>
          </a:xfrm>
          <a:prstGeom prst="roundRect">
            <a:avLst>
              <a:gd name="adj" fmla="val 13383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KZ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350C7542-0477-4F86-AD52-FD1D8AD76E3F}"/>
              </a:ext>
            </a:extLst>
          </p:cNvPr>
          <p:cNvSpPr/>
          <p:nvPr/>
        </p:nvSpPr>
        <p:spPr>
          <a:xfrm>
            <a:off x="812374" y="3373038"/>
            <a:ext cx="6790920" cy="925479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34290" tIns="102870" rIns="34290" bIns="34290" numCol="1" spcCol="1270" anchor="t" anchorCtr="0">
            <a:noAutofit/>
          </a:bodyPr>
          <a:lstStyle/>
          <a:p>
            <a:pPr marL="285750" lvl="1" indent="-285750" algn="l" defTabSz="12001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Font typeface="Arial" panose="020B0604020202020204" pitchFamily="34" charset="0"/>
              <a:buChar char="•"/>
            </a:pPr>
            <a:r>
              <a:rPr lang="ru-RU" kern="1200" dirty="0">
                <a:latin typeface="Helvetica Neue"/>
                <a:cs typeface="Arial" panose="020B0604020202020204" pitchFamily="34" charset="0"/>
              </a:rPr>
              <a:t>Интернет канал</a:t>
            </a:r>
          </a:p>
          <a:p>
            <a:pPr marL="285750" lvl="1" indent="-285750" defTabSz="12001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Font typeface="Arial" panose="020B0604020202020204" pitchFamily="34" charset="0"/>
              <a:buChar char="•"/>
            </a:pPr>
            <a:r>
              <a:rPr lang="ru-RU" kern="1200" dirty="0">
                <a:latin typeface="Helvetica Neue"/>
                <a:cs typeface="Arial" panose="020B0604020202020204" pitchFamily="34" charset="0"/>
              </a:rPr>
              <a:t>Внешний </a:t>
            </a:r>
            <a:r>
              <a:rPr lang="ru-RU" dirty="0">
                <a:latin typeface="Helvetica Neue"/>
                <a:cs typeface="Arial" panose="020B0604020202020204" pitchFamily="34" charset="0"/>
              </a:rPr>
              <a:t>статический </a:t>
            </a:r>
            <a:r>
              <a:rPr lang="en-US" kern="1200" dirty="0">
                <a:latin typeface="Helvetica Neue"/>
                <a:cs typeface="Arial" panose="020B0604020202020204" pitchFamily="34" charset="0"/>
              </a:rPr>
              <a:t>IP</a:t>
            </a:r>
            <a:r>
              <a:rPr lang="ru-RU" kern="1200" dirty="0">
                <a:latin typeface="Helvetica Neue"/>
                <a:cs typeface="Arial" panose="020B0604020202020204" pitchFamily="34" charset="0"/>
              </a:rPr>
              <a:t>-адрес </a:t>
            </a:r>
          </a:p>
          <a:p>
            <a:pPr marL="285750" lvl="1" indent="-285750" defTabSz="12001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Font typeface="Arial" panose="020B0604020202020204" pitchFamily="34" charset="0"/>
              <a:buChar char="•"/>
            </a:pPr>
            <a:endParaRPr lang="ru-RU" kern="1200" dirty="0">
              <a:latin typeface="Helvetica Neue"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F49FF64-A58F-43CF-9473-D82554A92BF8}"/>
              </a:ext>
            </a:extLst>
          </p:cNvPr>
          <p:cNvSpPr txBox="1"/>
          <p:nvPr/>
        </p:nvSpPr>
        <p:spPr>
          <a:xfrm>
            <a:off x="721210" y="2714340"/>
            <a:ext cx="5890742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500" b="1" dirty="0">
                <a:solidFill>
                  <a:srgbClr val="6A2D91"/>
                </a:solidFill>
                <a:latin typeface="Helvetica Neue" panose="02000503000000020004"/>
                <a:cs typeface="Arial" panose="020B0604020202020204" pitchFamily="34" charset="0"/>
              </a:rPr>
              <a:t>Требования для подключения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9F030A8-7BD4-43CA-86B6-DBF9E49F6ED8}"/>
              </a:ext>
            </a:extLst>
          </p:cNvPr>
          <p:cNvSpPr txBox="1"/>
          <p:nvPr/>
        </p:nvSpPr>
        <p:spPr>
          <a:xfrm>
            <a:off x="1126476" y="5799652"/>
            <a:ext cx="18268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>
                <a:latin typeface="Helvetica Neue"/>
                <a:cs typeface="Arial" panose="020B0604020202020204" pitchFamily="34" charset="0"/>
              </a:rPr>
              <a:t>Внутренний номер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B975325-D626-4014-AD4C-5BA947712026}"/>
              </a:ext>
            </a:extLst>
          </p:cNvPr>
          <p:cNvSpPr txBox="1"/>
          <p:nvPr/>
        </p:nvSpPr>
        <p:spPr>
          <a:xfrm>
            <a:off x="4093740" y="5819163"/>
            <a:ext cx="5794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>
                <a:latin typeface="Arial" panose="020B0604020202020204" pitchFamily="34" charset="0"/>
                <a:cs typeface="Arial" panose="020B0604020202020204" pitchFamily="34" charset="0"/>
              </a:rPr>
              <a:t>АТС 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86C3333-B02E-4F38-A002-8C5C849792DD}"/>
              </a:ext>
            </a:extLst>
          </p:cNvPr>
          <p:cNvSpPr txBox="1"/>
          <p:nvPr/>
        </p:nvSpPr>
        <p:spPr>
          <a:xfrm>
            <a:off x="5479592" y="5177896"/>
            <a:ext cx="10717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6A2D91"/>
                </a:solidFill>
                <a:latin typeface="Helvetica Neue" panose="02000503000000020004"/>
                <a:cs typeface="Arial" panose="020B0604020202020204" pitchFamily="34" charset="0"/>
              </a:rPr>
              <a:t>E</a:t>
            </a:r>
            <a:r>
              <a:rPr lang="ru-RU" sz="2000" b="1" dirty="0">
                <a:solidFill>
                  <a:srgbClr val="6A2D9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sz="2000" b="1" dirty="0">
                <a:solidFill>
                  <a:srgbClr val="6A2D91"/>
                </a:solidFill>
                <a:latin typeface="Helvetica Neue" panose="02000503000000020004"/>
                <a:cs typeface="Arial" panose="020B0604020202020204" pitchFamily="34" charset="0"/>
              </a:rPr>
              <a:t>/SIP</a:t>
            </a:r>
            <a:endParaRPr lang="ru-RU" sz="2000" b="1" dirty="0">
              <a:solidFill>
                <a:srgbClr val="6A2D9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9E370AE-3A8A-4094-B7EB-E4B89E7F089F}"/>
              </a:ext>
            </a:extLst>
          </p:cNvPr>
          <p:cNvSpPr txBox="1"/>
          <p:nvPr/>
        </p:nvSpPr>
        <p:spPr>
          <a:xfrm>
            <a:off x="7337551" y="5727701"/>
            <a:ext cx="7591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Kcell</a:t>
            </a:r>
            <a:endParaRPr lang="ru-RU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B1409F6-C369-48A1-B7E9-DAF99334F21B}"/>
              </a:ext>
            </a:extLst>
          </p:cNvPr>
          <p:cNvSpPr txBox="1"/>
          <p:nvPr/>
        </p:nvSpPr>
        <p:spPr>
          <a:xfrm>
            <a:off x="9713964" y="5877531"/>
            <a:ext cx="161758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200" dirty="0">
                <a:latin typeface="Arial" panose="020B0604020202020204" pitchFamily="34" charset="0"/>
                <a:cs typeface="Arial" panose="020B0604020202020204" pitchFamily="34" charset="0"/>
              </a:rPr>
              <a:t>Мобильный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200" dirty="0">
                <a:latin typeface="Arial" panose="020B0604020202020204" pitchFamily="34" charset="0"/>
                <a:cs typeface="Arial" panose="020B0604020202020204" pitchFamily="34" charset="0"/>
              </a:rPr>
              <a:t>номер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C3C9F47-D96E-4EBD-B913-1D835A6F9580}"/>
              </a:ext>
            </a:extLst>
          </p:cNvPr>
          <p:cNvSpPr txBox="1"/>
          <p:nvPr/>
        </p:nvSpPr>
        <p:spPr>
          <a:xfrm>
            <a:off x="9570321" y="5015205"/>
            <a:ext cx="18549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200" dirty="0">
                <a:latin typeface="Arial" panose="020B0604020202020204" pitchFamily="34" charset="0"/>
                <a:cs typeface="Arial" panose="020B0604020202020204" pitchFamily="34" charset="0"/>
              </a:rPr>
              <a:t>Городской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1200" dirty="0">
                <a:latin typeface="Arial" panose="020B0604020202020204" pitchFamily="34" charset="0"/>
                <a:cs typeface="Arial" panose="020B0604020202020204" pitchFamily="34" charset="0"/>
              </a:rPr>
              <a:t>номер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A098C02-D64E-4635-A256-1584591B7835}"/>
              </a:ext>
            </a:extLst>
          </p:cNvPr>
          <p:cNvSpPr txBox="1"/>
          <p:nvPr/>
        </p:nvSpPr>
        <p:spPr>
          <a:xfrm>
            <a:off x="677622" y="479046"/>
            <a:ext cx="5884482" cy="58477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ru-RU" sz="2800" b="1" dirty="0">
                <a:solidFill>
                  <a:srgbClr val="6A2E92"/>
                </a:solidFill>
                <a:latin typeface="Helvetica" panose="020B0604020202020204" pitchFamily="34" charset="0"/>
                <a:ea typeface="+mj-ea"/>
                <a:cs typeface="Helvetica" panose="020B0604020202020204" pitchFamily="34" charset="0"/>
              </a:rPr>
              <a:t>Технология</a:t>
            </a:r>
            <a:endParaRPr lang="en-US" sz="2800" b="1" dirty="0">
              <a:solidFill>
                <a:srgbClr val="6A2E92"/>
              </a:solidFill>
              <a:latin typeface="Helvetica" panose="020B0604020202020204" pitchFamily="34" charset="0"/>
              <a:ea typeface="+mj-ea"/>
              <a:cs typeface="Helvetica" panose="020B0604020202020204" pitchFamily="34" charset="0"/>
            </a:endParaRPr>
          </a:p>
        </p:txBody>
      </p:sp>
      <p:pic>
        <p:nvPicPr>
          <p:cNvPr id="33" name="Рисунок 32">
            <a:extLst>
              <a:ext uri="{FF2B5EF4-FFF2-40B4-BE49-F238E27FC236}">
                <a16:creationId xmlns:a16="http://schemas.microsoft.com/office/drawing/2014/main" id="{96C34661-D5D9-4735-9DFE-FC992B6190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4124" y="4733304"/>
            <a:ext cx="791561" cy="791561"/>
          </a:xfrm>
          <a:prstGeom prst="rect">
            <a:avLst/>
          </a:prstGeom>
        </p:spPr>
      </p:pic>
      <p:grpSp>
        <p:nvGrpSpPr>
          <p:cNvPr id="42" name="Группа 41">
            <a:extLst>
              <a:ext uri="{FF2B5EF4-FFF2-40B4-BE49-F238E27FC236}">
                <a16:creationId xmlns:a16="http://schemas.microsoft.com/office/drawing/2014/main" id="{DA812AEE-906D-458C-A369-9E8FC0905FF9}"/>
              </a:ext>
            </a:extLst>
          </p:cNvPr>
          <p:cNvGrpSpPr/>
          <p:nvPr/>
        </p:nvGrpSpPr>
        <p:grpSpPr>
          <a:xfrm>
            <a:off x="2908799" y="5146898"/>
            <a:ext cx="615183" cy="137834"/>
            <a:chOff x="2241474" y="5219119"/>
            <a:chExt cx="909270" cy="186762"/>
          </a:xfrm>
        </p:grpSpPr>
        <p:grpSp>
          <p:nvGrpSpPr>
            <p:cNvPr id="34" name="Группа 33">
              <a:extLst>
                <a:ext uri="{FF2B5EF4-FFF2-40B4-BE49-F238E27FC236}">
                  <a16:creationId xmlns:a16="http://schemas.microsoft.com/office/drawing/2014/main" id="{0C3C0189-435F-416D-ADFC-970669FD6494}"/>
                </a:ext>
              </a:extLst>
            </p:cNvPr>
            <p:cNvGrpSpPr/>
            <p:nvPr/>
          </p:nvGrpSpPr>
          <p:grpSpPr>
            <a:xfrm>
              <a:off x="2497070" y="5227038"/>
              <a:ext cx="653674" cy="178843"/>
              <a:chOff x="1996452" y="2021825"/>
              <a:chExt cx="394081" cy="107819"/>
            </a:xfrm>
          </p:grpSpPr>
          <p:grpSp>
            <p:nvGrpSpPr>
              <p:cNvPr id="35" name="Группа 34">
                <a:extLst>
                  <a:ext uri="{FF2B5EF4-FFF2-40B4-BE49-F238E27FC236}">
                    <a16:creationId xmlns:a16="http://schemas.microsoft.com/office/drawing/2014/main" id="{C421CFDE-7CB9-48E4-A581-56479EE8F834}"/>
                  </a:ext>
                </a:extLst>
              </p:cNvPr>
              <p:cNvGrpSpPr/>
              <p:nvPr/>
            </p:nvGrpSpPr>
            <p:grpSpPr>
              <a:xfrm>
                <a:off x="2068825" y="2021825"/>
                <a:ext cx="321708" cy="107819"/>
                <a:chOff x="1860251" y="2011577"/>
                <a:chExt cx="501307" cy="168011"/>
              </a:xfrm>
            </p:grpSpPr>
            <p:sp>
              <p:nvSpPr>
                <p:cNvPr id="37" name="Овал 36">
                  <a:extLst>
                    <a:ext uri="{FF2B5EF4-FFF2-40B4-BE49-F238E27FC236}">
                      <a16:creationId xmlns:a16="http://schemas.microsoft.com/office/drawing/2014/main" id="{89C41F18-2E9C-4BF4-98C1-86831103AA8D}"/>
                    </a:ext>
                  </a:extLst>
                </p:cNvPr>
                <p:cNvSpPr/>
                <p:nvPr/>
              </p:nvSpPr>
              <p:spPr>
                <a:xfrm rot="2452744">
                  <a:off x="1860251" y="2084085"/>
                  <a:ext cx="45720" cy="45720"/>
                </a:xfrm>
                <a:prstGeom prst="ellipse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KZ" dirty="0"/>
                </a:p>
              </p:txBody>
            </p:sp>
            <p:sp>
              <p:nvSpPr>
                <p:cNvPr id="38" name="Овал 37">
                  <a:extLst>
                    <a:ext uri="{FF2B5EF4-FFF2-40B4-BE49-F238E27FC236}">
                      <a16:creationId xmlns:a16="http://schemas.microsoft.com/office/drawing/2014/main" id="{423BB521-40E6-4908-9064-074DB9BB9EF2}"/>
                    </a:ext>
                  </a:extLst>
                </p:cNvPr>
                <p:cNvSpPr/>
                <p:nvPr/>
              </p:nvSpPr>
              <p:spPr>
                <a:xfrm rot="8134131">
                  <a:off x="1976627" y="2084085"/>
                  <a:ext cx="45720" cy="45720"/>
                </a:xfrm>
                <a:prstGeom prst="ellipse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KZ" dirty="0"/>
                </a:p>
              </p:txBody>
            </p:sp>
            <p:sp>
              <p:nvSpPr>
                <p:cNvPr id="39" name="Овал 38">
                  <a:extLst>
                    <a:ext uri="{FF2B5EF4-FFF2-40B4-BE49-F238E27FC236}">
                      <a16:creationId xmlns:a16="http://schemas.microsoft.com/office/drawing/2014/main" id="{7966C59B-1F9D-45E1-9E12-56A627FD9EF1}"/>
                    </a:ext>
                  </a:extLst>
                </p:cNvPr>
                <p:cNvSpPr/>
                <p:nvPr/>
              </p:nvSpPr>
              <p:spPr>
                <a:xfrm rot="2452744">
                  <a:off x="2088848" y="2084085"/>
                  <a:ext cx="45720" cy="45720"/>
                </a:xfrm>
                <a:prstGeom prst="ellipse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KZ" dirty="0"/>
                </a:p>
              </p:txBody>
            </p:sp>
            <p:sp>
              <p:nvSpPr>
                <p:cNvPr id="40" name="Треугольник 24">
                  <a:extLst>
                    <a:ext uri="{FF2B5EF4-FFF2-40B4-BE49-F238E27FC236}">
                      <a16:creationId xmlns:a16="http://schemas.microsoft.com/office/drawing/2014/main" id="{B2B8A995-A2F9-42A1-BAC1-561377FCA72D}"/>
                    </a:ext>
                  </a:extLst>
                </p:cNvPr>
                <p:cNvSpPr/>
                <p:nvPr/>
              </p:nvSpPr>
              <p:spPr>
                <a:xfrm rot="5400000">
                  <a:off x="2205132" y="2023163"/>
                  <a:ext cx="168011" cy="144840"/>
                </a:xfrm>
                <a:prstGeom prst="triangle">
                  <a:avLst/>
                </a:prstGeom>
                <a:solidFill>
                  <a:srgbClr val="6F3D9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KZ" dirty="0"/>
                </a:p>
              </p:txBody>
            </p:sp>
          </p:grpSp>
          <p:sp>
            <p:nvSpPr>
              <p:cNvPr id="36" name="Овал 35">
                <a:extLst>
                  <a:ext uri="{FF2B5EF4-FFF2-40B4-BE49-F238E27FC236}">
                    <a16:creationId xmlns:a16="http://schemas.microsoft.com/office/drawing/2014/main" id="{FA8CDE45-8C4A-449A-B181-B612E3ED1B9A}"/>
                  </a:ext>
                </a:extLst>
              </p:cNvPr>
              <p:cNvSpPr/>
              <p:nvPr/>
            </p:nvSpPr>
            <p:spPr>
              <a:xfrm rot="2452744">
                <a:off x="1996452" y="2068345"/>
                <a:ext cx="29340" cy="29340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KZ" dirty="0"/>
              </a:p>
            </p:txBody>
          </p:sp>
        </p:grpSp>
        <p:sp>
          <p:nvSpPr>
            <p:cNvPr id="41" name="Треугольник 24">
              <a:extLst>
                <a:ext uri="{FF2B5EF4-FFF2-40B4-BE49-F238E27FC236}">
                  <a16:creationId xmlns:a16="http://schemas.microsoft.com/office/drawing/2014/main" id="{08220830-0F5B-4EC6-8939-DF789237E560}"/>
                </a:ext>
              </a:extLst>
            </p:cNvPr>
            <p:cNvSpPr/>
            <p:nvPr/>
          </p:nvSpPr>
          <p:spPr>
            <a:xfrm rot="16200000">
              <a:off x="2229141" y="5231452"/>
              <a:ext cx="178843" cy="154178"/>
            </a:xfrm>
            <a:prstGeom prst="triangle">
              <a:avLst/>
            </a:prstGeom>
            <a:solidFill>
              <a:srgbClr val="6F3D9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KZ" dirty="0"/>
            </a:p>
          </p:txBody>
        </p:sp>
      </p:grpSp>
      <p:grpSp>
        <p:nvGrpSpPr>
          <p:cNvPr id="47" name="Группа 46">
            <a:extLst>
              <a:ext uri="{FF2B5EF4-FFF2-40B4-BE49-F238E27FC236}">
                <a16:creationId xmlns:a16="http://schemas.microsoft.com/office/drawing/2014/main" id="{8A0CD03E-6B9C-487E-8C16-7F90DF96DD3B}"/>
              </a:ext>
            </a:extLst>
          </p:cNvPr>
          <p:cNvGrpSpPr/>
          <p:nvPr/>
        </p:nvGrpSpPr>
        <p:grpSpPr>
          <a:xfrm rot="291397">
            <a:off x="5215787" y="5494337"/>
            <a:ext cx="1392011" cy="531810"/>
            <a:chOff x="4939414" y="5630948"/>
            <a:chExt cx="1687789" cy="680594"/>
          </a:xfrm>
        </p:grpSpPr>
        <p:sp>
          <p:nvSpPr>
            <p:cNvPr id="45" name="Овал 42">
              <a:extLst>
                <a:ext uri="{FF2B5EF4-FFF2-40B4-BE49-F238E27FC236}">
                  <a16:creationId xmlns:a16="http://schemas.microsoft.com/office/drawing/2014/main" id="{31C0D97C-65E1-4F07-8F2B-916AD534332F}"/>
                </a:ext>
              </a:extLst>
            </p:cNvPr>
            <p:cNvSpPr/>
            <p:nvPr/>
          </p:nvSpPr>
          <p:spPr>
            <a:xfrm rot="10377414">
              <a:off x="5055902" y="5637542"/>
              <a:ext cx="1571301" cy="674000"/>
            </a:xfrm>
            <a:custGeom>
              <a:avLst/>
              <a:gdLst>
                <a:gd name="connsiteX0" fmla="*/ 0 w 1828380"/>
                <a:gd name="connsiteY0" fmla="*/ 914190 h 1828380"/>
                <a:gd name="connsiteX1" fmla="*/ 914190 w 1828380"/>
                <a:gd name="connsiteY1" fmla="*/ 0 h 1828380"/>
                <a:gd name="connsiteX2" fmla="*/ 1828380 w 1828380"/>
                <a:gd name="connsiteY2" fmla="*/ 914190 h 1828380"/>
                <a:gd name="connsiteX3" fmla="*/ 914190 w 1828380"/>
                <a:gd name="connsiteY3" fmla="*/ 1828380 h 1828380"/>
                <a:gd name="connsiteX4" fmla="*/ 0 w 1828380"/>
                <a:gd name="connsiteY4" fmla="*/ 914190 h 1828380"/>
                <a:gd name="connsiteX0" fmla="*/ 914190 w 1828380"/>
                <a:gd name="connsiteY0" fmla="*/ 1828380 h 1919820"/>
                <a:gd name="connsiteX1" fmla="*/ 0 w 1828380"/>
                <a:gd name="connsiteY1" fmla="*/ 914190 h 1919820"/>
                <a:gd name="connsiteX2" fmla="*/ 914190 w 1828380"/>
                <a:gd name="connsiteY2" fmla="*/ 0 h 1919820"/>
                <a:gd name="connsiteX3" fmla="*/ 1828380 w 1828380"/>
                <a:gd name="connsiteY3" fmla="*/ 914190 h 1919820"/>
                <a:gd name="connsiteX4" fmla="*/ 1005630 w 1828380"/>
                <a:gd name="connsiteY4" fmla="*/ 1919820 h 1919820"/>
                <a:gd name="connsiteX0" fmla="*/ 914190 w 1828380"/>
                <a:gd name="connsiteY0" fmla="*/ 1828380 h 1828380"/>
                <a:gd name="connsiteX1" fmla="*/ 0 w 1828380"/>
                <a:gd name="connsiteY1" fmla="*/ 914190 h 1828380"/>
                <a:gd name="connsiteX2" fmla="*/ 914190 w 1828380"/>
                <a:gd name="connsiteY2" fmla="*/ 0 h 1828380"/>
                <a:gd name="connsiteX3" fmla="*/ 1828380 w 1828380"/>
                <a:gd name="connsiteY3" fmla="*/ 914190 h 1828380"/>
                <a:gd name="connsiteX0" fmla="*/ 0 w 1828380"/>
                <a:gd name="connsiteY0" fmla="*/ 914190 h 914190"/>
                <a:gd name="connsiteX1" fmla="*/ 914190 w 1828380"/>
                <a:gd name="connsiteY1" fmla="*/ 0 h 914190"/>
                <a:gd name="connsiteX2" fmla="*/ 1828380 w 1828380"/>
                <a:gd name="connsiteY2" fmla="*/ 914190 h 9141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828380" h="914190">
                  <a:moveTo>
                    <a:pt x="0" y="914190"/>
                  </a:moveTo>
                  <a:cubicBezTo>
                    <a:pt x="0" y="409297"/>
                    <a:pt x="409297" y="0"/>
                    <a:pt x="914190" y="0"/>
                  </a:cubicBezTo>
                  <a:cubicBezTo>
                    <a:pt x="1419083" y="0"/>
                    <a:pt x="1828380" y="409297"/>
                    <a:pt x="1828380" y="914190"/>
                  </a:cubicBezTo>
                </a:path>
              </a:pathLst>
            </a:custGeom>
            <a:noFill/>
            <a:ln w="34925" cap="rnd">
              <a:solidFill>
                <a:schemeClr val="bg1">
                  <a:lumMod val="85000"/>
                </a:schemeClr>
              </a:solidFill>
              <a:prstDash val="sysDot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46" name="Треугольник 24">
              <a:extLst>
                <a:ext uri="{FF2B5EF4-FFF2-40B4-BE49-F238E27FC236}">
                  <a16:creationId xmlns:a16="http://schemas.microsoft.com/office/drawing/2014/main" id="{6CC7B6D7-C514-41DA-AF54-7636058C0F71}"/>
                </a:ext>
              </a:extLst>
            </p:cNvPr>
            <p:cNvSpPr/>
            <p:nvPr/>
          </p:nvSpPr>
          <p:spPr>
            <a:xfrm>
              <a:off x="4939414" y="5630948"/>
              <a:ext cx="178843" cy="154178"/>
            </a:xfrm>
            <a:prstGeom prst="triangle">
              <a:avLst/>
            </a:prstGeom>
            <a:solidFill>
              <a:srgbClr val="6F3D9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KZ" dirty="0"/>
            </a:p>
          </p:txBody>
        </p:sp>
      </p:grpSp>
      <p:grpSp>
        <p:nvGrpSpPr>
          <p:cNvPr id="54" name="Группа 53">
            <a:extLst>
              <a:ext uri="{FF2B5EF4-FFF2-40B4-BE49-F238E27FC236}">
                <a16:creationId xmlns:a16="http://schemas.microsoft.com/office/drawing/2014/main" id="{26490B1B-37C0-4ACB-9898-5909F8CE0B94}"/>
              </a:ext>
            </a:extLst>
          </p:cNvPr>
          <p:cNvGrpSpPr/>
          <p:nvPr/>
        </p:nvGrpSpPr>
        <p:grpSpPr>
          <a:xfrm rot="10800000">
            <a:off x="5240269" y="4684004"/>
            <a:ext cx="1392011" cy="531810"/>
            <a:chOff x="4939414" y="5630948"/>
            <a:chExt cx="1687789" cy="680594"/>
          </a:xfrm>
        </p:grpSpPr>
        <p:sp>
          <p:nvSpPr>
            <p:cNvPr id="55" name="Овал 42">
              <a:extLst>
                <a:ext uri="{FF2B5EF4-FFF2-40B4-BE49-F238E27FC236}">
                  <a16:creationId xmlns:a16="http://schemas.microsoft.com/office/drawing/2014/main" id="{73FCFC6D-C579-429F-B3E4-834E52DE4F6E}"/>
                </a:ext>
              </a:extLst>
            </p:cNvPr>
            <p:cNvSpPr/>
            <p:nvPr/>
          </p:nvSpPr>
          <p:spPr>
            <a:xfrm rot="10377414">
              <a:off x="5055902" y="5637542"/>
              <a:ext cx="1571301" cy="674000"/>
            </a:xfrm>
            <a:custGeom>
              <a:avLst/>
              <a:gdLst>
                <a:gd name="connsiteX0" fmla="*/ 0 w 1828380"/>
                <a:gd name="connsiteY0" fmla="*/ 914190 h 1828380"/>
                <a:gd name="connsiteX1" fmla="*/ 914190 w 1828380"/>
                <a:gd name="connsiteY1" fmla="*/ 0 h 1828380"/>
                <a:gd name="connsiteX2" fmla="*/ 1828380 w 1828380"/>
                <a:gd name="connsiteY2" fmla="*/ 914190 h 1828380"/>
                <a:gd name="connsiteX3" fmla="*/ 914190 w 1828380"/>
                <a:gd name="connsiteY3" fmla="*/ 1828380 h 1828380"/>
                <a:gd name="connsiteX4" fmla="*/ 0 w 1828380"/>
                <a:gd name="connsiteY4" fmla="*/ 914190 h 1828380"/>
                <a:gd name="connsiteX0" fmla="*/ 914190 w 1828380"/>
                <a:gd name="connsiteY0" fmla="*/ 1828380 h 1919820"/>
                <a:gd name="connsiteX1" fmla="*/ 0 w 1828380"/>
                <a:gd name="connsiteY1" fmla="*/ 914190 h 1919820"/>
                <a:gd name="connsiteX2" fmla="*/ 914190 w 1828380"/>
                <a:gd name="connsiteY2" fmla="*/ 0 h 1919820"/>
                <a:gd name="connsiteX3" fmla="*/ 1828380 w 1828380"/>
                <a:gd name="connsiteY3" fmla="*/ 914190 h 1919820"/>
                <a:gd name="connsiteX4" fmla="*/ 1005630 w 1828380"/>
                <a:gd name="connsiteY4" fmla="*/ 1919820 h 1919820"/>
                <a:gd name="connsiteX0" fmla="*/ 914190 w 1828380"/>
                <a:gd name="connsiteY0" fmla="*/ 1828380 h 1828380"/>
                <a:gd name="connsiteX1" fmla="*/ 0 w 1828380"/>
                <a:gd name="connsiteY1" fmla="*/ 914190 h 1828380"/>
                <a:gd name="connsiteX2" fmla="*/ 914190 w 1828380"/>
                <a:gd name="connsiteY2" fmla="*/ 0 h 1828380"/>
                <a:gd name="connsiteX3" fmla="*/ 1828380 w 1828380"/>
                <a:gd name="connsiteY3" fmla="*/ 914190 h 1828380"/>
                <a:gd name="connsiteX0" fmla="*/ 0 w 1828380"/>
                <a:gd name="connsiteY0" fmla="*/ 914190 h 914190"/>
                <a:gd name="connsiteX1" fmla="*/ 914190 w 1828380"/>
                <a:gd name="connsiteY1" fmla="*/ 0 h 914190"/>
                <a:gd name="connsiteX2" fmla="*/ 1828380 w 1828380"/>
                <a:gd name="connsiteY2" fmla="*/ 914190 h 9141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828380" h="914190">
                  <a:moveTo>
                    <a:pt x="0" y="914190"/>
                  </a:moveTo>
                  <a:cubicBezTo>
                    <a:pt x="0" y="409297"/>
                    <a:pt x="409297" y="0"/>
                    <a:pt x="914190" y="0"/>
                  </a:cubicBezTo>
                  <a:cubicBezTo>
                    <a:pt x="1419083" y="0"/>
                    <a:pt x="1828380" y="409297"/>
                    <a:pt x="1828380" y="914190"/>
                  </a:cubicBezTo>
                </a:path>
              </a:pathLst>
            </a:custGeom>
            <a:noFill/>
            <a:ln w="34925" cap="rnd">
              <a:solidFill>
                <a:schemeClr val="bg1">
                  <a:lumMod val="85000"/>
                </a:schemeClr>
              </a:solidFill>
              <a:prstDash val="sysDot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56" name="Треугольник 24">
              <a:extLst>
                <a:ext uri="{FF2B5EF4-FFF2-40B4-BE49-F238E27FC236}">
                  <a16:creationId xmlns:a16="http://schemas.microsoft.com/office/drawing/2014/main" id="{C6A5D38C-1972-40BB-B477-408BCA9C473B}"/>
                </a:ext>
              </a:extLst>
            </p:cNvPr>
            <p:cNvSpPr/>
            <p:nvPr/>
          </p:nvSpPr>
          <p:spPr>
            <a:xfrm>
              <a:off x="4939414" y="5630948"/>
              <a:ext cx="178843" cy="154178"/>
            </a:xfrm>
            <a:prstGeom prst="triangle">
              <a:avLst/>
            </a:prstGeom>
            <a:solidFill>
              <a:srgbClr val="6F3D9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KZ" dirty="0"/>
            </a:p>
          </p:txBody>
        </p:sp>
      </p:grpSp>
      <p:grpSp>
        <p:nvGrpSpPr>
          <p:cNvPr id="57" name="Группа 56">
            <a:extLst>
              <a:ext uri="{FF2B5EF4-FFF2-40B4-BE49-F238E27FC236}">
                <a16:creationId xmlns:a16="http://schemas.microsoft.com/office/drawing/2014/main" id="{9B6130A1-DCD4-440C-807D-505CDBD22B96}"/>
              </a:ext>
            </a:extLst>
          </p:cNvPr>
          <p:cNvGrpSpPr/>
          <p:nvPr/>
        </p:nvGrpSpPr>
        <p:grpSpPr>
          <a:xfrm>
            <a:off x="8646962" y="4808440"/>
            <a:ext cx="615183" cy="137834"/>
            <a:chOff x="2241474" y="5219119"/>
            <a:chExt cx="909270" cy="186762"/>
          </a:xfrm>
        </p:grpSpPr>
        <p:grpSp>
          <p:nvGrpSpPr>
            <p:cNvPr id="58" name="Группа 57">
              <a:extLst>
                <a:ext uri="{FF2B5EF4-FFF2-40B4-BE49-F238E27FC236}">
                  <a16:creationId xmlns:a16="http://schemas.microsoft.com/office/drawing/2014/main" id="{EFF39B5B-2A87-45B9-A731-B3175F9C5FFF}"/>
                </a:ext>
              </a:extLst>
            </p:cNvPr>
            <p:cNvGrpSpPr/>
            <p:nvPr/>
          </p:nvGrpSpPr>
          <p:grpSpPr>
            <a:xfrm>
              <a:off x="2497070" y="5227038"/>
              <a:ext cx="653674" cy="178843"/>
              <a:chOff x="1996452" y="2021825"/>
              <a:chExt cx="394081" cy="107819"/>
            </a:xfrm>
          </p:grpSpPr>
          <p:grpSp>
            <p:nvGrpSpPr>
              <p:cNvPr id="60" name="Группа 59">
                <a:extLst>
                  <a:ext uri="{FF2B5EF4-FFF2-40B4-BE49-F238E27FC236}">
                    <a16:creationId xmlns:a16="http://schemas.microsoft.com/office/drawing/2014/main" id="{27BFBE46-CA8B-4FF1-92F1-1ACBF7A064F8}"/>
                  </a:ext>
                </a:extLst>
              </p:cNvPr>
              <p:cNvGrpSpPr/>
              <p:nvPr/>
            </p:nvGrpSpPr>
            <p:grpSpPr>
              <a:xfrm>
                <a:off x="2068825" y="2021825"/>
                <a:ext cx="321708" cy="107819"/>
                <a:chOff x="1860251" y="2011577"/>
                <a:chExt cx="501307" cy="168011"/>
              </a:xfrm>
            </p:grpSpPr>
            <p:sp>
              <p:nvSpPr>
                <p:cNvPr id="62" name="Овал 61">
                  <a:extLst>
                    <a:ext uri="{FF2B5EF4-FFF2-40B4-BE49-F238E27FC236}">
                      <a16:creationId xmlns:a16="http://schemas.microsoft.com/office/drawing/2014/main" id="{6167A5CF-A5AE-44C2-B67C-100468BEE034}"/>
                    </a:ext>
                  </a:extLst>
                </p:cNvPr>
                <p:cNvSpPr/>
                <p:nvPr/>
              </p:nvSpPr>
              <p:spPr>
                <a:xfrm rot="2452744">
                  <a:off x="1860251" y="2084085"/>
                  <a:ext cx="45720" cy="45720"/>
                </a:xfrm>
                <a:prstGeom prst="ellipse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KZ" dirty="0"/>
                </a:p>
              </p:txBody>
            </p:sp>
            <p:sp>
              <p:nvSpPr>
                <p:cNvPr id="63" name="Овал 62">
                  <a:extLst>
                    <a:ext uri="{FF2B5EF4-FFF2-40B4-BE49-F238E27FC236}">
                      <a16:creationId xmlns:a16="http://schemas.microsoft.com/office/drawing/2014/main" id="{677C9F96-56F7-4A0D-B71C-034ED83910BD}"/>
                    </a:ext>
                  </a:extLst>
                </p:cNvPr>
                <p:cNvSpPr/>
                <p:nvPr/>
              </p:nvSpPr>
              <p:spPr>
                <a:xfrm rot="8134131">
                  <a:off x="1976627" y="2084085"/>
                  <a:ext cx="45720" cy="45720"/>
                </a:xfrm>
                <a:prstGeom prst="ellipse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KZ" dirty="0"/>
                </a:p>
              </p:txBody>
            </p:sp>
            <p:sp>
              <p:nvSpPr>
                <p:cNvPr id="64" name="Овал 63">
                  <a:extLst>
                    <a:ext uri="{FF2B5EF4-FFF2-40B4-BE49-F238E27FC236}">
                      <a16:creationId xmlns:a16="http://schemas.microsoft.com/office/drawing/2014/main" id="{DE45F734-55EA-4F28-AAEB-F0E75099164B}"/>
                    </a:ext>
                  </a:extLst>
                </p:cNvPr>
                <p:cNvSpPr/>
                <p:nvPr/>
              </p:nvSpPr>
              <p:spPr>
                <a:xfrm rot="2452744">
                  <a:off x="2088848" y="2084085"/>
                  <a:ext cx="45720" cy="45720"/>
                </a:xfrm>
                <a:prstGeom prst="ellipse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KZ" dirty="0"/>
                </a:p>
              </p:txBody>
            </p:sp>
            <p:sp>
              <p:nvSpPr>
                <p:cNvPr id="65" name="Треугольник 24">
                  <a:extLst>
                    <a:ext uri="{FF2B5EF4-FFF2-40B4-BE49-F238E27FC236}">
                      <a16:creationId xmlns:a16="http://schemas.microsoft.com/office/drawing/2014/main" id="{8FC58172-A341-4972-9CAA-1D4B9AD1DF88}"/>
                    </a:ext>
                  </a:extLst>
                </p:cNvPr>
                <p:cNvSpPr/>
                <p:nvPr/>
              </p:nvSpPr>
              <p:spPr>
                <a:xfrm rot="5400000">
                  <a:off x="2205132" y="2023163"/>
                  <a:ext cx="168011" cy="144840"/>
                </a:xfrm>
                <a:prstGeom prst="triangle">
                  <a:avLst/>
                </a:prstGeom>
                <a:solidFill>
                  <a:srgbClr val="6F3D9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KZ" dirty="0"/>
                </a:p>
              </p:txBody>
            </p:sp>
          </p:grpSp>
          <p:sp>
            <p:nvSpPr>
              <p:cNvPr id="61" name="Овал 60">
                <a:extLst>
                  <a:ext uri="{FF2B5EF4-FFF2-40B4-BE49-F238E27FC236}">
                    <a16:creationId xmlns:a16="http://schemas.microsoft.com/office/drawing/2014/main" id="{B0B57939-2943-4C0D-869F-AB72BF552C14}"/>
                  </a:ext>
                </a:extLst>
              </p:cNvPr>
              <p:cNvSpPr/>
              <p:nvPr/>
            </p:nvSpPr>
            <p:spPr>
              <a:xfrm rot="2452744">
                <a:off x="1996452" y="2068345"/>
                <a:ext cx="29340" cy="29340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KZ" dirty="0"/>
              </a:p>
            </p:txBody>
          </p:sp>
        </p:grpSp>
        <p:sp>
          <p:nvSpPr>
            <p:cNvPr id="59" name="Треугольник 24">
              <a:extLst>
                <a:ext uri="{FF2B5EF4-FFF2-40B4-BE49-F238E27FC236}">
                  <a16:creationId xmlns:a16="http://schemas.microsoft.com/office/drawing/2014/main" id="{A6A57225-7485-496E-B6C1-F444A560BAB5}"/>
                </a:ext>
              </a:extLst>
            </p:cNvPr>
            <p:cNvSpPr/>
            <p:nvPr/>
          </p:nvSpPr>
          <p:spPr>
            <a:xfrm rot="16200000">
              <a:off x="2229141" y="5231452"/>
              <a:ext cx="178843" cy="154178"/>
            </a:xfrm>
            <a:prstGeom prst="triangle">
              <a:avLst/>
            </a:prstGeom>
            <a:solidFill>
              <a:srgbClr val="6F3D9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KZ" dirty="0"/>
            </a:p>
          </p:txBody>
        </p:sp>
      </p:grpSp>
      <p:grpSp>
        <p:nvGrpSpPr>
          <p:cNvPr id="66" name="Группа 65">
            <a:extLst>
              <a:ext uri="{FF2B5EF4-FFF2-40B4-BE49-F238E27FC236}">
                <a16:creationId xmlns:a16="http://schemas.microsoft.com/office/drawing/2014/main" id="{2CDC77DD-056F-4F35-82CB-7BA9922EE222}"/>
              </a:ext>
            </a:extLst>
          </p:cNvPr>
          <p:cNvGrpSpPr/>
          <p:nvPr/>
        </p:nvGrpSpPr>
        <p:grpSpPr>
          <a:xfrm>
            <a:off x="8652587" y="5500352"/>
            <a:ext cx="615183" cy="137834"/>
            <a:chOff x="2241474" y="5219119"/>
            <a:chExt cx="909270" cy="186762"/>
          </a:xfrm>
        </p:grpSpPr>
        <p:grpSp>
          <p:nvGrpSpPr>
            <p:cNvPr id="67" name="Группа 66">
              <a:extLst>
                <a:ext uri="{FF2B5EF4-FFF2-40B4-BE49-F238E27FC236}">
                  <a16:creationId xmlns:a16="http://schemas.microsoft.com/office/drawing/2014/main" id="{FF862E5A-9F2E-4CA8-90C6-FFEE3B4B802C}"/>
                </a:ext>
              </a:extLst>
            </p:cNvPr>
            <p:cNvGrpSpPr/>
            <p:nvPr/>
          </p:nvGrpSpPr>
          <p:grpSpPr>
            <a:xfrm>
              <a:off x="2497070" y="5227038"/>
              <a:ext cx="653674" cy="178843"/>
              <a:chOff x="1996452" y="2021825"/>
              <a:chExt cx="394081" cy="107819"/>
            </a:xfrm>
          </p:grpSpPr>
          <p:grpSp>
            <p:nvGrpSpPr>
              <p:cNvPr id="69" name="Группа 68">
                <a:extLst>
                  <a:ext uri="{FF2B5EF4-FFF2-40B4-BE49-F238E27FC236}">
                    <a16:creationId xmlns:a16="http://schemas.microsoft.com/office/drawing/2014/main" id="{311A70AE-C542-474B-ADC0-1C41B5091E24}"/>
                  </a:ext>
                </a:extLst>
              </p:cNvPr>
              <p:cNvGrpSpPr/>
              <p:nvPr/>
            </p:nvGrpSpPr>
            <p:grpSpPr>
              <a:xfrm>
                <a:off x="2068825" y="2021825"/>
                <a:ext cx="321708" cy="107819"/>
                <a:chOff x="1860251" y="2011577"/>
                <a:chExt cx="501307" cy="168011"/>
              </a:xfrm>
            </p:grpSpPr>
            <p:sp>
              <p:nvSpPr>
                <p:cNvPr id="71" name="Овал 70">
                  <a:extLst>
                    <a:ext uri="{FF2B5EF4-FFF2-40B4-BE49-F238E27FC236}">
                      <a16:creationId xmlns:a16="http://schemas.microsoft.com/office/drawing/2014/main" id="{15FEC053-B0B1-4771-8E1D-A7ABEBDA2E54}"/>
                    </a:ext>
                  </a:extLst>
                </p:cNvPr>
                <p:cNvSpPr/>
                <p:nvPr/>
              </p:nvSpPr>
              <p:spPr>
                <a:xfrm rot="2452744">
                  <a:off x="1860251" y="2084085"/>
                  <a:ext cx="45720" cy="45720"/>
                </a:xfrm>
                <a:prstGeom prst="ellipse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KZ" dirty="0"/>
                </a:p>
              </p:txBody>
            </p:sp>
            <p:sp>
              <p:nvSpPr>
                <p:cNvPr id="72" name="Овал 71">
                  <a:extLst>
                    <a:ext uri="{FF2B5EF4-FFF2-40B4-BE49-F238E27FC236}">
                      <a16:creationId xmlns:a16="http://schemas.microsoft.com/office/drawing/2014/main" id="{DAF40A48-55BA-4338-BED0-EF9E04A27D13}"/>
                    </a:ext>
                  </a:extLst>
                </p:cNvPr>
                <p:cNvSpPr/>
                <p:nvPr/>
              </p:nvSpPr>
              <p:spPr>
                <a:xfrm rot="8134131">
                  <a:off x="1976627" y="2084085"/>
                  <a:ext cx="45720" cy="45720"/>
                </a:xfrm>
                <a:prstGeom prst="ellipse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KZ" dirty="0"/>
                </a:p>
              </p:txBody>
            </p:sp>
            <p:sp>
              <p:nvSpPr>
                <p:cNvPr id="73" name="Овал 72">
                  <a:extLst>
                    <a:ext uri="{FF2B5EF4-FFF2-40B4-BE49-F238E27FC236}">
                      <a16:creationId xmlns:a16="http://schemas.microsoft.com/office/drawing/2014/main" id="{07C36F30-E502-46C4-98D4-A084BDCB8E24}"/>
                    </a:ext>
                  </a:extLst>
                </p:cNvPr>
                <p:cNvSpPr/>
                <p:nvPr/>
              </p:nvSpPr>
              <p:spPr>
                <a:xfrm rot="2452744">
                  <a:off x="2088848" y="2084085"/>
                  <a:ext cx="45720" cy="45720"/>
                </a:xfrm>
                <a:prstGeom prst="ellipse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KZ" dirty="0"/>
                </a:p>
              </p:txBody>
            </p:sp>
            <p:sp>
              <p:nvSpPr>
                <p:cNvPr id="74" name="Треугольник 24">
                  <a:extLst>
                    <a:ext uri="{FF2B5EF4-FFF2-40B4-BE49-F238E27FC236}">
                      <a16:creationId xmlns:a16="http://schemas.microsoft.com/office/drawing/2014/main" id="{104FBD21-966D-4AD7-BE37-E094A73971B3}"/>
                    </a:ext>
                  </a:extLst>
                </p:cNvPr>
                <p:cNvSpPr/>
                <p:nvPr/>
              </p:nvSpPr>
              <p:spPr>
                <a:xfrm rot="5400000">
                  <a:off x="2205132" y="2023163"/>
                  <a:ext cx="168011" cy="144840"/>
                </a:xfrm>
                <a:prstGeom prst="triangle">
                  <a:avLst/>
                </a:prstGeom>
                <a:solidFill>
                  <a:srgbClr val="6F3D9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KZ" dirty="0"/>
                </a:p>
              </p:txBody>
            </p:sp>
          </p:grpSp>
          <p:sp>
            <p:nvSpPr>
              <p:cNvPr id="70" name="Овал 69">
                <a:extLst>
                  <a:ext uri="{FF2B5EF4-FFF2-40B4-BE49-F238E27FC236}">
                    <a16:creationId xmlns:a16="http://schemas.microsoft.com/office/drawing/2014/main" id="{2EA5A85E-3DBE-4482-9FA8-072479A26794}"/>
                  </a:ext>
                </a:extLst>
              </p:cNvPr>
              <p:cNvSpPr/>
              <p:nvPr/>
            </p:nvSpPr>
            <p:spPr>
              <a:xfrm rot="2452744">
                <a:off x="1996452" y="2068345"/>
                <a:ext cx="29340" cy="29340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KZ" dirty="0"/>
              </a:p>
            </p:txBody>
          </p:sp>
        </p:grpSp>
        <p:sp>
          <p:nvSpPr>
            <p:cNvPr id="68" name="Треугольник 24">
              <a:extLst>
                <a:ext uri="{FF2B5EF4-FFF2-40B4-BE49-F238E27FC236}">
                  <a16:creationId xmlns:a16="http://schemas.microsoft.com/office/drawing/2014/main" id="{BD8DB208-15FA-4A2F-B741-5CB2E03C3663}"/>
                </a:ext>
              </a:extLst>
            </p:cNvPr>
            <p:cNvSpPr/>
            <p:nvPr/>
          </p:nvSpPr>
          <p:spPr>
            <a:xfrm rot="16200000">
              <a:off x="2229141" y="5231452"/>
              <a:ext cx="178843" cy="154178"/>
            </a:xfrm>
            <a:prstGeom prst="triangle">
              <a:avLst/>
            </a:prstGeom>
            <a:solidFill>
              <a:srgbClr val="6F3D9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KZ" dirty="0"/>
            </a:p>
          </p:txBody>
        </p:sp>
      </p:grpSp>
      <p:pic>
        <p:nvPicPr>
          <p:cNvPr id="75" name="Рисунок 74">
            <a:extLst>
              <a:ext uri="{FF2B5EF4-FFF2-40B4-BE49-F238E27FC236}">
                <a16:creationId xmlns:a16="http://schemas.microsoft.com/office/drawing/2014/main" id="{F5DCD5FE-46AD-4EF1-A909-BFF836DD61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99747" y="4551384"/>
            <a:ext cx="459047" cy="459047"/>
          </a:xfrm>
          <a:prstGeom prst="rect">
            <a:avLst/>
          </a:prstGeom>
        </p:spPr>
      </p:pic>
      <p:pic>
        <p:nvPicPr>
          <p:cNvPr id="78" name="Рисунок 77">
            <a:extLst>
              <a:ext uri="{FF2B5EF4-FFF2-40B4-BE49-F238E27FC236}">
                <a16:creationId xmlns:a16="http://schemas.microsoft.com/office/drawing/2014/main" id="{5BB6A86B-5692-452D-99AB-4598882226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14375" y="4705634"/>
            <a:ext cx="846902" cy="846902"/>
          </a:xfrm>
          <a:prstGeom prst="rect">
            <a:avLst/>
          </a:prstGeom>
        </p:spPr>
      </p:pic>
      <p:pic>
        <p:nvPicPr>
          <p:cNvPr id="80" name="Рисунок 79">
            <a:extLst>
              <a:ext uri="{FF2B5EF4-FFF2-40B4-BE49-F238E27FC236}">
                <a16:creationId xmlns:a16="http://schemas.microsoft.com/office/drawing/2014/main" id="{C3077F4A-A5A5-4553-AC23-2DB87AB8F3A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27723" y="5358556"/>
            <a:ext cx="431071" cy="431071"/>
          </a:xfrm>
          <a:prstGeom prst="rect">
            <a:avLst/>
          </a:prstGeom>
        </p:spPr>
      </p:pic>
      <p:pic>
        <p:nvPicPr>
          <p:cNvPr id="82" name="Рисунок 81">
            <a:extLst>
              <a:ext uri="{FF2B5EF4-FFF2-40B4-BE49-F238E27FC236}">
                <a16:creationId xmlns:a16="http://schemas.microsoft.com/office/drawing/2014/main" id="{00F9A481-F6B1-40D9-9D25-C0916AC4D10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44729" y="4745359"/>
            <a:ext cx="818934" cy="818934"/>
          </a:xfrm>
          <a:prstGeom prst="rect">
            <a:avLst/>
          </a:prstGeom>
        </p:spPr>
      </p:pic>
      <p:sp>
        <p:nvSpPr>
          <p:cNvPr id="85" name="TextBox 84">
            <a:extLst>
              <a:ext uri="{FF2B5EF4-FFF2-40B4-BE49-F238E27FC236}">
                <a16:creationId xmlns:a16="http://schemas.microsoft.com/office/drawing/2014/main" id="{0ED49701-7A23-4E82-A9F0-0462664F4641}"/>
              </a:ext>
            </a:extLst>
          </p:cNvPr>
          <p:cNvSpPr txBox="1"/>
          <p:nvPr/>
        </p:nvSpPr>
        <p:spPr>
          <a:xfrm>
            <a:off x="1094881" y="1432584"/>
            <a:ext cx="3421392" cy="58477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ru-RU" sz="2400" dirty="0">
                <a:solidFill>
                  <a:schemeClr val="bg1"/>
                </a:solidFill>
                <a:latin typeface="Helvetica" panose="020B0604020202020204" pitchFamily="34" charset="0"/>
                <a:ea typeface="+mj-ea"/>
                <a:cs typeface="Helvetica" panose="020B0604020202020204" pitchFamily="34" charset="0"/>
              </a:rPr>
              <a:t>По интернету</a:t>
            </a:r>
            <a:endParaRPr lang="en-US" sz="2400" dirty="0">
              <a:solidFill>
                <a:schemeClr val="bg1"/>
              </a:solidFill>
              <a:latin typeface="Helvetica" panose="020B0604020202020204" pitchFamily="34" charset="0"/>
              <a:ea typeface="+mj-ea"/>
              <a:cs typeface="Helvetica" panose="020B0604020202020204" pitchFamily="34" charset="0"/>
            </a:endParaRPr>
          </a:p>
        </p:txBody>
      </p:sp>
      <p:grpSp>
        <p:nvGrpSpPr>
          <p:cNvPr id="87" name="Группа 86">
            <a:extLst>
              <a:ext uri="{FF2B5EF4-FFF2-40B4-BE49-F238E27FC236}">
                <a16:creationId xmlns:a16="http://schemas.microsoft.com/office/drawing/2014/main" id="{25397459-62C0-4183-9BBB-6AA6DC36EB3E}"/>
              </a:ext>
            </a:extLst>
          </p:cNvPr>
          <p:cNvGrpSpPr/>
          <p:nvPr/>
        </p:nvGrpSpPr>
        <p:grpSpPr>
          <a:xfrm>
            <a:off x="7762674" y="1742189"/>
            <a:ext cx="442255" cy="131990"/>
            <a:chOff x="1996452" y="2021825"/>
            <a:chExt cx="394081" cy="107819"/>
          </a:xfrm>
        </p:grpSpPr>
        <p:grpSp>
          <p:nvGrpSpPr>
            <p:cNvPr id="89" name="Группа 88">
              <a:extLst>
                <a:ext uri="{FF2B5EF4-FFF2-40B4-BE49-F238E27FC236}">
                  <a16:creationId xmlns:a16="http://schemas.microsoft.com/office/drawing/2014/main" id="{F3E6CD3E-A5C7-4F43-A4D5-A5BEE21F1AFE}"/>
                </a:ext>
              </a:extLst>
            </p:cNvPr>
            <p:cNvGrpSpPr/>
            <p:nvPr/>
          </p:nvGrpSpPr>
          <p:grpSpPr>
            <a:xfrm>
              <a:off x="2068825" y="2021825"/>
              <a:ext cx="321708" cy="107819"/>
              <a:chOff x="1860251" y="2011577"/>
              <a:chExt cx="501307" cy="168011"/>
            </a:xfrm>
          </p:grpSpPr>
          <p:sp>
            <p:nvSpPr>
              <p:cNvPr id="91" name="Овал 90">
                <a:extLst>
                  <a:ext uri="{FF2B5EF4-FFF2-40B4-BE49-F238E27FC236}">
                    <a16:creationId xmlns:a16="http://schemas.microsoft.com/office/drawing/2014/main" id="{6FD5ADC2-BD1B-4A38-8D93-6060A3EED8FB}"/>
                  </a:ext>
                </a:extLst>
              </p:cNvPr>
              <p:cNvSpPr/>
              <p:nvPr/>
            </p:nvSpPr>
            <p:spPr>
              <a:xfrm rot="2452744">
                <a:off x="1860251" y="2084085"/>
                <a:ext cx="45720" cy="45720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KZ" dirty="0"/>
              </a:p>
            </p:txBody>
          </p:sp>
          <p:sp>
            <p:nvSpPr>
              <p:cNvPr id="92" name="Овал 91">
                <a:extLst>
                  <a:ext uri="{FF2B5EF4-FFF2-40B4-BE49-F238E27FC236}">
                    <a16:creationId xmlns:a16="http://schemas.microsoft.com/office/drawing/2014/main" id="{8806DDC7-F913-4390-9C8B-A3EC66A57B1A}"/>
                  </a:ext>
                </a:extLst>
              </p:cNvPr>
              <p:cNvSpPr/>
              <p:nvPr/>
            </p:nvSpPr>
            <p:spPr>
              <a:xfrm rot="8134131">
                <a:off x="1976627" y="2084085"/>
                <a:ext cx="45720" cy="45720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KZ" dirty="0"/>
              </a:p>
            </p:txBody>
          </p:sp>
          <p:sp>
            <p:nvSpPr>
              <p:cNvPr id="93" name="Овал 92">
                <a:extLst>
                  <a:ext uri="{FF2B5EF4-FFF2-40B4-BE49-F238E27FC236}">
                    <a16:creationId xmlns:a16="http://schemas.microsoft.com/office/drawing/2014/main" id="{E3C72359-1072-436A-8B4C-962FB75870E1}"/>
                  </a:ext>
                </a:extLst>
              </p:cNvPr>
              <p:cNvSpPr/>
              <p:nvPr/>
            </p:nvSpPr>
            <p:spPr>
              <a:xfrm rot="2452744">
                <a:off x="2088848" y="2084085"/>
                <a:ext cx="45720" cy="45720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KZ" dirty="0"/>
              </a:p>
            </p:txBody>
          </p:sp>
          <p:sp>
            <p:nvSpPr>
              <p:cNvPr id="94" name="Треугольник 24">
                <a:extLst>
                  <a:ext uri="{FF2B5EF4-FFF2-40B4-BE49-F238E27FC236}">
                    <a16:creationId xmlns:a16="http://schemas.microsoft.com/office/drawing/2014/main" id="{C3848C01-922E-43B1-AF63-CFE7654A424A}"/>
                  </a:ext>
                </a:extLst>
              </p:cNvPr>
              <p:cNvSpPr/>
              <p:nvPr/>
            </p:nvSpPr>
            <p:spPr>
              <a:xfrm rot="5400000">
                <a:off x="2205132" y="2023163"/>
                <a:ext cx="168011" cy="144840"/>
              </a:xfrm>
              <a:prstGeom prst="triangle">
                <a:avLst/>
              </a:prstGeom>
              <a:solidFill>
                <a:srgbClr val="6F3D9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KZ" dirty="0"/>
              </a:p>
            </p:txBody>
          </p:sp>
        </p:grpSp>
        <p:sp>
          <p:nvSpPr>
            <p:cNvPr id="90" name="Овал 89">
              <a:extLst>
                <a:ext uri="{FF2B5EF4-FFF2-40B4-BE49-F238E27FC236}">
                  <a16:creationId xmlns:a16="http://schemas.microsoft.com/office/drawing/2014/main" id="{684FA21C-1B8B-4F43-B5C9-8C0DF6190178}"/>
                </a:ext>
              </a:extLst>
            </p:cNvPr>
            <p:cNvSpPr/>
            <p:nvPr/>
          </p:nvSpPr>
          <p:spPr>
            <a:xfrm rot="2452744">
              <a:off x="1996452" y="2068345"/>
              <a:ext cx="29340" cy="2934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KZ" dirty="0"/>
            </a:p>
          </p:txBody>
        </p:sp>
      </p:grpSp>
      <p:sp>
        <p:nvSpPr>
          <p:cNvPr id="95" name="TextBox 94">
            <a:extLst>
              <a:ext uri="{FF2B5EF4-FFF2-40B4-BE49-F238E27FC236}">
                <a16:creationId xmlns:a16="http://schemas.microsoft.com/office/drawing/2014/main" id="{49065E7B-96B1-4285-A420-373FC83A33B0}"/>
              </a:ext>
            </a:extLst>
          </p:cNvPr>
          <p:cNvSpPr txBox="1"/>
          <p:nvPr/>
        </p:nvSpPr>
        <p:spPr>
          <a:xfrm>
            <a:off x="8699118" y="1591540"/>
            <a:ext cx="3421392" cy="58477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>
              <a:lnSpc>
                <a:spcPct val="70000"/>
              </a:lnSpc>
              <a:spcBef>
                <a:spcPct val="0"/>
              </a:spcBef>
              <a:spcAft>
                <a:spcPts val="600"/>
              </a:spcAft>
            </a:pPr>
            <a:r>
              <a:rPr lang="ru-RU" sz="2400" dirty="0">
                <a:solidFill>
                  <a:schemeClr val="bg1"/>
                </a:solidFill>
                <a:latin typeface="Helvetica" panose="020B0604020202020204" pitchFamily="34" charset="0"/>
                <a:ea typeface="+mj-ea"/>
                <a:cs typeface="Helvetica" panose="020B0604020202020204" pitchFamily="34" charset="0"/>
              </a:rPr>
              <a:t>Прямое</a:t>
            </a:r>
          </a:p>
          <a:p>
            <a:pPr>
              <a:lnSpc>
                <a:spcPct val="70000"/>
              </a:lnSpc>
              <a:spcBef>
                <a:spcPct val="0"/>
              </a:spcBef>
              <a:spcAft>
                <a:spcPts val="300"/>
              </a:spcAft>
            </a:pPr>
            <a:r>
              <a:rPr lang="ru-RU" sz="2400" dirty="0">
                <a:solidFill>
                  <a:schemeClr val="bg1"/>
                </a:solidFill>
                <a:latin typeface="Helvetica" panose="020B0604020202020204" pitchFamily="34" charset="0"/>
                <a:ea typeface="+mj-ea"/>
                <a:cs typeface="Helvetica" panose="020B0604020202020204" pitchFamily="34" charset="0"/>
              </a:rPr>
              <a:t>подключение</a:t>
            </a:r>
            <a:endParaRPr lang="en-US" sz="2400" dirty="0">
              <a:solidFill>
                <a:schemeClr val="bg1"/>
              </a:solidFill>
              <a:latin typeface="Helvetica" panose="020B0604020202020204" pitchFamily="34" charset="0"/>
              <a:ea typeface="+mj-ea"/>
              <a:cs typeface="Helvetica" panose="020B0604020202020204" pitchFamily="34" charset="0"/>
            </a:endParaRPr>
          </a:p>
        </p:txBody>
      </p:sp>
      <p:grpSp>
        <p:nvGrpSpPr>
          <p:cNvPr id="96" name="Группа 95">
            <a:extLst>
              <a:ext uri="{FF2B5EF4-FFF2-40B4-BE49-F238E27FC236}">
                <a16:creationId xmlns:a16="http://schemas.microsoft.com/office/drawing/2014/main" id="{C20F441F-AC86-46A9-ADA7-F935FBD97411}"/>
              </a:ext>
            </a:extLst>
          </p:cNvPr>
          <p:cNvGrpSpPr/>
          <p:nvPr/>
        </p:nvGrpSpPr>
        <p:grpSpPr>
          <a:xfrm rot="10800000">
            <a:off x="4207834" y="1749605"/>
            <a:ext cx="442255" cy="131990"/>
            <a:chOff x="1996452" y="2021825"/>
            <a:chExt cx="394081" cy="107819"/>
          </a:xfrm>
        </p:grpSpPr>
        <p:grpSp>
          <p:nvGrpSpPr>
            <p:cNvPr id="97" name="Группа 96">
              <a:extLst>
                <a:ext uri="{FF2B5EF4-FFF2-40B4-BE49-F238E27FC236}">
                  <a16:creationId xmlns:a16="http://schemas.microsoft.com/office/drawing/2014/main" id="{480B9068-1052-408F-A864-B553CCC7EE73}"/>
                </a:ext>
              </a:extLst>
            </p:cNvPr>
            <p:cNvGrpSpPr/>
            <p:nvPr/>
          </p:nvGrpSpPr>
          <p:grpSpPr>
            <a:xfrm>
              <a:off x="2068825" y="2021825"/>
              <a:ext cx="321708" cy="107819"/>
              <a:chOff x="1860251" y="2011577"/>
              <a:chExt cx="501307" cy="168011"/>
            </a:xfrm>
          </p:grpSpPr>
          <p:sp>
            <p:nvSpPr>
              <p:cNvPr id="99" name="Овал 98">
                <a:extLst>
                  <a:ext uri="{FF2B5EF4-FFF2-40B4-BE49-F238E27FC236}">
                    <a16:creationId xmlns:a16="http://schemas.microsoft.com/office/drawing/2014/main" id="{ECB4CD92-CC22-45BB-8E53-24FBE1C25096}"/>
                  </a:ext>
                </a:extLst>
              </p:cNvPr>
              <p:cNvSpPr/>
              <p:nvPr/>
            </p:nvSpPr>
            <p:spPr>
              <a:xfrm rot="2452744">
                <a:off x="1860251" y="2084085"/>
                <a:ext cx="45720" cy="45720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KZ" dirty="0"/>
              </a:p>
            </p:txBody>
          </p:sp>
          <p:sp>
            <p:nvSpPr>
              <p:cNvPr id="100" name="Овал 99">
                <a:extLst>
                  <a:ext uri="{FF2B5EF4-FFF2-40B4-BE49-F238E27FC236}">
                    <a16:creationId xmlns:a16="http://schemas.microsoft.com/office/drawing/2014/main" id="{FCCEAE24-3EEC-45F2-BD2E-FC683A941AAB}"/>
                  </a:ext>
                </a:extLst>
              </p:cNvPr>
              <p:cNvSpPr/>
              <p:nvPr/>
            </p:nvSpPr>
            <p:spPr>
              <a:xfrm rot="8134131">
                <a:off x="1976627" y="2084085"/>
                <a:ext cx="45720" cy="45720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KZ" dirty="0"/>
              </a:p>
            </p:txBody>
          </p:sp>
          <p:sp>
            <p:nvSpPr>
              <p:cNvPr id="101" name="Овал 100">
                <a:extLst>
                  <a:ext uri="{FF2B5EF4-FFF2-40B4-BE49-F238E27FC236}">
                    <a16:creationId xmlns:a16="http://schemas.microsoft.com/office/drawing/2014/main" id="{6DFCBF98-F25F-452D-A8FE-1C4CA7E2BD5A}"/>
                  </a:ext>
                </a:extLst>
              </p:cNvPr>
              <p:cNvSpPr/>
              <p:nvPr/>
            </p:nvSpPr>
            <p:spPr>
              <a:xfrm rot="2452744">
                <a:off x="2088848" y="2084085"/>
                <a:ext cx="45720" cy="45720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KZ" dirty="0"/>
              </a:p>
            </p:txBody>
          </p:sp>
          <p:sp>
            <p:nvSpPr>
              <p:cNvPr id="102" name="Треугольник 24">
                <a:extLst>
                  <a:ext uri="{FF2B5EF4-FFF2-40B4-BE49-F238E27FC236}">
                    <a16:creationId xmlns:a16="http://schemas.microsoft.com/office/drawing/2014/main" id="{7816DBDA-E5D8-4D46-9609-5104635D080B}"/>
                  </a:ext>
                </a:extLst>
              </p:cNvPr>
              <p:cNvSpPr/>
              <p:nvPr/>
            </p:nvSpPr>
            <p:spPr>
              <a:xfrm rot="5400000">
                <a:off x="2205132" y="2023163"/>
                <a:ext cx="168011" cy="144840"/>
              </a:xfrm>
              <a:prstGeom prst="triangle">
                <a:avLst/>
              </a:prstGeom>
              <a:solidFill>
                <a:srgbClr val="6F3D9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KZ" dirty="0"/>
              </a:p>
            </p:txBody>
          </p:sp>
        </p:grpSp>
        <p:sp>
          <p:nvSpPr>
            <p:cNvPr id="98" name="Овал 97">
              <a:extLst>
                <a:ext uri="{FF2B5EF4-FFF2-40B4-BE49-F238E27FC236}">
                  <a16:creationId xmlns:a16="http://schemas.microsoft.com/office/drawing/2014/main" id="{04CCB639-9F53-4F90-B131-77ABD1FFF790}"/>
                </a:ext>
              </a:extLst>
            </p:cNvPr>
            <p:cNvSpPr/>
            <p:nvPr/>
          </p:nvSpPr>
          <p:spPr>
            <a:xfrm rot="2452744">
              <a:off x="1996452" y="2068345"/>
              <a:ext cx="29340" cy="2934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KZ" dirty="0"/>
            </a:p>
          </p:txBody>
        </p:sp>
      </p:grpSp>
      <p:sp>
        <p:nvSpPr>
          <p:cNvPr id="104" name="TextBox 103">
            <a:extLst>
              <a:ext uri="{FF2B5EF4-FFF2-40B4-BE49-F238E27FC236}">
                <a16:creationId xmlns:a16="http://schemas.microsoft.com/office/drawing/2014/main" id="{1FE89126-0185-4849-8885-BE994DDC2598}"/>
              </a:ext>
            </a:extLst>
          </p:cNvPr>
          <p:cNvSpPr txBox="1"/>
          <p:nvPr/>
        </p:nvSpPr>
        <p:spPr>
          <a:xfrm>
            <a:off x="4076846" y="1572084"/>
            <a:ext cx="4086190" cy="58477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ru-RU" sz="2400" b="1" dirty="0">
                <a:solidFill>
                  <a:srgbClr val="6A2E92"/>
                </a:solidFill>
                <a:latin typeface="Helvetica" panose="020B0604020202020204" pitchFamily="34" charset="0"/>
                <a:ea typeface="+mj-ea"/>
                <a:cs typeface="Helvetica" panose="020B0604020202020204" pitchFamily="34" charset="0"/>
              </a:rPr>
              <a:t>ТИПЫ</a:t>
            </a:r>
            <a:br>
              <a:rPr lang="ru-RU" sz="2400" b="1" dirty="0">
                <a:solidFill>
                  <a:srgbClr val="6A2E92"/>
                </a:solidFill>
                <a:latin typeface="Helvetica" panose="020B0604020202020204" pitchFamily="34" charset="0"/>
                <a:ea typeface="+mj-ea"/>
                <a:cs typeface="Helvetica" panose="020B0604020202020204" pitchFamily="34" charset="0"/>
              </a:rPr>
            </a:br>
            <a:r>
              <a:rPr lang="ru-RU" sz="2400" b="1" dirty="0">
                <a:solidFill>
                  <a:srgbClr val="6A2E92"/>
                </a:solidFill>
                <a:latin typeface="Helvetica" panose="020B0604020202020204" pitchFamily="34" charset="0"/>
                <a:ea typeface="+mj-ea"/>
                <a:cs typeface="Helvetica" panose="020B0604020202020204" pitchFamily="34" charset="0"/>
              </a:rPr>
              <a:t>ПОДКЛЮЧЕНИЙ</a:t>
            </a:r>
            <a:endParaRPr lang="en-US" sz="2400" b="1" dirty="0">
              <a:solidFill>
                <a:srgbClr val="6A2E92"/>
              </a:solidFill>
              <a:latin typeface="Helvetica" panose="020B0604020202020204" pitchFamily="34" charset="0"/>
              <a:ea typeface="+mj-ea"/>
              <a:cs typeface="Helvetica" panose="020B0604020202020204" pitchFamily="34" charset="0"/>
            </a:endParaRPr>
          </a:p>
        </p:txBody>
      </p:sp>
      <p:sp>
        <p:nvSpPr>
          <p:cNvPr id="106" name="Прямоугольник 105">
            <a:extLst>
              <a:ext uri="{FF2B5EF4-FFF2-40B4-BE49-F238E27FC236}">
                <a16:creationId xmlns:a16="http://schemas.microsoft.com/office/drawing/2014/main" id="{5E878DCD-9EFC-4049-9FC5-ADDD73C37ECA}"/>
              </a:ext>
            </a:extLst>
          </p:cNvPr>
          <p:cNvSpPr/>
          <p:nvPr/>
        </p:nvSpPr>
        <p:spPr>
          <a:xfrm>
            <a:off x="5712393" y="3347759"/>
            <a:ext cx="6790920" cy="847450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34290" tIns="102870" rIns="34290" bIns="34290" numCol="1" spcCol="1270" anchor="t" anchorCtr="0">
            <a:noAutofit/>
          </a:bodyPr>
          <a:lstStyle/>
          <a:p>
            <a:pPr marL="285750" lvl="1" indent="-285750" defTabSz="12001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Font typeface="Arial" panose="020B0604020202020204" pitchFamily="34" charset="0"/>
              <a:buChar char="•"/>
            </a:pPr>
            <a:r>
              <a:rPr lang="ru-RU" dirty="0">
                <a:latin typeface="Helvetica Neue"/>
                <a:cs typeface="Arial" panose="020B0604020202020204" pitchFamily="34" charset="0"/>
              </a:rPr>
              <a:t>Поддержка </a:t>
            </a:r>
            <a:r>
              <a:rPr lang="en-US" dirty="0">
                <a:latin typeface="Helvetica Neue"/>
                <a:cs typeface="Arial" panose="020B0604020202020204" pitchFamily="34" charset="0"/>
              </a:rPr>
              <a:t>SIP</a:t>
            </a:r>
            <a:r>
              <a:rPr lang="ru-RU" dirty="0">
                <a:latin typeface="Helvetica Neue"/>
                <a:cs typeface="Arial" panose="020B0604020202020204" pitchFamily="34" charset="0"/>
              </a:rPr>
              <a:t> на АТС Заказчика</a:t>
            </a:r>
          </a:p>
          <a:p>
            <a:pPr marL="285750" lvl="1" indent="-285750" defTabSz="12001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Font typeface="Arial" panose="020B0604020202020204" pitchFamily="34" charset="0"/>
              <a:buChar char="•"/>
            </a:pPr>
            <a:r>
              <a:rPr lang="ru-RU" dirty="0">
                <a:latin typeface="Helvetica Neue"/>
                <a:cs typeface="Arial" panose="020B0604020202020204" pitchFamily="34" charset="0"/>
              </a:rPr>
              <a:t>Технический специалист, способный настроить АТС</a:t>
            </a:r>
          </a:p>
          <a:p>
            <a:pPr marL="285750" lvl="1" indent="-285750" defTabSz="12001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Font typeface="Arial" panose="020B0604020202020204" pitchFamily="34" charset="0"/>
              <a:buChar char="•"/>
            </a:pPr>
            <a:endParaRPr lang="ru-RU" kern="1200" dirty="0">
              <a:latin typeface="Helvetica Neue"/>
              <a:cs typeface="Arial" panose="020B0604020202020204" pitchFamily="34" charset="0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2DFF3E1-6D31-1841-588F-F59DC185A95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952322" y="399717"/>
            <a:ext cx="736255" cy="241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39834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018C3262-7CF2-45D3-B978-4F6967B874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1140165"/>
              </p:ext>
            </p:extLst>
          </p:nvPr>
        </p:nvGraphicFramePr>
        <p:xfrm>
          <a:off x="677621" y="1378738"/>
          <a:ext cx="11060491" cy="4841119"/>
        </p:xfrm>
        <a:graphic>
          <a:graphicData uri="http://schemas.openxmlformats.org/drawingml/2006/table">
            <a:tbl>
              <a:tblPr firstRow="1" bandRow="1">
                <a:tableStyleId>{1E171933-4619-4E11-9A3F-F7608DF75F80}</a:tableStyleId>
              </a:tblPr>
              <a:tblGrid>
                <a:gridCol w="21304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768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531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6111">
                <a:tc>
                  <a:txBody>
                    <a:bodyPr/>
                    <a:lstStyle/>
                    <a:p>
                      <a:pPr algn="l"/>
                      <a:r>
                        <a:rPr lang="ru-RU" sz="2500" dirty="0">
                          <a:latin typeface="Helvetica Neue"/>
                          <a:cs typeface="Arial" panose="020B0604020202020204" pitchFamily="34" charset="0"/>
                        </a:rPr>
                        <a:t>Критерий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7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2500" dirty="0">
                          <a:latin typeface="Helvetica Neue"/>
                          <a:cs typeface="Arial" panose="020B0604020202020204" pitchFamily="34" charset="0"/>
                        </a:rPr>
                        <a:t>По</a:t>
                      </a:r>
                      <a:r>
                        <a:rPr lang="ru-RU" sz="2500" baseline="0" dirty="0">
                          <a:latin typeface="Helvetica Neue"/>
                          <a:cs typeface="Arial" panose="020B0604020202020204" pitchFamily="34" charset="0"/>
                        </a:rPr>
                        <a:t> Интернету</a:t>
                      </a:r>
                      <a:endParaRPr lang="ru-RU" sz="2500" dirty="0">
                        <a:latin typeface="Helvetica Neue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7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2500" dirty="0">
                          <a:latin typeface="Helvetica Neue"/>
                          <a:cs typeface="Arial" panose="020B0604020202020204" pitchFamily="34" charset="0"/>
                        </a:rPr>
                        <a:t>Прямое подключение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7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96221">
                <a:tc>
                  <a:txBody>
                    <a:bodyPr/>
                    <a:lstStyle/>
                    <a:p>
                      <a:r>
                        <a:rPr lang="ru-RU" sz="1500" b="1" dirty="0">
                          <a:latin typeface="Helvetica Neue"/>
                          <a:cs typeface="Arial" panose="020B0604020202020204" pitchFamily="34" charset="0"/>
                        </a:rPr>
                        <a:t>Требования на</a:t>
                      </a:r>
                      <a:r>
                        <a:rPr lang="ru-RU" sz="1500" b="1" baseline="0" dirty="0">
                          <a:latin typeface="Helvetica Neue"/>
                          <a:cs typeface="Arial" panose="020B0604020202020204" pitchFamily="34" charset="0"/>
                        </a:rPr>
                        <a:t> стороне</a:t>
                      </a:r>
                      <a:r>
                        <a:rPr lang="ru-RU" sz="1500" b="1" dirty="0">
                          <a:latin typeface="Helvetica Neue"/>
                          <a:cs typeface="Arial" panose="020B0604020202020204" pitchFamily="34" charset="0"/>
                        </a:rPr>
                        <a:t> Заказчика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ru-RU" sz="1500" dirty="0">
                          <a:latin typeface="Helvetica Neue"/>
                          <a:cs typeface="Arial" panose="020B0604020202020204" pitchFamily="34" charset="0"/>
                        </a:rPr>
                        <a:t>АТС</a:t>
                      </a:r>
                      <a:r>
                        <a:rPr lang="ru-RU" sz="1500" baseline="0" dirty="0">
                          <a:latin typeface="Helvetica Neue"/>
                          <a:cs typeface="Arial" panose="020B0604020202020204" pitchFamily="34" charset="0"/>
                        </a:rPr>
                        <a:t> с поддержкой </a:t>
                      </a:r>
                      <a:r>
                        <a:rPr lang="en-US" sz="1500" baseline="0" dirty="0">
                          <a:latin typeface="Helvetica Neue"/>
                          <a:cs typeface="Arial" panose="020B0604020202020204" pitchFamily="34" charset="0"/>
                        </a:rPr>
                        <a:t>SIP (h.323 </a:t>
                      </a:r>
                      <a:r>
                        <a:rPr lang="ru-RU" sz="1500" baseline="0" dirty="0">
                          <a:latin typeface="Helvetica Neue"/>
                          <a:cs typeface="Arial" panose="020B0604020202020204" pitchFamily="34" charset="0"/>
                        </a:rPr>
                        <a:t>протокол не поддерживается</a:t>
                      </a:r>
                      <a:r>
                        <a:rPr lang="en-US" sz="1500" baseline="0" dirty="0">
                          <a:latin typeface="Helvetica Neue"/>
                          <a:cs typeface="Arial" panose="020B0604020202020204" pitchFamily="34" charset="0"/>
                        </a:rPr>
                        <a:t>)</a:t>
                      </a:r>
                      <a:endParaRPr lang="ru-RU" sz="1500" baseline="0" dirty="0">
                        <a:latin typeface="Helvetica Neue"/>
                        <a:cs typeface="Arial" panose="020B0604020202020204" pitchFamily="34" charset="0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ru-RU" sz="1500" baseline="0" dirty="0">
                          <a:latin typeface="Helvetica Neue"/>
                          <a:cs typeface="Arial" panose="020B0604020202020204" pitchFamily="34" charset="0"/>
                        </a:rPr>
                        <a:t>Внешний статический </a:t>
                      </a:r>
                      <a:r>
                        <a:rPr lang="en-US" sz="1500" baseline="0" dirty="0">
                          <a:latin typeface="Helvetica Neue"/>
                          <a:cs typeface="Arial" panose="020B0604020202020204" pitchFamily="34" charset="0"/>
                        </a:rPr>
                        <a:t>IP </a:t>
                      </a:r>
                      <a:r>
                        <a:rPr lang="ru-RU" sz="1500" baseline="0" dirty="0">
                          <a:latin typeface="Helvetica Neue"/>
                          <a:cs typeface="Arial" panose="020B0604020202020204" pitchFamily="34" charset="0"/>
                        </a:rPr>
                        <a:t>адрес интернета</a:t>
                      </a:r>
                    </a:p>
                    <a:p>
                      <a:pPr marL="285750" marR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ru-RU" sz="1500" baseline="0" dirty="0">
                          <a:latin typeface="Helvetica Neue"/>
                          <a:cs typeface="Arial" panose="020B0604020202020204" pitchFamily="34" charset="0"/>
                        </a:rPr>
                        <a:t>Тех. специалист способный настроить АТС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ru-RU" sz="1500" dirty="0">
                          <a:latin typeface="Helvetica Neue"/>
                          <a:cs typeface="Arial" panose="020B0604020202020204" pitchFamily="34" charset="0"/>
                        </a:rPr>
                        <a:t>АТС с поддержкой</a:t>
                      </a:r>
                      <a:r>
                        <a:rPr lang="ru-RU" sz="1500" baseline="0" dirty="0">
                          <a:latin typeface="Helvetica Neue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500" baseline="0" dirty="0">
                          <a:latin typeface="Helvetica Neue"/>
                          <a:cs typeface="Arial" panose="020B0604020202020204" pitchFamily="34" charset="0"/>
                        </a:rPr>
                        <a:t>SIP </a:t>
                      </a:r>
                      <a:r>
                        <a:rPr lang="ru-RU" sz="1500" baseline="0" dirty="0">
                          <a:latin typeface="Helvetica Neue"/>
                          <a:cs typeface="Arial" panose="020B0604020202020204" pitchFamily="34" charset="0"/>
                        </a:rPr>
                        <a:t>или </a:t>
                      </a:r>
                      <a:r>
                        <a:rPr lang="en-US" sz="1500" baseline="0" dirty="0">
                          <a:latin typeface="Helvetica Neue"/>
                          <a:cs typeface="Arial" panose="020B0604020202020204" pitchFamily="34" charset="0"/>
                        </a:rPr>
                        <a:t>E1 </a:t>
                      </a:r>
                      <a:r>
                        <a:rPr lang="ru-RU" sz="1500" baseline="0" dirty="0">
                          <a:latin typeface="Helvetica Neue"/>
                          <a:cs typeface="Arial" panose="020B0604020202020204" pitchFamily="34" charset="0"/>
                        </a:rPr>
                        <a:t>потоков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ru-RU" sz="1500" baseline="0" dirty="0">
                          <a:latin typeface="Helvetica Neue"/>
                          <a:cs typeface="Arial" panose="020B0604020202020204" pitchFamily="34" charset="0"/>
                        </a:rPr>
                        <a:t>Желательно расположение базовой станции Кселл вблизи АТС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ru-RU" sz="1500" baseline="0" dirty="0">
                          <a:latin typeface="Helvetica Neue"/>
                          <a:cs typeface="Arial" panose="020B0604020202020204" pitchFamily="34" charset="0"/>
                        </a:rPr>
                        <a:t>Тех. специалист способный настроить АТС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34249">
                <a:tc>
                  <a:txBody>
                    <a:bodyPr/>
                    <a:lstStyle/>
                    <a:p>
                      <a:r>
                        <a:rPr lang="ru-RU" sz="1500" b="1" dirty="0">
                          <a:latin typeface="Helvetica Neue"/>
                          <a:cs typeface="Arial" panose="020B0604020202020204" pitchFamily="34" charset="0"/>
                        </a:rPr>
                        <a:t>Качество</a:t>
                      </a:r>
                      <a:r>
                        <a:rPr lang="ru-RU" sz="1500" b="1" baseline="0" dirty="0">
                          <a:latin typeface="Helvetica Neue"/>
                          <a:cs typeface="Arial" panose="020B0604020202020204" pitchFamily="34" charset="0"/>
                        </a:rPr>
                        <a:t> соединения</a:t>
                      </a:r>
                      <a:endParaRPr lang="ru-RU" sz="1500" b="1" dirty="0">
                        <a:latin typeface="Helvetica Neue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ru-RU" sz="1500" dirty="0">
                          <a:latin typeface="Helvetica Neue"/>
                          <a:cs typeface="Arial" panose="020B0604020202020204" pitchFamily="34" charset="0"/>
                        </a:rPr>
                        <a:t>Зависит от качества</a:t>
                      </a:r>
                      <a:r>
                        <a:rPr lang="ru-RU" sz="1500" baseline="0" dirty="0">
                          <a:latin typeface="Helvetica Neue"/>
                          <a:cs typeface="Arial" panose="020B0604020202020204" pitchFamily="34" charset="0"/>
                        </a:rPr>
                        <a:t> интернета на стороне Заказчика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ru-RU" sz="1500" baseline="0" dirty="0">
                          <a:latin typeface="Helvetica Neue"/>
                          <a:cs typeface="Arial" panose="020B0604020202020204" pitchFamily="34" charset="0"/>
                        </a:rPr>
                        <a:t>Зависит от количества единовременных соединений</a:t>
                      </a:r>
                      <a:endParaRPr lang="ru-RU" sz="1500" dirty="0">
                        <a:latin typeface="Helvetica Neue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r>
                        <a:rPr lang="ru-RU" sz="1500" dirty="0">
                          <a:latin typeface="Helvetica Neue"/>
                          <a:cs typeface="Arial" panose="020B0604020202020204" pitchFamily="34" charset="0"/>
                        </a:rPr>
                        <a:t>Высокое качество,</a:t>
                      </a:r>
                      <a:r>
                        <a:rPr lang="ru-RU" sz="1500" baseline="0" dirty="0">
                          <a:latin typeface="Helvetica Neue"/>
                          <a:cs typeface="Arial" panose="020B0604020202020204" pitchFamily="34" charset="0"/>
                        </a:rPr>
                        <a:t> соединение по кабелю</a:t>
                      </a:r>
                      <a:endParaRPr lang="ru-RU" sz="1500" dirty="0">
                        <a:latin typeface="Helvetica Neue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7780">
                <a:tc>
                  <a:txBody>
                    <a:bodyPr/>
                    <a:lstStyle/>
                    <a:p>
                      <a:r>
                        <a:rPr lang="ru-RU" sz="1500" b="1" dirty="0">
                          <a:latin typeface="Helvetica Neue"/>
                          <a:cs typeface="Arial" panose="020B0604020202020204" pitchFamily="34" charset="0"/>
                        </a:rPr>
                        <a:t>Количество сессий</a:t>
                      </a:r>
                      <a:r>
                        <a:rPr lang="en-US" sz="1500" b="1" dirty="0">
                          <a:latin typeface="Helvetica Neue"/>
                          <a:cs typeface="Arial" panose="020B0604020202020204" pitchFamily="34" charset="0"/>
                        </a:rPr>
                        <a:t>/</a:t>
                      </a:r>
                      <a:r>
                        <a:rPr lang="ru-RU" sz="1500" b="1" dirty="0">
                          <a:latin typeface="Helvetica Neue"/>
                          <a:cs typeface="Arial" panose="020B0604020202020204" pitchFamily="34" charset="0"/>
                        </a:rPr>
                        <a:t>каналов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r>
                        <a:rPr lang="ru-RU" sz="1500" dirty="0">
                          <a:latin typeface="Helvetica Neue"/>
                          <a:cs typeface="Arial" panose="020B0604020202020204" pitchFamily="34" charset="0"/>
                        </a:rPr>
                        <a:t>Неограниченное</a:t>
                      </a:r>
                      <a:r>
                        <a:rPr lang="ru-RU" sz="1500" baseline="0" dirty="0">
                          <a:latin typeface="Helvetica Neue"/>
                          <a:cs typeface="Arial" panose="020B0604020202020204" pitchFamily="34" charset="0"/>
                        </a:rPr>
                        <a:t> количество сессий</a:t>
                      </a:r>
                      <a:endParaRPr lang="ru-RU" sz="1500" dirty="0">
                        <a:latin typeface="Helvetica Neue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r>
                        <a:rPr lang="ru-RU" sz="1500" dirty="0">
                          <a:latin typeface="Helvetica Neue"/>
                          <a:cs typeface="Arial" panose="020B0604020202020204" pitchFamily="34" charset="0"/>
                        </a:rPr>
                        <a:t>Одно</a:t>
                      </a:r>
                      <a:r>
                        <a:rPr lang="ru-RU" sz="1500" baseline="0" dirty="0">
                          <a:latin typeface="Helvetica Neue"/>
                          <a:cs typeface="Arial" panose="020B0604020202020204" pitchFamily="34" charset="0"/>
                        </a:rPr>
                        <a:t> соединение – 30 каналов</a:t>
                      </a:r>
                      <a:endParaRPr lang="ru-RU" sz="1500" dirty="0">
                        <a:latin typeface="Helvetica Neue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8476">
                <a:tc>
                  <a:txBody>
                    <a:bodyPr/>
                    <a:lstStyle/>
                    <a:p>
                      <a:r>
                        <a:rPr lang="ru-RU" sz="1500" b="1" dirty="0">
                          <a:latin typeface="Helvetica Neue"/>
                          <a:cs typeface="Arial" panose="020B0604020202020204" pitchFamily="34" charset="0"/>
                        </a:rPr>
                        <a:t>Тестирование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r>
                        <a:rPr lang="ru-RU" sz="1500" dirty="0">
                          <a:latin typeface="Helvetica Neue"/>
                          <a:cs typeface="Arial" panose="020B0604020202020204" pitchFamily="34" charset="0"/>
                        </a:rPr>
                        <a:t>Бесплатное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r>
                        <a:rPr lang="ru-RU" sz="1500" dirty="0">
                          <a:latin typeface="Helvetica Neue"/>
                          <a:cs typeface="Arial" panose="020B0604020202020204" pitchFamily="34" charset="0"/>
                        </a:rPr>
                        <a:t>После подписания договора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8282">
                <a:tc>
                  <a:txBody>
                    <a:bodyPr/>
                    <a:lstStyle/>
                    <a:p>
                      <a:r>
                        <a:rPr lang="ru-RU" sz="1500" b="1" dirty="0">
                          <a:latin typeface="Helvetica Neue"/>
                          <a:cs typeface="Arial" panose="020B0604020202020204" pitchFamily="34" charset="0"/>
                        </a:rPr>
                        <a:t>Сроки </a:t>
                      </a:r>
                      <a:endParaRPr lang="en-US" sz="1500" b="1" dirty="0">
                        <a:latin typeface="Helvetica Neue"/>
                        <a:cs typeface="Arial" panose="020B0604020202020204" pitchFamily="34" charset="0"/>
                      </a:endParaRPr>
                    </a:p>
                    <a:p>
                      <a:r>
                        <a:rPr lang="ru-RU" sz="1500" b="1" dirty="0">
                          <a:latin typeface="Helvetica Neue"/>
                          <a:cs typeface="Arial" panose="020B0604020202020204" pitchFamily="34" charset="0"/>
                        </a:rPr>
                        <a:t>подключения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r>
                        <a:rPr lang="ru-RU" sz="1500" dirty="0">
                          <a:latin typeface="Helvetica Neue"/>
                          <a:cs typeface="Arial" panose="020B0604020202020204" pitchFamily="34" charset="0"/>
                        </a:rPr>
                        <a:t>1-2 дня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r>
                        <a:rPr lang="ru-RU" sz="1500" dirty="0">
                          <a:latin typeface="Helvetica Neue"/>
                          <a:cs typeface="Arial" panose="020B0604020202020204" pitchFamily="34" charset="0"/>
                        </a:rPr>
                        <a:t>7-30 дней (зависит от сложности постройки сети)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056112A3-A006-484B-BEF9-79CACDB70931}"/>
              </a:ext>
            </a:extLst>
          </p:cNvPr>
          <p:cNvSpPr txBox="1"/>
          <p:nvPr/>
        </p:nvSpPr>
        <p:spPr>
          <a:xfrm>
            <a:off x="677622" y="479046"/>
            <a:ext cx="5884482" cy="58477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ru-RU" sz="2800" b="1" dirty="0">
                <a:solidFill>
                  <a:srgbClr val="6A2E92"/>
                </a:solidFill>
                <a:latin typeface="Helvetica" panose="020B0604020202020204" pitchFamily="34" charset="0"/>
                <a:ea typeface="+mj-ea"/>
                <a:cs typeface="Helvetica" panose="020B0604020202020204" pitchFamily="34" charset="0"/>
              </a:rPr>
              <a:t>Сравнение</a:t>
            </a:r>
            <a:endParaRPr lang="en-US" sz="2800" b="1" dirty="0">
              <a:solidFill>
                <a:srgbClr val="6A2E92"/>
              </a:solidFill>
              <a:latin typeface="Helvetica" panose="020B0604020202020204" pitchFamily="34" charset="0"/>
              <a:ea typeface="+mj-ea"/>
              <a:cs typeface="Helvetica" panose="020B0604020202020204" pitchFamily="34" charset="0"/>
            </a:endParaRP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F4FD8AFE-9381-944D-F3EA-28E5E39469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52322" y="399717"/>
            <a:ext cx="736255" cy="241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18820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93D561B-C22A-433D-ACF7-02CCF929F33A}"/>
              </a:ext>
            </a:extLst>
          </p:cNvPr>
          <p:cNvSpPr/>
          <p:nvPr/>
        </p:nvSpPr>
        <p:spPr>
          <a:xfrm>
            <a:off x="563619" y="5689453"/>
            <a:ext cx="914400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1000" dirty="0">
                <a:latin typeface="Pragmatica Book Reg"/>
                <a:cs typeface="Arial" panose="020B0604020202020204" pitchFamily="34" charset="0"/>
              </a:rPr>
              <a:t>*Абонентская плата списывается каждое 1-е число месяца, следующего за учетным независимо от даты подключения или отключения тарифного плана. </a:t>
            </a:r>
            <a:endParaRPr lang="en-US" sz="1000" dirty="0">
              <a:latin typeface="Pragmatica Book Reg"/>
              <a:cs typeface="Arial" panose="020B0604020202020204" pitchFamily="34" charset="0"/>
            </a:endParaRPr>
          </a:p>
          <a:p>
            <a:pPr algn="just"/>
            <a:r>
              <a:rPr lang="ru-RU" sz="1000" dirty="0">
                <a:latin typeface="Pragmatica Book Reg"/>
                <a:cs typeface="Arial" panose="020B0604020202020204" pitchFamily="34" charset="0"/>
              </a:rPr>
              <a:t>В абонентскую плату включена стоимость ежемесячного пакета минут для звонков </a:t>
            </a:r>
            <a:r>
              <a:rPr lang="ru-RU" sz="1000" dirty="0">
                <a:latin typeface="Pragmatica Book Reg"/>
                <a:ea typeface="ヒラギノ角ゴ ProN W3" charset="-128"/>
                <a:cs typeface="Arial" panose="020B0604020202020204" pitchFamily="34" charset="0"/>
                <a:sym typeface="Pragmatica" charset="0"/>
              </a:rPr>
              <a:t>на номера всех сотовых операторов по Казахстану</a:t>
            </a:r>
            <a:r>
              <a:rPr lang="ru-RU" sz="1000" dirty="0">
                <a:latin typeface="Pragmatica Book Reg"/>
                <a:cs typeface="Arial" panose="020B0604020202020204" pitchFamily="34" charset="0"/>
              </a:rPr>
              <a:t>.</a:t>
            </a:r>
            <a:endParaRPr lang="en-US" sz="1000" dirty="0">
              <a:latin typeface="Helvetica Neue" panose="02000503000000020004"/>
              <a:cs typeface="Arial" panose="020B0604020202020204" pitchFamily="34" charset="0"/>
            </a:endParaRPr>
          </a:p>
          <a:p>
            <a:pPr algn="just"/>
            <a:r>
              <a:rPr lang="ru-RU" sz="1000" dirty="0">
                <a:latin typeface="Pragmatica Book Reg"/>
                <a:cs typeface="Arial" panose="020B0604020202020204" pitchFamily="34" charset="0"/>
              </a:rPr>
              <a:t>** минуты в пакете действуют в течение календарного месяца и на следующий месяц не переносятся. После исчерпания пакета минут в учетном месяце исходящие звонки </a:t>
            </a:r>
            <a:r>
              <a:rPr lang="ru-RU" sz="1000" dirty="0">
                <a:latin typeface="Pragmatica Book Reg"/>
                <a:ea typeface="ヒラギノ角ゴ ProN W3" charset="-128"/>
                <a:cs typeface="Arial" panose="020B0604020202020204" pitchFamily="34" charset="0"/>
                <a:sym typeface="Pragmatica" charset="0"/>
              </a:rPr>
              <a:t>на номера всех сотовых операторов </a:t>
            </a:r>
            <a:r>
              <a:rPr lang="ru-RU" sz="1000" dirty="0">
                <a:latin typeface="Pragmatica Book Reg"/>
                <a:cs typeface="Arial" panose="020B0604020202020204" pitchFamily="34" charset="0"/>
              </a:rPr>
              <a:t>по Казахстану тарифицируются согласно условиям тарифного плана.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E6699C9-53DF-C0F0-A923-71A5D7CE06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52322" y="399717"/>
            <a:ext cx="736255" cy="24107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217AE68-CCE1-2953-6827-5398FC1E491E}"/>
              </a:ext>
            </a:extLst>
          </p:cNvPr>
          <p:cNvSpPr txBox="1"/>
          <p:nvPr/>
        </p:nvSpPr>
        <p:spPr>
          <a:xfrm>
            <a:off x="677622" y="268776"/>
            <a:ext cx="5884482" cy="58477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ru-RU" sz="2800" b="1" dirty="0">
                <a:solidFill>
                  <a:srgbClr val="6A2E92"/>
                </a:solidFill>
                <a:latin typeface="Helvetica" panose="020B0604020202020204" pitchFamily="34" charset="0"/>
                <a:ea typeface="+mj-ea"/>
                <a:cs typeface="Helvetica" panose="020B0604020202020204" pitchFamily="34" charset="0"/>
              </a:rPr>
              <a:t>Ценовое предложение</a:t>
            </a:r>
            <a:endParaRPr lang="en-US" sz="2800" b="1" dirty="0">
              <a:solidFill>
                <a:srgbClr val="6A2E92"/>
              </a:solidFill>
              <a:latin typeface="Helvetica" panose="020B0604020202020204" pitchFamily="34" charset="0"/>
              <a:ea typeface="+mj-ea"/>
              <a:cs typeface="Helvetica" panose="020B0604020202020204" pitchFamily="34" charset="0"/>
            </a:endParaRP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46B738DF-07B7-C351-9219-2D67EB8207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5901375"/>
              </p:ext>
            </p:extLst>
          </p:nvPr>
        </p:nvGraphicFramePr>
        <p:xfrm>
          <a:off x="563619" y="1129344"/>
          <a:ext cx="10969017" cy="4422370"/>
        </p:xfrm>
        <a:graphic>
          <a:graphicData uri="http://schemas.openxmlformats.org/drawingml/2006/table">
            <a:tbl>
              <a:tblPr/>
              <a:tblGrid>
                <a:gridCol w="4153437">
                  <a:extLst>
                    <a:ext uri="{9D8B030D-6E8A-4147-A177-3AD203B41FA5}">
                      <a16:colId xmlns:a16="http://schemas.microsoft.com/office/drawing/2014/main" val="478582775"/>
                    </a:ext>
                  </a:extLst>
                </a:gridCol>
                <a:gridCol w="1651515">
                  <a:extLst>
                    <a:ext uri="{9D8B030D-6E8A-4147-A177-3AD203B41FA5}">
                      <a16:colId xmlns:a16="http://schemas.microsoft.com/office/drawing/2014/main" val="1993305165"/>
                    </a:ext>
                  </a:extLst>
                </a:gridCol>
                <a:gridCol w="1651515">
                  <a:extLst>
                    <a:ext uri="{9D8B030D-6E8A-4147-A177-3AD203B41FA5}">
                      <a16:colId xmlns:a16="http://schemas.microsoft.com/office/drawing/2014/main" val="3011451452"/>
                    </a:ext>
                  </a:extLst>
                </a:gridCol>
                <a:gridCol w="1651515">
                  <a:extLst>
                    <a:ext uri="{9D8B030D-6E8A-4147-A177-3AD203B41FA5}">
                      <a16:colId xmlns:a16="http://schemas.microsoft.com/office/drawing/2014/main" val="210865959"/>
                    </a:ext>
                  </a:extLst>
                </a:gridCol>
                <a:gridCol w="1861035">
                  <a:extLst>
                    <a:ext uri="{9D8B030D-6E8A-4147-A177-3AD203B41FA5}">
                      <a16:colId xmlns:a16="http://schemas.microsoft.com/office/drawing/2014/main" val="2530461865"/>
                    </a:ext>
                  </a:extLst>
                </a:gridCol>
              </a:tblGrid>
              <a:tr h="574019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500" b="1" i="0" u="none" strike="noStrike">
                          <a:solidFill>
                            <a:srgbClr val="FFFFFF"/>
                          </a:solidFill>
                          <a:effectLst/>
                          <a:latin typeface="Pragmatica Book Reg"/>
                        </a:rPr>
                        <a:t>Тарифные планы</a:t>
                      </a:r>
                    </a:p>
                  </a:txBody>
                  <a:tcPr marL="7089" marR="7089" marT="708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71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500" b="1" i="0" u="none" strike="noStrike">
                          <a:solidFill>
                            <a:srgbClr val="FFFFFF"/>
                          </a:solidFill>
                          <a:effectLst/>
                          <a:latin typeface="Pragmatica Book Reg"/>
                        </a:rPr>
                        <a:t>СТАРТОВЫЙ 10</a:t>
                      </a:r>
                    </a:p>
                  </a:txBody>
                  <a:tcPr marL="7089" marR="7089" marT="708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71E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ru-RU" sz="1500" b="1" i="0" u="none" strike="noStrike" dirty="0">
                          <a:solidFill>
                            <a:srgbClr val="FFFFFF"/>
                          </a:solidFill>
                          <a:effectLst/>
                          <a:latin typeface="Pragmatica Book Reg"/>
                        </a:rPr>
                        <a:t>БИЗНЕС ПАКЕТ 30</a:t>
                      </a:r>
                    </a:p>
                  </a:txBody>
                  <a:tcPr marL="7089" marR="7089" marT="708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71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500" b="1" i="0" u="none" strike="noStrike">
                          <a:solidFill>
                            <a:srgbClr val="FFFFFF"/>
                          </a:solidFill>
                          <a:effectLst/>
                          <a:latin typeface="Pragmatica Book Reg"/>
                        </a:rPr>
                        <a:t>БИЗНЕС ПАКЕТ 50</a:t>
                      </a:r>
                    </a:p>
                  </a:txBody>
                  <a:tcPr marL="7089" marR="7089" marT="708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71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500" b="1" i="0" u="none" strike="noStrike">
                          <a:solidFill>
                            <a:srgbClr val="FFFFFF"/>
                          </a:solidFill>
                          <a:effectLst/>
                          <a:latin typeface="Pragmatica Book Reg"/>
                        </a:rPr>
                        <a:t>БИЗНЕС ПАКЕТ 75</a:t>
                      </a:r>
                    </a:p>
                  </a:txBody>
                  <a:tcPr marL="7089" marR="7089" marT="708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D7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7177700"/>
                  </a:ext>
                </a:extLst>
              </a:tr>
              <a:tr h="242543">
                <a:tc>
                  <a:txBody>
                    <a:bodyPr/>
                    <a:lstStyle/>
                    <a:p>
                      <a:pPr algn="l" rtl="0" fontAlgn="ctr"/>
                      <a:r>
                        <a:rPr lang="ru-RU" sz="1300" b="0" i="0" u="none" strike="noStrike">
                          <a:solidFill>
                            <a:srgbClr val="000000"/>
                          </a:solidFill>
                          <a:effectLst/>
                          <a:latin typeface="Pragmatica Book Reg"/>
                        </a:rPr>
                        <a:t>Ежемесячная абонентская плата*</a:t>
                      </a:r>
                    </a:p>
                  </a:txBody>
                  <a:tcPr marL="7089" marR="7089" marT="708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b="0" i="0" u="none" strike="noStrike">
                          <a:solidFill>
                            <a:srgbClr val="0D0D0D"/>
                          </a:solidFill>
                          <a:effectLst/>
                          <a:latin typeface="Pragmatica Book Reg"/>
                        </a:rPr>
                        <a:t>10 000</a:t>
                      </a:r>
                    </a:p>
                  </a:txBody>
                  <a:tcPr marL="7089" marR="7089" marT="708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b="0" i="0" u="none" strike="noStrike">
                          <a:solidFill>
                            <a:srgbClr val="0D0D0D"/>
                          </a:solidFill>
                          <a:effectLst/>
                          <a:latin typeface="Pragmatica Book Reg"/>
                        </a:rPr>
                        <a:t>30 000</a:t>
                      </a:r>
                    </a:p>
                  </a:txBody>
                  <a:tcPr marL="7089" marR="7089" marT="708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b="0" i="0" u="none" strike="noStrike">
                          <a:solidFill>
                            <a:srgbClr val="0D0D0D"/>
                          </a:solidFill>
                          <a:effectLst/>
                          <a:latin typeface="Pragmatica Book Reg"/>
                        </a:rPr>
                        <a:t>50 000</a:t>
                      </a:r>
                    </a:p>
                  </a:txBody>
                  <a:tcPr marL="7089" marR="7089" marT="708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b="0" i="0" u="none" strike="noStrike">
                          <a:solidFill>
                            <a:srgbClr val="0D0D0D"/>
                          </a:solidFill>
                          <a:effectLst/>
                          <a:latin typeface="Pragmatica Book Reg"/>
                        </a:rPr>
                        <a:t>75 000</a:t>
                      </a:r>
                    </a:p>
                  </a:txBody>
                  <a:tcPr marL="7089" marR="7089" marT="708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00706590"/>
                  </a:ext>
                </a:extLst>
              </a:tr>
              <a:tr h="477002">
                <a:tc>
                  <a:txBody>
                    <a:bodyPr/>
                    <a:lstStyle/>
                    <a:p>
                      <a:pPr algn="l" rtl="0" fontAlgn="ctr"/>
                      <a:r>
                        <a:rPr lang="ru-RU" sz="1300" b="0" i="0" u="none" strike="noStrike">
                          <a:solidFill>
                            <a:srgbClr val="000000"/>
                          </a:solidFill>
                          <a:effectLst/>
                          <a:latin typeface="Pragmatica Book Reg"/>
                        </a:rPr>
                        <a:t>Ежемесячный пакет минут для звонков на номера всех сотовых операторов по Казахстану**</a:t>
                      </a:r>
                    </a:p>
                  </a:txBody>
                  <a:tcPr marL="7089" marR="7089" marT="708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b="0" i="0" u="none" strike="noStrike">
                          <a:solidFill>
                            <a:srgbClr val="0D0D0D"/>
                          </a:solidFill>
                          <a:effectLst/>
                          <a:latin typeface="Pragmatica Book Reg"/>
                        </a:rPr>
                        <a:t>1 250</a:t>
                      </a:r>
                    </a:p>
                  </a:txBody>
                  <a:tcPr marL="7089" marR="7089" marT="708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b="0" i="0" u="none" strike="noStrike">
                          <a:solidFill>
                            <a:srgbClr val="0D0D0D"/>
                          </a:solidFill>
                          <a:effectLst/>
                          <a:latin typeface="Pragmatica Book Reg"/>
                        </a:rPr>
                        <a:t>3  000</a:t>
                      </a:r>
                    </a:p>
                  </a:txBody>
                  <a:tcPr marL="7089" marR="7089" marT="708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b="0" i="0" u="none" strike="noStrike" dirty="0">
                          <a:solidFill>
                            <a:srgbClr val="0D0D0D"/>
                          </a:solidFill>
                          <a:effectLst/>
                          <a:latin typeface="Pragmatica Book Reg"/>
                        </a:rPr>
                        <a:t>5 55</a:t>
                      </a:r>
                      <a:r>
                        <a:rPr lang="ru-RU" sz="1300" b="0" i="0" u="none" strike="noStrike">
                          <a:solidFill>
                            <a:srgbClr val="0D0D0D"/>
                          </a:solidFill>
                          <a:effectLst/>
                          <a:latin typeface="Pragmatica Book Reg"/>
                        </a:rPr>
                        <a:t>6</a:t>
                      </a:r>
                      <a:endParaRPr lang="en-US" sz="1300" b="0" i="0" u="none" strike="noStrike">
                        <a:solidFill>
                          <a:srgbClr val="0D0D0D"/>
                        </a:solidFill>
                        <a:effectLst/>
                        <a:latin typeface="Pragmatica Book Reg"/>
                      </a:endParaRPr>
                    </a:p>
                  </a:txBody>
                  <a:tcPr marL="7089" marR="7089" marT="708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b="0" i="0" u="none" strike="noStrike">
                          <a:solidFill>
                            <a:srgbClr val="0D0D0D"/>
                          </a:solidFill>
                          <a:effectLst/>
                          <a:latin typeface="Pragmatica Book Reg"/>
                        </a:rPr>
                        <a:t>9 500</a:t>
                      </a:r>
                    </a:p>
                  </a:txBody>
                  <a:tcPr marL="7089" marR="7089" marT="708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09951907"/>
                  </a:ext>
                </a:extLst>
              </a:tr>
              <a:tr h="242543">
                <a:tc>
                  <a:txBody>
                    <a:bodyPr/>
                    <a:lstStyle/>
                    <a:p>
                      <a:pPr algn="l" rtl="0" fontAlgn="ctr"/>
                      <a:r>
                        <a:rPr lang="ru-RU" sz="1300" b="0" i="0" u="none" strike="noStrike">
                          <a:solidFill>
                            <a:srgbClr val="000000"/>
                          </a:solidFill>
                          <a:effectLst/>
                          <a:latin typeface="Pragmatica Book Reg"/>
                        </a:rPr>
                        <a:t>Внутри сети </a:t>
                      </a: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/>
                        </a:rPr>
                        <a:t>Kcell</a:t>
                      </a: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Pragmatica Book Reg"/>
                        </a:rPr>
                        <a:t>, </a:t>
                      </a:r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Helvetica Neue"/>
                        </a:rPr>
                        <a:t>activ 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Pragmatica Book Reg"/>
                      </a:endParaRPr>
                    </a:p>
                  </a:txBody>
                  <a:tcPr marL="7089" marR="7089" marT="708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b="0" i="0" u="none" strike="noStrike">
                          <a:solidFill>
                            <a:srgbClr val="0D0D0D"/>
                          </a:solidFill>
                          <a:effectLst/>
                          <a:latin typeface="Pragmatica Book Reg"/>
                        </a:rPr>
                        <a:t>11</a:t>
                      </a:r>
                    </a:p>
                  </a:txBody>
                  <a:tcPr marL="7089" marR="7089" marT="708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b="0" i="0" u="none" strike="noStrike">
                          <a:solidFill>
                            <a:srgbClr val="0D0D0D"/>
                          </a:solidFill>
                          <a:effectLst/>
                          <a:latin typeface="Pragmatica Book Reg"/>
                        </a:rPr>
                        <a:t>11</a:t>
                      </a:r>
                    </a:p>
                  </a:txBody>
                  <a:tcPr marL="7089" marR="7089" marT="708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b="0" i="0" u="none" strike="noStrike">
                          <a:solidFill>
                            <a:srgbClr val="0D0D0D"/>
                          </a:solidFill>
                          <a:effectLst/>
                          <a:latin typeface="Pragmatica Book Reg"/>
                        </a:rPr>
                        <a:t>11</a:t>
                      </a:r>
                    </a:p>
                  </a:txBody>
                  <a:tcPr marL="7089" marR="7089" marT="708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b="0" i="0" u="none" strike="noStrike">
                          <a:solidFill>
                            <a:srgbClr val="0D0D0D"/>
                          </a:solidFill>
                          <a:effectLst/>
                          <a:latin typeface="Pragmatica Book Reg"/>
                        </a:rPr>
                        <a:t>11</a:t>
                      </a:r>
                    </a:p>
                  </a:txBody>
                  <a:tcPr marL="7089" marR="7089" marT="708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97992365"/>
                  </a:ext>
                </a:extLst>
              </a:tr>
              <a:tr h="242543">
                <a:tc>
                  <a:txBody>
                    <a:bodyPr/>
                    <a:lstStyle/>
                    <a:p>
                      <a:pPr algn="l" rtl="0" fontAlgn="ctr"/>
                      <a:r>
                        <a:rPr lang="ru-RU" sz="1300" b="0" i="0" u="none" strike="noStrike">
                          <a:solidFill>
                            <a:srgbClr val="000000"/>
                          </a:solidFill>
                          <a:effectLst/>
                          <a:latin typeface="Pragmatica Book Reg"/>
                        </a:rPr>
                        <a:t>Внутри корпоративной группы</a:t>
                      </a:r>
                    </a:p>
                  </a:txBody>
                  <a:tcPr marL="7089" marR="7089" marT="708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b="0" i="0" u="none" strike="noStrike">
                          <a:solidFill>
                            <a:srgbClr val="0D0D0D"/>
                          </a:solidFill>
                          <a:effectLst/>
                          <a:latin typeface="Pragmatica Book Reg"/>
                        </a:rPr>
                        <a:t>11</a:t>
                      </a:r>
                    </a:p>
                  </a:txBody>
                  <a:tcPr marL="7089" marR="7089" marT="708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b="0" i="0" u="none" strike="noStrike">
                          <a:solidFill>
                            <a:srgbClr val="0D0D0D"/>
                          </a:solidFill>
                          <a:effectLst/>
                          <a:latin typeface="Pragmatica Book Reg"/>
                        </a:rPr>
                        <a:t>11</a:t>
                      </a:r>
                    </a:p>
                  </a:txBody>
                  <a:tcPr marL="7089" marR="7089" marT="708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b="0" i="0" u="none" strike="noStrike">
                          <a:solidFill>
                            <a:srgbClr val="0D0D0D"/>
                          </a:solidFill>
                          <a:effectLst/>
                          <a:latin typeface="Pragmatica Book Reg"/>
                        </a:rPr>
                        <a:t>11</a:t>
                      </a:r>
                    </a:p>
                  </a:txBody>
                  <a:tcPr marL="7089" marR="7089" marT="708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b="0" i="0" u="none" strike="noStrike">
                          <a:solidFill>
                            <a:srgbClr val="0D0D0D"/>
                          </a:solidFill>
                          <a:effectLst/>
                          <a:latin typeface="Pragmatica Book Reg"/>
                        </a:rPr>
                        <a:t>11</a:t>
                      </a:r>
                    </a:p>
                  </a:txBody>
                  <a:tcPr marL="7089" marR="7089" marT="708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7443322"/>
                  </a:ext>
                </a:extLst>
              </a:tr>
              <a:tr h="242543">
                <a:tc>
                  <a:txBody>
                    <a:bodyPr/>
                    <a:lstStyle/>
                    <a:p>
                      <a:pPr algn="l" rtl="0" fontAlgn="ctr"/>
                      <a:r>
                        <a:rPr lang="ru-RU" sz="1300" b="0" i="0" u="none" strike="noStrike">
                          <a:solidFill>
                            <a:srgbClr val="000000"/>
                          </a:solidFill>
                          <a:effectLst/>
                          <a:latin typeface="Pragmatica Book Reg"/>
                        </a:rPr>
                        <a:t>На других операторов РК</a:t>
                      </a:r>
                    </a:p>
                  </a:txBody>
                  <a:tcPr marL="7089" marR="7089" marT="708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b="0" i="0" u="none" strike="noStrike">
                          <a:solidFill>
                            <a:srgbClr val="0D0D0D"/>
                          </a:solidFill>
                          <a:effectLst/>
                          <a:latin typeface="Pragmatica Book Reg"/>
                        </a:rPr>
                        <a:t>11</a:t>
                      </a:r>
                    </a:p>
                  </a:txBody>
                  <a:tcPr marL="7089" marR="7089" marT="708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b="0" i="0" u="none" strike="noStrike">
                          <a:solidFill>
                            <a:srgbClr val="0D0D0D"/>
                          </a:solidFill>
                          <a:effectLst/>
                          <a:latin typeface="Pragmatica Book Reg"/>
                        </a:rPr>
                        <a:t>11</a:t>
                      </a:r>
                    </a:p>
                  </a:txBody>
                  <a:tcPr marL="7089" marR="7089" marT="708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b="0" i="0" u="none" strike="noStrike">
                          <a:solidFill>
                            <a:srgbClr val="0D0D0D"/>
                          </a:solidFill>
                          <a:effectLst/>
                          <a:latin typeface="Pragmatica Book Reg"/>
                        </a:rPr>
                        <a:t>11</a:t>
                      </a:r>
                    </a:p>
                  </a:txBody>
                  <a:tcPr marL="7089" marR="7089" marT="708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b="0" i="0" u="none" strike="noStrike">
                          <a:solidFill>
                            <a:srgbClr val="0D0D0D"/>
                          </a:solidFill>
                          <a:effectLst/>
                          <a:latin typeface="Pragmatica Book Reg"/>
                        </a:rPr>
                        <a:t>11</a:t>
                      </a:r>
                    </a:p>
                  </a:txBody>
                  <a:tcPr marL="7089" marR="7089" marT="708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71081389"/>
                  </a:ext>
                </a:extLst>
              </a:tr>
              <a:tr h="242543">
                <a:tc>
                  <a:txBody>
                    <a:bodyPr/>
                    <a:lstStyle/>
                    <a:p>
                      <a:pPr algn="l" rtl="0" fontAlgn="ctr"/>
                      <a:r>
                        <a:rPr lang="ru-RU" sz="1300" b="0" i="0" u="none" strike="noStrike">
                          <a:solidFill>
                            <a:srgbClr val="000000"/>
                          </a:solidFill>
                          <a:effectLst/>
                          <a:latin typeface="Pragmatica Book Reg"/>
                        </a:rPr>
                        <a:t>На городские номера РК</a:t>
                      </a:r>
                    </a:p>
                  </a:txBody>
                  <a:tcPr marL="7089" marR="7089" marT="708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b="0" i="0" u="none" strike="noStrike">
                          <a:solidFill>
                            <a:srgbClr val="0D0D0D"/>
                          </a:solidFill>
                          <a:effectLst/>
                          <a:latin typeface="Pragmatica Book Reg"/>
                        </a:rPr>
                        <a:t>17</a:t>
                      </a:r>
                    </a:p>
                  </a:txBody>
                  <a:tcPr marL="7089" marR="7089" marT="708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b="0" i="0" u="none" strike="noStrike">
                          <a:solidFill>
                            <a:srgbClr val="0D0D0D"/>
                          </a:solidFill>
                          <a:effectLst/>
                          <a:latin typeface="Pragmatica Book Reg"/>
                        </a:rPr>
                        <a:t>17</a:t>
                      </a:r>
                    </a:p>
                  </a:txBody>
                  <a:tcPr marL="7089" marR="7089" marT="708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b="0" i="0" u="none" strike="noStrike">
                          <a:solidFill>
                            <a:srgbClr val="0D0D0D"/>
                          </a:solidFill>
                          <a:effectLst/>
                          <a:latin typeface="Pragmatica Book Reg"/>
                        </a:rPr>
                        <a:t>17</a:t>
                      </a:r>
                    </a:p>
                  </a:txBody>
                  <a:tcPr marL="7089" marR="7089" marT="708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b="0" i="0" u="none" strike="noStrike">
                          <a:solidFill>
                            <a:srgbClr val="0D0D0D"/>
                          </a:solidFill>
                          <a:effectLst/>
                          <a:latin typeface="Pragmatica Book Reg"/>
                        </a:rPr>
                        <a:t>17</a:t>
                      </a:r>
                    </a:p>
                  </a:txBody>
                  <a:tcPr marL="7089" marR="7089" marT="708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94137229"/>
                  </a:ext>
                </a:extLst>
              </a:tr>
              <a:tr h="242543">
                <a:tc>
                  <a:txBody>
                    <a:bodyPr/>
                    <a:lstStyle/>
                    <a:p>
                      <a:pPr algn="l" rtl="0" fontAlgn="ctr"/>
                      <a:r>
                        <a:rPr lang="ru-RU" sz="1300" b="0" i="0" u="none" strike="noStrike">
                          <a:solidFill>
                            <a:srgbClr val="000000"/>
                          </a:solidFill>
                          <a:effectLst/>
                          <a:latin typeface="Pragmatica Book Reg"/>
                        </a:rPr>
                        <a:t>Шаг округления</a:t>
                      </a:r>
                    </a:p>
                  </a:txBody>
                  <a:tcPr marL="7089" marR="7089" marT="708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rtl="0" fontAlgn="ctr"/>
                      <a:r>
                        <a:rPr lang="ru-RU" sz="1300" b="0" i="0" u="none" strike="noStrike">
                          <a:solidFill>
                            <a:srgbClr val="000000"/>
                          </a:solidFill>
                          <a:effectLst/>
                          <a:latin typeface="Pragmatica Book Reg"/>
                        </a:rPr>
                        <a:t>1 сек</a:t>
                      </a:r>
                    </a:p>
                  </a:txBody>
                  <a:tcPr marL="7089" marR="7089" marT="708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5751094"/>
                  </a:ext>
                </a:extLst>
              </a:tr>
              <a:tr h="250628">
                <a:tc>
                  <a:txBody>
                    <a:bodyPr/>
                    <a:lstStyle/>
                    <a:p>
                      <a:pPr algn="l" rtl="0" fontAlgn="t"/>
                      <a:r>
                        <a:rPr lang="ru-RU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​​</a:t>
                      </a:r>
                      <a:r>
                        <a:rPr lang="ru-RU" sz="1300" b="0" i="0" u="none" strike="noStrike">
                          <a:solidFill>
                            <a:srgbClr val="000000"/>
                          </a:solidFill>
                          <a:effectLst/>
                          <a:latin typeface="Pragmatica Book Reg"/>
                        </a:rPr>
                        <a:t>Возможность подключения по Е1</a:t>
                      </a:r>
                      <a:endParaRPr lang="ru-RU" sz="1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89" marR="7089" marT="7089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300" b="0" i="0" u="none" strike="noStrike">
                          <a:solidFill>
                            <a:srgbClr val="000000"/>
                          </a:solidFill>
                          <a:effectLst/>
                          <a:latin typeface="Pragmatica Book Reg"/>
                        </a:rPr>
                        <a:t>Невозможно</a:t>
                      </a:r>
                    </a:p>
                  </a:txBody>
                  <a:tcPr marL="7089" marR="7089" marT="708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300" b="0" i="0" u="none" strike="noStrike">
                          <a:solidFill>
                            <a:srgbClr val="000000"/>
                          </a:solidFill>
                          <a:effectLst/>
                          <a:latin typeface="Pragmatica Book Reg"/>
                        </a:rPr>
                        <a:t>Возможно</a:t>
                      </a:r>
                    </a:p>
                  </a:txBody>
                  <a:tcPr marL="7089" marR="7089" marT="708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300" b="0" i="0" u="none" strike="noStrike">
                          <a:solidFill>
                            <a:srgbClr val="000000"/>
                          </a:solidFill>
                          <a:effectLst/>
                          <a:latin typeface="Pragmatica Book Reg"/>
                        </a:rPr>
                        <a:t>Возможно</a:t>
                      </a:r>
                    </a:p>
                  </a:txBody>
                  <a:tcPr marL="7089" marR="7089" marT="708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300" b="0" i="0" u="none" strike="noStrike">
                          <a:solidFill>
                            <a:srgbClr val="000000"/>
                          </a:solidFill>
                          <a:effectLst/>
                          <a:latin typeface="Pragmatica Book Reg"/>
                        </a:rPr>
                        <a:t>Возможно</a:t>
                      </a:r>
                    </a:p>
                  </a:txBody>
                  <a:tcPr marL="7089" marR="7089" marT="708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2804056"/>
                  </a:ext>
                </a:extLst>
              </a:tr>
              <a:tr h="711460">
                <a:tc>
                  <a:txBody>
                    <a:bodyPr/>
                    <a:lstStyle/>
                    <a:p>
                      <a:pPr algn="l" rtl="0" fontAlgn="ctr"/>
                      <a:r>
                        <a:rPr lang="ru-RU" sz="1300" b="0" i="0" u="none" strike="noStrike">
                          <a:solidFill>
                            <a:srgbClr val="000000"/>
                          </a:solidFill>
                          <a:effectLst/>
                          <a:latin typeface="Pragmatica Book Reg"/>
                        </a:rPr>
                        <a:t>Количество вх/исх сессий</a:t>
                      </a:r>
                    </a:p>
                  </a:txBody>
                  <a:tcPr marL="7089" marR="7089" marT="708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300" b="0" i="0" u="none" strike="noStrike">
                          <a:solidFill>
                            <a:srgbClr val="000000"/>
                          </a:solidFill>
                          <a:effectLst/>
                          <a:latin typeface="Pragmatica Book Reg"/>
                        </a:rPr>
                        <a:t>до 10</a:t>
                      </a:r>
                    </a:p>
                  </a:txBody>
                  <a:tcPr marL="7089" marR="7089" marT="708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300" b="0" i="0" u="none" strike="noStrike">
                          <a:solidFill>
                            <a:srgbClr val="000000"/>
                          </a:solidFill>
                          <a:effectLst/>
                          <a:latin typeface="Pragmatica Book Reg"/>
                        </a:rPr>
                        <a:t>по запросу</a:t>
                      </a:r>
                    </a:p>
                  </a:txBody>
                  <a:tcPr marL="7089" marR="7089" marT="708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300" b="0" i="0" u="none" strike="noStrike">
                          <a:solidFill>
                            <a:srgbClr val="000000"/>
                          </a:solidFill>
                          <a:effectLst/>
                          <a:latin typeface="Pragmatica Book Reg"/>
                        </a:rPr>
                        <a:t>по запросу</a:t>
                      </a:r>
                    </a:p>
                  </a:txBody>
                  <a:tcPr marL="7089" marR="7089" marT="708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300" b="0" i="0" u="none" strike="noStrike">
                          <a:solidFill>
                            <a:srgbClr val="000000"/>
                          </a:solidFill>
                          <a:effectLst/>
                          <a:latin typeface="Pragmatica Book Reg"/>
                        </a:rPr>
                        <a:t>по запросу</a:t>
                      </a:r>
                    </a:p>
                  </a:txBody>
                  <a:tcPr marL="7089" marR="7089" marT="708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07401861"/>
                  </a:ext>
                </a:extLst>
              </a:tr>
              <a:tr h="711460">
                <a:tc>
                  <a:txBody>
                    <a:bodyPr/>
                    <a:lstStyle/>
                    <a:p>
                      <a:pPr algn="l" rtl="0" fontAlgn="ctr"/>
                      <a:r>
                        <a:rPr lang="ru-RU" sz="1300" b="0" i="0" u="none" strike="noStrike">
                          <a:solidFill>
                            <a:srgbClr val="000000"/>
                          </a:solidFill>
                          <a:effectLst/>
                          <a:latin typeface="Pragmatica Book Reg"/>
                        </a:rPr>
                        <a:t>Количество вирт.номеров</a:t>
                      </a:r>
                    </a:p>
                  </a:txBody>
                  <a:tcPr marL="7089" marR="7089" marT="708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b="0" i="0" u="none" strike="noStrike">
                          <a:solidFill>
                            <a:srgbClr val="0D0D0D"/>
                          </a:solidFill>
                          <a:effectLst/>
                          <a:latin typeface="Pragmatica Book Reg"/>
                        </a:rPr>
                        <a:t>5</a:t>
                      </a:r>
                    </a:p>
                  </a:txBody>
                  <a:tcPr marL="7089" marR="7089" marT="708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300" b="0" i="0" u="none" strike="noStrike">
                          <a:solidFill>
                            <a:srgbClr val="000000"/>
                          </a:solidFill>
                          <a:effectLst/>
                          <a:latin typeface="Pragmatica Book Reg"/>
                        </a:rPr>
                        <a:t>по запросу</a:t>
                      </a:r>
                    </a:p>
                  </a:txBody>
                  <a:tcPr marL="7089" marR="7089" marT="708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300" b="0" i="0" u="none" strike="noStrike">
                          <a:solidFill>
                            <a:srgbClr val="000000"/>
                          </a:solidFill>
                          <a:effectLst/>
                          <a:latin typeface="Pragmatica Book Reg"/>
                        </a:rPr>
                        <a:t>по запросу</a:t>
                      </a:r>
                    </a:p>
                  </a:txBody>
                  <a:tcPr marL="7089" marR="7089" marT="708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300" b="0" i="0" u="none" strike="noStrike">
                          <a:solidFill>
                            <a:srgbClr val="000000"/>
                          </a:solidFill>
                          <a:effectLst/>
                          <a:latin typeface="Pragmatica Book Reg"/>
                        </a:rPr>
                        <a:t>по запросу</a:t>
                      </a:r>
                    </a:p>
                  </a:txBody>
                  <a:tcPr marL="7089" marR="7089" marT="708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32653633"/>
                  </a:ext>
                </a:extLst>
              </a:tr>
              <a:tr h="242543">
                <a:tc>
                  <a:txBody>
                    <a:bodyPr/>
                    <a:lstStyle/>
                    <a:p>
                      <a:pPr algn="l" rtl="0" fontAlgn="ctr"/>
                      <a:r>
                        <a:rPr lang="ru-RU" sz="1300" b="0" i="0" u="none" strike="noStrike">
                          <a:solidFill>
                            <a:srgbClr val="000000"/>
                          </a:solidFill>
                          <a:effectLst/>
                          <a:latin typeface="Pragmatica Book Reg"/>
                        </a:rPr>
                        <a:t>Доп 1 номер и/или 2 сессии</a:t>
                      </a:r>
                    </a:p>
                  </a:txBody>
                  <a:tcPr marL="7089" marR="7089" marT="708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b="0" i="0" u="none" strike="noStrike">
                          <a:solidFill>
                            <a:srgbClr val="0D0D0D"/>
                          </a:solidFill>
                          <a:effectLst/>
                          <a:latin typeface="Pragmatica Book Reg"/>
                        </a:rPr>
                        <a:t>1 000</a:t>
                      </a:r>
                    </a:p>
                  </a:txBody>
                  <a:tcPr marL="7089" marR="7089" marT="708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Pragmatica Book Reg"/>
                        </a:rPr>
                        <a:t>0</a:t>
                      </a:r>
                    </a:p>
                  </a:txBody>
                  <a:tcPr marL="7089" marR="7089" marT="708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Pragmatica Book Reg"/>
                        </a:rPr>
                        <a:t>0</a:t>
                      </a:r>
                    </a:p>
                  </a:txBody>
                  <a:tcPr marL="7089" marR="7089" marT="708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Pragmatica Book Reg"/>
                        </a:rPr>
                        <a:t>0</a:t>
                      </a:r>
                    </a:p>
                  </a:txBody>
                  <a:tcPr marL="7089" marR="7089" marT="708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532526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773125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Скругленный прямоугольник 61">
            <a:extLst>
              <a:ext uri="{FF2B5EF4-FFF2-40B4-BE49-F238E27FC236}">
                <a16:creationId xmlns:a16="http://schemas.microsoft.com/office/drawing/2014/main" id="{9354BF39-A31D-4E11-85A0-07E2D557A1D8}"/>
              </a:ext>
            </a:extLst>
          </p:cNvPr>
          <p:cNvSpPr/>
          <p:nvPr/>
        </p:nvSpPr>
        <p:spPr>
          <a:xfrm>
            <a:off x="8957004" y="5929432"/>
            <a:ext cx="2803736" cy="698914"/>
          </a:xfrm>
          <a:prstGeom prst="roundRect">
            <a:avLst>
              <a:gd name="adj" fmla="val 13383"/>
            </a:avLst>
          </a:prstGeom>
          <a:solidFill>
            <a:srgbClr val="6A2D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KZ" dirty="0">
              <a:solidFill>
                <a:srgbClr val="6A2D91"/>
              </a:solidFill>
            </a:endParaRPr>
          </a:p>
        </p:txBody>
      </p:sp>
      <p:sp>
        <p:nvSpPr>
          <p:cNvPr id="109" name="Скругленный прямоугольник 61">
            <a:extLst>
              <a:ext uri="{FF2B5EF4-FFF2-40B4-BE49-F238E27FC236}">
                <a16:creationId xmlns:a16="http://schemas.microsoft.com/office/drawing/2014/main" id="{98B1120B-1440-4DBD-AB41-071902D76519}"/>
              </a:ext>
            </a:extLst>
          </p:cNvPr>
          <p:cNvSpPr/>
          <p:nvPr/>
        </p:nvSpPr>
        <p:spPr>
          <a:xfrm>
            <a:off x="8959001" y="6159086"/>
            <a:ext cx="2803736" cy="698914"/>
          </a:xfrm>
          <a:prstGeom prst="roundRect">
            <a:avLst>
              <a:gd name="adj" fmla="val 0"/>
            </a:avLst>
          </a:prstGeom>
          <a:solidFill>
            <a:srgbClr val="6A2D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KZ" dirty="0">
              <a:solidFill>
                <a:srgbClr val="6A2D91"/>
              </a:solidFill>
            </a:endParaRPr>
          </a:p>
        </p:txBody>
      </p:sp>
      <p:sp>
        <p:nvSpPr>
          <p:cNvPr id="18" name="Скругленный прямоугольник 32">
            <a:extLst>
              <a:ext uri="{FF2B5EF4-FFF2-40B4-BE49-F238E27FC236}">
                <a16:creationId xmlns:a16="http://schemas.microsoft.com/office/drawing/2014/main" id="{E76A8C98-95E4-4DA5-A984-6498B2442C94}"/>
              </a:ext>
            </a:extLst>
          </p:cNvPr>
          <p:cNvSpPr/>
          <p:nvPr/>
        </p:nvSpPr>
        <p:spPr>
          <a:xfrm>
            <a:off x="663402" y="2046536"/>
            <a:ext cx="5100053" cy="1212414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7" name="Скругленный прямоугольник 54">
            <a:extLst>
              <a:ext uri="{FF2B5EF4-FFF2-40B4-BE49-F238E27FC236}">
                <a16:creationId xmlns:a16="http://schemas.microsoft.com/office/drawing/2014/main" id="{0E6A2F92-054A-4C07-B4F8-D485CA137943}"/>
              </a:ext>
            </a:extLst>
          </p:cNvPr>
          <p:cNvSpPr/>
          <p:nvPr/>
        </p:nvSpPr>
        <p:spPr>
          <a:xfrm>
            <a:off x="6823807" y="2046536"/>
            <a:ext cx="4936931" cy="1212414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aphicFrame>
        <p:nvGraphicFramePr>
          <p:cNvPr id="2" name="Таблица 1">
            <a:extLst>
              <a:ext uri="{FF2B5EF4-FFF2-40B4-BE49-F238E27FC236}">
                <a16:creationId xmlns:a16="http://schemas.microsoft.com/office/drawing/2014/main" id="{CE46A85E-AC0E-4561-B38E-5148BD3FE2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2280228"/>
              </p:ext>
            </p:extLst>
          </p:nvPr>
        </p:nvGraphicFramePr>
        <p:xfrm>
          <a:off x="677622" y="3793205"/>
          <a:ext cx="11083117" cy="2002952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20875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0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890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333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8589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764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719305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500" u="none" strike="noStrike" dirty="0">
                          <a:solidFill>
                            <a:schemeClr val="bg1"/>
                          </a:solidFill>
                          <a:effectLst/>
                          <a:latin typeface="Helvetica Neue"/>
                        </a:rPr>
                        <a:t>Направление</a:t>
                      </a:r>
                      <a:endParaRPr lang="ru-RU" sz="1500" b="0" i="0" u="none" strike="noStrike" dirty="0">
                        <a:solidFill>
                          <a:schemeClr val="bg1"/>
                        </a:solidFill>
                        <a:effectLst/>
                        <a:latin typeface="Helvetica Neue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solidFill>
                      <a:srgbClr val="A6D71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500" u="none" strike="noStrike" dirty="0">
                          <a:solidFill>
                            <a:schemeClr val="bg1"/>
                          </a:solidFill>
                          <a:effectLst/>
                          <a:latin typeface="Helvetica Neue"/>
                        </a:rPr>
                        <a:t>Трафик</a:t>
                      </a:r>
                      <a:endParaRPr lang="ru-RU" sz="1500" b="0" i="0" u="none" strike="noStrike" dirty="0">
                        <a:solidFill>
                          <a:schemeClr val="bg1"/>
                        </a:solidFill>
                        <a:effectLst/>
                        <a:latin typeface="Helvetica Neue"/>
                      </a:endParaRPr>
                    </a:p>
                  </a:txBody>
                  <a:tcPr marL="9525" marR="9525" marT="9525" marB="0" anchor="ctr">
                    <a:solidFill>
                      <a:srgbClr val="A6D71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500" u="none" strike="noStrike" dirty="0">
                          <a:solidFill>
                            <a:schemeClr val="bg1"/>
                          </a:solidFill>
                          <a:effectLst/>
                          <a:latin typeface="Helvetica Neue"/>
                        </a:rPr>
                        <a:t>Тариф</a:t>
                      </a:r>
                      <a:r>
                        <a:rPr lang="ru-RU" sz="1500" u="none" strike="noStrike" baseline="0" dirty="0">
                          <a:solidFill>
                            <a:schemeClr val="bg1"/>
                          </a:solidFill>
                          <a:effectLst/>
                          <a:latin typeface="Helvetica Neue"/>
                        </a:rPr>
                        <a:t> о</a:t>
                      </a:r>
                      <a:r>
                        <a:rPr lang="ru-RU" sz="1500" u="none" strike="noStrike" dirty="0">
                          <a:solidFill>
                            <a:schemeClr val="bg1"/>
                          </a:solidFill>
                          <a:effectLst/>
                          <a:latin typeface="Helvetica Neue"/>
                        </a:rPr>
                        <a:t>ператора фиксированной связи</a:t>
                      </a:r>
                      <a:endParaRPr lang="ru-RU" sz="1500" b="0" i="0" u="none" strike="noStrike" dirty="0">
                        <a:solidFill>
                          <a:schemeClr val="bg1"/>
                        </a:solidFill>
                        <a:effectLst/>
                        <a:latin typeface="Helvetica Neue"/>
                      </a:endParaRPr>
                    </a:p>
                  </a:txBody>
                  <a:tcPr marL="9525" marR="9525" marT="9525" marB="0" anchor="ctr">
                    <a:solidFill>
                      <a:srgbClr val="A6D71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500" u="none" strike="noStrike" dirty="0">
                          <a:solidFill>
                            <a:schemeClr val="bg1"/>
                          </a:solidFill>
                          <a:effectLst/>
                          <a:latin typeface="Helvetica Neue"/>
                        </a:rPr>
                        <a:t>Начисления оператора фиксированной связи</a:t>
                      </a:r>
                      <a:endParaRPr lang="ru-RU" sz="1500" b="0" i="0" u="none" strike="noStrike" dirty="0">
                        <a:solidFill>
                          <a:schemeClr val="bg1"/>
                        </a:solidFill>
                        <a:effectLst/>
                        <a:latin typeface="Helvetica Neue"/>
                      </a:endParaRPr>
                    </a:p>
                  </a:txBody>
                  <a:tcPr marL="9525" marR="9525" marT="9525" marB="0" anchor="ctr">
                    <a:solidFill>
                      <a:srgbClr val="A6D71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500" u="none" strike="noStrike" dirty="0">
                          <a:solidFill>
                            <a:schemeClr val="bg1"/>
                          </a:solidFill>
                          <a:effectLst/>
                          <a:latin typeface="Helvetica Neue"/>
                        </a:rPr>
                        <a:t>Тариф </a:t>
                      </a:r>
                      <a:r>
                        <a:rPr lang="ru-RU" sz="1500" u="none" strike="noStrike" dirty="0" err="1">
                          <a:solidFill>
                            <a:schemeClr val="bg1"/>
                          </a:solidFill>
                          <a:effectLst/>
                          <a:latin typeface="Helvetica Neue"/>
                        </a:rPr>
                        <a:t>Кселл</a:t>
                      </a:r>
                      <a:endParaRPr lang="ru-RU" sz="1500" b="0" i="0" u="none" strike="noStrike" dirty="0">
                        <a:solidFill>
                          <a:schemeClr val="bg1"/>
                        </a:solidFill>
                        <a:effectLst/>
                        <a:latin typeface="Helvetica Neue"/>
                      </a:endParaRPr>
                    </a:p>
                  </a:txBody>
                  <a:tcPr marL="9525" marR="9525" marT="9525" marB="0" anchor="ctr">
                    <a:solidFill>
                      <a:srgbClr val="A6D71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500" u="none" strike="noStrike" dirty="0">
                          <a:solidFill>
                            <a:schemeClr val="bg1"/>
                          </a:solidFill>
                          <a:effectLst/>
                          <a:latin typeface="Helvetica Neue"/>
                        </a:rPr>
                        <a:t>Начисления </a:t>
                      </a:r>
                      <a:r>
                        <a:rPr lang="ru-RU" sz="1500" u="none" strike="noStrike" dirty="0" err="1">
                          <a:solidFill>
                            <a:schemeClr val="bg1"/>
                          </a:solidFill>
                          <a:effectLst/>
                          <a:latin typeface="Helvetica Neue"/>
                        </a:rPr>
                        <a:t>Кселл</a:t>
                      </a:r>
                      <a:endParaRPr lang="ru-RU" sz="1500" b="0" i="0" u="none" strike="noStrike" dirty="0">
                        <a:solidFill>
                          <a:schemeClr val="bg1"/>
                        </a:solidFill>
                        <a:effectLst/>
                        <a:latin typeface="Helvetica Neue"/>
                      </a:endParaRPr>
                    </a:p>
                  </a:txBody>
                  <a:tcPr marL="9525" marR="9525" marT="9525" marB="0" anchor="ctr">
                    <a:lnR w="12700" cmpd="sng">
                      <a:noFill/>
                    </a:lnR>
                    <a:solidFill>
                      <a:srgbClr val="A6D7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0745">
                <a:tc>
                  <a:txBody>
                    <a:bodyPr/>
                    <a:lstStyle/>
                    <a:p>
                      <a:pPr algn="l" fontAlgn="ctr"/>
                      <a:r>
                        <a:rPr lang="ru-RU" sz="1500" u="none" strike="noStrike" dirty="0">
                          <a:effectLst/>
                          <a:latin typeface="Helvetica Neue" panose="02000503000000020004"/>
                        </a:rPr>
                        <a:t>Мобильные направления</a:t>
                      </a:r>
                      <a:endParaRPr lang="ru-RU" sz="1500" b="0" i="0" u="none" strike="noStrike" dirty="0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500" u="none" strike="noStrike" dirty="0">
                          <a:effectLst/>
                          <a:latin typeface="Helvetica Neue" panose="02000503000000020004"/>
                        </a:rPr>
                        <a:t>8 346</a:t>
                      </a:r>
                      <a:endParaRPr lang="ru-RU" sz="1500" b="0" i="0" u="none" strike="noStrike" dirty="0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500" u="none" strike="noStrike" dirty="0">
                          <a:effectLst/>
                          <a:latin typeface="Helvetica Neue" panose="02000503000000020004"/>
                        </a:rPr>
                        <a:t>38,24</a:t>
                      </a:r>
                      <a:endParaRPr lang="ru-RU" sz="1500" b="0" i="0" u="none" strike="noStrike" dirty="0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500" u="none" strike="noStrike" dirty="0">
                          <a:effectLst/>
                          <a:latin typeface="Helvetica Neue" panose="02000503000000020004"/>
                        </a:rPr>
                        <a:t>319 151</a:t>
                      </a:r>
                      <a:endParaRPr lang="ru-RU" sz="1500" b="0" i="0" u="none" strike="noStrike" dirty="0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500" u="none" strike="noStrike" dirty="0">
                          <a:effectLst/>
                          <a:latin typeface="Helvetica Neue" panose="02000503000000020004"/>
                        </a:rPr>
                        <a:t>1</a:t>
                      </a:r>
                      <a:r>
                        <a:rPr lang="en-US" sz="1500" u="none" strike="noStrike" dirty="0">
                          <a:effectLst/>
                          <a:latin typeface="Helvetica Neue" panose="02000503000000020004"/>
                        </a:rPr>
                        <a:t>1</a:t>
                      </a:r>
                      <a:endParaRPr lang="ru-RU" sz="1500" b="0" i="0" u="none" strike="noStrike" dirty="0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u="none" strike="noStrike" dirty="0">
                          <a:effectLst/>
                          <a:latin typeface="Helvetica Neue" panose="02000503000000020004"/>
                        </a:rPr>
                        <a:t>91 806</a:t>
                      </a:r>
                      <a:endParaRPr lang="ru-RU" sz="1500" b="0" i="0" u="none" strike="noStrike" dirty="0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marL="9525" marR="9525" marT="9525" marB="0" anchor="ctr">
                    <a:lnR w="12700" cmpd="sng">
                      <a:noFill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0745">
                <a:tc>
                  <a:txBody>
                    <a:bodyPr/>
                    <a:lstStyle/>
                    <a:p>
                      <a:pPr algn="l" fontAlgn="ctr"/>
                      <a:r>
                        <a:rPr lang="ru-RU" sz="1500" u="none" strike="noStrike" dirty="0">
                          <a:effectLst/>
                          <a:latin typeface="Helvetica Neue" panose="02000503000000020004"/>
                        </a:rPr>
                        <a:t>Городские</a:t>
                      </a:r>
                      <a:br>
                        <a:rPr lang="ru-RU" sz="1500" u="none" strike="noStrike" dirty="0">
                          <a:effectLst/>
                          <a:latin typeface="Helvetica Neue" panose="02000503000000020004"/>
                        </a:rPr>
                      </a:br>
                      <a:r>
                        <a:rPr lang="ru-RU" sz="1500" u="none" strike="noStrike" dirty="0">
                          <a:effectLst/>
                          <a:latin typeface="Helvetica Neue" panose="02000503000000020004"/>
                        </a:rPr>
                        <a:t>звонки</a:t>
                      </a:r>
                      <a:endParaRPr lang="ru-RU" sz="1500" b="0" i="0" u="none" strike="noStrike" dirty="0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500" u="none" strike="noStrike" dirty="0">
                          <a:effectLst/>
                          <a:latin typeface="Helvetica Neue" panose="02000503000000020004"/>
                        </a:rPr>
                        <a:t>5 893</a:t>
                      </a:r>
                      <a:endParaRPr lang="ru-RU" sz="1500" b="0" i="0" u="none" strike="noStrike" dirty="0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500" u="none" strike="noStrike" dirty="0">
                          <a:effectLst/>
                          <a:latin typeface="Helvetica Neue" panose="02000503000000020004"/>
                        </a:rPr>
                        <a:t>22,00</a:t>
                      </a:r>
                      <a:endParaRPr lang="ru-RU" sz="1500" b="0" i="0" u="none" strike="noStrike" dirty="0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500" u="none" strike="noStrike" dirty="0">
                          <a:effectLst/>
                          <a:latin typeface="Helvetica Neue" panose="02000503000000020004"/>
                        </a:rPr>
                        <a:t>129 646</a:t>
                      </a:r>
                      <a:endParaRPr lang="ru-RU" sz="1500" b="0" i="0" u="none" strike="noStrike" dirty="0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500" u="none" strike="noStrike" dirty="0">
                          <a:effectLst/>
                          <a:latin typeface="Helvetica Neue" panose="02000503000000020004"/>
                        </a:rPr>
                        <a:t>1</a:t>
                      </a:r>
                      <a:r>
                        <a:rPr lang="en-US" sz="1500" u="none" strike="noStrike" dirty="0">
                          <a:effectLst/>
                          <a:latin typeface="Helvetica Neue" panose="02000503000000020004"/>
                        </a:rPr>
                        <a:t>7</a:t>
                      </a:r>
                      <a:endParaRPr lang="ru-RU" sz="1500" b="0" i="0" u="none" strike="noStrike" dirty="0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Helvetica Neue"/>
                        </a:rPr>
                        <a:t>100 181</a:t>
                      </a:r>
                    </a:p>
                  </a:txBody>
                  <a:tcPr marL="9525" marR="9525" marT="9525" marB="0" anchor="ctr">
                    <a:lnR w="12700" cmpd="sng">
                      <a:noFill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0197">
                <a:tc>
                  <a:txBody>
                    <a:bodyPr/>
                    <a:lstStyle/>
                    <a:p>
                      <a:pPr algn="l" fontAlgn="ctr"/>
                      <a:r>
                        <a:rPr lang="ru-RU" sz="1500" b="1" u="none" strike="noStrike" dirty="0">
                          <a:solidFill>
                            <a:srgbClr val="A6D71E"/>
                          </a:solidFill>
                          <a:effectLst/>
                          <a:latin typeface="Helvetica Neue" panose="02000503000000020004"/>
                        </a:rPr>
                        <a:t>ИТОГО</a:t>
                      </a:r>
                      <a:endParaRPr lang="ru-RU" sz="1500" b="1" i="0" u="none" strike="noStrike" dirty="0">
                        <a:solidFill>
                          <a:srgbClr val="A6D71E"/>
                        </a:solidFill>
                        <a:effectLst/>
                        <a:latin typeface="Helvetica Neue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B w="12700" cmpd="sng"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500" b="1" u="none" strike="noStrike" dirty="0">
                          <a:solidFill>
                            <a:srgbClr val="6A2D91"/>
                          </a:solidFill>
                          <a:effectLst/>
                          <a:latin typeface="Helvetica Neue" panose="02000503000000020004"/>
                        </a:rPr>
                        <a:t>14 239</a:t>
                      </a:r>
                      <a:endParaRPr lang="ru-RU" sz="1500" b="1" i="0" u="none" strike="noStrike" dirty="0">
                        <a:solidFill>
                          <a:srgbClr val="6A2D91"/>
                        </a:solidFill>
                        <a:effectLst/>
                        <a:latin typeface="Helvetica Neue"/>
                      </a:endParaRPr>
                    </a:p>
                  </a:txBody>
                  <a:tcPr marL="9525" marR="9525" marT="9525" marB="0" anchor="ctr">
                    <a:lnB w="12700" cmpd="sng"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500" u="none" strike="noStrike" dirty="0">
                          <a:effectLst/>
                          <a:latin typeface="Helvetica Neue" panose="02000503000000020004"/>
                        </a:rPr>
                        <a:t> </a:t>
                      </a:r>
                      <a:endParaRPr lang="ru-RU" sz="1500" b="0" i="0" u="none" strike="noStrike" dirty="0">
                        <a:solidFill>
                          <a:srgbClr val="000000"/>
                        </a:solidFill>
                        <a:effectLst/>
                        <a:latin typeface="Helvetica Neue"/>
                      </a:endParaRPr>
                    </a:p>
                  </a:txBody>
                  <a:tcPr marL="9525" marR="9525" marT="9525" marB="0" anchor="ctr">
                    <a:lnB w="12700" cmpd="sng"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500" b="1" u="none" strike="noStrike" dirty="0">
                          <a:solidFill>
                            <a:srgbClr val="6A2D91"/>
                          </a:solidFill>
                          <a:effectLst/>
                          <a:latin typeface="Helvetica Neue" panose="02000503000000020004"/>
                        </a:rPr>
                        <a:t>448 797</a:t>
                      </a:r>
                      <a:endParaRPr lang="ru-RU" sz="1500" b="1" i="0" u="none" strike="noStrike" dirty="0">
                        <a:solidFill>
                          <a:srgbClr val="6A2D91"/>
                        </a:solidFill>
                        <a:effectLst/>
                        <a:latin typeface="Helvetica Neue"/>
                      </a:endParaRPr>
                    </a:p>
                  </a:txBody>
                  <a:tcPr marL="9525" marR="9525" marT="9525" marB="0" anchor="ctr">
                    <a:lnB w="12700" cmpd="sng"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500" b="1" u="none" strike="noStrike" dirty="0">
                          <a:solidFill>
                            <a:srgbClr val="6A2D91"/>
                          </a:solidFill>
                          <a:effectLst/>
                          <a:latin typeface="Helvetica Neue" panose="02000503000000020004"/>
                        </a:rPr>
                        <a:t> </a:t>
                      </a:r>
                      <a:endParaRPr lang="ru-RU" sz="1500" b="1" i="0" u="none" strike="noStrike" dirty="0">
                        <a:solidFill>
                          <a:srgbClr val="6A2D91"/>
                        </a:solidFill>
                        <a:effectLst/>
                        <a:latin typeface="Helvetica Neue"/>
                      </a:endParaRPr>
                    </a:p>
                  </a:txBody>
                  <a:tcPr marL="9525" marR="9525" marT="9525" marB="0" anchor="ctr">
                    <a:lnB w="12700" cmpd="sng"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500" b="1" u="none" strike="noStrike" dirty="0">
                          <a:solidFill>
                            <a:srgbClr val="6A2D91"/>
                          </a:solidFill>
                          <a:effectLst/>
                          <a:latin typeface="Helvetica Neue" panose="02000503000000020004"/>
                        </a:rPr>
                        <a:t>191 987</a:t>
                      </a:r>
                      <a:endParaRPr lang="ru-RU" sz="1500" b="1" i="0" u="none" strike="noStrike" dirty="0">
                        <a:solidFill>
                          <a:srgbClr val="6A2D91"/>
                        </a:solidFill>
                        <a:effectLst/>
                        <a:latin typeface="Helvetica Neue"/>
                      </a:endParaRPr>
                    </a:p>
                  </a:txBody>
                  <a:tcPr marL="9525" marR="9525" marT="9525" marB="0" anchor="ctr">
                    <a:lnR w="12700" cmpd="sng">
                      <a:noFill/>
                    </a:lnR>
                    <a:lnB w="12700" cmpd="sng"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69" name="Группа 68">
            <a:extLst>
              <a:ext uri="{FF2B5EF4-FFF2-40B4-BE49-F238E27FC236}">
                <a16:creationId xmlns:a16="http://schemas.microsoft.com/office/drawing/2014/main" id="{888BF7E0-96EF-4A44-9F1A-95791C23BA33}"/>
              </a:ext>
            </a:extLst>
          </p:cNvPr>
          <p:cNvGrpSpPr/>
          <p:nvPr/>
        </p:nvGrpSpPr>
        <p:grpSpPr>
          <a:xfrm>
            <a:off x="877029" y="2307509"/>
            <a:ext cx="1032655" cy="780715"/>
            <a:chOff x="1043002" y="2307509"/>
            <a:chExt cx="1032655" cy="780715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CB44A94-7E31-452B-BB11-55DCCE388041}"/>
                </a:ext>
              </a:extLst>
            </p:cNvPr>
            <p:cNvSpPr txBox="1"/>
            <p:nvPr/>
          </p:nvSpPr>
          <p:spPr>
            <a:xfrm>
              <a:off x="1043002" y="2626559"/>
              <a:ext cx="103265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ru-RU" sz="1200" dirty="0">
                  <a:latin typeface="Arial" panose="020B0604020202020204" pitchFamily="34" charset="0"/>
                  <a:cs typeface="Arial" panose="020B0604020202020204" pitchFamily="34" charset="0"/>
                </a:rPr>
                <a:t>Внутренний</a:t>
              </a:r>
            </a:p>
            <a:p>
              <a:pPr algn="ctr"/>
              <a:r>
                <a:rPr lang="ru-RU" sz="1200" dirty="0">
                  <a:latin typeface="Arial" panose="020B0604020202020204" pitchFamily="34" charset="0"/>
                  <a:cs typeface="Arial" panose="020B0604020202020204" pitchFamily="34" charset="0"/>
                </a:rPr>
                <a:t>номер</a:t>
              </a:r>
            </a:p>
          </p:txBody>
        </p:sp>
        <p:pic>
          <p:nvPicPr>
            <p:cNvPr id="8" name="Picture 238">
              <a:extLst>
                <a:ext uri="{FF2B5EF4-FFF2-40B4-BE49-F238E27FC236}">
                  <a16:creationId xmlns:a16="http://schemas.microsoft.com/office/drawing/2014/main" id="{41540646-5E99-46C7-9401-182A4573DF0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415390" y="2307509"/>
              <a:ext cx="236733" cy="321282"/>
            </a:xfrm>
            <a:prstGeom prst="rect">
              <a:avLst/>
            </a:prstGeom>
          </p:spPr>
        </p:pic>
      </p:grpSp>
      <p:grpSp>
        <p:nvGrpSpPr>
          <p:cNvPr id="72" name="Группа 71">
            <a:extLst>
              <a:ext uri="{FF2B5EF4-FFF2-40B4-BE49-F238E27FC236}">
                <a16:creationId xmlns:a16="http://schemas.microsoft.com/office/drawing/2014/main" id="{B2D6C4B1-B3A5-4339-BD4F-A2B71049CB3B}"/>
              </a:ext>
            </a:extLst>
          </p:cNvPr>
          <p:cNvGrpSpPr/>
          <p:nvPr/>
        </p:nvGrpSpPr>
        <p:grpSpPr>
          <a:xfrm>
            <a:off x="4444945" y="2266001"/>
            <a:ext cx="1026371" cy="831950"/>
            <a:chOff x="4337020" y="2285457"/>
            <a:chExt cx="1026371" cy="831950"/>
          </a:xfrm>
        </p:grpSpPr>
        <p:pic>
          <p:nvPicPr>
            <p:cNvPr id="9" name="Picture 2" descr="C:\Users\vladimir.kim\Downloads\My Kcell\PBX\Presentation\mater\phone-42403_640.png">
              <a:extLst>
                <a:ext uri="{FF2B5EF4-FFF2-40B4-BE49-F238E27FC236}">
                  <a16:creationId xmlns:a16="http://schemas.microsoft.com/office/drawing/2014/main" id="{1E382290-1704-4370-8389-FC8C20E1CC8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839410">
              <a:off x="4706464" y="2285457"/>
              <a:ext cx="288632" cy="39393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E3F390D9-2585-4F50-B8EF-8B78030BF149}"/>
                </a:ext>
              </a:extLst>
            </p:cNvPr>
            <p:cNvSpPr txBox="1"/>
            <p:nvPr/>
          </p:nvSpPr>
          <p:spPr>
            <a:xfrm>
              <a:off x="4337020" y="2655742"/>
              <a:ext cx="102637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ru-RU" sz="1200" dirty="0">
                  <a:latin typeface="Arial" panose="020B0604020202020204" pitchFamily="34" charset="0"/>
                  <a:cs typeface="Arial" panose="020B0604020202020204" pitchFamily="34" charset="0"/>
                </a:rPr>
                <a:t>Мобильный</a:t>
              </a:r>
            </a:p>
            <a:p>
              <a:pPr algn="ctr"/>
              <a:r>
                <a:rPr lang="ru-RU" sz="1200" dirty="0">
                  <a:latin typeface="Arial" panose="020B0604020202020204" pitchFamily="34" charset="0"/>
                  <a:cs typeface="Arial" panose="020B0604020202020204" pitchFamily="34" charset="0"/>
                </a:rPr>
                <a:t>номер</a:t>
              </a:r>
            </a:p>
          </p:txBody>
        </p:sp>
      </p:grpSp>
      <p:grpSp>
        <p:nvGrpSpPr>
          <p:cNvPr id="70" name="Группа 69">
            <a:extLst>
              <a:ext uri="{FF2B5EF4-FFF2-40B4-BE49-F238E27FC236}">
                <a16:creationId xmlns:a16="http://schemas.microsoft.com/office/drawing/2014/main" id="{DAC9806C-A2FA-425F-A421-956D148CD7DB}"/>
              </a:ext>
            </a:extLst>
          </p:cNvPr>
          <p:cNvGrpSpPr/>
          <p:nvPr/>
        </p:nvGrpSpPr>
        <p:grpSpPr>
          <a:xfrm>
            <a:off x="2069556" y="2352883"/>
            <a:ext cx="1350050" cy="894755"/>
            <a:chOff x="1961285" y="2378133"/>
            <a:chExt cx="1350050" cy="894755"/>
          </a:xfrm>
        </p:grpSpPr>
        <p:pic>
          <p:nvPicPr>
            <p:cNvPr id="11" name="Picture 98">
              <a:extLst>
                <a:ext uri="{FF2B5EF4-FFF2-40B4-BE49-F238E27FC236}">
                  <a16:creationId xmlns:a16="http://schemas.microsoft.com/office/drawing/2014/main" id="{DA42D84F-A1AC-4A87-AF23-A5C17551712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425596" y="2378133"/>
              <a:ext cx="453571" cy="195085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A5421A75-404F-438E-AA4E-BAEAEB8933FD}"/>
                </a:ext>
              </a:extLst>
            </p:cNvPr>
            <p:cNvSpPr txBox="1"/>
            <p:nvPr/>
          </p:nvSpPr>
          <p:spPr>
            <a:xfrm>
              <a:off x="1961285" y="2626557"/>
              <a:ext cx="1350050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ru-RU" sz="1200" dirty="0">
                  <a:latin typeface="Arial" panose="020B0604020202020204" pitchFamily="34" charset="0"/>
                  <a:cs typeface="Arial" panose="020B0604020202020204" pitchFamily="34" charset="0"/>
                </a:rPr>
                <a:t>Оператор</a:t>
              </a:r>
            </a:p>
            <a:p>
              <a:pPr algn="ctr"/>
              <a:r>
                <a:rPr lang="ru-RU" sz="1200" dirty="0">
                  <a:latin typeface="Arial" panose="020B0604020202020204" pitchFamily="34" charset="0"/>
                  <a:cs typeface="Arial" panose="020B0604020202020204" pitchFamily="34" charset="0"/>
                </a:rPr>
                <a:t>фиксированной </a:t>
              </a:r>
            </a:p>
            <a:p>
              <a:pPr algn="ctr"/>
              <a:r>
                <a:rPr lang="ru-RU" sz="1200" dirty="0">
                  <a:latin typeface="Arial" panose="020B0604020202020204" pitchFamily="34" charset="0"/>
                  <a:cs typeface="Arial" panose="020B0604020202020204" pitchFamily="34" charset="0"/>
                </a:rPr>
                <a:t>связи</a:t>
              </a:r>
            </a:p>
          </p:txBody>
        </p:sp>
      </p:grpSp>
      <p:grpSp>
        <p:nvGrpSpPr>
          <p:cNvPr id="71" name="Группа 70">
            <a:extLst>
              <a:ext uri="{FF2B5EF4-FFF2-40B4-BE49-F238E27FC236}">
                <a16:creationId xmlns:a16="http://schemas.microsoft.com/office/drawing/2014/main" id="{1B8012D2-9CC4-4701-9689-9846054CE444}"/>
              </a:ext>
            </a:extLst>
          </p:cNvPr>
          <p:cNvGrpSpPr/>
          <p:nvPr/>
        </p:nvGrpSpPr>
        <p:grpSpPr>
          <a:xfrm>
            <a:off x="3597757" y="2361088"/>
            <a:ext cx="610745" cy="542468"/>
            <a:chOff x="3444042" y="2361088"/>
            <a:chExt cx="610745" cy="542468"/>
          </a:xfrm>
        </p:grpSpPr>
        <p:pic>
          <p:nvPicPr>
            <p:cNvPr id="13" name="Picture 100">
              <a:extLst>
                <a:ext uri="{FF2B5EF4-FFF2-40B4-BE49-F238E27FC236}">
                  <a16:creationId xmlns:a16="http://schemas.microsoft.com/office/drawing/2014/main" id="{45FFB07F-C058-410F-99E0-B54FFDBB305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568890" y="2361088"/>
              <a:ext cx="325476" cy="256436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23CB0717-B498-42B2-89B1-9C62763FED22}"/>
                </a:ext>
              </a:extLst>
            </p:cNvPr>
            <p:cNvSpPr txBox="1"/>
            <p:nvPr/>
          </p:nvSpPr>
          <p:spPr>
            <a:xfrm>
              <a:off x="3444042" y="2626557"/>
              <a:ext cx="61074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ru-RU" sz="1200" dirty="0" err="1">
                  <a:latin typeface="Arial" panose="020B0604020202020204" pitchFamily="34" charset="0"/>
                  <a:cs typeface="Arial" panose="020B0604020202020204" pitchFamily="34" charset="0"/>
                </a:rPr>
                <a:t>Кселл</a:t>
              </a:r>
              <a:endParaRPr lang="ru-RU" sz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1A6ECB5D-8373-43F3-8A59-EE260C1FF6AB}"/>
              </a:ext>
            </a:extLst>
          </p:cNvPr>
          <p:cNvSpPr txBox="1"/>
          <p:nvPr/>
        </p:nvSpPr>
        <p:spPr>
          <a:xfrm>
            <a:off x="6989712" y="2630350"/>
            <a:ext cx="10326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200" dirty="0">
                <a:latin typeface="Arial" panose="020B0604020202020204" pitchFamily="34" charset="0"/>
                <a:cs typeface="Arial" panose="020B0604020202020204" pitchFamily="34" charset="0"/>
              </a:rPr>
              <a:t>Внутренний</a:t>
            </a:r>
          </a:p>
          <a:p>
            <a:pPr algn="ctr"/>
            <a:r>
              <a:rPr lang="ru-RU" sz="1200" dirty="0">
                <a:latin typeface="Arial" panose="020B0604020202020204" pitchFamily="34" charset="0"/>
                <a:cs typeface="Arial" panose="020B0604020202020204" pitchFamily="34" charset="0"/>
              </a:rPr>
              <a:t>номер</a:t>
            </a:r>
          </a:p>
        </p:txBody>
      </p:sp>
      <p:pic>
        <p:nvPicPr>
          <p:cNvPr id="20" name="Picture 238">
            <a:extLst>
              <a:ext uri="{FF2B5EF4-FFF2-40B4-BE49-F238E27FC236}">
                <a16:creationId xmlns:a16="http://schemas.microsoft.com/office/drawing/2014/main" id="{BE4C340B-50DD-4C23-984E-6BEC3DF196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8663" y="2303684"/>
            <a:ext cx="242387" cy="328953"/>
          </a:xfrm>
          <a:prstGeom prst="rect">
            <a:avLst/>
          </a:prstGeom>
        </p:spPr>
      </p:pic>
      <p:grpSp>
        <p:nvGrpSpPr>
          <p:cNvPr id="94" name="Группа 93">
            <a:extLst>
              <a:ext uri="{FF2B5EF4-FFF2-40B4-BE49-F238E27FC236}">
                <a16:creationId xmlns:a16="http://schemas.microsoft.com/office/drawing/2014/main" id="{3CB658E3-2935-4620-AFA4-6175FDBA4384}"/>
              </a:ext>
            </a:extLst>
          </p:cNvPr>
          <p:cNvGrpSpPr/>
          <p:nvPr/>
        </p:nvGrpSpPr>
        <p:grpSpPr>
          <a:xfrm>
            <a:off x="10619092" y="2236604"/>
            <a:ext cx="1026371" cy="872179"/>
            <a:chOff x="10450946" y="2219837"/>
            <a:chExt cx="1026371" cy="872179"/>
          </a:xfrm>
        </p:grpSpPr>
        <p:pic>
          <p:nvPicPr>
            <p:cNvPr id="21" name="Picture 2" descr="C:\Users\vladimir.kim\Downloads\My Kcell\PBX\Presentation\mater\phone-42403_640.png">
              <a:extLst>
                <a:ext uri="{FF2B5EF4-FFF2-40B4-BE49-F238E27FC236}">
                  <a16:creationId xmlns:a16="http://schemas.microsoft.com/office/drawing/2014/main" id="{94C52BE8-073A-4028-8683-A7C4CE86BB4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839410">
              <a:off x="10822638" y="2219837"/>
              <a:ext cx="295524" cy="4033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2B216E6E-0EE1-4346-BA01-A6F4CFEB4FA9}"/>
                </a:ext>
              </a:extLst>
            </p:cNvPr>
            <p:cNvSpPr txBox="1"/>
            <p:nvPr/>
          </p:nvSpPr>
          <p:spPr>
            <a:xfrm>
              <a:off x="10450946" y="2630351"/>
              <a:ext cx="102637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ru-RU" sz="1200" dirty="0">
                  <a:latin typeface="Arial" panose="020B0604020202020204" pitchFamily="34" charset="0"/>
                  <a:cs typeface="Arial" panose="020B0604020202020204" pitchFamily="34" charset="0"/>
                </a:rPr>
                <a:t>Мобильный</a:t>
              </a:r>
            </a:p>
            <a:p>
              <a:pPr algn="ctr"/>
              <a:r>
                <a:rPr lang="ru-RU" sz="1200" dirty="0">
                  <a:latin typeface="Arial" panose="020B0604020202020204" pitchFamily="34" charset="0"/>
                  <a:cs typeface="Arial" panose="020B0604020202020204" pitchFamily="34" charset="0"/>
                </a:rPr>
                <a:t>номер</a:t>
              </a:r>
            </a:p>
          </p:txBody>
        </p:sp>
      </p:grpSp>
      <p:pic>
        <p:nvPicPr>
          <p:cNvPr id="23" name="Picture 100">
            <a:extLst>
              <a:ext uri="{FF2B5EF4-FFF2-40B4-BE49-F238E27FC236}">
                <a16:creationId xmlns:a16="http://schemas.microsoft.com/office/drawing/2014/main" id="{C9DE5B29-F729-44B4-9BD5-CB38A3224C0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55415" y="2358543"/>
            <a:ext cx="333247" cy="262558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C7BC3FCF-5863-4FC2-AE7A-0A36F255AC84}"/>
              </a:ext>
            </a:extLst>
          </p:cNvPr>
          <p:cNvSpPr txBox="1"/>
          <p:nvPr/>
        </p:nvSpPr>
        <p:spPr>
          <a:xfrm>
            <a:off x="9770017" y="2630351"/>
            <a:ext cx="540464" cy="2451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200" dirty="0" err="1">
                <a:latin typeface="Arial" panose="020B0604020202020204" pitchFamily="34" charset="0"/>
                <a:cs typeface="Arial" panose="020B0604020202020204" pitchFamily="34" charset="0"/>
              </a:rPr>
              <a:t>Кселл</a:t>
            </a:r>
            <a:endParaRPr lang="ru-RU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3573EA4-55E0-46EA-BC63-9FBE8FD18B4E}"/>
              </a:ext>
            </a:extLst>
          </p:cNvPr>
          <p:cNvSpPr txBox="1"/>
          <p:nvPr/>
        </p:nvSpPr>
        <p:spPr>
          <a:xfrm>
            <a:off x="8076755" y="2647118"/>
            <a:ext cx="161569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200" dirty="0">
                <a:latin typeface="Arial" panose="020B0604020202020204" pitchFamily="34" charset="0"/>
                <a:cs typeface="Arial" panose="020B0604020202020204" pitchFamily="34" charset="0"/>
              </a:rPr>
              <a:t>Услуга </a:t>
            </a:r>
          </a:p>
          <a:p>
            <a:pPr algn="ctr"/>
            <a:r>
              <a:rPr lang="ru-RU" sz="1200" dirty="0">
                <a:latin typeface="Arial" panose="020B0604020202020204" pitchFamily="34" charset="0"/>
                <a:cs typeface="Arial" panose="020B0604020202020204" pitchFamily="34" charset="0"/>
              </a:rPr>
              <a:t>«Бизнес-</a:t>
            </a:r>
            <a:r>
              <a:rPr lang="ru-RU" sz="1200" dirty="0" err="1">
                <a:latin typeface="Arial" panose="020B0604020202020204" pitchFamily="34" charset="0"/>
                <a:cs typeface="Arial" panose="020B0604020202020204" pitchFamily="34" charset="0"/>
              </a:rPr>
              <a:t>телфония</a:t>
            </a:r>
            <a:r>
              <a:rPr lang="ru-RU" sz="1200" dirty="0">
                <a:latin typeface="Arial" panose="020B0604020202020204" pitchFamily="34" charset="0"/>
                <a:cs typeface="Arial" panose="020B0604020202020204" pitchFamily="34" charset="0"/>
              </a:rPr>
              <a:t>»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2B5EC1F-D78A-425D-A39B-E3FB04C1ABEA}"/>
              </a:ext>
            </a:extLst>
          </p:cNvPr>
          <p:cNvSpPr txBox="1"/>
          <p:nvPr/>
        </p:nvSpPr>
        <p:spPr>
          <a:xfrm>
            <a:off x="982711" y="1292852"/>
            <a:ext cx="43522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latin typeface="Helvetica Neue"/>
                <a:cs typeface="Arial" panose="020B0604020202020204" pitchFamily="34" charset="0"/>
              </a:rPr>
              <a:t>Средняя стоимость минуты разговора </a:t>
            </a:r>
          </a:p>
          <a:p>
            <a:r>
              <a:rPr lang="ru-RU" dirty="0">
                <a:latin typeface="Helvetica Neue"/>
                <a:cs typeface="Arial" panose="020B0604020202020204" pitchFamily="34" charset="0"/>
              </a:rPr>
              <a:t>(до внедрения услуги) – </a:t>
            </a:r>
            <a:r>
              <a:rPr lang="ru-RU" b="1" dirty="0">
                <a:solidFill>
                  <a:srgbClr val="6A2D91"/>
                </a:solidFill>
                <a:latin typeface="Helvetica Neue"/>
                <a:cs typeface="Arial" panose="020B0604020202020204" pitchFamily="34" charset="0"/>
              </a:rPr>
              <a:t>38 тенге</a:t>
            </a:r>
            <a:endParaRPr lang="ru-RU" dirty="0">
              <a:solidFill>
                <a:srgbClr val="6A2D91"/>
              </a:solidFill>
              <a:latin typeface="Helvetica Neue"/>
              <a:cs typeface="Arial" panose="020B0604020202020204" pitchFamily="34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6F83B8C-BDED-4689-A46D-7D39D529316F}"/>
              </a:ext>
            </a:extLst>
          </p:cNvPr>
          <p:cNvSpPr txBox="1"/>
          <p:nvPr/>
        </p:nvSpPr>
        <p:spPr>
          <a:xfrm>
            <a:off x="7185581" y="1318128"/>
            <a:ext cx="412042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latin typeface="Helvetica Neue"/>
                <a:cs typeface="Arial" panose="020B0604020202020204" pitchFamily="34" charset="0"/>
              </a:rPr>
              <a:t>Стоимость минуты разговора </a:t>
            </a:r>
          </a:p>
          <a:p>
            <a:r>
              <a:rPr lang="ru-RU" dirty="0">
                <a:latin typeface="Helvetica Neue"/>
                <a:cs typeface="Arial" panose="020B0604020202020204" pitchFamily="34" charset="0"/>
              </a:rPr>
              <a:t>(после внедрения услуги) – </a:t>
            </a:r>
            <a:r>
              <a:rPr lang="ru-RU" b="1" dirty="0">
                <a:solidFill>
                  <a:srgbClr val="6A2D91"/>
                </a:solidFill>
                <a:latin typeface="Helvetica Neue"/>
                <a:cs typeface="Arial" panose="020B0604020202020204" pitchFamily="34" charset="0"/>
              </a:rPr>
              <a:t>1</a:t>
            </a:r>
            <a:r>
              <a:rPr lang="en-US" b="1" dirty="0">
                <a:solidFill>
                  <a:srgbClr val="6A2D91"/>
                </a:solidFill>
                <a:latin typeface="Helvetica Neue"/>
                <a:cs typeface="Arial" panose="020B0604020202020204" pitchFamily="34" charset="0"/>
              </a:rPr>
              <a:t>1</a:t>
            </a:r>
            <a:r>
              <a:rPr lang="ru-RU" b="1" dirty="0">
                <a:solidFill>
                  <a:srgbClr val="6A2D91"/>
                </a:solidFill>
                <a:latin typeface="Helvetica Neue"/>
                <a:cs typeface="Arial" panose="020B0604020202020204" pitchFamily="34" charset="0"/>
              </a:rPr>
              <a:t> тенге</a:t>
            </a:r>
            <a:endParaRPr lang="ru-RU" dirty="0">
              <a:solidFill>
                <a:srgbClr val="6A2D91"/>
              </a:solidFill>
              <a:latin typeface="Helvetica Neue"/>
              <a:cs typeface="Arial" panose="020B0604020202020204" pitchFamily="34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1D45FDE-185E-4439-94AB-14346CE5A706}"/>
              </a:ext>
            </a:extLst>
          </p:cNvPr>
          <p:cNvSpPr txBox="1"/>
          <p:nvPr/>
        </p:nvSpPr>
        <p:spPr>
          <a:xfrm>
            <a:off x="677622" y="479046"/>
            <a:ext cx="5884482" cy="58477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ru-RU" sz="2800" b="1" dirty="0">
                <a:solidFill>
                  <a:srgbClr val="6A2E92"/>
                </a:solidFill>
                <a:latin typeface="Helvetica" panose="020B0604020202020204" pitchFamily="34" charset="0"/>
                <a:ea typeface="+mj-ea"/>
                <a:cs typeface="Helvetica" panose="020B0604020202020204" pitchFamily="34" charset="0"/>
              </a:rPr>
              <a:t>Экономическое обоснование</a:t>
            </a:r>
            <a:endParaRPr lang="en-US" sz="2800" b="1" dirty="0">
              <a:solidFill>
                <a:srgbClr val="6A2E92"/>
              </a:solidFill>
              <a:latin typeface="Helvetica" panose="020B0604020202020204" pitchFamily="34" charset="0"/>
              <a:ea typeface="+mj-ea"/>
              <a:cs typeface="Helvetica" panose="020B0604020202020204" pitchFamily="34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82C7A9E-16D5-4E36-BCDB-BFA2653E354C}"/>
              </a:ext>
            </a:extLst>
          </p:cNvPr>
          <p:cNvSpPr txBox="1"/>
          <p:nvPr/>
        </p:nvSpPr>
        <p:spPr>
          <a:xfrm>
            <a:off x="9315847" y="6007416"/>
            <a:ext cx="203549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dirty="0">
                <a:solidFill>
                  <a:schemeClr val="bg1"/>
                </a:solidFill>
                <a:latin typeface="Helvetica Neue"/>
                <a:cs typeface="Arial" panose="020B0604020202020204" pitchFamily="34" charset="0"/>
              </a:rPr>
              <a:t>Экономия </a:t>
            </a:r>
            <a:r>
              <a:rPr lang="ru-RU" sz="2800" b="1" dirty="0">
                <a:solidFill>
                  <a:schemeClr val="bg1"/>
                </a:solidFill>
                <a:latin typeface="Helvetica Neue"/>
                <a:cs typeface="Arial" panose="020B0604020202020204" pitchFamily="34" charset="0"/>
              </a:rPr>
              <a:t>60%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7E66562-FF29-49B2-8E6E-AFB66451F0CE}"/>
              </a:ext>
            </a:extLst>
          </p:cNvPr>
          <p:cNvSpPr txBox="1"/>
          <p:nvPr/>
        </p:nvSpPr>
        <p:spPr>
          <a:xfrm>
            <a:off x="664799" y="3410418"/>
            <a:ext cx="95090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600" i="1" dirty="0">
                <a:solidFill>
                  <a:schemeClr val="bg2">
                    <a:lumMod val="25000"/>
                  </a:schemeClr>
                </a:solidFill>
                <a:latin typeface="Helvetica Neue"/>
                <a:cs typeface="Arial" panose="020B0604020202020204" pitchFamily="34" charset="0"/>
              </a:rPr>
              <a:t>пример:</a:t>
            </a:r>
            <a:endParaRPr lang="ru-RU" sz="1600" b="1" i="1" dirty="0">
              <a:solidFill>
                <a:schemeClr val="bg2">
                  <a:lumMod val="25000"/>
                </a:schemeClr>
              </a:solidFill>
              <a:latin typeface="Helvetica Neue"/>
              <a:cs typeface="Arial" panose="020B0604020202020204" pitchFamily="34" charset="0"/>
            </a:endParaRPr>
          </a:p>
        </p:txBody>
      </p:sp>
      <p:grpSp>
        <p:nvGrpSpPr>
          <p:cNvPr id="68" name="Группа 67">
            <a:extLst>
              <a:ext uri="{FF2B5EF4-FFF2-40B4-BE49-F238E27FC236}">
                <a16:creationId xmlns:a16="http://schemas.microsoft.com/office/drawing/2014/main" id="{4A9583BA-76DA-4ADB-9080-F0C366919EB3}"/>
              </a:ext>
            </a:extLst>
          </p:cNvPr>
          <p:cNvGrpSpPr/>
          <p:nvPr/>
        </p:nvGrpSpPr>
        <p:grpSpPr>
          <a:xfrm>
            <a:off x="6044188" y="2352883"/>
            <a:ext cx="457557" cy="678984"/>
            <a:chOff x="5636560" y="2100169"/>
            <a:chExt cx="457557" cy="678984"/>
          </a:xfrm>
        </p:grpSpPr>
        <p:grpSp>
          <p:nvGrpSpPr>
            <p:cNvPr id="40" name="Группа 39">
              <a:extLst>
                <a:ext uri="{FF2B5EF4-FFF2-40B4-BE49-F238E27FC236}">
                  <a16:creationId xmlns:a16="http://schemas.microsoft.com/office/drawing/2014/main" id="{2CE48B26-B462-4871-812C-69CA9D362B9C}"/>
                </a:ext>
              </a:extLst>
            </p:cNvPr>
            <p:cNvGrpSpPr/>
            <p:nvPr/>
          </p:nvGrpSpPr>
          <p:grpSpPr>
            <a:xfrm>
              <a:off x="5651862" y="2100169"/>
              <a:ext cx="442255" cy="131990"/>
              <a:chOff x="1996452" y="2021825"/>
              <a:chExt cx="394081" cy="107819"/>
            </a:xfrm>
          </p:grpSpPr>
          <p:grpSp>
            <p:nvGrpSpPr>
              <p:cNvPr id="41" name="Группа 40">
                <a:extLst>
                  <a:ext uri="{FF2B5EF4-FFF2-40B4-BE49-F238E27FC236}">
                    <a16:creationId xmlns:a16="http://schemas.microsoft.com/office/drawing/2014/main" id="{0E617977-348A-4D31-90FC-9D47A08C9248}"/>
                  </a:ext>
                </a:extLst>
              </p:cNvPr>
              <p:cNvGrpSpPr/>
              <p:nvPr/>
            </p:nvGrpSpPr>
            <p:grpSpPr>
              <a:xfrm>
                <a:off x="2068825" y="2021825"/>
                <a:ext cx="321708" cy="107819"/>
                <a:chOff x="1860251" y="2011577"/>
                <a:chExt cx="501307" cy="168011"/>
              </a:xfrm>
            </p:grpSpPr>
            <p:sp>
              <p:nvSpPr>
                <p:cNvPr id="43" name="Овал 42">
                  <a:extLst>
                    <a:ext uri="{FF2B5EF4-FFF2-40B4-BE49-F238E27FC236}">
                      <a16:creationId xmlns:a16="http://schemas.microsoft.com/office/drawing/2014/main" id="{53E297E0-EE66-4500-B4DC-B000792726FA}"/>
                    </a:ext>
                  </a:extLst>
                </p:cNvPr>
                <p:cNvSpPr/>
                <p:nvPr/>
              </p:nvSpPr>
              <p:spPr>
                <a:xfrm rot="2452744">
                  <a:off x="1860251" y="2084085"/>
                  <a:ext cx="45720" cy="45720"/>
                </a:xfrm>
                <a:prstGeom prst="ellipse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KZ" dirty="0"/>
                </a:p>
              </p:txBody>
            </p:sp>
            <p:sp>
              <p:nvSpPr>
                <p:cNvPr id="44" name="Овал 43">
                  <a:extLst>
                    <a:ext uri="{FF2B5EF4-FFF2-40B4-BE49-F238E27FC236}">
                      <a16:creationId xmlns:a16="http://schemas.microsoft.com/office/drawing/2014/main" id="{053D0EB7-4CF4-43C2-8D6B-3E24540C49F9}"/>
                    </a:ext>
                  </a:extLst>
                </p:cNvPr>
                <p:cNvSpPr/>
                <p:nvPr/>
              </p:nvSpPr>
              <p:spPr>
                <a:xfrm rot="8134131">
                  <a:off x="1976627" y="2084085"/>
                  <a:ext cx="45720" cy="45720"/>
                </a:xfrm>
                <a:prstGeom prst="ellipse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KZ" dirty="0"/>
                </a:p>
              </p:txBody>
            </p:sp>
            <p:sp>
              <p:nvSpPr>
                <p:cNvPr id="45" name="Овал 44">
                  <a:extLst>
                    <a:ext uri="{FF2B5EF4-FFF2-40B4-BE49-F238E27FC236}">
                      <a16:creationId xmlns:a16="http://schemas.microsoft.com/office/drawing/2014/main" id="{17DBD35C-879E-47EA-8AEE-81DD52B6C3DC}"/>
                    </a:ext>
                  </a:extLst>
                </p:cNvPr>
                <p:cNvSpPr/>
                <p:nvPr/>
              </p:nvSpPr>
              <p:spPr>
                <a:xfrm rot="2452744">
                  <a:off x="2088848" y="2084085"/>
                  <a:ext cx="45720" cy="45720"/>
                </a:xfrm>
                <a:prstGeom prst="ellipse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KZ" dirty="0"/>
                </a:p>
              </p:txBody>
            </p:sp>
            <p:sp>
              <p:nvSpPr>
                <p:cNvPr id="46" name="Треугольник 24">
                  <a:extLst>
                    <a:ext uri="{FF2B5EF4-FFF2-40B4-BE49-F238E27FC236}">
                      <a16:creationId xmlns:a16="http://schemas.microsoft.com/office/drawing/2014/main" id="{51931F44-6E4E-4C1A-83F0-288281F3450E}"/>
                    </a:ext>
                  </a:extLst>
                </p:cNvPr>
                <p:cNvSpPr/>
                <p:nvPr/>
              </p:nvSpPr>
              <p:spPr>
                <a:xfrm rot="5400000">
                  <a:off x="2205132" y="2023163"/>
                  <a:ext cx="168011" cy="144840"/>
                </a:xfrm>
                <a:prstGeom prst="triangle">
                  <a:avLst/>
                </a:prstGeom>
                <a:solidFill>
                  <a:srgbClr val="6F3D9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KZ" dirty="0"/>
                </a:p>
              </p:txBody>
            </p:sp>
          </p:grpSp>
          <p:sp>
            <p:nvSpPr>
              <p:cNvPr id="42" name="Овал 41">
                <a:extLst>
                  <a:ext uri="{FF2B5EF4-FFF2-40B4-BE49-F238E27FC236}">
                    <a16:creationId xmlns:a16="http://schemas.microsoft.com/office/drawing/2014/main" id="{B593614F-6F19-4F3B-8980-63D043B66BFC}"/>
                  </a:ext>
                </a:extLst>
              </p:cNvPr>
              <p:cNvSpPr/>
              <p:nvPr/>
            </p:nvSpPr>
            <p:spPr>
              <a:xfrm rot="2452744">
                <a:off x="1996452" y="2068345"/>
                <a:ext cx="29340" cy="29340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KZ" dirty="0"/>
              </a:p>
            </p:txBody>
          </p:sp>
        </p:grpSp>
        <p:grpSp>
          <p:nvGrpSpPr>
            <p:cNvPr id="47" name="Группа 46">
              <a:extLst>
                <a:ext uri="{FF2B5EF4-FFF2-40B4-BE49-F238E27FC236}">
                  <a16:creationId xmlns:a16="http://schemas.microsoft.com/office/drawing/2014/main" id="{1960B4ED-DBA5-48C7-84AF-AC9572AC5A2C}"/>
                </a:ext>
              </a:extLst>
            </p:cNvPr>
            <p:cNvGrpSpPr/>
            <p:nvPr/>
          </p:nvGrpSpPr>
          <p:grpSpPr>
            <a:xfrm>
              <a:off x="5649452" y="2376727"/>
              <a:ext cx="442255" cy="131990"/>
              <a:chOff x="1996452" y="2021825"/>
              <a:chExt cx="394081" cy="107819"/>
            </a:xfrm>
          </p:grpSpPr>
          <p:grpSp>
            <p:nvGrpSpPr>
              <p:cNvPr id="48" name="Группа 47">
                <a:extLst>
                  <a:ext uri="{FF2B5EF4-FFF2-40B4-BE49-F238E27FC236}">
                    <a16:creationId xmlns:a16="http://schemas.microsoft.com/office/drawing/2014/main" id="{DFD6A2C9-1FC5-4C95-AF5D-9C5261CB825E}"/>
                  </a:ext>
                </a:extLst>
              </p:cNvPr>
              <p:cNvGrpSpPr/>
              <p:nvPr/>
            </p:nvGrpSpPr>
            <p:grpSpPr>
              <a:xfrm>
                <a:off x="2068825" y="2021825"/>
                <a:ext cx="321708" cy="107819"/>
                <a:chOff x="1860251" y="2011577"/>
                <a:chExt cx="501307" cy="168011"/>
              </a:xfrm>
            </p:grpSpPr>
            <p:sp>
              <p:nvSpPr>
                <p:cNvPr id="50" name="Овал 49">
                  <a:extLst>
                    <a:ext uri="{FF2B5EF4-FFF2-40B4-BE49-F238E27FC236}">
                      <a16:creationId xmlns:a16="http://schemas.microsoft.com/office/drawing/2014/main" id="{8579B2F6-BCE2-48A3-84B6-2E1D0978D2C5}"/>
                    </a:ext>
                  </a:extLst>
                </p:cNvPr>
                <p:cNvSpPr/>
                <p:nvPr/>
              </p:nvSpPr>
              <p:spPr>
                <a:xfrm rot="2452744">
                  <a:off x="1860251" y="2084085"/>
                  <a:ext cx="45720" cy="45720"/>
                </a:xfrm>
                <a:prstGeom prst="ellipse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KZ" dirty="0"/>
                </a:p>
              </p:txBody>
            </p:sp>
            <p:sp>
              <p:nvSpPr>
                <p:cNvPr id="51" name="Овал 50">
                  <a:extLst>
                    <a:ext uri="{FF2B5EF4-FFF2-40B4-BE49-F238E27FC236}">
                      <a16:creationId xmlns:a16="http://schemas.microsoft.com/office/drawing/2014/main" id="{FA535615-1F2B-41A6-B76A-7620DFE02F8D}"/>
                    </a:ext>
                  </a:extLst>
                </p:cNvPr>
                <p:cNvSpPr/>
                <p:nvPr/>
              </p:nvSpPr>
              <p:spPr>
                <a:xfrm rot="8134131">
                  <a:off x="1976627" y="2084085"/>
                  <a:ext cx="45720" cy="45720"/>
                </a:xfrm>
                <a:prstGeom prst="ellipse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KZ" dirty="0"/>
                </a:p>
              </p:txBody>
            </p:sp>
            <p:sp>
              <p:nvSpPr>
                <p:cNvPr id="52" name="Овал 51">
                  <a:extLst>
                    <a:ext uri="{FF2B5EF4-FFF2-40B4-BE49-F238E27FC236}">
                      <a16:creationId xmlns:a16="http://schemas.microsoft.com/office/drawing/2014/main" id="{9A267E79-8F68-40EC-88B4-352E888795A5}"/>
                    </a:ext>
                  </a:extLst>
                </p:cNvPr>
                <p:cNvSpPr/>
                <p:nvPr/>
              </p:nvSpPr>
              <p:spPr>
                <a:xfrm rot="2452744">
                  <a:off x="2088848" y="2084085"/>
                  <a:ext cx="45720" cy="45720"/>
                </a:xfrm>
                <a:prstGeom prst="ellipse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KZ" dirty="0"/>
                </a:p>
              </p:txBody>
            </p:sp>
            <p:sp>
              <p:nvSpPr>
                <p:cNvPr id="53" name="Треугольник 24">
                  <a:extLst>
                    <a:ext uri="{FF2B5EF4-FFF2-40B4-BE49-F238E27FC236}">
                      <a16:creationId xmlns:a16="http://schemas.microsoft.com/office/drawing/2014/main" id="{20FE6A9C-3724-4405-9474-F7B055874B00}"/>
                    </a:ext>
                  </a:extLst>
                </p:cNvPr>
                <p:cNvSpPr/>
                <p:nvPr/>
              </p:nvSpPr>
              <p:spPr>
                <a:xfrm rot="5400000">
                  <a:off x="2205132" y="2023163"/>
                  <a:ext cx="168011" cy="144840"/>
                </a:xfrm>
                <a:prstGeom prst="triangle">
                  <a:avLst/>
                </a:prstGeom>
                <a:solidFill>
                  <a:srgbClr val="6F3D9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KZ" dirty="0"/>
                </a:p>
              </p:txBody>
            </p:sp>
          </p:grpSp>
          <p:sp>
            <p:nvSpPr>
              <p:cNvPr id="49" name="Овал 48">
                <a:extLst>
                  <a:ext uri="{FF2B5EF4-FFF2-40B4-BE49-F238E27FC236}">
                    <a16:creationId xmlns:a16="http://schemas.microsoft.com/office/drawing/2014/main" id="{5DC7A552-A703-4CAF-9B15-912CE04FF119}"/>
                  </a:ext>
                </a:extLst>
              </p:cNvPr>
              <p:cNvSpPr/>
              <p:nvPr/>
            </p:nvSpPr>
            <p:spPr>
              <a:xfrm rot="2452744">
                <a:off x="1996452" y="2068345"/>
                <a:ext cx="29340" cy="29340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KZ" dirty="0"/>
              </a:p>
            </p:txBody>
          </p:sp>
        </p:grpSp>
        <p:grpSp>
          <p:nvGrpSpPr>
            <p:cNvPr id="54" name="Группа 53">
              <a:extLst>
                <a:ext uri="{FF2B5EF4-FFF2-40B4-BE49-F238E27FC236}">
                  <a16:creationId xmlns:a16="http://schemas.microsoft.com/office/drawing/2014/main" id="{241E9F75-5848-49FC-8FD9-92AE9A997F69}"/>
                </a:ext>
              </a:extLst>
            </p:cNvPr>
            <p:cNvGrpSpPr/>
            <p:nvPr/>
          </p:nvGrpSpPr>
          <p:grpSpPr>
            <a:xfrm>
              <a:off x="5636560" y="2647163"/>
              <a:ext cx="442255" cy="131990"/>
              <a:chOff x="1996452" y="2021825"/>
              <a:chExt cx="394081" cy="107819"/>
            </a:xfrm>
          </p:grpSpPr>
          <p:grpSp>
            <p:nvGrpSpPr>
              <p:cNvPr id="55" name="Группа 54">
                <a:extLst>
                  <a:ext uri="{FF2B5EF4-FFF2-40B4-BE49-F238E27FC236}">
                    <a16:creationId xmlns:a16="http://schemas.microsoft.com/office/drawing/2014/main" id="{A88AA5A4-46C3-486D-B900-C7DFE5E8109D}"/>
                  </a:ext>
                </a:extLst>
              </p:cNvPr>
              <p:cNvGrpSpPr/>
              <p:nvPr/>
            </p:nvGrpSpPr>
            <p:grpSpPr>
              <a:xfrm>
                <a:off x="2068825" y="2021825"/>
                <a:ext cx="321708" cy="107819"/>
                <a:chOff x="1860251" y="2011577"/>
                <a:chExt cx="501307" cy="168011"/>
              </a:xfrm>
            </p:grpSpPr>
            <p:sp>
              <p:nvSpPr>
                <p:cNvPr id="57" name="Овал 56">
                  <a:extLst>
                    <a:ext uri="{FF2B5EF4-FFF2-40B4-BE49-F238E27FC236}">
                      <a16:creationId xmlns:a16="http://schemas.microsoft.com/office/drawing/2014/main" id="{8D752580-FB23-438B-9D29-C7DB646A9A63}"/>
                    </a:ext>
                  </a:extLst>
                </p:cNvPr>
                <p:cNvSpPr/>
                <p:nvPr/>
              </p:nvSpPr>
              <p:spPr>
                <a:xfrm rot="2452744">
                  <a:off x="1860251" y="2084085"/>
                  <a:ext cx="45720" cy="45720"/>
                </a:xfrm>
                <a:prstGeom prst="ellipse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KZ" dirty="0"/>
                </a:p>
              </p:txBody>
            </p:sp>
            <p:sp>
              <p:nvSpPr>
                <p:cNvPr id="58" name="Овал 57">
                  <a:extLst>
                    <a:ext uri="{FF2B5EF4-FFF2-40B4-BE49-F238E27FC236}">
                      <a16:creationId xmlns:a16="http://schemas.microsoft.com/office/drawing/2014/main" id="{632BABFC-9BE8-4EFB-AE1E-639D93EE504E}"/>
                    </a:ext>
                  </a:extLst>
                </p:cNvPr>
                <p:cNvSpPr/>
                <p:nvPr/>
              </p:nvSpPr>
              <p:spPr>
                <a:xfrm rot="8134131">
                  <a:off x="1976627" y="2084085"/>
                  <a:ext cx="45720" cy="45720"/>
                </a:xfrm>
                <a:prstGeom prst="ellipse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KZ" dirty="0"/>
                </a:p>
              </p:txBody>
            </p:sp>
            <p:sp>
              <p:nvSpPr>
                <p:cNvPr id="59" name="Овал 58">
                  <a:extLst>
                    <a:ext uri="{FF2B5EF4-FFF2-40B4-BE49-F238E27FC236}">
                      <a16:creationId xmlns:a16="http://schemas.microsoft.com/office/drawing/2014/main" id="{9E468A1A-C476-4F0A-A6C0-4984580EBB79}"/>
                    </a:ext>
                  </a:extLst>
                </p:cNvPr>
                <p:cNvSpPr/>
                <p:nvPr/>
              </p:nvSpPr>
              <p:spPr>
                <a:xfrm rot="2452744">
                  <a:off x="2088848" y="2084085"/>
                  <a:ext cx="45720" cy="45720"/>
                </a:xfrm>
                <a:prstGeom prst="ellipse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KZ" dirty="0"/>
                </a:p>
              </p:txBody>
            </p:sp>
            <p:sp>
              <p:nvSpPr>
                <p:cNvPr id="60" name="Треугольник 24">
                  <a:extLst>
                    <a:ext uri="{FF2B5EF4-FFF2-40B4-BE49-F238E27FC236}">
                      <a16:creationId xmlns:a16="http://schemas.microsoft.com/office/drawing/2014/main" id="{7407B56D-AD2F-4F0A-8026-F4181EF84B6B}"/>
                    </a:ext>
                  </a:extLst>
                </p:cNvPr>
                <p:cNvSpPr/>
                <p:nvPr/>
              </p:nvSpPr>
              <p:spPr>
                <a:xfrm rot="5400000">
                  <a:off x="2205132" y="2023163"/>
                  <a:ext cx="168011" cy="144840"/>
                </a:xfrm>
                <a:prstGeom prst="triangle">
                  <a:avLst/>
                </a:prstGeom>
                <a:solidFill>
                  <a:srgbClr val="6F3D9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KZ" dirty="0"/>
                </a:p>
              </p:txBody>
            </p:sp>
          </p:grpSp>
          <p:sp>
            <p:nvSpPr>
              <p:cNvPr id="56" name="Овал 55">
                <a:extLst>
                  <a:ext uri="{FF2B5EF4-FFF2-40B4-BE49-F238E27FC236}">
                    <a16:creationId xmlns:a16="http://schemas.microsoft.com/office/drawing/2014/main" id="{18E3996B-6C03-4FD5-844C-E86ACD76AB6E}"/>
                  </a:ext>
                </a:extLst>
              </p:cNvPr>
              <p:cNvSpPr/>
              <p:nvPr/>
            </p:nvSpPr>
            <p:spPr>
              <a:xfrm rot="2452744">
                <a:off x="1996452" y="2068345"/>
                <a:ext cx="29340" cy="29340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KZ" dirty="0"/>
              </a:p>
            </p:txBody>
          </p:sp>
        </p:grpSp>
      </p:grpSp>
      <p:grpSp>
        <p:nvGrpSpPr>
          <p:cNvPr id="61" name="Группа 60">
            <a:extLst>
              <a:ext uri="{FF2B5EF4-FFF2-40B4-BE49-F238E27FC236}">
                <a16:creationId xmlns:a16="http://schemas.microsoft.com/office/drawing/2014/main" id="{A44A156B-7565-4088-88D5-779DEF6F409B}"/>
              </a:ext>
            </a:extLst>
          </p:cNvPr>
          <p:cNvGrpSpPr/>
          <p:nvPr/>
        </p:nvGrpSpPr>
        <p:grpSpPr>
          <a:xfrm>
            <a:off x="1806782" y="2387240"/>
            <a:ext cx="442255" cy="131990"/>
            <a:chOff x="1996452" y="2021825"/>
            <a:chExt cx="394081" cy="107819"/>
          </a:xfrm>
        </p:grpSpPr>
        <p:grpSp>
          <p:nvGrpSpPr>
            <p:cNvPr id="62" name="Группа 61">
              <a:extLst>
                <a:ext uri="{FF2B5EF4-FFF2-40B4-BE49-F238E27FC236}">
                  <a16:creationId xmlns:a16="http://schemas.microsoft.com/office/drawing/2014/main" id="{7B1D4B88-09E1-40FA-B2BD-C163296D5FD4}"/>
                </a:ext>
              </a:extLst>
            </p:cNvPr>
            <p:cNvGrpSpPr/>
            <p:nvPr/>
          </p:nvGrpSpPr>
          <p:grpSpPr>
            <a:xfrm>
              <a:off x="2068825" y="2021825"/>
              <a:ext cx="321708" cy="107819"/>
              <a:chOff x="1860251" y="2011577"/>
              <a:chExt cx="501307" cy="168011"/>
            </a:xfrm>
          </p:grpSpPr>
          <p:sp>
            <p:nvSpPr>
              <p:cNvPr id="64" name="Овал 63">
                <a:extLst>
                  <a:ext uri="{FF2B5EF4-FFF2-40B4-BE49-F238E27FC236}">
                    <a16:creationId xmlns:a16="http://schemas.microsoft.com/office/drawing/2014/main" id="{BBEB78F9-ABCC-4ED5-8CA2-794760ABCE69}"/>
                  </a:ext>
                </a:extLst>
              </p:cNvPr>
              <p:cNvSpPr/>
              <p:nvPr/>
            </p:nvSpPr>
            <p:spPr>
              <a:xfrm rot="2452744">
                <a:off x="1860251" y="2084085"/>
                <a:ext cx="45720" cy="45720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KZ" dirty="0"/>
              </a:p>
            </p:txBody>
          </p:sp>
          <p:sp>
            <p:nvSpPr>
              <p:cNvPr id="65" name="Овал 64">
                <a:extLst>
                  <a:ext uri="{FF2B5EF4-FFF2-40B4-BE49-F238E27FC236}">
                    <a16:creationId xmlns:a16="http://schemas.microsoft.com/office/drawing/2014/main" id="{2AB99D94-8516-4CB5-875C-DE4EB26E2206}"/>
                  </a:ext>
                </a:extLst>
              </p:cNvPr>
              <p:cNvSpPr/>
              <p:nvPr/>
            </p:nvSpPr>
            <p:spPr>
              <a:xfrm rot="8134131">
                <a:off x="1976627" y="2084085"/>
                <a:ext cx="45720" cy="45720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KZ" dirty="0"/>
              </a:p>
            </p:txBody>
          </p:sp>
          <p:sp>
            <p:nvSpPr>
              <p:cNvPr id="66" name="Овал 65">
                <a:extLst>
                  <a:ext uri="{FF2B5EF4-FFF2-40B4-BE49-F238E27FC236}">
                    <a16:creationId xmlns:a16="http://schemas.microsoft.com/office/drawing/2014/main" id="{7DA0CD13-E2FE-454D-BED8-265CEC6D1700}"/>
                  </a:ext>
                </a:extLst>
              </p:cNvPr>
              <p:cNvSpPr/>
              <p:nvPr/>
            </p:nvSpPr>
            <p:spPr>
              <a:xfrm rot="2452744">
                <a:off x="2088848" y="2084085"/>
                <a:ext cx="45720" cy="45720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KZ" dirty="0"/>
              </a:p>
            </p:txBody>
          </p:sp>
          <p:sp>
            <p:nvSpPr>
              <p:cNvPr id="67" name="Треугольник 24">
                <a:extLst>
                  <a:ext uri="{FF2B5EF4-FFF2-40B4-BE49-F238E27FC236}">
                    <a16:creationId xmlns:a16="http://schemas.microsoft.com/office/drawing/2014/main" id="{161A8EE2-A250-4951-9CC8-F6C303044EBF}"/>
                  </a:ext>
                </a:extLst>
              </p:cNvPr>
              <p:cNvSpPr/>
              <p:nvPr/>
            </p:nvSpPr>
            <p:spPr>
              <a:xfrm rot="5400000">
                <a:off x="2205132" y="2023163"/>
                <a:ext cx="168011" cy="144840"/>
              </a:xfrm>
              <a:prstGeom prst="triangle">
                <a:avLst/>
              </a:prstGeom>
              <a:solidFill>
                <a:srgbClr val="6F3D9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KZ" dirty="0"/>
              </a:p>
            </p:txBody>
          </p:sp>
        </p:grpSp>
        <p:sp>
          <p:nvSpPr>
            <p:cNvPr id="63" name="Овал 62">
              <a:extLst>
                <a:ext uri="{FF2B5EF4-FFF2-40B4-BE49-F238E27FC236}">
                  <a16:creationId xmlns:a16="http://schemas.microsoft.com/office/drawing/2014/main" id="{91700E4B-D38C-4970-8D8D-0110582BECFC}"/>
                </a:ext>
              </a:extLst>
            </p:cNvPr>
            <p:cNvSpPr/>
            <p:nvPr/>
          </p:nvSpPr>
          <p:spPr>
            <a:xfrm rot="2452744">
              <a:off x="1996452" y="2068345"/>
              <a:ext cx="29340" cy="2934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KZ" dirty="0"/>
            </a:p>
          </p:txBody>
        </p:sp>
      </p:grpSp>
      <p:grpSp>
        <p:nvGrpSpPr>
          <p:cNvPr id="73" name="Группа 72">
            <a:extLst>
              <a:ext uri="{FF2B5EF4-FFF2-40B4-BE49-F238E27FC236}">
                <a16:creationId xmlns:a16="http://schemas.microsoft.com/office/drawing/2014/main" id="{1A61658B-99BE-499A-93FE-C022E667F611}"/>
              </a:ext>
            </a:extLst>
          </p:cNvPr>
          <p:cNvGrpSpPr/>
          <p:nvPr/>
        </p:nvGrpSpPr>
        <p:grpSpPr>
          <a:xfrm>
            <a:off x="3166590" y="2384430"/>
            <a:ext cx="442255" cy="131990"/>
            <a:chOff x="1996452" y="2021825"/>
            <a:chExt cx="394081" cy="107819"/>
          </a:xfrm>
        </p:grpSpPr>
        <p:grpSp>
          <p:nvGrpSpPr>
            <p:cNvPr id="74" name="Группа 73">
              <a:extLst>
                <a:ext uri="{FF2B5EF4-FFF2-40B4-BE49-F238E27FC236}">
                  <a16:creationId xmlns:a16="http://schemas.microsoft.com/office/drawing/2014/main" id="{3E520CD5-1506-4405-9770-58F575B3659F}"/>
                </a:ext>
              </a:extLst>
            </p:cNvPr>
            <p:cNvGrpSpPr/>
            <p:nvPr/>
          </p:nvGrpSpPr>
          <p:grpSpPr>
            <a:xfrm>
              <a:off x="2068825" y="2021825"/>
              <a:ext cx="321708" cy="107819"/>
              <a:chOff x="1860251" y="2011577"/>
              <a:chExt cx="501307" cy="168011"/>
            </a:xfrm>
          </p:grpSpPr>
          <p:sp>
            <p:nvSpPr>
              <p:cNvPr id="76" name="Овал 75">
                <a:extLst>
                  <a:ext uri="{FF2B5EF4-FFF2-40B4-BE49-F238E27FC236}">
                    <a16:creationId xmlns:a16="http://schemas.microsoft.com/office/drawing/2014/main" id="{FF4A692F-2C2C-47E9-9066-7C8B83201436}"/>
                  </a:ext>
                </a:extLst>
              </p:cNvPr>
              <p:cNvSpPr/>
              <p:nvPr/>
            </p:nvSpPr>
            <p:spPr>
              <a:xfrm rot="2452744">
                <a:off x="1860251" y="2084085"/>
                <a:ext cx="45720" cy="45720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KZ" dirty="0"/>
              </a:p>
            </p:txBody>
          </p:sp>
          <p:sp>
            <p:nvSpPr>
              <p:cNvPr id="77" name="Овал 76">
                <a:extLst>
                  <a:ext uri="{FF2B5EF4-FFF2-40B4-BE49-F238E27FC236}">
                    <a16:creationId xmlns:a16="http://schemas.microsoft.com/office/drawing/2014/main" id="{7D1D006C-86EB-474C-BFDF-5ABA22C9865B}"/>
                  </a:ext>
                </a:extLst>
              </p:cNvPr>
              <p:cNvSpPr/>
              <p:nvPr/>
            </p:nvSpPr>
            <p:spPr>
              <a:xfrm rot="8134131">
                <a:off x="1976627" y="2084085"/>
                <a:ext cx="45720" cy="45720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KZ" dirty="0"/>
              </a:p>
            </p:txBody>
          </p:sp>
          <p:sp>
            <p:nvSpPr>
              <p:cNvPr id="78" name="Овал 77">
                <a:extLst>
                  <a:ext uri="{FF2B5EF4-FFF2-40B4-BE49-F238E27FC236}">
                    <a16:creationId xmlns:a16="http://schemas.microsoft.com/office/drawing/2014/main" id="{8A41C49D-69BA-4ECD-B332-9B5D6FB7D8C2}"/>
                  </a:ext>
                </a:extLst>
              </p:cNvPr>
              <p:cNvSpPr/>
              <p:nvPr/>
            </p:nvSpPr>
            <p:spPr>
              <a:xfrm rot="2452744">
                <a:off x="2088848" y="2084085"/>
                <a:ext cx="45720" cy="45720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KZ" dirty="0"/>
              </a:p>
            </p:txBody>
          </p:sp>
          <p:sp>
            <p:nvSpPr>
              <p:cNvPr id="79" name="Треугольник 24">
                <a:extLst>
                  <a:ext uri="{FF2B5EF4-FFF2-40B4-BE49-F238E27FC236}">
                    <a16:creationId xmlns:a16="http://schemas.microsoft.com/office/drawing/2014/main" id="{E8EC9DA4-2B7D-41F3-9C09-384AD711667D}"/>
                  </a:ext>
                </a:extLst>
              </p:cNvPr>
              <p:cNvSpPr/>
              <p:nvPr/>
            </p:nvSpPr>
            <p:spPr>
              <a:xfrm rot="5400000">
                <a:off x="2205132" y="2023163"/>
                <a:ext cx="168011" cy="144840"/>
              </a:xfrm>
              <a:prstGeom prst="triangle">
                <a:avLst/>
              </a:prstGeom>
              <a:solidFill>
                <a:srgbClr val="6F3D9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KZ" dirty="0"/>
              </a:p>
            </p:txBody>
          </p:sp>
        </p:grpSp>
        <p:sp>
          <p:nvSpPr>
            <p:cNvPr id="75" name="Овал 74">
              <a:extLst>
                <a:ext uri="{FF2B5EF4-FFF2-40B4-BE49-F238E27FC236}">
                  <a16:creationId xmlns:a16="http://schemas.microsoft.com/office/drawing/2014/main" id="{374486EC-E740-45AD-80D4-AF72F855C648}"/>
                </a:ext>
              </a:extLst>
            </p:cNvPr>
            <p:cNvSpPr/>
            <p:nvPr/>
          </p:nvSpPr>
          <p:spPr>
            <a:xfrm rot="2452744">
              <a:off x="1996452" y="2068345"/>
              <a:ext cx="29340" cy="2934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KZ" dirty="0"/>
            </a:p>
          </p:txBody>
        </p:sp>
      </p:grpSp>
      <p:grpSp>
        <p:nvGrpSpPr>
          <p:cNvPr id="80" name="Группа 79">
            <a:extLst>
              <a:ext uri="{FF2B5EF4-FFF2-40B4-BE49-F238E27FC236}">
                <a16:creationId xmlns:a16="http://schemas.microsoft.com/office/drawing/2014/main" id="{0DC40B9C-F10A-4281-B53F-7F4C72D0E356}"/>
              </a:ext>
            </a:extLst>
          </p:cNvPr>
          <p:cNvGrpSpPr/>
          <p:nvPr/>
        </p:nvGrpSpPr>
        <p:grpSpPr>
          <a:xfrm>
            <a:off x="4253788" y="2381912"/>
            <a:ext cx="442255" cy="131990"/>
            <a:chOff x="1996452" y="2021825"/>
            <a:chExt cx="394081" cy="107819"/>
          </a:xfrm>
        </p:grpSpPr>
        <p:grpSp>
          <p:nvGrpSpPr>
            <p:cNvPr id="81" name="Группа 80">
              <a:extLst>
                <a:ext uri="{FF2B5EF4-FFF2-40B4-BE49-F238E27FC236}">
                  <a16:creationId xmlns:a16="http://schemas.microsoft.com/office/drawing/2014/main" id="{F85787E3-A302-4605-8BD7-B566D37C3414}"/>
                </a:ext>
              </a:extLst>
            </p:cNvPr>
            <p:cNvGrpSpPr/>
            <p:nvPr/>
          </p:nvGrpSpPr>
          <p:grpSpPr>
            <a:xfrm>
              <a:off x="2068825" y="2021825"/>
              <a:ext cx="321708" cy="107819"/>
              <a:chOff x="1860251" y="2011577"/>
              <a:chExt cx="501307" cy="168011"/>
            </a:xfrm>
          </p:grpSpPr>
          <p:sp>
            <p:nvSpPr>
              <p:cNvPr id="83" name="Овал 82">
                <a:extLst>
                  <a:ext uri="{FF2B5EF4-FFF2-40B4-BE49-F238E27FC236}">
                    <a16:creationId xmlns:a16="http://schemas.microsoft.com/office/drawing/2014/main" id="{EC96C881-3FD9-4EB6-921E-175BDCBAD112}"/>
                  </a:ext>
                </a:extLst>
              </p:cNvPr>
              <p:cNvSpPr/>
              <p:nvPr/>
            </p:nvSpPr>
            <p:spPr>
              <a:xfrm rot="2452744">
                <a:off x="1860251" y="2084085"/>
                <a:ext cx="45720" cy="45720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KZ" dirty="0"/>
              </a:p>
            </p:txBody>
          </p:sp>
          <p:sp>
            <p:nvSpPr>
              <p:cNvPr id="84" name="Овал 83">
                <a:extLst>
                  <a:ext uri="{FF2B5EF4-FFF2-40B4-BE49-F238E27FC236}">
                    <a16:creationId xmlns:a16="http://schemas.microsoft.com/office/drawing/2014/main" id="{B2D827E7-91C9-40B1-BD30-ECE1F6A546B9}"/>
                  </a:ext>
                </a:extLst>
              </p:cNvPr>
              <p:cNvSpPr/>
              <p:nvPr/>
            </p:nvSpPr>
            <p:spPr>
              <a:xfrm rot="8134131">
                <a:off x="1976627" y="2084085"/>
                <a:ext cx="45720" cy="45720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KZ" dirty="0"/>
              </a:p>
            </p:txBody>
          </p:sp>
          <p:sp>
            <p:nvSpPr>
              <p:cNvPr id="85" name="Овал 84">
                <a:extLst>
                  <a:ext uri="{FF2B5EF4-FFF2-40B4-BE49-F238E27FC236}">
                    <a16:creationId xmlns:a16="http://schemas.microsoft.com/office/drawing/2014/main" id="{E9253C5E-F5D7-4452-A60D-C46D5EF39516}"/>
                  </a:ext>
                </a:extLst>
              </p:cNvPr>
              <p:cNvSpPr/>
              <p:nvPr/>
            </p:nvSpPr>
            <p:spPr>
              <a:xfrm rot="2452744">
                <a:off x="2088848" y="2084085"/>
                <a:ext cx="45720" cy="45720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KZ" dirty="0"/>
              </a:p>
            </p:txBody>
          </p:sp>
          <p:sp>
            <p:nvSpPr>
              <p:cNvPr id="86" name="Треугольник 24">
                <a:extLst>
                  <a:ext uri="{FF2B5EF4-FFF2-40B4-BE49-F238E27FC236}">
                    <a16:creationId xmlns:a16="http://schemas.microsoft.com/office/drawing/2014/main" id="{4AA2DD2C-5BAE-4A99-8F01-5997CD82D451}"/>
                  </a:ext>
                </a:extLst>
              </p:cNvPr>
              <p:cNvSpPr/>
              <p:nvPr/>
            </p:nvSpPr>
            <p:spPr>
              <a:xfrm rot="5400000">
                <a:off x="2205132" y="2023163"/>
                <a:ext cx="168011" cy="144840"/>
              </a:xfrm>
              <a:prstGeom prst="triangle">
                <a:avLst/>
              </a:prstGeom>
              <a:solidFill>
                <a:srgbClr val="6F3D9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KZ" dirty="0"/>
              </a:p>
            </p:txBody>
          </p:sp>
        </p:grpSp>
        <p:sp>
          <p:nvSpPr>
            <p:cNvPr id="82" name="Овал 81">
              <a:extLst>
                <a:ext uri="{FF2B5EF4-FFF2-40B4-BE49-F238E27FC236}">
                  <a16:creationId xmlns:a16="http://schemas.microsoft.com/office/drawing/2014/main" id="{BF5ABF67-07A3-4E9C-85CF-1471CA037914}"/>
                </a:ext>
              </a:extLst>
            </p:cNvPr>
            <p:cNvSpPr/>
            <p:nvPr/>
          </p:nvSpPr>
          <p:spPr>
            <a:xfrm rot="2452744">
              <a:off x="1996452" y="2068345"/>
              <a:ext cx="29340" cy="2934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KZ" dirty="0"/>
            </a:p>
          </p:txBody>
        </p:sp>
      </p:grpSp>
      <p:grpSp>
        <p:nvGrpSpPr>
          <p:cNvPr id="87" name="Группа 86">
            <a:extLst>
              <a:ext uri="{FF2B5EF4-FFF2-40B4-BE49-F238E27FC236}">
                <a16:creationId xmlns:a16="http://schemas.microsoft.com/office/drawing/2014/main" id="{0D4D1356-8B51-4292-8D27-80C9A392AC7D}"/>
              </a:ext>
            </a:extLst>
          </p:cNvPr>
          <p:cNvGrpSpPr/>
          <p:nvPr/>
        </p:nvGrpSpPr>
        <p:grpSpPr>
          <a:xfrm>
            <a:off x="10261238" y="2427790"/>
            <a:ext cx="442255" cy="131990"/>
            <a:chOff x="1996452" y="2021825"/>
            <a:chExt cx="394081" cy="107819"/>
          </a:xfrm>
        </p:grpSpPr>
        <p:grpSp>
          <p:nvGrpSpPr>
            <p:cNvPr id="88" name="Группа 87">
              <a:extLst>
                <a:ext uri="{FF2B5EF4-FFF2-40B4-BE49-F238E27FC236}">
                  <a16:creationId xmlns:a16="http://schemas.microsoft.com/office/drawing/2014/main" id="{EF738F38-D0A4-471D-A5E1-3DDB7D33BD5D}"/>
                </a:ext>
              </a:extLst>
            </p:cNvPr>
            <p:cNvGrpSpPr/>
            <p:nvPr/>
          </p:nvGrpSpPr>
          <p:grpSpPr>
            <a:xfrm>
              <a:off x="2068825" y="2021825"/>
              <a:ext cx="321708" cy="107819"/>
              <a:chOff x="1860251" y="2011577"/>
              <a:chExt cx="501307" cy="168011"/>
            </a:xfrm>
          </p:grpSpPr>
          <p:sp>
            <p:nvSpPr>
              <p:cNvPr id="90" name="Овал 89">
                <a:extLst>
                  <a:ext uri="{FF2B5EF4-FFF2-40B4-BE49-F238E27FC236}">
                    <a16:creationId xmlns:a16="http://schemas.microsoft.com/office/drawing/2014/main" id="{7D782A25-3ECA-4146-828F-A6040C598665}"/>
                  </a:ext>
                </a:extLst>
              </p:cNvPr>
              <p:cNvSpPr/>
              <p:nvPr/>
            </p:nvSpPr>
            <p:spPr>
              <a:xfrm rot="2452744">
                <a:off x="1860251" y="2084085"/>
                <a:ext cx="45720" cy="45720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KZ" dirty="0"/>
              </a:p>
            </p:txBody>
          </p:sp>
          <p:sp>
            <p:nvSpPr>
              <p:cNvPr id="91" name="Овал 90">
                <a:extLst>
                  <a:ext uri="{FF2B5EF4-FFF2-40B4-BE49-F238E27FC236}">
                    <a16:creationId xmlns:a16="http://schemas.microsoft.com/office/drawing/2014/main" id="{5E4C7529-CC85-4DD0-8C60-6FE10E954AA3}"/>
                  </a:ext>
                </a:extLst>
              </p:cNvPr>
              <p:cNvSpPr/>
              <p:nvPr/>
            </p:nvSpPr>
            <p:spPr>
              <a:xfrm rot="8134131">
                <a:off x="1976627" y="2084085"/>
                <a:ext cx="45720" cy="45720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KZ" dirty="0"/>
              </a:p>
            </p:txBody>
          </p:sp>
          <p:sp>
            <p:nvSpPr>
              <p:cNvPr id="92" name="Овал 91">
                <a:extLst>
                  <a:ext uri="{FF2B5EF4-FFF2-40B4-BE49-F238E27FC236}">
                    <a16:creationId xmlns:a16="http://schemas.microsoft.com/office/drawing/2014/main" id="{27369D5C-A612-410A-867D-E423B043DE72}"/>
                  </a:ext>
                </a:extLst>
              </p:cNvPr>
              <p:cNvSpPr/>
              <p:nvPr/>
            </p:nvSpPr>
            <p:spPr>
              <a:xfrm rot="2452744">
                <a:off x="2088848" y="2084085"/>
                <a:ext cx="45720" cy="45720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KZ" dirty="0"/>
              </a:p>
            </p:txBody>
          </p:sp>
          <p:sp>
            <p:nvSpPr>
              <p:cNvPr id="93" name="Треугольник 24">
                <a:extLst>
                  <a:ext uri="{FF2B5EF4-FFF2-40B4-BE49-F238E27FC236}">
                    <a16:creationId xmlns:a16="http://schemas.microsoft.com/office/drawing/2014/main" id="{32C09A32-1964-48E2-BE0D-080C098F284D}"/>
                  </a:ext>
                </a:extLst>
              </p:cNvPr>
              <p:cNvSpPr/>
              <p:nvPr/>
            </p:nvSpPr>
            <p:spPr>
              <a:xfrm rot="5400000">
                <a:off x="2205132" y="2023163"/>
                <a:ext cx="168011" cy="144840"/>
              </a:xfrm>
              <a:prstGeom prst="triangle">
                <a:avLst/>
              </a:prstGeom>
              <a:solidFill>
                <a:srgbClr val="6F3D9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KZ" dirty="0"/>
              </a:p>
            </p:txBody>
          </p:sp>
        </p:grpSp>
        <p:sp>
          <p:nvSpPr>
            <p:cNvPr id="89" name="Овал 88">
              <a:extLst>
                <a:ext uri="{FF2B5EF4-FFF2-40B4-BE49-F238E27FC236}">
                  <a16:creationId xmlns:a16="http://schemas.microsoft.com/office/drawing/2014/main" id="{9546EAEC-51B5-404B-9E74-6F0CE5DB66CD}"/>
                </a:ext>
              </a:extLst>
            </p:cNvPr>
            <p:cNvSpPr/>
            <p:nvPr/>
          </p:nvSpPr>
          <p:spPr>
            <a:xfrm rot="2452744">
              <a:off x="1996452" y="2068345"/>
              <a:ext cx="29340" cy="29340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KZ" dirty="0"/>
            </a:p>
          </p:txBody>
        </p:sp>
      </p:grpSp>
      <p:grpSp>
        <p:nvGrpSpPr>
          <p:cNvPr id="108" name="Группа 107">
            <a:extLst>
              <a:ext uri="{FF2B5EF4-FFF2-40B4-BE49-F238E27FC236}">
                <a16:creationId xmlns:a16="http://schemas.microsoft.com/office/drawing/2014/main" id="{38A09B27-CADB-423B-8B91-3079D76E0D39}"/>
              </a:ext>
            </a:extLst>
          </p:cNvPr>
          <p:cNvGrpSpPr/>
          <p:nvPr/>
        </p:nvGrpSpPr>
        <p:grpSpPr>
          <a:xfrm>
            <a:off x="8442687" y="2394752"/>
            <a:ext cx="932835" cy="131990"/>
            <a:chOff x="6695963" y="617426"/>
            <a:chExt cx="932835" cy="131990"/>
          </a:xfrm>
        </p:grpSpPr>
        <p:sp>
          <p:nvSpPr>
            <p:cNvPr id="98" name="Овал 97">
              <a:extLst>
                <a:ext uri="{FF2B5EF4-FFF2-40B4-BE49-F238E27FC236}">
                  <a16:creationId xmlns:a16="http://schemas.microsoft.com/office/drawing/2014/main" id="{3BECB9E1-5B00-4A37-B4D0-04F2C522E1DE}"/>
                </a:ext>
              </a:extLst>
            </p:cNvPr>
            <p:cNvSpPr/>
            <p:nvPr/>
          </p:nvSpPr>
          <p:spPr>
            <a:xfrm rot="2452744">
              <a:off x="7267763" y="674389"/>
              <a:ext cx="32927" cy="35918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KZ" dirty="0"/>
            </a:p>
          </p:txBody>
        </p:sp>
        <p:sp>
          <p:nvSpPr>
            <p:cNvPr id="99" name="Овал 98">
              <a:extLst>
                <a:ext uri="{FF2B5EF4-FFF2-40B4-BE49-F238E27FC236}">
                  <a16:creationId xmlns:a16="http://schemas.microsoft.com/office/drawing/2014/main" id="{94F31D84-89AF-42FF-815B-7F0A14143A44}"/>
                </a:ext>
              </a:extLst>
            </p:cNvPr>
            <p:cNvSpPr/>
            <p:nvPr/>
          </p:nvSpPr>
          <p:spPr>
            <a:xfrm rot="8134131">
              <a:off x="7351576" y="674389"/>
              <a:ext cx="32927" cy="35918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KZ" dirty="0"/>
            </a:p>
          </p:txBody>
        </p:sp>
        <p:sp>
          <p:nvSpPr>
            <p:cNvPr id="100" name="Овал 99">
              <a:extLst>
                <a:ext uri="{FF2B5EF4-FFF2-40B4-BE49-F238E27FC236}">
                  <a16:creationId xmlns:a16="http://schemas.microsoft.com/office/drawing/2014/main" id="{0779D6CE-BD52-4A93-ABF5-A988A41CC7C1}"/>
                </a:ext>
              </a:extLst>
            </p:cNvPr>
            <p:cNvSpPr/>
            <p:nvPr/>
          </p:nvSpPr>
          <p:spPr>
            <a:xfrm rot="2452744">
              <a:off x="7432396" y="674389"/>
              <a:ext cx="32927" cy="35918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KZ" dirty="0"/>
            </a:p>
          </p:txBody>
        </p:sp>
        <p:sp>
          <p:nvSpPr>
            <p:cNvPr id="101" name="Треугольник 24">
              <a:extLst>
                <a:ext uri="{FF2B5EF4-FFF2-40B4-BE49-F238E27FC236}">
                  <a16:creationId xmlns:a16="http://schemas.microsoft.com/office/drawing/2014/main" id="{57CFF90A-9BD1-4274-A8F2-67618543EC87}"/>
                </a:ext>
              </a:extLst>
            </p:cNvPr>
            <p:cNvSpPr/>
            <p:nvPr/>
          </p:nvSpPr>
          <p:spPr>
            <a:xfrm rot="5400000">
              <a:off x="7510647" y="631265"/>
              <a:ext cx="131990" cy="104312"/>
            </a:xfrm>
            <a:prstGeom prst="triangle">
              <a:avLst/>
            </a:prstGeom>
            <a:solidFill>
              <a:srgbClr val="6F3D9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KZ" dirty="0"/>
            </a:p>
          </p:txBody>
        </p:sp>
        <p:sp>
          <p:nvSpPr>
            <p:cNvPr id="97" name="Овал 96">
              <a:extLst>
                <a:ext uri="{FF2B5EF4-FFF2-40B4-BE49-F238E27FC236}">
                  <a16:creationId xmlns:a16="http://schemas.microsoft.com/office/drawing/2014/main" id="{4F2CCBB0-27E7-4E68-89FB-C5F2413F01C4}"/>
                </a:ext>
              </a:extLst>
            </p:cNvPr>
            <p:cNvSpPr/>
            <p:nvPr/>
          </p:nvSpPr>
          <p:spPr>
            <a:xfrm rot="2452744">
              <a:off x="7186543" y="674375"/>
              <a:ext cx="32927" cy="35917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KZ" dirty="0"/>
            </a:p>
          </p:txBody>
        </p:sp>
        <p:sp>
          <p:nvSpPr>
            <p:cNvPr id="102" name="Овал 101">
              <a:extLst>
                <a:ext uri="{FF2B5EF4-FFF2-40B4-BE49-F238E27FC236}">
                  <a16:creationId xmlns:a16="http://schemas.microsoft.com/office/drawing/2014/main" id="{BF19A1BD-7767-4186-8986-045BDAE98D82}"/>
                </a:ext>
              </a:extLst>
            </p:cNvPr>
            <p:cNvSpPr/>
            <p:nvPr/>
          </p:nvSpPr>
          <p:spPr>
            <a:xfrm rot="2452744">
              <a:off x="7104227" y="673254"/>
              <a:ext cx="32927" cy="35917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KZ" dirty="0"/>
            </a:p>
          </p:txBody>
        </p:sp>
        <p:sp>
          <p:nvSpPr>
            <p:cNvPr id="103" name="Овал 102">
              <a:extLst>
                <a:ext uri="{FF2B5EF4-FFF2-40B4-BE49-F238E27FC236}">
                  <a16:creationId xmlns:a16="http://schemas.microsoft.com/office/drawing/2014/main" id="{00C28A35-C116-425F-AF12-2F74E441D728}"/>
                </a:ext>
              </a:extLst>
            </p:cNvPr>
            <p:cNvSpPr/>
            <p:nvPr/>
          </p:nvSpPr>
          <p:spPr>
            <a:xfrm rot="2452744">
              <a:off x="6859499" y="672686"/>
              <a:ext cx="32927" cy="35918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KZ" dirty="0"/>
            </a:p>
          </p:txBody>
        </p:sp>
        <p:sp>
          <p:nvSpPr>
            <p:cNvPr id="104" name="Овал 103">
              <a:extLst>
                <a:ext uri="{FF2B5EF4-FFF2-40B4-BE49-F238E27FC236}">
                  <a16:creationId xmlns:a16="http://schemas.microsoft.com/office/drawing/2014/main" id="{91DA4FA3-6201-40CC-BCDE-417F87F7DA5C}"/>
                </a:ext>
              </a:extLst>
            </p:cNvPr>
            <p:cNvSpPr/>
            <p:nvPr/>
          </p:nvSpPr>
          <p:spPr>
            <a:xfrm rot="8134131">
              <a:off x="6943312" y="672686"/>
              <a:ext cx="32927" cy="35918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KZ" dirty="0"/>
            </a:p>
          </p:txBody>
        </p:sp>
        <p:sp>
          <p:nvSpPr>
            <p:cNvPr id="105" name="Овал 104">
              <a:extLst>
                <a:ext uri="{FF2B5EF4-FFF2-40B4-BE49-F238E27FC236}">
                  <a16:creationId xmlns:a16="http://schemas.microsoft.com/office/drawing/2014/main" id="{9422E830-5CD1-47AD-A551-CE381DFFA516}"/>
                </a:ext>
              </a:extLst>
            </p:cNvPr>
            <p:cNvSpPr/>
            <p:nvPr/>
          </p:nvSpPr>
          <p:spPr>
            <a:xfrm rot="2452744">
              <a:off x="7024132" y="672686"/>
              <a:ext cx="32927" cy="35918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KZ" dirty="0"/>
            </a:p>
          </p:txBody>
        </p:sp>
        <p:sp>
          <p:nvSpPr>
            <p:cNvPr id="106" name="Овал 105">
              <a:extLst>
                <a:ext uri="{FF2B5EF4-FFF2-40B4-BE49-F238E27FC236}">
                  <a16:creationId xmlns:a16="http://schemas.microsoft.com/office/drawing/2014/main" id="{8DB4ACE4-A95F-4F60-A1A6-06835C868D4D}"/>
                </a:ext>
              </a:extLst>
            </p:cNvPr>
            <p:cNvSpPr/>
            <p:nvPr/>
          </p:nvSpPr>
          <p:spPr>
            <a:xfrm rot="2452744">
              <a:off x="6778279" y="672672"/>
              <a:ext cx="32927" cy="35917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KZ" dirty="0"/>
            </a:p>
          </p:txBody>
        </p:sp>
        <p:sp>
          <p:nvSpPr>
            <p:cNvPr id="107" name="Овал 106">
              <a:extLst>
                <a:ext uri="{FF2B5EF4-FFF2-40B4-BE49-F238E27FC236}">
                  <a16:creationId xmlns:a16="http://schemas.microsoft.com/office/drawing/2014/main" id="{60805A4B-8CA1-4A70-8DC7-9C788DBDF147}"/>
                </a:ext>
              </a:extLst>
            </p:cNvPr>
            <p:cNvSpPr/>
            <p:nvPr/>
          </p:nvSpPr>
          <p:spPr>
            <a:xfrm rot="2452744">
              <a:off x="6695963" y="671551"/>
              <a:ext cx="32927" cy="35917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KZ" dirty="0"/>
            </a:p>
          </p:txBody>
        </p:sp>
      </p:grp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5E86E23F-DE29-B3C2-44EA-9B0376019EA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952322" y="399717"/>
            <a:ext cx="736255" cy="241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37841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Равнобедренный треугольник 3">
            <a:extLst>
              <a:ext uri="{FF2B5EF4-FFF2-40B4-BE49-F238E27FC236}">
                <a16:creationId xmlns:a16="http://schemas.microsoft.com/office/drawing/2014/main" id="{6359B389-7039-487C-AEFE-FBF82764DE87}"/>
              </a:ext>
            </a:extLst>
          </p:cNvPr>
          <p:cNvSpPr/>
          <p:nvPr/>
        </p:nvSpPr>
        <p:spPr>
          <a:xfrm rot="5400000">
            <a:off x="10022611" y="3486058"/>
            <a:ext cx="3550611" cy="775098"/>
          </a:xfrm>
          <a:prstGeom prst="triangle">
            <a:avLst/>
          </a:prstGeom>
          <a:solidFill>
            <a:srgbClr val="A6D7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DE445261-1C0B-4E4F-9682-C12D0AC3E7F8}"/>
              </a:ext>
            </a:extLst>
          </p:cNvPr>
          <p:cNvSpPr/>
          <p:nvPr/>
        </p:nvSpPr>
        <p:spPr>
          <a:xfrm>
            <a:off x="4011517" y="2085135"/>
            <a:ext cx="3310772" cy="3550605"/>
          </a:xfrm>
          <a:prstGeom prst="roundRect">
            <a:avLst>
              <a:gd name="adj" fmla="val 0"/>
            </a:avLst>
          </a:prstGeom>
          <a:solidFill>
            <a:srgbClr val="A6D7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buClr>
                <a:srgbClr val="6A2D91"/>
              </a:buClr>
            </a:pPr>
            <a:endParaRPr lang="ru-RU" sz="2000" b="1" dirty="0">
              <a:solidFill>
                <a:srgbClr val="6A2D91"/>
              </a:solidFill>
              <a:latin typeface="Pragmatica Black"/>
            </a:endParaRPr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4F3CA06A-7B99-4D22-8768-F82CA3EC9BEB}"/>
              </a:ext>
            </a:extLst>
          </p:cNvPr>
          <p:cNvSpPr/>
          <p:nvPr/>
        </p:nvSpPr>
        <p:spPr>
          <a:xfrm>
            <a:off x="8110138" y="2094791"/>
            <a:ext cx="3310772" cy="3550605"/>
          </a:xfrm>
          <a:prstGeom prst="roundRect">
            <a:avLst>
              <a:gd name="adj" fmla="val 0"/>
            </a:avLst>
          </a:prstGeom>
          <a:solidFill>
            <a:srgbClr val="A6D7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buClr>
                <a:srgbClr val="6A2D91"/>
              </a:buClr>
            </a:pPr>
            <a:endParaRPr lang="ru-RU" sz="2000" b="1" dirty="0">
              <a:solidFill>
                <a:srgbClr val="6A2D91"/>
              </a:solidFill>
              <a:latin typeface="Pragmatica Black"/>
            </a:endParaRPr>
          </a:p>
        </p:txBody>
      </p:sp>
      <p:sp>
        <p:nvSpPr>
          <p:cNvPr id="7" name="Равнобедренный треугольник 6">
            <a:extLst>
              <a:ext uri="{FF2B5EF4-FFF2-40B4-BE49-F238E27FC236}">
                <a16:creationId xmlns:a16="http://schemas.microsoft.com/office/drawing/2014/main" id="{AEA00E17-EBD9-4FFA-9593-B1E2C8270DDD}"/>
              </a:ext>
            </a:extLst>
          </p:cNvPr>
          <p:cNvSpPr/>
          <p:nvPr/>
        </p:nvSpPr>
        <p:spPr>
          <a:xfrm rot="5400000">
            <a:off x="1833496" y="3462430"/>
            <a:ext cx="3550611" cy="775098"/>
          </a:xfrm>
          <a:prstGeom prst="triangle">
            <a:avLst/>
          </a:prstGeom>
          <a:solidFill>
            <a:srgbClr val="A6D7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A3A3A0CE-5259-48A4-8FBC-B2C5188B0184}"/>
              </a:ext>
            </a:extLst>
          </p:cNvPr>
          <p:cNvSpPr/>
          <p:nvPr/>
        </p:nvSpPr>
        <p:spPr>
          <a:xfrm>
            <a:off x="0" y="2074673"/>
            <a:ext cx="3228410" cy="3550605"/>
          </a:xfrm>
          <a:prstGeom prst="roundRect">
            <a:avLst>
              <a:gd name="adj" fmla="val 0"/>
            </a:avLst>
          </a:prstGeom>
          <a:solidFill>
            <a:srgbClr val="A6D7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buClr>
                <a:srgbClr val="6A2D91"/>
              </a:buClr>
            </a:pPr>
            <a:endParaRPr lang="ru-RU" sz="2000" b="1" dirty="0">
              <a:solidFill>
                <a:srgbClr val="A9C139"/>
              </a:solidFill>
              <a:latin typeface="Pragmatica Black"/>
            </a:endParaRPr>
          </a:p>
        </p:txBody>
      </p:sp>
      <p:sp>
        <p:nvSpPr>
          <p:cNvPr id="9" name="Равнобедренный треугольник 8">
            <a:extLst>
              <a:ext uri="{FF2B5EF4-FFF2-40B4-BE49-F238E27FC236}">
                <a16:creationId xmlns:a16="http://schemas.microsoft.com/office/drawing/2014/main" id="{1CDA6133-D4D7-4920-A60A-3F0505958DCB}"/>
              </a:ext>
            </a:extLst>
          </p:cNvPr>
          <p:cNvSpPr/>
          <p:nvPr/>
        </p:nvSpPr>
        <p:spPr>
          <a:xfrm rot="5400000">
            <a:off x="5930444" y="3482542"/>
            <a:ext cx="3550611" cy="775098"/>
          </a:xfrm>
          <a:prstGeom prst="triangle">
            <a:avLst/>
          </a:prstGeom>
          <a:solidFill>
            <a:srgbClr val="A6D7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35D82D7-4AC5-40FD-9BEB-B0A33D36F2ED}"/>
              </a:ext>
            </a:extLst>
          </p:cNvPr>
          <p:cNvSpPr txBox="1"/>
          <p:nvPr/>
        </p:nvSpPr>
        <p:spPr>
          <a:xfrm>
            <a:off x="677622" y="479046"/>
            <a:ext cx="5884482" cy="58477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ru-RU" sz="2800" b="1" dirty="0">
                <a:solidFill>
                  <a:srgbClr val="6A2E92"/>
                </a:solidFill>
                <a:latin typeface="Helvetica" panose="020B0604020202020204" pitchFamily="34" charset="0"/>
                <a:ea typeface="+mj-ea"/>
                <a:cs typeface="Helvetica" panose="020B0604020202020204" pitchFamily="34" charset="0"/>
              </a:rPr>
              <a:t>Порядок подключения услуги</a:t>
            </a:r>
            <a:endParaRPr lang="en-US" sz="2800" b="1" dirty="0">
              <a:solidFill>
                <a:srgbClr val="6A2E92"/>
              </a:solidFill>
              <a:latin typeface="Helvetica" panose="020B0604020202020204" pitchFamily="34" charset="0"/>
              <a:ea typeface="+mj-ea"/>
              <a:cs typeface="Helvetica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7EDC425-4050-4048-9B74-176DC3C564B9}"/>
              </a:ext>
            </a:extLst>
          </p:cNvPr>
          <p:cNvSpPr txBox="1"/>
          <p:nvPr/>
        </p:nvSpPr>
        <p:spPr>
          <a:xfrm>
            <a:off x="391487" y="3809657"/>
            <a:ext cx="3634664" cy="125042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ru-RU" sz="2800" b="1" dirty="0">
                <a:solidFill>
                  <a:srgbClr val="6A2E92"/>
                </a:solidFill>
                <a:latin typeface="Helvetica" panose="020B0604020202020204" pitchFamily="34" charset="0"/>
                <a:ea typeface="+mj-ea"/>
                <a:cs typeface="Helvetica" panose="020B0604020202020204" pitchFamily="34" charset="0"/>
              </a:rPr>
              <a:t>Заполненный</a:t>
            </a: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ru-RU" sz="2800" b="1" dirty="0">
                <a:solidFill>
                  <a:srgbClr val="6A2E92"/>
                </a:solidFill>
                <a:latin typeface="Helvetica" panose="020B0604020202020204" pitchFamily="34" charset="0"/>
                <a:ea typeface="+mj-ea"/>
                <a:cs typeface="Helvetica" panose="020B0604020202020204" pitchFamily="34" charset="0"/>
              </a:rPr>
              <a:t>опросник</a:t>
            </a:r>
            <a:endParaRPr lang="en-US" sz="2800" b="1" dirty="0">
              <a:solidFill>
                <a:srgbClr val="6A2E92"/>
              </a:solidFill>
              <a:latin typeface="Helvetica" panose="020B0604020202020204" pitchFamily="34" charset="0"/>
              <a:ea typeface="+mj-ea"/>
              <a:cs typeface="Helvetica" panose="020B06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A07DD9A-DB7D-46F9-9DD6-972AD36B5180}"/>
              </a:ext>
            </a:extLst>
          </p:cNvPr>
          <p:cNvSpPr txBox="1"/>
          <p:nvPr/>
        </p:nvSpPr>
        <p:spPr>
          <a:xfrm>
            <a:off x="4308257" y="3833408"/>
            <a:ext cx="3634664" cy="125042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ru-RU" sz="2800" b="1" dirty="0">
                <a:solidFill>
                  <a:srgbClr val="6A2E92"/>
                </a:solidFill>
                <a:latin typeface="Helvetica" panose="020B0604020202020204" pitchFamily="34" charset="0"/>
                <a:ea typeface="+mj-ea"/>
                <a:cs typeface="Helvetica" panose="020B0604020202020204" pitchFamily="34" charset="0"/>
              </a:rPr>
              <a:t>Заявление</a:t>
            </a:r>
          </a:p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ru-RU" sz="2800" b="1" dirty="0">
                <a:solidFill>
                  <a:srgbClr val="6A2E92"/>
                </a:solidFill>
                <a:latin typeface="Helvetica" panose="020B0604020202020204" pitchFamily="34" charset="0"/>
                <a:ea typeface="+mj-ea"/>
                <a:cs typeface="Helvetica" panose="020B0604020202020204" pitchFamily="34" charset="0"/>
              </a:rPr>
              <a:t>на подключение</a:t>
            </a:r>
            <a:endParaRPr lang="en-US" sz="2800" b="1" dirty="0">
              <a:solidFill>
                <a:srgbClr val="6A2E92"/>
              </a:solidFill>
              <a:latin typeface="Helvetica" panose="020B0604020202020204" pitchFamily="34" charset="0"/>
              <a:ea typeface="+mj-ea"/>
              <a:cs typeface="Helvetica" panose="020B06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0A3DA2A-96DA-465F-BBFF-B6B17E4CCE20}"/>
              </a:ext>
            </a:extLst>
          </p:cNvPr>
          <p:cNvSpPr txBox="1"/>
          <p:nvPr/>
        </p:nvSpPr>
        <p:spPr>
          <a:xfrm>
            <a:off x="8511746" y="3836036"/>
            <a:ext cx="3776258" cy="125042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ru-RU" sz="2800" b="1" dirty="0">
                <a:solidFill>
                  <a:srgbClr val="6A2E92"/>
                </a:solidFill>
                <a:latin typeface="Helvetica" panose="020B0604020202020204" pitchFamily="34" charset="0"/>
                <a:ea typeface="+mj-ea"/>
                <a:cs typeface="Helvetica" panose="020B0604020202020204" pitchFamily="34" charset="0"/>
              </a:rPr>
              <a:t>Дополнительное </a:t>
            </a:r>
          </a:p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ru-RU" sz="2800" b="1" dirty="0">
                <a:solidFill>
                  <a:srgbClr val="6A2E92"/>
                </a:solidFill>
                <a:latin typeface="Helvetica" panose="020B0604020202020204" pitchFamily="34" charset="0"/>
                <a:ea typeface="+mj-ea"/>
                <a:cs typeface="Helvetica" panose="020B0604020202020204" pitchFamily="34" charset="0"/>
              </a:rPr>
              <a:t>соглашение</a:t>
            </a:r>
          </a:p>
        </p:txBody>
      </p:sp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3216DC04-2024-4E18-BE19-1FF32ECFE5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373" y="2706622"/>
            <a:ext cx="1103877" cy="1103877"/>
          </a:xfrm>
          <a:prstGeom prst="rect">
            <a:avLst/>
          </a:prstGeom>
        </p:spPr>
      </p:pic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66BB36B5-28E0-4469-8777-489CCCA1F6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66127" y="2706622"/>
            <a:ext cx="1114226" cy="1114226"/>
          </a:xfrm>
          <a:prstGeom prst="rect">
            <a:avLst/>
          </a:prstGeom>
        </p:spPr>
      </p:pic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1A909009-2E74-4B1D-BE0E-E3F82D71588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06506" y="2727642"/>
            <a:ext cx="1035716" cy="1035716"/>
          </a:xfrm>
          <a:prstGeom prst="rect">
            <a:avLst/>
          </a:prstGeom>
        </p:spPr>
      </p:pic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3A25844A-3C72-DFE2-504A-163701144BE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952322" y="399717"/>
            <a:ext cx="736255" cy="241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35231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Скругленный прямоугольник 23">
            <a:extLst>
              <a:ext uri="{FF2B5EF4-FFF2-40B4-BE49-F238E27FC236}">
                <a16:creationId xmlns:a16="http://schemas.microsoft.com/office/drawing/2014/main" id="{44246879-9AC0-4C3A-A306-581A573D7703}"/>
              </a:ext>
            </a:extLst>
          </p:cNvPr>
          <p:cNvSpPr/>
          <p:nvPr/>
        </p:nvSpPr>
        <p:spPr>
          <a:xfrm>
            <a:off x="3384983" y="2165487"/>
            <a:ext cx="7522232" cy="1135386"/>
          </a:xfrm>
          <a:prstGeom prst="roundRect">
            <a:avLst>
              <a:gd name="adj" fmla="val 50000"/>
            </a:avLst>
          </a:prstGeom>
          <a:solidFill>
            <a:srgbClr val="6F3D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KZ" dirty="0"/>
          </a:p>
        </p:txBody>
      </p:sp>
      <p:sp>
        <p:nvSpPr>
          <p:cNvPr id="14" name="Скругленный прямоугольник 10">
            <a:extLst>
              <a:ext uri="{FF2B5EF4-FFF2-40B4-BE49-F238E27FC236}">
                <a16:creationId xmlns:a16="http://schemas.microsoft.com/office/drawing/2014/main" id="{499B4B3B-B355-4F86-983D-8D4C1F94E80B}"/>
              </a:ext>
            </a:extLst>
          </p:cNvPr>
          <p:cNvSpPr/>
          <p:nvPr/>
        </p:nvSpPr>
        <p:spPr>
          <a:xfrm>
            <a:off x="1195657" y="2165488"/>
            <a:ext cx="5453313" cy="1135386"/>
          </a:xfrm>
          <a:prstGeom prst="roundRect">
            <a:avLst>
              <a:gd name="adj" fmla="val 50000"/>
            </a:avLst>
          </a:prstGeom>
          <a:solidFill>
            <a:srgbClr val="A6D7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KZ"/>
          </a:p>
        </p:txBody>
      </p:sp>
      <p:sp>
        <p:nvSpPr>
          <p:cNvPr id="15" name="Овал 14">
            <a:extLst>
              <a:ext uri="{FF2B5EF4-FFF2-40B4-BE49-F238E27FC236}">
                <a16:creationId xmlns:a16="http://schemas.microsoft.com/office/drawing/2014/main" id="{2F2D83ED-4887-444F-A8FC-CB1678A5F815}"/>
              </a:ext>
            </a:extLst>
          </p:cNvPr>
          <p:cNvSpPr/>
          <p:nvPr/>
        </p:nvSpPr>
        <p:spPr>
          <a:xfrm>
            <a:off x="5572905" y="2221366"/>
            <a:ext cx="1023631" cy="102363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KZ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CFB635F-F999-41AB-B01D-26DF9DD47566}"/>
              </a:ext>
            </a:extLst>
          </p:cNvPr>
          <p:cNvSpPr txBox="1"/>
          <p:nvPr/>
        </p:nvSpPr>
        <p:spPr>
          <a:xfrm>
            <a:off x="677622" y="479046"/>
            <a:ext cx="5884482" cy="58477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ru-RU" sz="2800" b="1" dirty="0">
                <a:solidFill>
                  <a:srgbClr val="6A2E92"/>
                </a:solidFill>
                <a:latin typeface="Helvetica" panose="020B0604020202020204" pitchFamily="34" charset="0"/>
                <a:ea typeface="+mj-ea"/>
                <a:cs typeface="Helvetica" panose="020B0604020202020204" pitchFamily="34" charset="0"/>
              </a:rPr>
              <a:t>Дополнительные</a:t>
            </a:r>
            <a:r>
              <a:rPr lang="en-US" sz="2800" b="1" dirty="0">
                <a:solidFill>
                  <a:srgbClr val="6A2E92"/>
                </a:solidFill>
                <a:latin typeface="Helvetica" panose="020B0604020202020204" pitchFamily="34" charset="0"/>
                <a:ea typeface="+mj-ea"/>
                <a:cs typeface="Helvetica" panose="020B0604020202020204" pitchFamily="34" charset="0"/>
              </a:rPr>
              <a:t> </a:t>
            </a:r>
            <a:r>
              <a:rPr lang="ru-RU" sz="2800" b="1" dirty="0">
                <a:solidFill>
                  <a:srgbClr val="6A2E92"/>
                </a:solidFill>
                <a:latin typeface="Helvetica" panose="020B0604020202020204" pitchFamily="34" charset="0"/>
                <a:ea typeface="+mj-ea"/>
                <a:cs typeface="Helvetica" panose="020B0604020202020204" pitchFamily="34" charset="0"/>
              </a:rPr>
              <a:t>услуги</a:t>
            </a:r>
            <a:endParaRPr lang="en-US" sz="2800" b="1" dirty="0">
              <a:solidFill>
                <a:srgbClr val="6A2E92"/>
              </a:solidFill>
              <a:latin typeface="Helvetica" panose="020B0604020202020204" pitchFamily="34" charset="0"/>
              <a:ea typeface="+mj-ea"/>
              <a:cs typeface="Helvetica" panose="020B0604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C57783B-F6E7-4DF8-AAE0-FB0F78034DDA}"/>
              </a:ext>
            </a:extLst>
          </p:cNvPr>
          <p:cNvSpPr txBox="1"/>
          <p:nvPr/>
        </p:nvSpPr>
        <p:spPr>
          <a:xfrm>
            <a:off x="1863397" y="2377940"/>
            <a:ext cx="3747456" cy="58477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ru-RU" sz="2800" b="1" dirty="0">
                <a:solidFill>
                  <a:schemeClr val="bg1"/>
                </a:solidFill>
                <a:latin typeface="Helvetica" panose="020B0604020202020204" pitchFamily="34" charset="0"/>
                <a:ea typeface="+mj-ea"/>
                <a:cs typeface="Helvetica" panose="020B0604020202020204" pitchFamily="34" charset="0"/>
              </a:rPr>
              <a:t>Короткий номер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5A397FB-6DE7-4970-8570-71850F915DD8}"/>
              </a:ext>
            </a:extLst>
          </p:cNvPr>
          <p:cNvSpPr txBox="1"/>
          <p:nvPr/>
        </p:nvSpPr>
        <p:spPr>
          <a:xfrm>
            <a:off x="7291458" y="2496065"/>
            <a:ext cx="3747456" cy="44319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ru-RU" sz="2800" b="1" dirty="0">
                <a:solidFill>
                  <a:schemeClr val="bg1"/>
                </a:solidFill>
                <a:latin typeface="Helvetica" panose="020B0604020202020204" pitchFamily="34" charset="0"/>
                <a:ea typeface="+mj-ea"/>
                <a:cs typeface="Helvetica" panose="020B0604020202020204" pitchFamily="34" charset="0"/>
              </a:rPr>
              <a:t>Мульти-номер</a:t>
            </a:r>
          </a:p>
        </p:txBody>
      </p:sp>
      <p:sp>
        <p:nvSpPr>
          <p:cNvPr id="19" name="Скругленный прямоугольник 23">
            <a:extLst>
              <a:ext uri="{FF2B5EF4-FFF2-40B4-BE49-F238E27FC236}">
                <a16:creationId xmlns:a16="http://schemas.microsoft.com/office/drawing/2014/main" id="{D4F2EB2E-98D5-40E5-8E3E-3AAD281B52FC}"/>
              </a:ext>
            </a:extLst>
          </p:cNvPr>
          <p:cNvSpPr/>
          <p:nvPr/>
        </p:nvSpPr>
        <p:spPr>
          <a:xfrm>
            <a:off x="3537383" y="3718091"/>
            <a:ext cx="7369832" cy="1949782"/>
          </a:xfrm>
          <a:prstGeom prst="roundRect">
            <a:avLst>
              <a:gd name="adj" fmla="val 50000"/>
            </a:avLst>
          </a:prstGeom>
          <a:solidFill>
            <a:srgbClr val="A6D7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KZ" dirty="0"/>
          </a:p>
        </p:txBody>
      </p:sp>
      <p:sp>
        <p:nvSpPr>
          <p:cNvPr id="20" name="Скругленный прямоугольник 10">
            <a:extLst>
              <a:ext uri="{FF2B5EF4-FFF2-40B4-BE49-F238E27FC236}">
                <a16:creationId xmlns:a16="http://schemas.microsoft.com/office/drawing/2014/main" id="{9FD3940C-A5B3-4036-A473-14A5FB948318}"/>
              </a:ext>
            </a:extLst>
          </p:cNvPr>
          <p:cNvSpPr/>
          <p:nvPr/>
        </p:nvSpPr>
        <p:spPr>
          <a:xfrm>
            <a:off x="1195657" y="3718092"/>
            <a:ext cx="5877563" cy="1949782"/>
          </a:xfrm>
          <a:prstGeom prst="roundRect">
            <a:avLst>
              <a:gd name="adj" fmla="val 50000"/>
            </a:avLst>
          </a:prstGeom>
          <a:solidFill>
            <a:srgbClr val="6A2D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KZ">
              <a:solidFill>
                <a:srgbClr val="6A2D91"/>
              </a:solidFill>
            </a:endParaRPr>
          </a:p>
        </p:txBody>
      </p:sp>
      <p:sp>
        <p:nvSpPr>
          <p:cNvPr id="21" name="Овал 20">
            <a:extLst>
              <a:ext uri="{FF2B5EF4-FFF2-40B4-BE49-F238E27FC236}">
                <a16:creationId xmlns:a16="http://schemas.microsoft.com/office/drawing/2014/main" id="{991D5380-BF1C-42B3-AEA2-56F074B5AF4F}"/>
              </a:ext>
            </a:extLst>
          </p:cNvPr>
          <p:cNvSpPr/>
          <p:nvPr/>
        </p:nvSpPr>
        <p:spPr>
          <a:xfrm>
            <a:off x="5168411" y="3773969"/>
            <a:ext cx="1832617" cy="183261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KZ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5EB196E-3689-447D-A09D-7B55A2D58B38}"/>
              </a:ext>
            </a:extLst>
          </p:cNvPr>
          <p:cNvSpPr txBox="1"/>
          <p:nvPr/>
        </p:nvSpPr>
        <p:spPr>
          <a:xfrm>
            <a:off x="1863397" y="3983341"/>
            <a:ext cx="3747456" cy="132938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800" b="1" dirty="0">
                <a:solidFill>
                  <a:schemeClr val="bg1"/>
                </a:solidFill>
                <a:latin typeface="Helvetica" panose="020B0604020202020204" pitchFamily="34" charset="0"/>
                <a:ea typeface="+mj-ea"/>
                <a:cs typeface="Helvetica" panose="020B0604020202020204" pitchFamily="34" charset="0"/>
              </a:rPr>
              <a:t>IVR</a:t>
            </a:r>
            <a:endParaRPr lang="ru-RU" sz="2800" b="1" dirty="0">
              <a:solidFill>
                <a:schemeClr val="bg1"/>
              </a:solidFill>
              <a:latin typeface="Helvetica" panose="020B0604020202020204" pitchFamily="34" charset="0"/>
              <a:ea typeface="+mj-ea"/>
              <a:cs typeface="Helvetica" panose="020B0604020202020204" pitchFamily="34" charset="0"/>
            </a:endParaRP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ru-RU" sz="2800" b="1" dirty="0">
                <a:solidFill>
                  <a:schemeClr val="bg1"/>
                </a:solidFill>
                <a:latin typeface="Helvetica" panose="020B0604020202020204" pitchFamily="34" charset="0"/>
                <a:ea typeface="+mj-ea"/>
                <a:cs typeface="Helvetica" panose="020B0604020202020204" pitchFamily="34" charset="0"/>
              </a:rPr>
              <a:t>Интерактивное голосовое меню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410151A-A197-4988-AA98-E55D0494ECAA}"/>
              </a:ext>
            </a:extLst>
          </p:cNvPr>
          <p:cNvSpPr txBox="1"/>
          <p:nvPr/>
        </p:nvSpPr>
        <p:spPr>
          <a:xfrm>
            <a:off x="7291458" y="3983341"/>
            <a:ext cx="3747456" cy="113538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ru-RU" sz="2800" b="1" dirty="0">
                <a:solidFill>
                  <a:schemeClr val="bg1"/>
                </a:solidFill>
                <a:latin typeface="Helvetica" panose="020B0604020202020204" pitchFamily="34" charset="0"/>
                <a:ea typeface="+mj-ea"/>
                <a:cs typeface="Helvetica" panose="020B0604020202020204" pitchFamily="34" charset="0"/>
              </a:rPr>
              <a:t>Револьверные номера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28EEEC00-BF6D-8F57-2F34-B83FDDD611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52322" y="399717"/>
            <a:ext cx="736255" cy="241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73761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…">
            <a:extLst>
              <a:ext uri="{FF2B5EF4-FFF2-40B4-BE49-F238E27FC236}">
                <a16:creationId xmlns:a16="http://schemas.microsoft.com/office/drawing/2014/main" id="{07DCF8ED-1E42-4B8A-BAAA-3E6E5FB69CE4}"/>
              </a:ext>
            </a:extLst>
          </p:cNvPr>
          <p:cNvSpPr txBox="1"/>
          <p:nvPr/>
        </p:nvSpPr>
        <p:spPr>
          <a:xfrm>
            <a:off x="582781" y="456663"/>
            <a:ext cx="8142721" cy="1713290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25400" tIns="25400" rIns="25400" bIns="25400" anchor="ctr">
            <a:spAutoFit/>
          </a:bodyPr>
          <a:lstStyle/>
          <a:p>
            <a:pPr>
              <a:spcBef>
                <a:spcPts val="0"/>
              </a:spcBef>
              <a:defRPr sz="8000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r>
              <a:rPr lang="ru-RU" sz="5400" b="1" dirty="0">
                <a:solidFill>
                  <a:srgbClr val="6A2D9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Спасибо</a:t>
            </a:r>
            <a:endParaRPr lang="en-US" sz="5400" b="1" dirty="0">
              <a:solidFill>
                <a:srgbClr val="6A2D9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>
              <a:spcBef>
                <a:spcPts val="0"/>
              </a:spcBef>
              <a:defRPr sz="8000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r>
              <a:rPr lang="ru-RU" sz="5400" b="1" dirty="0">
                <a:solidFill>
                  <a:srgbClr val="6A2D9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за внимание!</a:t>
            </a:r>
            <a:endParaRPr sz="5400" b="1" dirty="0">
              <a:solidFill>
                <a:srgbClr val="6A2D9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1BAD813-EFD6-081F-7E7F-E0F4016023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952322" y="399717"/>
            <a:ext cx="736255" cy="241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712754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B748690335E3F45B6D32F35E393220A" ma:contentTypeVersion="0" ma:contentTypeDescription="Create a new document." ma:contentTypeScope="" ma:versionID="7bebcf5451cb4fd0a5969123f2c8bff5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be49189b09f1ade3a025730c41919c31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64FDD002-F4CA-4A2E-8478-39A89128E01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6633D73-0534-49E0-A5B0-8CC6AED9448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DF16EA52-0CEC-49C9-AF7C-9D9A7B503959}">
  <ds:schemaRefs>
    <ds:schemaRef ds:uri="http://schemas.openxmlformats.org/package/2006/metadata/core-properties"/>
    <ds:schemaRef ds:uri="http://purl.org/dc/dcmitype/"/>
    <ds:schemaRef ds:uri="http://purl.org/dc/elements/1.1/"/>
    <ds:schemaRef ds:uri="http://schemas.microsoft.com/office/2006/documentManagement/types"/>
    <ds:schemaRef ds:uri="http://www.w3.org/XML/1998/namespace"/>
    <ds:schemaRef ds:uri="http://schemas.microsoft.com/office/infopath/2007/PartnerControls"/>
    <ds:schemaRef ds:uri="http://purl.org/dc/terms/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3117</TotalTime>
  <Words>674</Words>
  <Application>Microsoft Office PowerPoint</Application>
  <PresentationFormat>Широкоэкранный</PresentationFormat>
  <Paragraphs>204</Paragraphs>
  <Slides>11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8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20" baseType="lpstr">
      <vt:lpstr>Arial</vt:lpstr>
      <vt:lpstr>Calibri</vt:lpstr>
      <vt:lpstr>Calibri Light</vt:lpstr>
      <vt:lpstr>Helvetica</vt:lpstr>
      <vt:lpstr>Helvetica Neue</vt:lpstr>
      <vt:lpstr>Helvetica Neue Light</vt:lpstr>
      <vt:lpstr>Pragmatica Black</vt:lpstr>
      <vt:lpstr>Pragmatica Book Reg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Yanicorn</dc:creator>
  <cp:lastModifiedBy>Alexandr Murdassov</cp:lastModifiedBy>
  <cp:revision>47</cp:revision>
  <dcterms:created xsi:type="dcterms:W3CDTF">2023-01-18T10:06:39Z</dcterms:created>
  <dcterms:modified xsi:type="dcterms:W3CDTF">2025-12-02T06:40:22Z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0x010100BB748690335E3F45B6D32F35E393220A</vt:lpwstr>
  </property>
  <property fmtid="{D5CDD505-2E9C-101B-9397-08002B2CF9AE}" pid="3" name="MSIP_Label_9cdd97af-22dc-49fa-ac47-e24224ce56c4_Enabled">
    <vt:lpwstr>true</vt:lpwstr>
  </property>
  <property fmtid="{D5CDD505-2E9C-101B-9397-08002B2CF9AE}" pid="4" name="MSIP_Label_9cdd97af-22dc-49fa-ac47-e24224ce56c4_SetDate">
    <vt:lpwstr>2025-12-02T06:40:22Z</vt:lpwstr>
  </property>
  <property fmtid="{D5CDD505-2E9C-101B-9397-08002B2CF9AE}" pid="5" name="MSIP_Label_9cdd97af-22dc-49fa-ac47-e24224ce56c4_Method">
    <vt:lpwstr>Standard</vt:lpwstr>
  </property>
  <property fmtid="{D5CDD505-2E9C-101B-9397-08002B2CF9AE}" pid="6" name="MSIP_Label_9cdd97af-22dc-49fa-ac47-e24224ce56c4_Name">
    <vt:lpwstr>General</vt:lpwstr>
  </property>
  <property fmtid="{D5CDD505-2E9C-101B-9397-08002B2CF9AE}" pid="7" name="MSIP_Label_9cdd97af-22dc-49fa-ac47-e24224ce56c4_SiteId">
    <vt:lpwstr>41149801-8e93-4eae-a438-1ff037fd4bdc</vt:lpwstr>
  </property>
  <property fmtid="{D5CDD505-2E9C-101B-9397-08002B2CF9AE}" pid="8" name="MSIP_Label_9cdd97af-22dc-49fa-ac47-e24224ce56c4_ActionId">
    <vt:lpwstr>f53ceb95-6858-46e3-86dc-1bf985c11d12</vt:lpwstr>
  </property>
  <property fmtid="{D5CDD505-2E9C-101B-9397-08002B2CF9AE}" pid="9" name="MSIP_Label_9cdd97af-22dc-49fa-ac47-e24224ce56c4_ContentBits">
    <vt:lpwstr>0</vt:lpwstr>
  </property>
</Properties>
</file>
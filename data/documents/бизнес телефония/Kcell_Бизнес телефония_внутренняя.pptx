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6" r:id="rId5"/>
    <p:sldId id="257" r:id="rId6"/>
    <p:sldId id="268" r:id="rId7"/>
    <p:sldId id="258" r:id="rId8"/>
    <p:sldId id="259" r:id="rId9"/>
    <p:sldId id="269" r:id="rId10"/>
    <p:sldId id="260" r:id="rId11"/>
    <p:sldId id="271" r:id="rId12"/>
    <p:sldId id="272" r:id="rId13"/>
    <p:sldId id="270" r:id="rId14"/>
    <p:sldId id="261" r:id="rId15"/>
    <p:sldId id="262" r:id="rId16"/>
    <p:sldId id="274" r:id="rId17"/>
    <p:sldId id="275" r:id="rId18"/>
    <p:sldId id="263" r:id="rId19"/>
    <p:sldId id="264" r:id="rId20"/>
    <p:sldId id="276" r:id="rId21"/>
    <p:sldId id="277" r:id="rId22"/>
    <p:sldId id="267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D71E"/>
    <a:srgbClr val="6A2D91"/>
    <a:srgbClr val="A9C1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2923" autoAdjust="0"/>
  </p:normalViewPr>
  <p:slideViewPr>
    <p:cSldViewPr snapToGrid="0">
      <p:cViewPr varScale="1">
        <p:scale>
          <a:sx n="47" d="100"/>
          <a:sy n="47" d="100"/>
        </p:scale>
        <p:origin x="10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19CA99-B6F1-411F-BB33-6E94DC1C0A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EED8790-7822-42DB-8BA0-11C85EDEBC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1714D1-8954-43CD-9FD1-2F62151BD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39829-0637-48DE-AA38-F19BBA55A17C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EAA6AF-9A41-435E-8397-8558DC9E7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A88BBF-7E84-4F1F-A425-B7DE0225C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3499-98BD-4F2A-BA1C-A86176DFA7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958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B2BD63-972D-4317-AB82-4D31B85F5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38AB22-03C3-44E6-876A-506E26B3F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8ACC46-5989-4360-8C37-6C2F11E88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39829-0637-48DE-AA38-F19BBA55A17C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42CC8E-74A4-410F-AE6B-044534FF5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C08CFC-1ED1-452F-A411-77A5E77E4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3499-98BD-4F2A-BA1C-A86176DFA7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2889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58685B-1A68-421F-BFA5-3B18D471D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8C5B2FF-4CDC-4BE0-962D-4F7474B18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4C3149-8F4C-402F-9752-94CCCE312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39829-0637-48DE-AA38-F19BBA55A17C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C0E263-35B1-449B-AAD1-500B8748C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FB1488-5D30-413A-A893-3EFA5908E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3499-98BD-4F2A-BA1C-A86176DFA7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5209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F289FD-8C3A-4B24-9D5B-3B59CC2FC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C5D7C9-10D5-4E96-8E65-2C26AA161A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F4D0153-C852-4A79-B1DF-3F1DF08E3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42F9E7A-77D2-4D60-9755-A5D15A8E5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39829-0637-48DE-AA38-F19BBA55A17C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3106AF6-7F11-4472-A7C4-0A324EAC8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048DD58-A0B0-4EA2-A3AE-95A2EC9C6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3499-98BD-4F2A-BA1C-A86176DFA7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4459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3E5D54-3773-419D-B915-336B369FB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810589-37E8-4595-8E0D-65E5CEEC1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8E8F215-667A-4B47-9760-0EA9D9B34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A90C3B7-4162-4BE7-B5A4-C5D028B937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0CD4708-706A-4C76-B840-CB4DC94DCF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E7B60C5-F388-4078-92F6-169A5035B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39829-0637-48DE-AA38-F19BBA55A17C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21051BE-FF18-422A-9CAF-7CDD27F9E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F98DCEC-EB32-4437-9080-82A22C49F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3499-98BD-4F2A-BA1C-A86176DFA7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5844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A5ED9C-6822-4E19-B01C-70B658FDD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5369DAE-F304-4FD3-AA65-AC4EB0B55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39829-0637-48DE-AA38-F19BBA55A17C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33ECE6E-B198-4CA5-81FB-C3D28FD29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2804F13-2286-4C53-AFF6-BF5D80A6A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3499-98BD-4F2A-BA1C-A86176DFA7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8705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AA2785C-3C5A-479A-9548-2C623F316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39829-0637-48DE-AA38-F19BBA55A17C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2E889B7-3156-4F6C-BCF0-1B2F8895D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8E51CF2-D4B4-40A0-BC35-C2BDBA204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3499-98BD-4F2A-BA1C-A86176DFA7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5183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1382DA-A39B-402D-B2D3-A396115B5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2C679B-4127-4C6C-8E44-F0141EE7E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20E728E-E4B2-4966-A256-AC965F960D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1A346A4-C3BE-411E-8574-450D5DA81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39829-0637-48DE-AA38-F19BBA55A17C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3511CE-3FD6-4533-9A97-7E5233EA1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D587944-A0B8-45BB-96A5-5033051AE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3499-98BD-4F2A-BA1C-A86176DFA7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3245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0E9640-65B2-4048-8883-81B049AA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0C412C8-5DD2-46EE-96E9-17745B9156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F5FF958-461E-4BF5-AA30-B9E1EB6223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CD83968-192E-4614-8C48-2F895AE0C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39829-0637-48DE-AA38-F19BBA55A17C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FB3AF01-8312-4A46-B902-696A97C41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6876C78-B1B9-44E6-ACFF-FECDA997A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3499-98BD-4F2A-BA1C-A86176DFA7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456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36B922-B45C-458F-8746-F1614B043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8C01CA2-DE1D-47AE-9DDA-2AA17C5AC4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330EB9-B55E-4E94-8608-4FEDE65CE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39829-0637-48DE-AA38-F19BBA55A17C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258E41-8464-4B3D-99BA-D608FA48F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AD19DF-ECDB-4DE6-A6E1-BDA67782B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3499-98BD-4F2A-BA1C-A86176DFA7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766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747869D-BAB3-4D40-994A-1BADAA9D96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0FE2174-262E-4ECB-A24B-A4751A8C18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2136F9-6063-44E6-90A9-38AC14984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39829-0637-48DE-AA38-F19BBA55A17C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8FF736-779F-45A5-B05B-581BCC688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B5BD2A-98AD-46C8-9223-2E0FBC241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3499-98BD-4F2A-BA1C-A86176DFA7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8950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4BEDAA-8DE4-402B-A881-F83D6C14E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1D46D6B-C510-4266-8DB8-FC9586738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ED6387-A028-4CEF-9143-4622AE1707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439829-0637-48DE-AA38-F19BBA55A17C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4EC98B-9A65-4F7A-A031-65C1B74F49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89E291-104F-481D-908A-B80913E310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523499-98BD-4F2A-BA1C-A86176DFA7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6409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3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.svg"/><Relationship Id="rId7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3.png"/><Relationship Id="rId4" Type="http://schemas.openxmlformats.org/officeDocument/2006/relationships/image" Target="../media/image11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3.svg"/><Relationship Id="rId7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5.png"/><Relationship Id="rId4" Type="http://schemas.openxmlformats.org/officeDocument/2006/relationships/image" Target="../media/image12.png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image" Target="../media/image3.svg"/><Relationship Id="rId7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15.png"/><Relationship Id="rId10" Type="http://schemas.openxmlformats.org/officeDocument/2006/relationships/image" Target="../media/image28.png"/><Relationship Id="rId4" Type="http://schemas.openxmlformats.org/officeDocument/2006/relationships/image" Target="../media/image12.png"/><Relationship Id="rId9" Type="http://schemas.openxmlformats.org/officeDocument/2006/relationships/image" Target="../media/image27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2.png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sv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3.sv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3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196220-C1B9-05B1-382F-74423F3015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815" y="783473"/>
            <a:ext cx="2091294" cy="684760"/>
          </a:xfrm>
          <a:prstGeom prst="rect">
            <a:avLst/>
          </a:prstGeom>
        </p:spPr>
      </p:pic>
      <p:sp>
        <p:nvSpPr>
          <p:cNvPr id="6" name="Ipad Stats">
            <a:extLst>
              <a:ext uri="{FF2B5EF4-FFF2-40B4-BE49-F238E27FC236}">
                <a16:creationId xmlns:a16="http://schemas.microsoft.com/office/drawing/2014/main" id="{DDC38C63-9A74-4680-8F11-0CFAA93FB2B4}"/>
              </a:ext>
            </a:extLst>
          </p:cNvPr>
          <p:cNvSpPr/>
          <p:nvPr/>
        </p:nvSpPr>
        <p:spPr>
          <a:xfrm>
            <a:off x="709680" y="5390159"/>
            <a:ext cx="5714474" cy="101563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08" tIns="45708" rIns="45708" bIns="45708" numCol="1" anchor="t">
            <a:spAutoFit/>
          </a:bodyPr>
          <a:lstStyle>
            <a:lvl1pPr>
              <a:defRPr sz="75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 indent="-182563"/>
            <a:r>
              <a:rPr lang="ru-RU" sz="2000" b="0" dirty="0">
                <a:solidFill>
                  <a:srgbClr val="6A2D91"/>
                </a:solidFill>
                <a:latin typeface="Helvetica" panose="020B0604020202020204" pitchFamily="34" charset="0"/>
                <a:ea typeface="Helvetica Neue Light" panose="02000403000000020004" pitchFamily="2" charset="0"/>
                <a:cs typeface="Helvetica" panose="020B0604020202020204" pitchFamily="34" charset="0"/>
              </a:rPr>
              <a:t>Презентация для KASE </a:t>
            </a:r>
            <a:br>
              <a:rPr lang="ru-RU" sz="2000" b="0" dirty="0">
                <a:solidFill>
                  <a:srgbClr val="6A2D91"/>
                </a:solidFill>
                <a:latin typeface="Helvetica" panose="020B0604020202020204" pitchFamily="34" charset="0"/>
                <a:ea typeface="Helvetica Neue Light" panose="02000403000000020004" pitchFamily="2" charset="0"/>
                <a:cs typeface="Helvetica" panose="020B0604020202020204" pitchFamily="34" charset="0"/>
              </a:rPr>
            </a:br>
            <a:r>
              <a:rPr lang="ru-RU" sz="2000" b="0" dirty="0">
                <a:solidFill>
                  <a:srgbClr val="6A2D91"/>
                </a:solidFill>
                <a:latin typeface="Helvetica" panose="020B0604020202020204" pitchFamily="34" charset="0"/>
                <a:ea typeface="Helvetica Neue Light" panose="02000403000000020004" pitchFamily="2" charset="0"/>
                <a:cs typeface="Helvetica" panose="020B0604020202020204" pitchFamily="34" charset="0"/>
              </a:rPr>
              <a:t>(для внутреннего пользования без права предоставления третьим лицам)</a:t>
            </a:r>
          </a:p>
        </p:txBody>
      </p:sp>
      <p:sp>
        <p:nvSpPr>
          <p:cNvPr id="7" name="Название…">
            <a:extLst>
              <a:ext uri="{FF2B5EF4-FFF2-40B4-BE49-F238E27FC236}">
                <a16:creationId xmlns:a16="http://schemas.microsoft.com/office/drawing/2014/main" id="{A5683E19-C208-40F5-B1C1-8BCAAA80803E}"/>
              </a:ext>
            </a:extLst>
          </p:cNvPr>
          <p:cNvSpPr txBox="1"/>
          <p:nvPr/>
        </p:nvSpPr>
        <p:spPr>
          <a:xfrm>
            <a:off x="709680" y="2154206"/>
            <a:ext cx="8142721" cy="159017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5400" tIns="25400" rIns="25400" bIns="25400" anchor="ctr">
            <a:spAutoFit/>
          </a:bodyPr>
          <a:lstStyle/>
          <a:p>
            <a:pPr>
              <a:lnSpc>
                <a:spcPts val="6000"/>
              </a:lnSpc>
              <a:spcBef>
                <a:spcPts val="0"/>
              </a:spcBef>
              <a:defRPr sz="80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lang="ru-RU" sz="6000" b="1" dirty="0">
                <a:solidFill>
                  <a:srgbClr val="6A2D9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Услуга «Бизнес- </a:t>
            </a:r>
          </a:p>
          <a:p>
            <a:pPr>
              <a:lnSpc>
                <a:spcPts val="6000"/>
              </a:lnSpc>
              <a:spcBef>
                <a:spcPts val="0"/>
              </a:spcBef>
              <a:defRPr sz="80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lang="ru-RU" sz="6000" b="1" dirty="0">
                <a:solidFill>
                  <a:srgbClr val="6A2D9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телефония»</a:t>
            </a:r>
            <a:endParaRPr sz="6000" b="1" dirty="0">
              <a:solidFill>
                <a:srgbClr val="6A2D9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390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авнобедренный треугольник 12">
            <a:extLst>
              <a:ext uri="{FF2B5EF4-FFF2-40B4-BE49-F238E27FC236}">
                <a16:creationId xmlns:a16="http://schemas.microsoft.com/office/drawing/2014/main" id="{1706B1FF-F9F6-4CC5-8F10-5EE98F1B4BBC}"/>
              </a:ext>
            </a:extLst>
          </p:cNvPr>
          <p:cNvSpPr/>
          <p:nvPr/>
        </p:nvSpPr>
        <p:spPr>
          <a:xfrm rot="5400000">
            <a:off x="9873978" y="3780218"/>
            <a:ext cx="3827108" cy="775098"/>
          </a:xfrm>
          <a:prstGeom prst="triangle">
            <a:avLst/>
          </a:prstGeom>
          <a:solidFill>
            <a:srgbClr val="6A2D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1A9FFE91-3520-4099-9FCE-7D42685D3DEC}"/>
              </a:ext>
            </a:extLst>
          </p:cNvPr>
          <p:cNvSpPr/>
          <p:nvPr/>
        </p:nvSpPr>
        <p:spPr>
          <a:xfrm>
            <a:off x="4011517" y="2244560"/>
            <a:ext cx="3310772" cy="3827104"/>
          </a:xfrm>
          <a:prstGeom prst="roundRect">
            <a:avLst>
              <a:gd name="adj" fmla="val 0"/>
            </a:avLst>
          </a:prstGeom>
          <a:solidFill>
            <a:srgbClr val="6A2D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buClr>
                <a:srgbClr val="6A2D91"/>
              </a:buClr>
            </a:pPr>
            <a:endParaRPr lang="ru-RU" sz="2000" b="1" dirty="0">
              <a:solidFill>
                <a:srgbClr val="6A2D91"/>
              </a:solidFill>
              <a:latin typeface="Pragmatica Black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A1A1339A-D466-4714-B2EA-353B80F10DD6}"/>
              </a:ext>
            </a:extLst>
          </p:cNvPr>
          <p:cNvSpPr/>
          <p:nvPr/>
        </p:nvSpPr>
        <p:spPr>
          <a:xfrm>
            <a:off x="8110138" y="2254216"/>
            <a:ext cx="3310772" cy="3827104"/>
          </a:xfrm>
          <a:prstGeom prst="roundRect">
            <a:avLst>
              <a:gd name="adj" fmla="val 0"/>
            </a:avLst>
          </a:prstGeom>
          <a:solidFill>
            <a:srgbClr val="6A2D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buClr>
                <a:srgbClr val="6A2D91"/>
              </a:buClr>
            </a:pPr>
            <a:endParaRPr lang="ru-RU" sz="2000" dirty="0">
              <a:solidFill>
                <a:srgbClr val="6A2D91"/>
              </a:solidFill>
              <a:latin typeface="Pragmatica Black"/>
            </a:endParaRPr>
          </a:p>
        </p:txBody>
      </p:sp>
      <p:sp>
        <p:nvSpPr>
          <p:cNvPr id="16" name="Равнобедренный треугольник 15">
            <a:extLst>
              <a:ext uri="{FF2B5EF4-FFF2-40B4-BE49-F238E27FC236}">
                <a16:creationId xmlns:a16="http://schemas.microsoft.com/office/drawing/2014/main" id="{92ABB724-7C70-459F-86E4-5367CEF5C00C}"/>
              </a:ext>
            </a:extLst>
          </p:cNvPr>
          <p:cNvSpPr/>
          <p:nvPr/>
        </p:nvSpPr>
        <p:spPr>
          <a:xfrm rot="5400000">
            <a:off x="1695247" y="3760105"/>
            <a:ext cx="3827110" cy="775098"/>
          </a:xfrm>
          <a:prstGeom prst="triangle">
            <a:avLst/>
          </a:prstGeom>
          <a:solidFill>
            <a:srgbClr val="6A2D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EDA49499-F394-4C1C-8D4C-02E765DEB291}"/>
              </a:ext>
            </a:extLst>
          </p:cNvPr>
          <p:cNvSpPr/>
          <p:nvPr/>
        </p:nvSpPr>
        <p:spPr>
          <a:xfrm>
            <a:off x="0" y="2234098"/>
            <a:ext cx="3228410" cy="3827104"/>
          </a:xfrm>
          <a:prstGeom prst="roundRect">
            <a:avLst>
              <a:gd name="adj" fmla="val 0"/>
            </a:avLst>
          </a:prstGeom>
          <a:solidFill>
            <a:srgbClr val="6A2D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buClr>
                <a:srgbClr val="6A2D91"/>
              </a:buClr>
            </a:pPr>
            <a:endParaRPr lang="ru-RU" sz="2000" b="1" dirty="0">
              <a:solidFill>
                <a:srgbClr val="6A2D91"/>
              </a:solidFill>
              <a:latin typeface="Pragmatica Black"/>
            </a:endParaRPr>
          </a:p>
        </p:txBody>
      </p:sp>
      <p:sp>
        <p:nvSpPr>
          <p:cNvPr id="18" name="Равнобедренный треугольник 17">
            <a:extLst>
              <a:ext uri="{FF2B5EF4-FFF2-40B4-BE49-F238E27FC236}">
                <a16:creationId xmlns:a16="http://schemas.microsoft.com/office/drawing/2014/main" id="{76D546F9-DBDB-4728-86B6-2216AE48393A}"/>
              </a:ext>
            </a:extLst>
          </p:cNvPr>
          <p:cNvSpPr/>
          <p:nvPr/>
        </p:nvSpPr>
        <p:spPr>
          <a:xfrm rot="5400000">
            <a:off x="5794421" y="3760099"/>
            <a:ext cx="3827108" cy="775098"/>
          </a:xfrm>
          <a:prstGeom prst="triangle">
            <a:avLst/>
          </a:prstGeom>
          <a:solidFill>
            <a:srgbClr val="6A2D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722DCA-4CBF-4D86-9AB3-FCE47B75A560}"/>
              </a:ext>
            </a:extLst>
          </p:cNvPr>
          <p:cNvSpPr txBox="1"/>
          <p:nvPr/>
        </p:nvSpPr>
        <p:spPr>
          <a:xfrm>
            <a:off x="8613637" y="4015029"/>
            <a:ext cx="2920313" cy="163121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lvl="0">
              <a:lnSpc>
                <a:spcPts val="2400"/>
              </a:lnSpc>
            </a:pPr>
            <a:r>
              <a:rPr lang="ru-RU" sz="2400" dirty="0">
                <a:ln w="18415" cmpd="sng">
                  <a:noFill/>
                  <a:prstDash val="solid"/>
                </a:ln>
                <a:solidFill>
                  <a:schemeClr val="bg1"/>
                </a:solidFill>
                <a:latin typeface="Helvetica Neue"/>
                <a:cs typeface="Arial" panose="020B0604020202020204" pitchFamily="34" charset="0"/>
              </a:rPr>
              <a:t>Часто звоните </a:t>
            </a:r>
            <a:endParaRPr lang="en-US" sz="2400" dirty="0">
              <a:ln w="18415" cmpd="sng">
                <a:noFill/>
                <a:prstDash val="solid"/>
              </a:ln>
              <a:solidFill>
                <a:schemeClr val="bg1"/>
              </a:solidFill>
              <a:latin typeface="Helvetica Neue"/>
              <a:cs typeface="Arial" panose="020B0604020202020204" pitchFamily="34" charset="0"/>
            </a:endParaRPr>
          </a:p>
          <a:p>
            <a:pPr lvl="0">
              <a:lnSpc>
                <a:spcPts val="2400"/>
              </a:lnSpc>
            </a:pPr>
            <a:r>
              <a:rPr lang="ru-RU" sz="2400" dirty="0">
                <a:ln w="18415" cmpd="sng">
                  <a:noFill/>
                  <a:prstDash val="solid"/>
                </a:ln>
                <a:solidFill>
                  <a:schemeClr val="bg1"/>
                </a:solidFill>
                <a:latin typeface="Helvetica Neue"/>
                <a:cs typeface="Arial" panose="020B0604020202020204" pitchFamily="34" charset="0"/>
              </a:rPr>
              <a:t>на мобильные направления</a:t>
            </a:r>
            <a:r>
              <a:rPr lang="en-US" sz="2400" dirty="0">
                <a:ln w="18415" cmpd="sng">
                  <a:noFill/>
                  <a:prstDash val="solid"/>
                </a:ln>
                <a:solidFill>
                  <a:schemeClr val="bg1"/>
                </a:solidFill>
                <a:latin typeface="Helvetica Neue"/>
                <a:cs typeface="Arial" panose="020B0604020202020204" pitchFamily="34" charset="0"/>
              </a:rPr>
              <a:t> </a:t>
            </a:r>
          </a:p>
          <a:p>
            <a:pPr lvl="0">
              <a:lnSpc>
                <a:spcPts val="2400"/>
              </a:lnSpc>
            </a:pPr>
            <a:r>
              <a:rPr lang="ru-RU" sz="2400" dirty="0">
                <a:ln w="18415" cmpd="sng">
                  <a:noFill/>
                  <a:prstDash val="solid"/>
                </a:ln>
                <a:solidFill>
                  <a:schemeClr val="bg1"/>
                </a:solidFill>
                <a:latin typeface="Helvetica Neue"/>
                <a:cs typeface="Arial" panose="020B0604020202020204" pitchFamily="34" charset="0"/>
              </a:rPr>
              <a:t>с офисных телефонов</a:t>
            </a:r>
            <a:r>
              <a:rPr lang="en-US" sz="2400" dirty="0">
                <a:ln w="18415" cmpd="sng">
                  <a:noFill/>
                  <a:prstDash val="solid"/>
                </a:ln>
                <a:solidFill>
                  <a:schemeClr val="bg1"/>
                </a:solidFill>
                <a:latin typeface="Helvetica Neue"/>
                <a:cs typeface="Arial" panose="020B0604020202020204" pitchFamily="34" charset="0"/>
              </a:rPr>
              <a:t>?</a:t>
            </a:r>
            <a:endParaRPr lang="ru-RU" sz="2400" dirty="0">
              <a:ln w="18415" cmpd="sng">
                <a:noFill/>
                <a:prstDash val="solid"/>
              </a:ln>
              <a:solidFill>
                <a:schemeClr val="bg1"/>
              </a:solidFill>
              <a:latin typeface="Helvetica Neue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F771DA-3862-49CB-925B-C50AE2CB25B8}"/>
              </a:ext>
            </a:extLst>
          </p:cNvPr>
          <p:cNvSpPr txBox="1"/>
          <p:nvPr/>
        </p:nvSpPr>
        <p:spPr>
          <a:xfrm>
            <a:off x="4519132" y="4015029"/>
            <a:ext cx="2557979" cy="1323439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lvl="0">
              <a:lnSpc>
                <a:spcPts val="2400"/>
              </a:lnSpc>
            </a:pPr>
            <a:r>
              <a:rPr lang="ru-RU" sz="2400" dirty="0">
                <a:ln w="18415" cmpd="sng">
                  <a:noFill/>
                  <a:prstDash val="solid"/>
                </a:ln>
                <a:solidFill>
                  <a:schemeClr val="bg1"/>
                </a:solidFill>
                <a:latin typeface="Helvetica Neue"/>
                <a:cs typeface="Arial" panose="020B0604020202020204" pitchFamily="34" charset="0"/>
              </a:rPr>
              <a:t>Увеличились затраты</a:t>
            </a:r>
            <a:r>
              <a:rPr lang="en-US" sz="2400" dirty="0">
                <a:ln w="18415" cmpd="sng">
                  <a:noFill/>
                  <a:prstDash val="solid"/>
                </a:ln>
                <a:solidFill>
                  <a:schemeClr val="bg1"/>
                </a:solidFill>
                <a:latin typeface="Helvetica Neue"/>
                <a:cs typeface="Arial" panose="020B0604020202020204" pitchFamily="34" charset="0"/>
              </a:rPr>
              <a:t> </a:t>
            </a:r>
            <a:r>
              <a:rPr lang="ru-RU" sz="2400" dirty="0">
                <a:ln w="18415" cmpd="sng">
                  <a:noFill/>
                  <a:prstDash val="solid"/>
                </a:ln>
                <a:solidFill>
                  <a:schemeClr val="bg1"/>
                </a:solidFill>
                <a:latin typeface="Helvetica Neue"/>
                <a:cs typeface="Arial" panose="020B0604020202020204" pitchFamily="34" charset="0"/>
              </a:rPr>
              <a:t>на телефонные звонки?</a:t>
            </a:r>
            <a:endParaRPr lang="ru-RU" sz="2400" dirty="0">
              <a:ln w="18415" cmpd="sng">
                <a:noFill/>
                <a:prstDash val="solid"/>
              </a:ln>
              <a:solidFill>
                <a:schemeClr val="bg1"/>
              </a:solidFill>
              <a:latin typeface="Helvetica Neue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11E7EA-0CF5-465D-8E73-8427037FCB66}"/>
              </a:ext>
            </a:extLst>
          </p:cNvPr>
          <p:cNvSpPr txBox="1"/>
          <p:nvPr/>
        </p:nvSpPr>
        <p:spPr>
          <a:xfrm>
            <a:off x="538694" y="4015029"/>
            <a:ext cx="2897038" cy="1323439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lvl="0">
              <a:lnSpc>
                <a:spcPts val="2400"/>
              </a:lnSpc>
            </a:pPr>
            <a:r>
              <a:rPr lang="ru-RU" sz="2400" dirty="0">
                <a:ln w="18415" cmpd="sng">
                  <a:noFill/>
                  <a:prstDash val="solid"/>
                </a:ln>
                <a:solidFill>
                  <a:srgbClr val="FFFFFF"/>
                </a:solidFill>
                <a:latin typeface="Helvetica Neue"/>
                <a:cs typeface="Arial" panose="020B0604020202020204" pitchFamily="34" charset="0"/>
              </a:rPr>
              <a:t>Все больше сотрудников находится вне офиса?</a:t>
            </a:r>
            <a:endParaRPr lang="ru-RU" sz="2400" dirty="0">
              <a:ln w="18415" cmpd="sng">
                <a:noFill/>
                <a:prstDash val="solid"/>
              </a:ln>
              <a:solidFill>
                <a:srgbClr val="FFFFFF"/>
              </a:solidFill>
              <a:latin typeface="Helvetica Neue"/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94BB7AA8-2FA3-4585-8B12-B3BC1A0667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401" y="2652500"/>
            <a:ext cx="1143633" cy="1143633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6E374062-B7E4-492B-AEE5-6948F08B18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8495" y="2708090"/>
            <a:ext cx="1032452" cy="1032452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2B72D150-47E6-443A-A9EB-1F03A5AA96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3899" y="2708090"/>
            <a:ext cx="1032452" cy="1032452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75734BE-952A-9234-3B13-FA2347E239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52322" y="399717"/>
            <a:ext cx="736255" cy="2410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B3B91B8-02F2-AE24-5C7F-C5582255567B}"/>
              </a:ext>
            </a:extLst>
          </p:cNvPr>
          <p:cNvSpPr txBox="1"/>
          <p:nvPr/>
        </p:nvSpPr>
        <p:spPr>
          <a:xfrm>
            <a:off x="677622" y="332556"/>
            <a:ext cx="5884482" cy="5847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2800" b="1" dirty="0">
                <a:solidFill>
                  <a:srgbClr val="6A2E92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Область применения</a:t>
            </a:r>
            <a:endParaRPr lang="en-US" sz="2800" b="1" dirty="0">
              <a:solidFill>
                <a:srgbClr val="6A2E92"/>
              </a:solidFill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851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олилиния 33">
            <a:extLst>
              <a:ext uri="{FF2B5EF4-FFF2-40B4-BE49-F238E27FC236}">
                <a16:creationId xmlns:a16="http://schemas.microsoft.com/office/drawing/2014/main" id="{E6AD1702-0B09-4239-AAFE-7086F6A62960}"/>
              </a:ext>
            </a:extLst>
          </p:cNvPr>
          <p:cNvSpPr/>
          <p:nvPr/>
        </p:nvSpPr>
        <p:spPr>
          <a:xfrm>
            <a:off x="3517399" y="1970193"/>
            <a:ext cx="2360529" cy="688203"/>
          </a:xfrm>
          <a:custGeom>
            <a:avLst/>
            <a:gdLst>
              <a:gd name="connsiteX0" fmla="*/ 0 w 3737625"/>
              <a:gd name="connsiteY0" fmla="*/ 0 h 688203"/>
              <a:gd name="connsiteX1" fmla="*/ 3737625 w 3737625"/>
              <a:gd name="connsiteY1" fmla="*/ 0 h 688203"/>
              <a:gd name="connsiteX2" fmla="*/ 3737625 w 3737625"/>
              <a:gd name="connsiteY2" fmla="*/ 688203 h 688203"/>
              <a:gd name="connsiteX3" fmla="*/ 0 w 3737625"/>
              <a:gd name="connsiteY3" fmla="*/ 688203 h 688203"/>
              <a:gd name="connsiteX4" fmla="*/ 0 w 3737625"/>
              <a:gd name="connsiteY4" fmla="*/ 0 h 688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37625" h="688203">
                <a:moveTo>
                  <a:pt x="0" y="0"/>
                </a:moveTo>
                <a:lnTo>
                  <a:pt x="3737625" y="0"/>
                </a:lnTo>
                <a:lnTo>
                  <a:pt x="3737625" y="688203"/>
                </a:lnTo>
                <a:lnTo>
                  <a:pt x="0" y="68820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3792" tIns="113792" rIns="113792" bIns="113792" numCol="1" spcCol="1270" anchor="ctr" anchorCtr="0">
            <a:noAutofit/>
          </a:bodyPr>
          <a:lstStyle/>
          <a:p>
            <a:pPr lvl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b="1" kern="1200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Транспорт</a:t>
            </a:r>
            <a:endParaRPr lang="ru-RU" b="1" kern="1200" dirty="0">
              <a:solidFill>
                <a:srgbClr val="6A2D91"/>
              </a:solidFill>
              <a:latin typeface="Helvetica Neue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44D3F8F-8978-F518-5ED8-A53C6B3438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2322" y="399717"/>
            <a:ext cx="736255" cy="241075"/>
          </a:xfrm>
          <a:prstGeom prst="rect">
            <a:avLst/>
          </a:prstGeom>
        </p:spPr>
      </p:pic>
      <p:sp>
        <p:nvSpPr>
          <p:cNvPr id="3" name="Полилиния 33">
            <a:extLst>
              <a:ext uri="{FF2B5EF4-FFF2-40B4-BE49-F238E27FC236}">
                <a16:creationId xmlns:a16="http://schemas.microsoft.com/office/drawing/2014/main" id="{89FFDE6B-10AA-F74B-BA33-15F96124C661}"/>
              </a:ext>
            </a:extLst>
          </p:cNvPr>
          <p:cNvSpPr/>
          <p:nvPr/>
        </p:nvSpPr>
        <p:spPr>
          <a:xfrm>
            <a:off x="8319483" y="1972947"/>
            <a:ext cx="2360529" cy="688203"/>
          </a:xfrm>
          <a:custGeom>
            <a:avLst/>
            <a:gdLst>
              <a:gd name="connsiteX0" fmla="*/ 0 w 3737625"/>
              <a:gd name="connsiteY0" fmla="*/ 0 h 688203"/>
              <a:gd name="connsiteX1" fmla="*/ 3737625 w 3737625"/>
              <a:gd name="connsiteY1" fmla="*/ 0 h 688203"/>
              <a:gd name="connsiteX2" fmla="*/ 3737625 w 3737625"/>
              <a:gd name="connsiteY2" fmla="*/ 688203 h 688203"/>
              <a:gd name="connsiteX3" fmla="*/ 0 w 3737625"/>
              <a:gd name="connsiteY3" fmla="*/ 688203 h 688203"/>
              <a:gd name="connsiteX4" fmla="*/ 0 w 3737625"/>
              <a:gd name="connsiteY4" fmla="*/ 0 h 688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37625" h="688203">
                <a:moveTo>
                  <a:pt x="0" y="0"/>
                </a:moveTo>
                <a:lnTo>
                  <a:pt x="3737625" y="0"/>
                </a:lnTo>
                <a:lnTo>
                  <a:pt x="3737625" y="688203"/>
                </a:lnTo>
                <a:lnTo>
                  <a:pt x="0" y="68820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3792" tIns="113792" rIns="113792" bIns="113792" numCol="1" spcCol="1270" anchor="ctr" anchorCtr="0">
            <a:noAutofit/>
          </a:bodyPr>
          <a:lstStyle/>
          <a:p>
            <a:pPr lvl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b="1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Производство</a:t>
            </a:r>
            <a:endParaRPr lang="ru-RU" b="1" kern="1200" dirty="0">
              <a:solidFill>
                <a:srgbClr val="6A2D91"/>
              </a:solidFill>
              <a:latin typeface="Helvetica Neue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9BB08CB-6D28-49E0-CFD1-C3024EB1B12E}"/>
              </a:ext>
            </a:extLst>
          </p:cNvPr>
          <p:cNvSpPr/>
          <p:nvPr/>
        </p:nvSpPr>
        <p:spPr>
          <a:xfrm>
            <a:off x="3545102" y="2503521"/>
            <a:ext cx="2525736" cy="92547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4290" tIns="102870" rIns="34290" bIns="34290" numCol="1" spcCol="1270" anchor="t" anchorCtr="0">
            <a:noAutofit/>
          </a:bodyPr>
          <a:lstStyle/>
          <a:p>
            <a:pPr marL="285750" lvl="1" indent="-285750" algn="l" defTabSz="12001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ru-RU" kern="1200" dirty="0">
                <a:latin typeface="Helvetica Neue"/>
                <a:cs typeface="Arial" panose="020B0604020202020204" pitchFamily="34" charset="0"/>
              </a:rPr>
              <a:t>Таксопарки</a:t>
            </a:r>
          </a:p>
          <a:p>
            <a:pPr marL="285750" lvl="1" indent="-285750" algn="l" defTabSz="12001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ru-RU" kern="1200" dirty="0">
                <a:latin typeface="Helvetica Neue"/>
                <a:cs typeface="Arial" panose="020B0604020202020204" pitchFamily="34" charset="0"/>
              </a:rPr>
              <a:t>Службы доставки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CF8F587-2B20-681C-C9ED-185D7D19232F}"/>
              </a:ext>
            </a:extLst>
          </p:cNvPr>
          <p:cNvSpPr/>
          <p:nvPr/>
        </p:nvSpPr>
        <p:spPr>
          <a:xfrm>
            <a:off x="8432571" y="2503521"/>
            <a:ext cx="2862352" cy="92547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4290" tIns="102870" rIns="34290" bIns="34290" numCol="1" spcCol="1270" anchor="t" anchorCtr="0">
            <a:noAutofit/>
          </a:bodyPr>
          <a:lstStyle/>
          <a:p>
            <a:pPr marL="285750" lvl="1" indent="-285750" algn="l" defTabSz="12001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ru-RU" kern="1200" dirty="0">
                <a:latin typeface="Helvetica Neue"/>
                <a:cs typeface="Arial" panose="020B0604020202020204" pitchFamily="34" charset="0"/>
              </a:rPr>
              <a:t>Объекты на удалении от населенных пунктов</a:t>
            </a:r>
          </a:p>
        </p:txBody>
      </p:sp>
      <p:sp>
        <p:nvSpPr>
          <p:cNvPr id="10" name="Полилиния 33">
            <a:extLst>
              <a:ext uri="{FF2B5EF4-FFF2-40B4-BE49-F238E27FC236}">
                <a16:creationId xmlns:a16="http://schemas.microsoft.com/office/drawing/2014/main" id="{31E04038-5ADA-03D1-4B8F-A56B50FDF063}"/>
              </a:ext>
            </a:extLst>
          </p:cNvPr>
          <p:cNvSpPr/>
          <p:nvPr/>
        </p:nvSpPr>
        <p:spPr>
          <a:xfrm>
            <a:off x="3517399" y="4101655"/>
            <a:ext cx="2360529" cy="688203"/>
          </a:xfrm>
          <a:custGeom>
            <a:avLst/>
            <a:gdLst>
              <a:gd name="connsiteX0" fmla="*/ 0 w 3737625"/>
              <a:gd name="connsiteY0" fmla="*/ 0 h 688203"/>
              <a:gd name="connsiteX1" fmla="*/ 3737625 w 3737625"/>
              <a:gd name="connsiteY1" fmla="*/ 0 h 688203"/>
              <a:gd name="connsiteX2" fmla="*/ 3737625 w 3737625"/>
              <a:gd name="connsiteY2" fmla="*/ 688203 h 688203"/>
              <a:gd name="connsiteX3" fmla="*/ 0 w 3737625"/>
              <a:gd name="connsiteY3" fmla="*/ 688203 h 688203"/>
              <a:gd name="connsiteX4" fmla="*/ 0 w 3737625"/>
              <a:gd name="connsiteY4" fmla="*/ 0 h 688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37625" h="688203">
                <a:moveTo>
                  <a:pt x="0" y="0"/>
                </a:moveTo>
                <a:lnTo>
                  <a:pt x="3737625" y="0"/>
                </a:lnTo>
                <a:lnTo>
                  <a:pt x="3737625" y="688203"/>
                </a:lnTo>
                <a:lnTo>
                  <a:pt x="0" y="68820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3792" tIns="113792" rIns="113792" bIns="113792" numCol="1" spcCol="1270" anchor="ctr" anchorCtr="0">
            <a:noAutofit/>
          </a:bodyPr>
          <a:lstStyle/>
          <a:p>
            <a:pPr lvl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b="1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Call-</a:t>
            </a:r>
            <a:r>
              <a:rPr lang="ru-RU" b="1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центры</a:t>
            </a:r>
            <a:endParaRPr lang="ru-RU" b="1" kern="1200" dirty="0">
              <a:solidFill>
                <a:srgbClr val="6A2D91"/>
              </a:solidFill>
              <a:latin typeface="Helvetica Neue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0FFCB50-5DE8-6CA4-FF78-73E7B4643482}"/>
              </a:ext>
            </a:extLst>
          </p:cNvPr>
          <p:cNvSpPr/>
          <p:nvPr/>
        </p:nvSpPr>
        <p:spPr>
          <a:xfrm>
            <a:off x="3545102" y="4634983"/>
            <a:ext cx="2525736" cy="92547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4290" tIns="102870" rIns="34290" bIns="34290" numCol="1" spcCol="1270" anchor="t" anchorCtr="0">
            <a:noAutofit/>
          </a:bodyPr>
          <a:lstStyle/>
          <a:p>
            <a:pPr marL="285750" lvl="1" indent="-285750" algn="l" defTabSz="12001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ru-RU" kern="1200" dirty="0">
                <a:latin typeface="Helvetica Neue"/>
                <a:cs typeface="Arial" panose="020B0604020202020204" pitchFamily="34" charset="0"/>
              </a:rPr>
              <a:t>Банки</a:t>
            </a:r>
            <a:endParaRPr lang="ru-RU" dirty="0">
              <a:latin typeface="Helvetica Neue"/>
              <a:cs typeface="Arial" panose="020B0604020202020204" pitchFamily="34" charset="0"/>
            </a:endParaRPr>
          </a:p>
          <a:p>
            <a:pPr marL="285750" lvl="1" indent="-285750" algn="l" defTabSz="12001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ru-RU" kern="1200" dirty="0">
                <a:latin typeface="Helvetica Neue"/>
                <a:cs typeface="Arial" panose="020B0604020202020204" pitchFamily="34" charset="0"/>
              </a:rPr>
              <a:t>Торговля</a:t>
            </a:r>
          </a:p>
          <a:p>
            <a:pPr marL="285750" lvl="1" indent="-285750" algn="l" defTabSz="12001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ru-RU" dirty="0">
                <a:latin typeface="Helvetica Neue"/>
                <a:cs typeface="Arial" panose="020B0604020202020204" pitchFamily="34" charset="0"/>
              </a:rPr>
              <a:t>Электроника</a:t>
            </a:r>
            <a:endParaRPr lang="ru-RU" kern="1200" dirty="0">
              <a:latin typeface="Helvetica Neue"/>
              <a:cs typeface="Arial" panose="020B0604020202020204" pitchFamily="34" charset="0"/>
            </a:endParaRPr>
          </a:p>
          <a:p>
            <a:pPr marL="285750" lvl="1" indent="-285750" algn="l" defTabSz="12001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endParaRPr lang="ru-RU" kern="1200" dirty="0">
              <a:latin typeface="Helvetica Neue"/>
              <a:cs typeface="Arial" panose="020B0604020202020204" pitchFamily="34" charset="0"/>
            </a:endParaRPr>
          </a:p>
        </p:txBody>
      </p:sp>
      <p:sp>
        <p:nvSpPr>
          <p:cNvPr id="13" name="Полилиния 33">
            <a:extLst>
              <a:ext uri="{FF2B5EF4-FFF2-40B4-BE49-F238E27FC236}">
                <a16:creationId xmlns:a16="http://schemas.microsoft.com/office/drawing/2014/main" id="{DBEDA0EB-ECB6-E063-C282-0BEEED110D9C}"/>
              </a:ext>
            </a:extLst>
          </p:cNvPr>
          <p:cNvSpPr/>
          <p:nvPr/>
        </p:nvSpPr>
        <p:spPr>
          <a:xfrm>
            <a:off x="8104961" y="4101655"/>
            <a:ext cx="3318519" cy="688203"/>
          </a:xfrm>
          <a:custGeom>
            <a:avLst/>
            <a:gdLst>
              <a:gd name="connsiteX0" fmla="*/ 0 w 3737625"/>
              <a:gd name="connsiteY0" fmla="*/ 0 h 688203"/>
              <a:gd name="connsiteX1" fmla="*/ 3737625 w 3737625"/>
              <a:gd name="connsiteY1" fmla="*/ 0 h 688203"/>
              <a:gd name="connsiteX2" fmla="*/ 3737625 w 3737625"/>
              <a:gd name="connsiteY2" fmla="*/ 688203 h 688203"/>
              <a:gd name="connsiteX3" fmla="*/ 0 w 3737625"/>
              <a:gd name="connsiteY3" fmla="*/ 688203 h 688203"/>
              <a:gd name="connsiteX4" fmla="*/ 0 w 3737625"/>
              <a:gd name="connsiteY4" fmla="*/ 0 h 688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37625" h="688203">
                <a:moveTo>
                  <a:pt x="0" y="0"/>
                </a:moveTo>
                <a:lnTo>
                  <a:pt x="3737625" y="0"/>
                </a:lnTo>
                <a:lnTo>
                  <a:pt x="3737625" y="688203"/>
                </a:lnTo>
                <a:lnTo>
                  <a:pt x="0" y="68820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3792" tIns="113792" rIns="113792" bIns="113792" numCol="1" spcCol="1270" anchor="ctr" anchorCtr="0">
            <a:noAutofit/>
          </a:bodyPr>
          <a:lstStyle/>
          <a:p>
            <a:pPr lvl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b="1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Государственный сектор </a:t>
            </a:r>
            <a:endParaRPr lang="ru-RU" b="1" kern="1200" dirty="0">
              <a:solidFill>
                <a:srgbClr val="6A2D91"/>
              </a:solidFill>
              <a:latin typeface="Helvetica Neue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1F2B856-6180-C241-75EE-005C260E6BFE}"/>
              </a:ext>
            </a:extLst>
          </p:cNvPr>
          <p:cNvSpPr/>
          <p:nvPr/>
        </p:nvSpPr>
        <p:spPr>
          <a:xfrm>
            <a:off x="8218049" y="4632229"/>
            <a:ext cx="2525736" cy="92547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4290" tIns="102870" rIns="34290" bIns="34290" numCol="1" spcCol="1270" anchor="t" anchorCtr="0">
            <a:noAutofit/>
          </a:bodyPr>
          <a:lstStyle/>
          <a:p>
            <a:pPr marL="285750" lvl="1" indent="-285750" algn="l" defTabSz="12001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ru-RU" kern="1200" dirty="0">
                <a:latin typeface="Helvetica Neue"/>
                <a:cs typeface="Arial" panose="020B0604020202020204" pitchFamily="34" charset="0"/>
              </a:rPr>
              <a:t>Таксопарки</a:t>
            </a:r>
          </a:p>
          <a:p>
            <a:pPr marL="285750" lvl="1" indent="-285750" algn="l" defTabSz="12001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ru-RU" kern="1200" dirty="0">
                <a:latin typeface="Helvetica Neue"/>
                <a:cs typeface="Arial" panose="020B0604020202020204" pitchFamily="34" charset="0"/>
              </a:rPr>
              <a:t>Службы доставки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C9ACB96D-C777-3CCF-7E6F-3F3D2ED38B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2104" y="4092114"/>
            <a:ext cx="1349947" cy="1395487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9BB0DF34-948C-42F1-24CF-3F46F254A4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596" y="1970513"/>
            <a:ext cx="1484892" cy="1390034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76150C53-7270-1374-8E75-F01D3BFD01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138" y="4177009"/>
            <a:ext cx="1566073" cy="1566073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B5C96241-0EF4-249A-3274-877123D0F0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478" y="1998724"/>
            <a:ext cx="2448895" cy="13192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44A5C3-3057-BA40-D2E4-C8D5B448E0E6}"/>
              </a:ext>
            </a:extLst>
          </p:cNvPr>
          <p:cNvSpPr txBox="1"/>
          <p:nvPr/>
        </p:nvSpPr>
        <p:spPr>
          <a:xfrm>
            <a:off x="677622" y="332556"/>
            <a:ext cx="5884482" cy="5847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2800" b="1" dirty="0">
                <a:solidFill>
                  <a:srgbClr val="6A2E92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Область применения</a:t>
            </a:r>
            <a:endParaRPr lang="en-US" sz="2800" b="1" dirty="0">
              <a:solidFill>
                <a:srgbClr val="6A2E92"/>
              </a:solidFill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771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D58BEE8-F854-433F-82C0-B3DFA718DFD8}"/>
              </a:ext>
            </a:extLst>
          </p:cNvPr>
          <p:cNvSpPr txBox="1"/>
          <p:nvPr/>
        </p:nvSpPr>
        <p:spPr>
          <a:xfrm>
            <a:off x="677019" y="1160621"/>
            <a:ext cx="106629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2">
                    <a:lumMod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Услуга </a:t>
            </a:r>
            <a:r>
              <a:rPr lang="ru-RU" b="1" dirty="0">
                <a:solidFill>
                  <a:srgbClr val="6A2D9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«Бизнес-телефония» </a:t>
            </a:r>
            <a:r>
              <a:rPr lang="ru-RU" dirty="0">
                <a:solidFill>
                  <a:schemeClr val="bg2">
                    <a:lumMod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позволяет использовать услуги связи через подключенную АТС заказчика, уменьшая, таким образом, расходы на связь при звонках со стационарных телефонов на любые направления.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83560A-4F78-4C18-99D2-A2CBF59CD25F}"/>
              </a:ext>
            </a:extLst>
          </p:cNvPr>
          <p:cNvSpPr txBox="1"/>
          <p:nvPr/>
        </p:nvSpPr>
        <p:spPr>
          <a:xfrm>
            <a:off x="696650" y="2360522"/>
            <a:ext cx="432083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500" b="1" dirty="0">
                <a:solidFill>
                  <a:srgbClr val="6A2D91"/>
                </a:solidFill>
                <a:latin typeface="Helvetica Neue"/>
                <a:cs typeface="Pragmatica Book Reg"/>
              </a:rPr>
              <a:t>Преимущества</a:t>
            </a:r>
          </a:p>
        </p:txBody>
      </p:sp>
      <p:sp>
        <p:nvSpPr>
          <p:cNvPr id="24" name="Полилиния 33">
            <a:extLst>
              <a:ext uri="{FF2B5EF4-FFF2-40B4-BE49-F238E27FC236}">
                <a16:creationId xmlns:a16="http://schemas.microsoft.com/office/drawing/2014/main" id="{E6AD1702-0B09-4239-AAFE-7086F6A62960}"/>
              </a:ext>
            </a:extLst>
          </p:cNvPr>
          <p:cNvSpPr/>
          <p:nvPr/>
        </p:nvSpPr>
        <p:spPr>
          <a:xfrm>
            <a:off x="696650" y="3114147"/>
            <a:ext cx="10414428" cy="3154451"/>
          </a:xfrm>
          <a:custGeom>
            <a:avLst/>
            <a:gdLst>
              <a:gd name="connsiteX0" fmla="*/ 0 w 3737625"/>
              <a:gd name="connsiteY0" fmla="*/ 0 h 688203"/>
              <a:gd name="connsiteX1" fmla="*/ 3737625 w 3737625"/>
              <a:gd name="connsiteY1" fmla="*/ 0 h 688203"/>
              <a:gd name="connsiteX2" fmla="*/ 3737625 w 3737625"/>
              <a:gd name="connsiteY2" fmla="*/ 688203 h 688203"/>
              <a:gd name="connsiteX3" fmla="*/ 0 w 3737625"/>
              <a:gd name="connsiteY3" fmla="*/ 688203 h 688203"/>
              <a:gd name="connsiteX4" fmla="*/ 0 w 3737625"/>
              <a:gd name="connsiteY4" fmla="*/ 0 h 688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37625" h="688203">
                <a:moveTo>
                  <a:pt x="0" y="0"/>
                </a:moveTo>
                <a:lnTo>
                  <a:pt x="3737625" y="0"/>
                </a:lnTo>
                <a:lnTo>
                  <a:pt x="3737625" y="688203"/>
                </a:lnTo>
                <a:lnTo>
                  <a:pt x="0" y="68820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3792" tIns="113792" rIns="113792" bIns="113792" numCol="1" spcCol="1270" anchor="ctr" anchorCtr="0">
            <a:noAutofit/>
          </a:bodyPr>
          <a:lstStyle/>
          <a:p>
            <a:pPr marL="285750" lvl="0" indent="-285750" algn="l" defTabSz="711200"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§"/>
            </a:pPr>
            <a:r>
              <a:rPr lang="ru-RU" b="1" kern="1200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Бесплатное подключение услуги</a:t>
            </a:r>
          </a:p>
          <a:p>
            <a:pPr marL="285750" indent="-285750" defTabSz="711200"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§"/>
            </a:pPr>
            <a:r>
              <a:rPr lang="ru-RU" b="1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Бесплатное в</a:t>
            </a:r>
            <a:r>
              <a:rPr lang="ru-RU" b="1" kern="1200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ыделение необходимого числа каналов</a:t>
            </a:r>
            <a:r>
              <a:rPr lang="en-US" b="1" kern="1200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 (</a:t>
            </a:r>
            <a:r>
              <a:rPr lang="ru-RU" b="1" kern="1200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сессий</a:t>
            </a:r>
            <a:r>
              <a:rPr lang="en-US" b="1" kern="1200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)</a:t>
            </a:r>
            <a:endParaRPr lang="ru-RU" b="1" kern="1200" dirty="0">
              <a:solidFill>
                <a:srgbClr val="6A2D91"/>
              </a:solidFill>
              <a:latin typeface="Helvetica Neue"/>
              <a:cs typeface="Arial" panose="020B0604020202020204" pitchFamily="34" charset="0"/>
            </a:endParaRPr>
          </a:p>
          <a:p>
            <a:pPr marL="285750" indent="-285750" defTabSz="711200"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§"/>
            </a:pPr>
            <a:r>
              <a:rPr lang="ru-RU" b="1" kern="1200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Бесплатное </a:t>
            </a:r>
            <a:r>
              <a:rPr lang="ru-RU" b="1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в</a:t>
            </a:r>
            <a:r>
              <a:rPr lang="ru-RU" b="1" kern="1200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ыделение необходимого количества виртуальных номеров </a:t>
            </a:r>
            <a:br>
              <a:rPr lang="ru-RU" b="1" kern="1200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</a:br>
            <a:r>
              <a:rPr lang="ru-RU" b="1" kern="1200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(вида +7 778 ХХХХХХХ)</a:t>
            </a:r>
          </a:p>
          <a:p>
            <a:pPr marL="285750" indent="-285750" defTabSz="711200"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§"/>
            </a:pPr>
            <a:r>
              <a:rPr lang="ru-RU" b="1" kern="1200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Бесплатное </a:t>
            </a:r>
            <a:r>
              <a:rPr lang="ru-RU" b="1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т</a:t>
            </a:r>
            <a:r>
              <a:rPr lang="ru-RU" b="1" kern="1200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естирование при подключении по </a:t>
            </a:r>
            <a:r>
              <a:rPr lang="en-US" b="1" kern="1200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SIP</a:t>
            </a:r>
            <a:endParaRPr lang="ru-RU" b="1" kern="1200" dirty="0">
              <a:solidFill>
                <a:srgbClr val="6A2D91"/>
              </a:solidFill>
              <a:latin typeface="Helvetica Neue"/>
              <a:cs typeface="Arial" panose="020B0604020202020204" pitchFamily="34" charset="0"/>
            </a:endParaRPr>
          </a:p>
          <a:p>
            <a:pPr marL="285750" indent="-285750" defTabSz="711200"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§"/>
            </a:pPr>
            <a:r>
              <a:rPr lang="ru-RU" b="1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Бесплатная организация </a:t>
            </a:r>
            <a:r>
              <a:rPr lang="en-US" b="1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VPN</a:t>
            </a:r>
            <a:r>
              <a:rPr lang="ru-RU" b="1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 канала по </a:t>
            </a:r>
            <a:r>
              <a:rPr lang="en-US" b="1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SIP</a:t>
            </a:r>
            <a:r>
              <a:rPr lang="ru-RU" b="1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 (при необходимости)</a:t>
            </a:r>
          </a:p>
          <a:p>
            <a:pPr marL="285750" indent="-285750" defTabSz="711200"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§"/>
            </a:pPr>
            <a:r>
              <a:rPr lang="ru-RU" b="1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Снижение затрат на телефонные разговоры</a:t>
            </a:r>
            <a:endParaRPr lang="ru-RU" b="1" kern="1200" dirty="0">
              <a:solidFill>
                <a:srgbClr val="6A2D91"/>
              </a:solidFill>
              <a:latin typeface="Helvetica Neue"/>
            </a:endParaRPr>
          </a:p>
          <a:p>
            <a:pPr marL="285750" indent="-285750" defTabSz="711200"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§"/>
            </a:pPr>
            <a:r>
              <a:rPr lang="ru-RU" b="1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Альтернатива обычной телефонной линии</a:t>
            </a:r>
          </a:p>
          <a:p>
            <a:pPr marL="285750" indent="-285750" defTabSz="711200"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§"/>
            </a:pPr>
            <a:r>
              <a:rPr lang="ru-RU" b="1" kern="1200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Качество связи не зависит от покрытия базовой станции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44D3F8F-8978-F518-5ED8-A53C6B3438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2322" y="399717"/>
            <a:ext cx="736255" cy="2410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C69961D-6C59-05E9-DDD2-AF48E39EF302}"/>
              </a:ext>
            </a:extLst>
          </p:cNvPr>
          <p:cNvSpPr txBox="1"/>
          <p:nvPr/>
        </p:nvSpPr>
        <p:spPr>
          <a:xfrm>
            <a:off x="677622" y="332556"/>
            <a:ext cx="5884482" cy="5847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2800" b="1" dirty="0">
                <a:solidFill>
                  <a:srgbClr val="6A2E92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Определение услуги</a:t>
            </a:r>
            <a:endParaRPr lang="en-US" sz="2800" b="1" dirty="0">
              <a:solidFill>
                <a:srgbClr val="6A2E92"/>
              </a:solidFill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9523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Скругленный прямоугольник 61">
            <a:extLst>
              <a:ext uri="{FF2B5EF4-FFF2-40B4-BE49-F238E27FC236}">
                <a16:creationId xmlns:a16="http://schemas.microsoft.com/office/drawing/2014/main" id="{D360EA31-DC2A-4D06-A6DA-EFCA9D30743E}"/>
              </a:ext>
            </a:extLst>
          </p:cNvPr>
          <p:cNvSpPr/>
          <p:nvPr/>
        </p:nvSpPr>
        <p:spPr>
          <a:xfrm>
            <a:off x="8413737" y="1229990"/>
            <a:ext cx="2880000" cy="869206"/>
          </a:xfrm>
          <a:prstGeom prst="roundRect">
            <a:avLst>
              <a:gd name="adj" fmla="val 13383"/>
            </a:avLst>
          </a:prstGeom>
          <a:solidFill>
            <a:srgbClr val="A6D7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dirty="0"/>
          </a:p>
        </p:txBody>
      </p:sp>
      <p:sp>
        <p:nvSpPr>
          <p:cNvPr id="83" name="Скругленный прямоугольник 61">
            <a:extLst>
              <a:ext uri="{FF2B5EF4-FFF2-40B4-BE49-F238E27FC236}">
                <a16:creationId xmlns:a16="http://schemas.microsoft.com/office/drawing/2014/main" id="{566B825C-F9FB-446B-A08F-CBBEE04179D5}"/>
              </a:ext>
            </a:extLst>
          </p:cNvPr>
          <p:cNvSpPr/>
          <p:nvPr/>
        </p:nvSpPr>
        <p:spPr>
          <a:xfrm>
            <a:off x="721211" y="1234602"/>
            <a:ext cx="2880000" cy="869206"/>
          </a:xfrm>
          <a:prstGeom prst="roundRect">
            <a:avLst>
              <a:gd name="adj" fmla="val 13383"/>
            </a:avLst>
          </a:prstGeom>
          <a:solidFill>
            <a:srgbClr val="A6D7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dirty="0"/>
          </a:p>
        </p:txBody>
      </p:sp>
      <p:sp>
        <p:nvSpPr>
          <p:cNvPr id="76" name="Скругленный прямоугольник 61">
            <a:extLst>
              <a:ext uri="{FF2B5EF4-FFF2-40B4-BE49-F238E27FC236}">
                <a16:creationId xmlns:a16="http://schemas.microsoft.com/office/drawing/2014/main" id="{43B4BEEB-D525-4563-9360-7DBAB2AECC97}"/>
              </a:ext>
            </a:extLst>
          </p:cNvPr>
          <p:cNvSpPr/>
          <p:nvPr/>
        </p:nvSpPr>
        <p:spPr>
          <a:xfrm>
            <a:off x="721210" y="4631853"/>
            <a:ext cx="10916045" cy="1877652"/>
          </a:xfrm>
          <a:prstGeom prst="roundRect">
            <a:avLst>
              <a:gd name="adj" fmla="val 1338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50C7542-0477-4F86-AD52-FD1D8AD76E3F}"/>
              </a:ext>
            </a:extLst>
          </p:cNvPr>
          <p:cNvSpPr/>
          <p:nvPr/>
        </p:nvSpPr>
        <p:spPr>
          <a:xfrm>
            <a:off x="721210" y="2844329"/>
            <a:ext cx="4838511" cy="1585868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4290" tIns="102870" rIns="34290" bIns="34290" numCol="1" spcCol="1270" anchor="t" anchorCtr="0">
            <a:noAutofit/>
          </a:bodyPr>
          <a:lstStyle/>
          <a:p>
            <a:pPr marL="285750" lvl="1" indent="-285750" algn="l" defTabSz="12001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ru-RU" kern="1200" dirty="0">
                <a:latin typeface="Helvetica Neue"/>
                <a:cs typeface="Arial" panose="020B0604020202020204" pitchFamily="34" charset="0"/>
              </a:rPr>
              <a:t>Интернет канал</a:t>
            </a:r>
          </a:p>
          <a:p>
            <a:pPr marL="285750" lvl="1" indent="-285750" defTabSz="12001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ru-RU" kern="1200" dirty="0">
                <a:latin typeface="Helvetica Neue"/>
                <a:cs typeface="Arial" panose="020B0604020202020204" pitchFamily="34" charset="0"/>
              </a:rPr>
              <a:t>Внешний </a:t>
            </a:r>
            <a:r>
              <a:rPr lang="ru-RU" dirty="0">
                <a:latin typeface="Helvetica Neue"/>
                <a:cs typeface="Arial" panose="020B0604020202020204" pitchFamily="34" charset="0"/>
              </a:rPr>
              <a:t>статический </a:t>
            </a:r>
            <a:r>
              <a:rPr lang="en-US" kern="1200" dirty="0">
                <a:latin typeface="Helvetica Neue"/>
                <a:cs typeface="Arial" panose="020B0604020202020204" pitchFamily="34" charset="0"/>
              </a:rPr>
              <a:t>IP</a:t>
            </a:r>
            <a:r>
              <a:rPr lang="ru-RU" kern="1200" dirty="0">
                <a:latin typeface="Helvetica Neue"/>
                <a:cs typeface="Arial" panose="020B0604020202020204" pitchFamily="34" charset="0"/>
              </a:rPr>
              <a:t>-адрес</a:t>
            </a:r>
          </a:p>
          <a:p>
            <a:pPr marL="285750" lvl="1" indent="-285750" defTabSz="12001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ru-RU" dirty="0">
                <a:latin typeface="Helvetica Neue"/>
                <a:cs typeface="Arial" panose="020B0604020202020204" pitchFamily="34" charset="0"/>
              </a:rPr>
              <a:t>Поддержка </a:t>
            </a:r>
            <a:r>
              <a:rPr lang="en-US" dirty="0">
                <a:latin typeface="Helvetica Neue"/>
                <a:cs typeface="Arial" panose="020B0604020202020204" pitchFamily="34" charset="0"/>
              </a:rPr>
              <a:t>SIP</a:t>
            </a:r>
            <a:r>
              <a:rPr lang="ru-RU" dirty="0">
                <a:latin typeface="Helvetica Neue"/>
                <a:cs typeface="Arial" panose="020B0604020202020204" pitchFamily="34" charset="0"/>
              </a:rPr>
              <a:t> на АТС Заказчика</a:t>
            </a:r>
          </a:p>
          <a:p>
            <a:pPr marL="285750" lvl="1" indent="-285750" defTabSz="12001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ru-RU" dirty="0">
                <a:latin typeface="Helvetica Neue"/>
                <a:cs typeface="Arial" panose="020B0604020202020204" pitchFamily="34" charset="0"/>
              </a:rPr>
              <a:t>Технический специалист, </a:t>
            </a:r>
            <a:br>
              <a:rPr lang="ru-RU" dirty="0">
                <a:latin typeface="Helvetica Neue"/>
                <a:cs typeface="Arial" panose="020B0604020202020204" pitchFamily="34" charset="0"/>
              </a:rPr>
            </a:br>
            <a:r>
              <a:rPr lang="ru-RU" dirty="0">
                <a:latin typeface="Helvetica Neue"/>
                <a:cs typeface="Arial" panose="020B0604020202020204" pitchFamily="34" charset="0"/>
              </a:rPr>
              <a:t>способный настроить АТС</a:t>
            </a:r>
            <a:r>
              <a:rPr lang="ru-RU" kern="1200" dirty="0">
                <a:latin typeface="Helvetica Neue"/>
                <a:cs typeface="Arial" panose="020B0604020202020204" pitchFamily="34" charset="0"/>
              </a:rPr>
              <a:t> </a:t>
            </a:r>
          </a:p>
          <a:p>
            <a:pPr marL="285750" lvl="1" indent="-285750" defTabSz="12001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endParaRPr lang="ru-RU" kern="1200" dirty="0">
              <a:latin typeface="Helvetica Neue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49FF64-A58F-43CF-9473-D82554A92BF8}"/>
              </a:ext>
            </a:extLst>
          </p:cNvPr>
          <p:cNvSpPr txBox="1"/>
          <p:nvPr/>
        </p:nvSpPr>
        <p:spPr>
          <a:xfrm>
            <a:off x="721210" y="2361227"/>
            <a:ext cx="58907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500" b="1" dirty="0">
                <a:solidFill>
                  <a:srgbClr val="6A2D91"/>
                </a:solidFill>
                <a:latin typeface="Helvetica Neue" panose="02000503000000020004"/>
                <a:cs typeface="Arial" panose="020B0604020202020204" pitchFamily="34" charset="0"/>
              </a:rPr>
              <a:t>Требования для подключения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F030A8-7BD4-43CA-86B6-DBF9E49F6ED8}"/>
              </a:ext>
            </a:extLst>
          </p:cNvPr>
          <p:cNvSpPr txBox="1"/>
          <p:nvPr/>
        </p:nvSpPr>
        <p:spPr>
          <a:xfrm>
            <a:off x="1172647" y="5990256"/>
            <a:ext cx="18268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Helvetica Neue"/>
                <a:cs typeface="Arial" panose="020B0604020202020204" pitchFamily="34" charset="0"/>
              </a:rPr>
              <a:t>Внутренний номер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975325-D626-4014-AD4C-5BA947712026}"/>
              </a:ext>
            </a:extLst>
          </p:cNvPr>
          <p:cNvSpPr txBox="1"/>
          <p:nvPr/>
        </p:nvSpPr>
        <p:spPr>
          <a:xfrm>
            <a:off x="4093740" y="6009767"/>
            <a:ext cx="5794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АТС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6C3333-B02E-4F38-A002-8C5C849792DD}"/>
              </a:ext>
            </a:extLst>
          </p:cNvPr>
          <p:cNvSpPr txBox="1"/>
          <p:nvPr/>
        </p:nvSpPr>
        <p:spPr>
          <a:xfrm>
            <a:off x="5479592" y="5368500"/>
            <a:ext cx="10717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6A2D91"/>
                </a:solidFill>
                <a:latin typeface="Helvetica Neue" panose="02000503000000020004"/>
                <a:cs typeface="Arial" panose="020B0604020202020204" pitchFamily="34" charset="0"/>
              </a:rPr>
              <a:t>E</a:t>
            </a:r>
            <a:r>
              <a:rPr lang="ru-RU" sz="2000" b="1" dirty="0">
                <a:solidFill>
                  <a:srgbClr val="6A2D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b="1" dirty="0">
                <a:solidFill>
                  <a:srgbClr val="6A2D91"/>
                </a:solidFill>
                <a:latin typeface="Helvetica Neue" panose="02000503000000020004"/>
                <a:cs typeface="Arial" panose="020B0604020202020204" pitchFamily="34" charset="0"/>
              </a:rPr>
              <a:t>/SIP</a:t>
            </a:r>
            <a:endParaRPr lang="ru-RU" sz="2000" b="1" dirty="0">
              <a:solidFill>
                <a:srgbClr val="6A2D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E370AE-3A8A-4094-B7EB-E4B89E7F089F}"/>
              </a:ext>
            </a:extLst>
          </p:cNvPr>
          <p:cNvSpPr txBox="1"/>
          <p:nvPr/>
        </p:nvSpPr>
        <p:spPr>
          <a:xfrm>
            <a:off x="7337551" y="6028475"/>
            <a:ext cx="7591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Kcell</a:t>
            </a: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1409F6-C369-48A1-B7E9-DAF99334F21B}"/>
              </a:ext>
            </a:extLst>
          </p:cNvPr>
          <p:cNvSpPr txBox="1"/>
          <p:nvPr/>
        </p:nvSpPr>
        <p:spPr>
          <a:xfrm>
            <a:off x="9713964" y="6131933"/>
            <a:ext cx="16175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Мобильный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номер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C3C9F47-D96E-4EBD-B913-1D835A6F9580}"/>
              </a:ext>
            </a:extLst>
          </p:cNvPr>
          <p:cNvSpPr txBox="1"/>
          <p:nvPr/>
        </p:nvSpPr>
        <p:spPr>
          <a:xfrm>
            <a:off x="9570321" y="5216442"/>
            <a:ext cx="18549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Городской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номер</a:t>
            </a:r>
          </a:p>
        </p:txBody>
      </p: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96C34661-D5D9-4735-9DFE-FC992B6190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4124" y="4923908"/>
            <a:ext cx="791561" cy="791561"/>
          </a:xfrm>
          <a:prstGeom prst="rect">
            <a:avLst/>
          </a:prstGeom>
        </p:spPr>
      </p:pic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8A0CD03E-6B9C-487E-8C16-7F90DF96DD3B}"/>
              </a:ext>
            </a:extLst>
          </p:cNvPr>
          <p:cNvGrpSpPr/>
          <p:nvPr/>
        </p:nvGrpSpPr>
        <p:grpSpPr>
          <a:xfrm rot="291397">
            <a:off x="5215787" y="5684941"/>
            <a:ext cx="1392011" cy="531810"/>
            <a:chOff x="4939414" y="5630948"/>
            <a:chExt cx="1687789" cy="680594"/>
          </a:xfrm>
        </p:grpSpPr>
        <p:sp>
          <p:nvSpPr>
            <p:cNvPr id="45" name="Овал 42">
              <a:extLst>
                <a:ext uri="{FF2B5EF4-FFF2-40B4-BE49-F238E27FC236}">
                  <a16:creationId xmlns:a16="http://schemas.microsoft.com/office/drawing/2014/main" id="{31C0D97C-65E1-4F07-8F2B-916AD534332F}"/>
                </a:ext>
              </a:extLst>
            </p:cNvPr>
            <p:cNvSpPr/>
            <p:nvPr/>
          </p:nvSpPr>
          <p:spPr>
            <a:xfrm rot="10377414">
              <a:off x="5055902" y="5637542"/>
              <a:ext cx="1571301" cy="674000"/>
            </a:xfrm>
            <a:custGeom>
              <a:avLst/>
              <a:gdLst>
                <a:gd name="connsiteX0" fmla="*/ 0 w 1828380"/>
                <a:gd name="connsiteY0" fmla="*/ 914190 h 1828380"/>
                <a:gd name="connsiteX1" fmla="*/ 914190 w 1828380"/>
                <a:gd name="connsiteY1" fmla="*/ 0 h 1828380"/>
                <a:gd name="connsiteX2" fmla="*/ 1828380 w 1828380"/>
                <a:gd name="connsiteY2" fmla="*/ 914190 h 1828380"/>
                <a:gd name="connsiteX3" fmla="*/ 914190 w 1828380"/>
                <a:gd name="connsiteY3" fmla="*/ 1828380 h 1828380"/>
                <a:gd name="connsiteX4" fmla="*/ 0 w 1828380"/>
                <a:gd name="connsiteY4" fmla="*/ 914190 h 1828380"/>
                <a:gd name="connsiteX0" fmla="*/ 914190 w 1828380"/>
                <a:gd name="connsiteY0" fmla="*/ 1828380 h 1919820"/>
                <a:gd name="connsiteX1" fmla="*/ 0 w 1828380"/>
                <a:gd name="connsiteY1" fmla="*/ 914190 h 1919820"/>
                <a:gd name="connsiteX2" fmla="*/ 914190 w 1828380"/>
                <a:gd name="connsiteY2" fmla="*/ 0 h 1919820"/>
                <a:gd name="connsiteX3" fmla="*/ 1828380 w 1828380"/>
                <a:gd name="connsiteY3" fmla="*/ 914190 h 1919820"/>
                <a:gd name="connsiteX4" fmla="*/ 1005630 w 1828380"/>
                <a:gd name="connsiteY4" fmla="*/ 1919820 h 1919820"/>
                <a:gd name="connsiteX0" fmla="*/ 914190 w 1828380"/>
                <a:gd name="connsiteY0" fmla="*/ 1828380 h 1828380"/>
                <a:gd name="connsiteX1" fmla="*/ 0 w 1828380"/>
                <a:gd name="connsiteY1" fmla="*/ 914190 h 1828380"/>
                <a:gd name="connsiteX2" fmla="*/ 914190 w 1828380"/>
                <a:gd name="connsiteY2" fmla="*/ 0 h 1828380"/>
                <a:gd name="connsiteX3" fmla="*/ 1828380 w 1828380"/>
                <a:gd name="connsiteY3" fmla="*/ 914190 h 1828380"/>
                <a:gd name="connsiteX0" fmla="*/ 0 w 1828380"/>
                <a:gd name="connsiteY0" fmla="*/ 914190 h 914190"/>
                <a:gd name="connsiteX1" fmla="*/ 914190 w 1828380"/>
                <a:gd name="connsiteY1" fmla="*/ 0 h 914190"/>
                <a:gd name="connsiteX2" fmla="*/ 1828380 w 1828380"/>
                <a:gd name="connsiteY2" fmla="*/ 914190 h 914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8380" h="914190">
                  <a:moveTo>
                    <a:pt x="0" y="914190"/>
                  </a:moveTo>
                  <a:cubicBezTo>
                    <a:pt x="0" y="409297"/>
                    <a:pt x="409297" y="0"/>
                    <a:pt x="914190" y="0"/>
                  </a:cubicBezTo>
                  <a:cubicBezTo>
                    <a:pt x="1419083" y="0"/>
                    <a:pt x="1828380" y="409297"/>
                    <a:pt x="1828380" y="914190"/>
                  </a:cubicBezTo>
                </a:path>
              </a:pathLst>
            </a:custGeom>
            <a:noFill/>
            <a:ln w="34925" cap="rnd">
              <a:solidFill>
                <a:schemeClr val="bg1">
                  <a:lumMod val="85000"/>
                </a:schemeClr>
              </a:solidFill>
              <a:prstDash val="sysDot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46" name="Треугольник 24">
              <a:extLst>
                <a:ext uri="{FF2B5EF4-FFF2-40B4-BE49-F238E27FC236}">
                  <a16:creationId xmlns:a16="http://schemas.microsoft.com/office/drawing/2014/main" id="{6CC7B6D7-C514-41DA-AF54-7636058C0F71}"/>
                </a:ext>
              </a:extLst>
            </p:cNvPr>
            <p:cNvSpPr/>
            <p:nvPr/>
          </p:nvSpPr>
          <p:spPr>
            <a:xfrm>
              <a:off x="4939414" y="5630948"/>
              <a:ext cx="178843" cy="154178"/>
            </a:xfrm>
            <a:prstGeom prst="triangle">
              <a:avLst/>
            </a:prstGeom>
            <a:solidFill>
              <a:srgbClr val="6F3D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KZ" dirty="0"/>
            </a:p>
          </p:txBody>
        </p:sp>
      </p:grpSp>
      <p:grpSp>
        <p:nvGrpSpPr>
          <p:cNvPr id="54" name="Группа 53">
            <a:extLst>
              <a:ext uri="{FF2B5EF4-FFF2-40B4-BE49-F238E27FC236}">
                <a16:creationId xmlns:a16="http://schemas.microsoft.com/office/drawing/2014/main" id="{26490B1B-37C0-4ACB-9898-5909F8CE0B94}"/>
              </a:ext>
            </a:extLst>
          </p:cNvPr>
          <p:cNvGrpSpPr/>
          <p:nvPr/>
        </p:nvGrpSpPr>
        <p:grpSpPr>
          <a:xfrm rot="10800000">
            <a:off x="5240269" y="4874608"/>
            <a:ext cx="1392011" cy="531810"/>
            <a:chOff x="4939414" y="5630948"/>
            <a:chExt cx="1687789" cy="680594"/>
          </a:xfrm>
        </p:grpSpPr>
        <p:sp>
          <p:nvSpPr>
            <p:cNvPr id="55" name="Овал 42">
              <a:extLst>
                <a:ext uri="{FF2B5EF4-FFF2-40B4-BE49-F238E27FC236}">
                  <a16:creationId xmlns:a16="http://schemas.microsoft.com/office/drawing/2014/main" id="{73FCFC6D-C579-429F-B3E4-834E52DE4F6E}"/>
                </a:ext>
              </a:extLst>
            </p:cNvPr>
            <p:cNvSpPr/>
            <p:nvPr/>
          </p:nvSpPr>
          <p:spPr>
            <a:xfrm rot="10377414">
              <a:off x="5055902" y="5637542"/>
              <a:ext cx="1571301" cy="674000"/>
            </a:xfrm>
            <a:custGeom>
              <a:avLst/>
              <a:gdLst>
                <a:gd name="connsiteX0" fmla="*/ 0 w 1828380"/>
                <a:gd name="connsiteY0" fmla="*/ 914190 h 1828380"/>
                <a:gd name="connsiteX1" fmla="*/ 914190 w 1828380"/>
                <a:gd name="connsiteY1" fmla="*/ 0 h 1828380"/>
                <a:gd name="connsiteX2" fmla="*/ 1828380 w 1828380"/>
                <a:gd name="connsiteY2" fmla="*/ 914190 h 1828380"/>
                <a:gd name="connsiteX3" fmla="*/ 914190 w 1828380"/>
                <a:gd name="connsiteY3" fmla="*/ 1828380 h 1828380"/>
                <a:gd name="connsiteX4" fmla="*/ 0 w 1828380"/>
                <a:gd name="connsiteY4" fmla="*/ 914190 h 1828380"/>
                <a:gd name="connsiteX0" fmla="*/ 914190 w 1828380"/>
                <a:gd name="connsiteY0" fmla="*/ 1828380 h 1919820"/>
                <a:gd name="connsiteX1" fmla="*/ 0 w 1828380"/>
                <a:gd name="connsiteY1" fmla="*/ 914190 h 1919820"/>
                <a:gd name="connsiteX2" fmla="*/ 914190 w 1828380"/>
                <a:gd name="connsiteY2" fmla="*/ 0 h 1919820"/>
                <a:gd name="connsiteX3" fmla="*/ 1828380 w 1828380"/>
                <a:gd name="connsiteY3" fmla="*/ 914190 h 1919820"/>
                <a:gd name="connsiteX4" fmla="*/ 1005630 w 1828380"/>
                <a:gd name="connsiteY4" fmla="*/ 1919820 h 1919820"/>
                <a:gd name="connsiteX0" fmla="*/ 914190 w 1828380"/>
                <a:gd name="connsiteY0" fmla="*/ 1828380 h 1828380"/>
                <a:gd name="connsiteX1" fmla="*/ 0 w 1828380"/>
                <a:gd name="connsiteY1" fmla="*/ 914190 h 1828380"/>
                <a:gd name="connsiteX2" fmla="*/ 914190 w 1828380"/>
                <a:gd name="connsiteY2" fmla="*/ 0 h 1828380"/>
                <a:gd name="connsiteX3" fmla="*/ 1828380 w 1828380"/>
                <a:gd name="connsiteY3" fmla="*/ 914190 h 1828380"/>
                <a:gd name="connsiteX0" fmla="*/ 0 w 1828380"/>
                <a:gd name="connsiteY0" fmla="*/ 914190 h 914190"/>
                <a:gd name="connsiteX1" fmla="*/ 914190 w 1828380"/>
                <a:gd name="connsiteY1" fmla="*/ 0 h 914190"/>
                <a:gd name="connsiteX2" fmla="*/ 1828380 w 1828380"/>
                <a:gd name="connsiteY2" fmla="*/ 914190 h 914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8380" h="914190">
                  <a:moveTo>
                    <a:pt x="0" y="914190"/>
                  </a:moveTo>
                  <a:cubicBezTo>
                    <a:pt x="0" y="409297"/>
                    <a:pt x="409297" y="0"/>
                    <a:pt x="914190" y="0"/>
                  </a:cubicBezTo>
                  <a:cubicBezTo>
                    <a:pt x="1419083" y="0"/>
                    <a:pt x="1828380" y="409297"/>
                    <a:pt x="1828380" y="914190"/>
                  </a:cubicBezTo>
                </a:path>
              </a:pathLst>
            </a:custGeom>
            <a:noFill/>
            <a:ln w="34925" cap="rnd">
              <a:solidFill>
                <a:schemeClr val="bg1">
                  <a:lumMod val="85000"/>
                </a:schemeClr>
              </a:solidFill>
              <a:prstDash val="sysDot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56" name="Треугольник 24">
              <a:extLst>
                <a:ext uri="{FF2B5EF4-FFF2-40B4-BE49-F238E27FC236}">
                  <a16:creationId xmlns:a16="http://schemas.microsoft.com/office/drawing/2014/main" id="{C6A5D38C-1972-40BB-B477-408BCA9C473B}"/>
                </a:ext>
              </a:extLst>
            </p:cNvPr>
            <p:cNvSpPr/>
            <p:nvPr/>
          </p:nvSpPr>
          <p:spPr>
            <a:xfrm>
              <a:off x="4939414" y="5630948"/>
              <a:ext cx="178843" cy="154178"/>
            </a:xfrm>
            <a:prstGeom prst="triangle">
              <a:avLst/>
            </a:prstGeom>
            <a:solidFill>
              <a:srgbClr val="6F3D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KZ" dirty="0"/>
            </a:p>
          </p:txBody>
        </p:sp>
      </p:grpSp>
      <p:pic>
        <p:nvPicPr>
          <p:cNvPr id="75" name="Рисунок 74">
            <a:extLst>
              <a:ext uri="{FF2B5EF4-FFF2-40B4-BE49-F238E27FC236}">
                <a16:creationId xmlns:a16="http://schemas.microsoft.com/office/drawing/2014/main" id="{F5DCD5FE-46AD-4EF1-A909-BFF836DD61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8481" y="4784520"/>
            <a:ext cx="459047" cy="459047"/>
          </a:xfrm>
          <a:prstGeom prst="rect">
            <a:avLst/>
          </a:prstGeom>
        </p:spPr>
      </p:pic>
      <p:pic>
        <p:nvPicPr>
          <p:cNvPr id="78" name="Рисунок 77">
            <a:extLst>
              <a:ext uri="{FF2B5EF4-FFF2-40B4-BE49-F238E27FC236}">
                <a16:creationId xmlns:a16="http://schemas.microsoft.com/office/drawing/2014/main" id="{5BB6A86B-5692-452D-99AB-4598882226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870" y="4906734"/>
            <a:ext cx="1046527" cy="1046527"/>
          </a:xfrm>
          <a:prstGeom prst="rect">
            <a:avLst/>
          </a:prstGeom>
        </p:spPr>
      </p:pic>
      <p:pic>
        <p:nvPicPr>
          <p:cNvPr id="80" name="Рисунок 79">
            <a:extLst>
              <a:ext uri="{FF2B5EF4-FFF2-40B4-BE49-F238E27FC236}">
                <a16:creationId xmlns:a16="http://schemas.microsoft.com/office/drawing/2014/main" id="{C3077F4A-A5A5-4553-AC23-2DB87AB8F3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5191" y="5648237"/>
            <a:ext cx="470224" cy="470224"/>
          </a:xfrm>
          <a:prstGeom prst="rect">
            <a:avLst/>
          </a:prstGeom>
        </p:spPr>
      </p:pic>
      <p:pic>
        <p:nvPicPr>
          <p:cNvPr id="82" name="Рисунок 81">
            <a:extLst>
              <a:ext uri="{FF2B5EF4-FFF2-40B4-BE49-F238E27FC236}">
                <a16:creationId xmlns:a16="http://schemas.microsoft.com/office/drawing/2014/main" id="{00F9A481-F6B1-40D9-9D25-C0916AC4D1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4729" y="4935963"/>
            <a:ext cx="818934" cy="818934"/>
          </a:xfrm>
          <a:prstGeom prst="rect">
            <a:avLst/>
          </a:prstGeom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0ED49701-7A23-4E82-A9F0-0462664F4641}"/>
              </a:ext>
            </a:extLst>
          </p:cNvPr>
          <p:cNvSpPr txBox="1"/>
          <p:nvPr/>
        </p:nvSpPr>
        <p:spPr>
          <a:xfrm>
            <a:off x="898584" y="1490840"/>
            <a:ext cx="2579134" cy="47705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dirty="0">
                <a:solidFill>
                  <a:schemeClr val="bg1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Подключение</a:t>
            </a:r>
            <a:br>
              <a:rPr lang="ru-RU" dirty="0">
                <a:solidFill>
                  <a:schemeClr val="bg1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</a:br>
            <a:r>
              <a:rPr lang="ru-RU" dirty="0">
                <a:solidFill>
                  <a:schemeClr val="bg1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по интернету</a:t>
            </a:r>
            <a:endParaRPr lang="en-US" dirty="0">
              <a:solidFill>
                <a:schemeClr val="bg1"/>
              </a:solidFill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9065E7B-96B1-4285-A420-373FC83A33B0}"/>
              </a:ext>
            </a:extLst>
          </p:cNvPr>
          <p:cNvSpPr txBox="1"/>
          <p:nvPr/>
        </p:nvSpPr>
        <p:spPr>
          <a:xfrm>
            <a:off x="8504903" y="1097561"/>
            <a:ext cx="2684207" cy="8692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7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dirty="0">
                <a:solidFill>
                  <a:schemeClr val="bg1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Прямое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spcAft>
                <a:spcPts val="300"/>
              </a:spcAft>
            </a:pPr>
            <a:r>
              <a:rPr lang="ru-RU" dirty="0">
                <a:solidFill>
                  <a:schemeClr val="bg1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подключение</a:t>
            </a:r>
            <a:endParaRPr lang="en-US" dirty="0">
              <a:solidFill>
                <a:schemeClr val="bg1"/>
              </a:solidFill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FE89126-0185-4849-8885-BE994DDC2598}"/>
              </a:ext>
            </a:extLst>
          </p:cNvPr>
          <p:cNvSpPr txBox="1"/>
          <p:nvPr/>
        </p:nvSpPr>
        <p:spPr>
          <a:xfrm>
            <a:off x="4640453" y="1166615"/>
            <a:ext cx="2721379" cy="85139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2000" b="1" dirty="0">
                <a:solidFill>
                  <a:srgbClr val="6A2E92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ТИПЫ</a:t>
            </a:r>
            <a:br>
              <a:rPr lang="ru-RU" sz="2000" b="1" dirty="0">
                <a:solidFill>
                  <a:srgbClr val="6A2E92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</a:br>
            <a:r>
              <a:rPr lang="ru-RU" sz="2000" b="1" dirty="0">
                <a:solidFill>
                  <a:srgbClr val="6A2E92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ПОДКЛЮЧЕНИЙ</a:t>
            </a:r>
            <a:endParaRPr lang="en-US" sz="2000" b="1" dirty="0">
              <a:solidFill>
                <a:srgbClr val="6A2E92"/>
              </a:solidFill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5E878DCD-9EFC-4049-9FC5-ADDD73C37ECA}"/>
              </a:ext>
            </a:extLst>
          </p:cNvPr>
          <p:cNvSpPr/>
          <p:nvPr/>
        </p:nvSpPr>
        <p:spPr>
          <a:xfrm>
            <a:off x="6759657" y="2846240"/>
            <a:ext cx="5004975" cy="13134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4290" tIns="102870" rIns="34290" bIns="34290" numCol="1" spcCol="1270" anchor="t" anchorCtr="0">
            <a:noAutofit/>
          </a:bodyPr>
          <a:lstStyle/>
          <a:p>
            <a:pPr marL="285750" lvl="1" indent="-285750" defTabSz="12001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ru-RU" dirty="0">
                <a:latin typeface="Helvetica Neue"/>
                <a:cs typeface="Arial" panose="020B0604020202020204" pitchFamily="34" charset="0"/>
              </a:rPr>
              <a:t>Тех. исследование объекта</a:t>
            </a:r>
          </a:p>
          <a:p>
            <a:pPr marL="285750" lvl="1" indent="-285750" defTabSz="12001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ru-RU" dirty="0">
                <a:latin typeface="Helvetica Neue"/>
                <a:cs typeface="Arial" panose="020B0604020202020204" pitchFamily="34" charset="0"/>
              </a:rPr>
              <a:t>Поддержка SIP или Е1 на АТС Заказчика</a:t>
            </a:r>
          </a:p>
          <a:p>
            <a:pPr marL="285750" lvl="1" indent="-285750" defTabSz="12001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ru-RU" dirty="0">
                <a:latin typeface="Helvetica Neue"/>
                <a:cs typeface="Arial" panose="020B0604020202020204" pitchFamily="34" charset="0"/>
              </a:rPr>
              <a:t>Технический специалист, </a:t>
            </a:r>
            <a:br>
              <a:rPr lang="ru-RU" dirty="0">
                <a:latin typeface="Helvetica Neue"/>
                <a:cs typeface="Arial" panose="020B0604020202020204" pitchFamily="34" charset="0"/>
              </a:rPr>
            </a:br>
            <a:r>
              <a:rPr lang="ru-RU" dirty="0">
                <a:latin typeface="Helvetica Neue"/>
                <a:cs typeface="Arial" panose="020B0604020202020204" pitchFamily="34" charset="0"/>
              </a:rPr>
              <a:t>способный настроить АТС</a:t>
            </a:r>
            <a:endParaRPr lang="ru-RU" kern="1200" dirty="0">
              <a:latin typeface="Helvetica Neue"/>
              <a:cs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DFF3E1-6D31-1841-588F-F59DC185A9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52322" y="399717"/>
            <a:ext cx="736255" cy="241075"/>
          </a:xfrm>
          <a:prstGeom prst="rect">
            <a:avLst/>
          </a:prstGeom>
        </p:spPr>
      </p:pic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A15975AF-2D73-D5E7-9062-AF2AA74EAF49}"/>
              </a:ext>
            </a:extLst>
          </p:cNvPr>
          <p:cNvCxnSpPr/>
          <p:nvPr/>
        </p:nvCxnSpPr>
        <p:spPr>
          <a:xfrm>
            <a:off x="8334968" y="5124620"/>
            <a:ext cx="1156584" cy="0"/>
          </a:xfrm>
          <a:prstGeom prst="straightConnector1">
            <a:avLst/>
          </a:prstGeom>
          <a:ln w="38100">
            <a:solidFill>
              <a:srgbClr val="6A2D9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D927A4FA-5B74-A3BA-6671-E537A83DD33E}"/>
              </a:ext>
            </a:extLst>
          </p:cNvPr>
          <p:cNvCxnSpPr/>
          <p:nvPr/>
        </p:nvCxnSpPr>
        <p:spPr>
          <a:xfrm>
            <a:off x="8334968" y="5909529"/>
            <a:ext cx="1156584" cy="0"/>
          </a:xfrm>
          <a:prstGeom prst="straightConnector1">
            <a:avLst/>
          </a:prstGeom>
          <a:ln w="38100">
            <a:solidFill>
              <a:srgbClr val="6A2D9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31E98E3-9BE0-EF53-0146-76CBDFCA2E5D}"/>
              </a:ext>
            </a:extLst>
          </p:cNvPr>
          <p:cNvSpPr txBox="1"/>
          <p:nvPr/>
        </p:nvSpPr>
        <p:spPr>
          <a:xfrm>
            <a:off x="677622" y="332556"/>
            <a:ext cx="5884482" cy="5847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2800" b="1" dirty="0">
                <a:solidFill>
                  <a:srgbClr val="6A2E92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Технология</a:t>
            </a:r>
            <a:endParaRPr lang="en-US" sz="2800" b="1" dirty="0">
              <a:solidFill>
                <a:srgbClr val="6A2E92"/>
              </a:solidFill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69B17DFC-B0CD-CB0F-062D-94CC303B07C1}"/>
              </a:ext>
            </a:extLst>
          </p:cNvPr>
          <p:cNvCxnSpPr/>
          <p:nvPr/>
        </p:nvCxnSpPr>
        <p:spPr>
          <a:xfrm flipH="1">
            <a:off x="3847933" y="1825115"/>
            <a:ext cx="960860" cy="0"/>
          </a:xfrm>
          <a:prstGeom prst="straightConnector1">
            <a:avLst/>
          </a:prstGeom>
          <a:ln w="38100">
            <a:solidFill>
              <a:srgbClr val="6A2D9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EAACD604-D075-3E40-8D83-486B0B6066E5}"/>
              </a:ext>
            </a:extLst>
          </p:cNvPr>
          <p:cNvCxnSpPr>
            <a:cxnSpLocks/>
          </p:cNvCxnSpPr>
          <p:nvPr/>
        </p:nvCxnSpPr>
        <p:spPr>
          <a:xfrm>
            <a:off x="7190875" y="1825115"/>
            <a:ext cx="961200" cy="0"/>
          </a:xfrm>
          <a:prstGeom prst="straightConnector1">
            <a:avLst/>
          </a:prstGeom>
          <a:ln w="38100">
            <a:solidFill>
              <a:srgbClr val="6A2D9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B9961E8A-2A02-D4B2-DC26-CB8507F82292}"/>
              </a:ext>
            </a:extLst>
          </p:cNvPr>
          <p:cNvCxnSpPr>
            <a:cxnSpLocks/>
          </p:cNvCxnSpPr>
          <p:nvPr/>
        </p:nvCxnSpPr>
        <p:spPr>
          <a:xfrm>
            <a:off x="2700605" y="5345088"/>
            <a:ext cx="989108" cy="0"/>
          </a:xfrm>
          <a:prstGeom prst="straightConnector1">
            <a:avLst/>
          </a:prstGeom>
          <a:ln w="38100">
            <a:solidFill>
              <a:srgbClr val="6A2D9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3983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61">
            <a:extLst>
              <a:ext uri="{FF2B5EF4-FFF2-40B4-BE49-F238E27FC236}">
                <a16:creationId xmlns:a16="http://schemas.microsoft.com/office/drawing/2014/main" id="{FF650C80-4D3D-700C-51CE-39878D0CE8FF}"/>
              </a:ext>
            </a:extLst>
          </p:cNvPr>
          <p:cNvSpPr/>
          <p:nvPr/>
        </p:nvSpPr>
        <p:spPr>
          <a:xfrm>
            <a:off x="818271" y="2906832"/>
            <a:ext cx="10730928" cy="3659372"/>
          </a:xfrm>
          <a:prstGeom prst="roundRect">
            <a:avLst>
              <a:gd name="adj" fmla="val 1338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DFF3E1-6D31-1841-588F-F59DC185A9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2322" y="399717"/>
            <a:ext cx="736255" cy="2410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556E25-3307-E3F2-A65C-82AFA7174600}"/>
              </a:ext>
            </a:extLst>
          </p:cNvPr>
          <p:cNvSpPr txBox="1"/>
          <p:nvPr/>
        </p:nvSpPr>
        <p:spPr>
          <a:xfrm>
            <a:off x="677622" y="332556"/>
            <a:ext cx="5884482" cy="5847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2800" b="1" dirty="0">
                <a:solidFill>
                  <a:srgbClr val="6A2E92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Маршрутизация звонков</a:t>
            </a:r>
            <a:endParaRPr lang="en-US" sz="2800" b="1" dirty="0">
              <a:solidFill>
                <a:srgbClr val="6A2E92"/>
              </a:solidFill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  <p:sp>
        <p:nvSpPr>
          <p:cNvPr id="7" name="Облачко с текстом: прямоугольное со скругленными углами 6">
            <a:extLst>
              <a:ext uri="{FF2B5EF4-FFF2-40B4-BE49-F238E27FC236}">
                <a16:creationId xmlns:a16="http://schemas.microsoft.com/office/drawing/2014/main" id="{49F8045C-CD47-F90A-2765-063988E97FA7}"/>
              </a:ext>
            </a:extLst>
          </p:cNvPr>
          <p:cNvSpPr/>
          <p:nvPr/>
        </p:nvSpPr>
        <p:spPr>
          <a:xfrm>
            <a:off x="818270" y="1374880"/>
            <a:ext cx="5060665" cy="1268332"/>
          </a:xfrm>
          <a:prstGeom prst="wedgeRoundRectCallout">
            <a:avLst>
              <a:gd name="adj1" fmla="val 20359"/>
              <a:gd name="adj2" fmla="val 101742"/>
              <a:gd name="adj3" fmla="val 16667"/>
            </a:avLst>
          </a:prstGeom>
          <a:solidFill>
            <a:srgbClr val="A6D7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863267-0387-15A7-1EAA-5F49FD3494A6}"/>
              </a:ext>
            </a:extLst>
          </p:cNvPr>
          <p:cNvSpPr txBox="1"/>
          <p:nvPr/>
        </p:nvSpPr>
        <p:spPr>
          <a:xfrm>
            <a:off x="2145473" y="1001911"/>
            <a:ext cx="22542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rgbClr val="7030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DIAL PLAN</a:t>
            </a:r>
            <a:r>
              <a:rPr lang="ru-RU" sz="1200" b="1" dirty="0">
                <a:solidFill>
                  <a:srgbClr val="7030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200" b="1" dirty="0">
                <a:solidFill>
                  <a:srgbClr val="7030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lang="ru-RU" sz="1200" b="1" dirty="0">
                <a:solidFill>
                  <a:srgbClr val="7030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ПЛАН НАБОРА)</a:t>
            </a: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450E210E-273F-48D1-590A-2A88C1D0DAB0}"/>
              </a:ext>
            </a:extLst>
          </p:cNvPr>
          <p:cNvCxnSpPr>
            <a:cxnSpLocks/>
          </p:cNvCxnSpPr>
          <p:nvPr/>
        </p:nvCxnSpPr>
        <p:spPr>
          <a:xfrm>
            <a:off x="973394" y="1988304"/>
            <a:ext cx="469289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DD43D56F-A874-CB69-7781-1AFDA46726E5}"/>
              </a:ext>
            </a:extLst>
          </p:cNvPr>
          <p:cNvCxnSpPr>
            <a:cxnSpLocks/>
          </p:cNvCxnSpPr>
          <p:nvPr/>
        </p:nvCxnSpPr>
        <p:spPr>
          <a:xfrm flipV="1">
            <a:off x="2410945" y="1545080"/>
            <a:ext cx="0" cy="98253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C78C449D-5F62-83A1-9394-700FB9DDDB0B}"/>
              </a:ext>
            </a:extLst>
          </p:cNvPr>
          <p:cNvCxnSpPr>
            <a:cxnSpLocks/>
          </p:cNvCxnSpPr>
          <p:nvPr/>
        </p:nvCxnSpPr>
        <p:spPr>
          <a:xfrm flipV="1">
            <a:off x="4204256" y="1532424"/>
            <a:ext cx="0" cy="104670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344243FF-2994-8BED-15E2-C736667639A4}"/>
              </a:ext>
            </a:extLst>
          </p:cNvPr>
          <p:cNvSpPr/>
          <p:nvPr/>
        </p:nvSpPr>
        <p:spPr>
          <a:xfrm>
            <a:off x="1231654" y="1468809"/>
            <a:ext cx="946498" cy="339252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4290" tIns="102870" rIns="34290" bIns="34290" numCol="1" spcCol="1270" anchor="t" anchorCtr="0">
            <a:noAutofit/>
          </a:bodyPr>
          <a:lstStyle/>
          <a:p>
            <a:pPr marL="0" lvl="1" defTabSz="12001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ru-RU" sz="1400" b="1" kern="1200" dirty="0">
                <a:solidFill>
                  <a:schemeClr val="bg1"/>
                </a:solidFill>
                <a:latin typeface="Helvetica Neue"/>
                <a:cs typeface="Arial" panose="020B0604020202020204" pitchFamily="34" charset="0"/>
              </a:rPr>
              <a:t>Номер В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0B67E1DE-8385-1AD0-3A14-DCDA783EB6F4}"/>
              </a:ext>
            </a:extLst>
          </p:cNvPr>
          <p:cNvSpPr/>
          <p:nvPr/>
        </p:nvSpPr>
        <p:spPr>
          <a:xfrm>
            <a:off x="2933064" y="1471609"/>
            <a:ext cx="946498" cy="339252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4290" tIns="102870" rIns="34290" bIns="34290" numCol="1" spcCol="1270" anchor="t" anchorCtr="0">
            <a:noAutofit/>
          </a:bodyPr>
          <a:lstStyle/>
          <a:p>
            <a:pPr marL="0" lvl="1" defTabSz="12001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ru-RU" sz="1400" b="1" kern="1200" dirty="0">
                <a:solidFill>
                  <a:schemeClr val="bg1"/>
                </a:solidFill>
                <a:latin typeface="Helvetica Neue"/>
                <a:cs typeface="Arial" panose="020B0604020202020204" pitchFamily="34" charset="0"/>
              </a:rPr>
              <a:t>Номер А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00199242-F891-674A-C50C-365FD4C1E162}"/>
              </a:ext>
            </a:extLst>
          </p:cNvPr>
          <p:cNvSpPr/>
          <p:nvPr/>
        </p:nvSpPr>
        <p:spPr>
          <a:xfrm>
            <a:off x="4069436" y="1379034"/>
            <a:ext cx="1912952" cy="339252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4290" tIns="102870" rIns="34290" bIns="34290" numCol="1" spcCol="1270" anchor="t" anchorCtr="0">
            <a:noAutofit/>
          </a:bodyPr>
          <a:lstStyle/>
          <a:p>
            <a:pPr marL="0" lvl="1" algn="ctr" defTabSz="12001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ru-RU" sz="1400" b="1" kern="1200" dirty="0">
                <a:solidFill>
                  <a:schemeClr val="bg1"/>
                </a:solidFill>
                <a:latin typeface="Helvetica Neue"/>
                <a:cs typeface="Arial" panose="020B0604020202020204" pitchFamily="34" charset="0"/>
              </a:rPr>
              <a:t>Направление</a:t>
            </a:r>
          </a:p>
          <a:p>
            <a:pPr marL="0" lvl="1" algn="ctr" defTabSz="12001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ru-RU" sz="1400" b="1" kern="1200" dirty="0">
                <a:solidFill>
                  <a:schemeClr val="bg1"/>
                </a:solidFill>
                <a:latin typeface="Helvetica Neue"/>
                <a:cs typeface="Arial" panose="020B0604020202020204" pitchFamily="34" charset="0"/>
              </a:rPr>
              <a:t>звонка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5B6CCE24-3FB2-F91B-44AF-70EEF1E24BC2}"/>
              </a:ext>
            </a:extLst>
          </p:cNvPr>
          <p:cNvSpPr/>
          <p:nvPr/>
        </p:nvSpPr>
        <p:spPr>
          <a:xfrm>
            <a:off x="879864" y="1985206"/>
            <a:ext cx="1459439" cy="70707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4290" tIns="102870" rIns="34290" bIns="34290" numCol="1" spcCol="1270" anchor="t" anchorCtr="0">
            <a:noAutofit/>
          </a:bodyPr>
          <a:lstStyle/>
          <a:p>
            <a:pPr marL="0" lvl="1" algn="ctr" defTabSz="12001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ru-RU" sz="1100" kern="1200" dirty="0">
                <a:solidFill>
                  <a:schemeClr val="bg1"/>
                </a:solidFill>
                <a:latin typeface="Helvetica Neue"/>
                <a:cs typeface="Arial" panose="020B0604020202020204" pitchFamily="34" charset="0"/>
              </a:rPr>
              <a:t>7-7ХХ-ХХХХХХХ</a:t>
            </a:r>
            <a:br>
              <a:rPr lang="ru-RU" sz="1100" kern="1200" dirty="0">
                <a:solidFill>
                  <a:schemeClr val="bg1"/>
                </a:solidFill>
                <a:latin typeface="Helvetica Neue"/>
                <a:cs typeface="Arial" panose="020B0604020202020204" pitchFamily="34" charset="0"/>
              </a:rPr>
            </a:br>
            <a:r>
              <a:rPr lang="ru-RU" sz="1100" kern="1200" dirty="0">
                <a:solidFill>
                  <a:schemeClr val="bg1"/>
                </a:solidFill>
                <a:latin typeface="Helvetica Neue"/>
                <a:cs typeface="Arial" panose="020B0604020202020204" pitchFamily="34" charset="0"/>
              </a:rPr>
              <a:t>Соответствует формату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04B96017-0D08-3C5B-1521-82C4D7121878}"/>
              </a:ext>
            </a:extLst>
          </p:cNvPr>
          <p:cNvSpPr/>
          <p:nvPr/>
        </p:nvSpPr>
        <p:spPr>
          <a:xfrm>
            <a:off x="2582021" y="1981017"/>
            <a:ext cx="1459439" cy="70707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4290" tIns="102870" rIns="34290" bIns="34290" numCol="1" spcCol="1270" anchor="t" anchorCtr="0">
            <a:noAutofit/>
          </a:bodyPr>
          <a:lstStyle/>
          <a:p>
            <a:pPr marL="0" lvl="1" algn="ctr" defTabSz="12001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ru-RU" sz="1100" kern="1200" dirty="0">
                <a:solidFill>
                  <a:schemeClr val="bg1"/>
                </a:solidFill>
                <a:latin typeface="Helvetica Neue"/>
                <a:cs typeface="Arial" panose="020B0604020202020204" pitchFamily="34" charset="0"/>
              </a:rPr>
              <a:t>7-701-001-1111</a:t>
            </a:r>
            <a:br>
              <a:rPr lang="ru-RU" sz="1100" kern="1200" dirty="0">
                <a:solidFill>
                  <a:schemeClr val="bg1"/>
                </a:solidFill>
                <a:latin typeface="Helvetica Neue"/>
                <a:cs typeface="Arial" panose="020B0604020202020204" pitchFamily="34" charset="0"/>
              </a:rPr>
            </a:br>
            <a:r>
              <a:rPr lang="ru-RU" sz="1100" kern="1200" dirty="0">
                <a:solidFill>
                  <a:schemeClr val="bg1"/>
                </a:solidFill>
                <a:latin typeface="Helvetica Neue"/>
                <a:cs typeface="Arial" panose="020B0604020202020204" pitchFamily="34" charset="0"/>
              </a:rPr>
              <a:t>Номер заведен для данного клиента</a:t>
            </a: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96BBA5EB-87FF-D773-EC4C-691DEC9B71C3}"/>
              </a:ext>
            </a:extLst>
          </p:cNvPr>
          <p:cNvSpPr/>
          <p:nvPr/>
        </p:nvSpPr>
        <p:spPr>
          <a:xfrm>
            <a:off x="4259591" y="1990144"/>
            <a:ext cx="1355899" cy="43318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4290" tIns="102870" rIns="34290" bIns="34290" numCol="1" spcCol="1270" anchor="t" anchorCtr="0">
            <a:noAutofit/>
          </a:bodyPr>
          <a:lstStyle/>
          <a:p>
            <a:pPr marL="0" lvl="1" algn="ctr" defTabSz="12001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ru-RU" sz="1400" kern="1200" dirty="0">
                <a:solidFill>
                  <a:schemeClr val="bg1"/>
                </a:solidFill>
                <a:latin typeface="Helvetica Neue"/>
                <a:cs typeface="Arial" panose="020B0604020202020204" pitchFamily="34" charset="0"/>
              </a:rPr>
              <a:t>Разрешить звонок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434BC2-D088-667E-D658-B8721B70165D}"/>
              </a:ext>
            </a:extLst>
          </p:cNvPr>
          <p:cNvSpPr txBox="1"/>
          <p:nvPr/>
        </p:nvSpPr>
        <p:spPr>
          <a:xfrm>
            <a:off x="7598612" y="641706"/>
            <a:ext cx="22827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7030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DIAL PLAN (</a:t>
            </a:r>
            <a:r>
              <a:rPr lang="ru-RU" sz="1200" b="1" dirty="0">
                <a:solidFill>
                  <a:srgbClr val="7030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ПЛАН НАБОРА)</a:t>
            </a:r>
          </a:p>
        </p:txBody>
      </p:sp>
      <p:sp>
        <p:nvSpPr>
          <p:cNvPr id="52" name="Облачко с текстом: прямоугольное со скругленными углами 51">
            <a:extLst>
              <a:ext uri="{FF2B5EF4-FFF2-40B4-BE49-F238E27FC236}">
                <a16:creationId xmlns:a16="http://schemas.microsoft.com/office/drawing/2014/main" id="{F13A8C70-1279-6560-33B5-525676823F23}"/>
              </a:ext>
            </a:extLst>
          </p:cNvPr>
          <p:cNvSpPr/>
          <p:nvPr/>
        </p:nvSpPr>
        <p:spPr>
          <a:xfrm>
            <a:off x="6062144" y="1008414"/>
            <a:ext cx="5487054" cy="1759192"/>
          </a:xfrm>
          <a:prstGeom prst="wedgeRoundRectCallout">
            <a:avLst>
              <a:gd name="adj1" fmla="val -23165"/>
              <a:gd name="adj2" fmla="val 85884"/>
              <a:gd name="adj3" fmla="val 16667"/>
            </a:avLst>
          </a:prstGeom>
          <a:solidFill>
            <a:srgbClr val="A6D7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53" name="Прямая соединительная линия 52">
            <a:extLst>
              <a:ext uri="{FF2B5EF4-FFF2-40B4-BE49-F238E27FC236}">
                <a16:creationId xmlns:a16="http://schemas.microsoft.com/office/drawing/2014/main" id="{C8E6A29B-478C-2FF0-4149-870CEF055DCE}"/>
              </a:ext>
            </a:extLst>
          </p:cNvPr>
          <p:cNvCxnSpPr>
            <a:cxnSpLocks/>
          </p:cNvCxnSpPr>
          <p:nvPr/>
        </p:nvCxnSpPr>
        <p:spPr>
          <a:xfrm>
            <a:off x="6367883" y="1391051"/>
            <a:ext cx="495256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A626F461-EE86-DAD3-F28D-E250A1744953}"/>
              </a:ext>
            </a:extLst>
          </p:cNvPr>
          <p:cNvSpPr/>
          <p:nvPr/>
        </p:nvSpPr>
        <p:spPr>
          <a:xfrm>
            <a:off x="6799849" y="1020215"/>
            <a:ext cx="958466" cy="339252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4290" tIns="102870" rIns="34290" bIns="34290" numCol="1" spcCol="1270" anchor="t" anchorCtr="0">
            <a:noAutofit/>
          </a:bodyPr>
          <a:lstStyle/>
          <a:p>
            <a:pPr marL="0" lvl="1" defTabSz="12001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ru-RU" sz="1400" b="1" kern="1200" dirty="0">
                <a:solidFill>
                  <a:schemeClr val="bg1"/>
                </a:solidFill>
                <a:latin typeface="Helvetica Neue"/>
                <a:cs typeface="Arial" panose="020B0604020202020204" pitchFamily="34" charset="0"/>
              </a:rPr>
              <a:t>Номер В</a:t>
            </a:r>
          </a:p>
        </p:txBody>
      </p:sp>
      <p:sp>
        <p:nvSpPr>
          <p:cNvPr id="79" name="Прямоугольник 78">
            <a:extLst>
              <a:ext uri="{FF2B5EF4-FFF2-40B4-BE49-F238E27FC236}">
                <a16:creationId xmlns:a16="http://schemas.microsoft.com/office/drawing/2014/main" id="{A61AB548-6326-786B-EB0B-0023875B772A}"/>
              </a:ext>
            </a:extLst>
          </p:cNvPr>
          <p:cNvSpPr/>
          <p:nvPr/>
        </p:nvSpPr>
        <p:spPr>
          <a:xfrm>
            <a:off x="8561055" y="1015553"/>
            <a:ext cx="2339472" cy="339251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4290" tIns="102870" rIns="34290" bIns="34290" numCol="1" spcCol="1270" anchor="t" anchorCtr="0">
            <a:noAutofit/>
          </a:bodyPr>
          <a:lstStyle/>
          <a:p>
            <a:pPr marL="0" lvl="1" algn="ctr" defTabSz="12001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ru-RU" sz="1400" b="1" kern="1200" dirty="0">
                <a:solidFill>
                  <a:schemeClr val="bg1"/>
                </a:solidFill>
                <a:latin typeface="Helvetica Neue"/>
                <a:cs typeface="Arial" panose="020B0604020202020204" pitchFamily="34" charset="0"/>
              </a:rPr>
              <a:t>Направление звонка</a:t>
            </a:r>
          </a:p>
        </p:txBody>
      </p:sp>
      <p:cxnSp>
        <p:nvCxnSpPr>
          <p:cNvPr id="88" name="Прямая соединительная линия 87">
            <a:extLst>
              <a:ext uri="{FF2B5EF4-FFF2-40B4-BE49-F238E27FC236}">
                <a16:creationId xmlns:a16="http://schemas.microsoft.com/office/drawing/2014/main" id="{294FC960-2A29-53E2-0561-FED9B5304488}"/>
              </a:ext>
            </a:extLst>
          </p:cNvPr>
          <p:cNvCxnSpPr>
            <a:cxnSpLocks/>
          </p:cNvCxnSpPr>
          <p:nvPr/>
        </p:nvCxnSpPr>
        <p:spPr>
          <a:xfrm>
            <a:off x="6375160" y="1773134"/>
            <a:ext cx="494528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Прямая соединительная линия 102">
            <a:extLst>
              <a:ext uri="{FF2B5EF4-FFF2-40B4-BE49-F238E27FC236}">
                <a16:creationId xmlns:a16="http://schemas.microsoft.com/office/drawing/2014/main" id="{50B0614E-B7C2-FDD2-B721-6E42F44CF0B2}"/>
              </a:ext>
            </a:extLst>
          </p:cNvPr>
          <p:cNvCxnSpPr>
            <a:cxnSpLocks/>
          </p:cNvCxnSpPr>
          <p:nvPr/>
        </p:nvCxnSpPr>
        <p:spPr>
          <a:xfrm>
            <a:off x="6367883" y="2329719"/>
            <a:ext cx="495256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Прямая соединительная линия 104">
            <a:extLst>
              <a:ext uri="{FF2B5EF4-FFF2-40B4-BE49-F238E27FC236}">
                <a16:creationId xmlns:a16="http://schemas.microsoft.com/office/drawing/2014/main" id="{487A475C-BD9D-9FAC-6F5A-C40133D8AE83}"/>
              </a:ext>
            </a:extLst>
          </p:cNvPr>
          <p:cNvCxnSpPr>
            <a:cxnSpLocks/>
          </p:cNvCxnSpPr>
          <p:nvPr/>
        </p:nvCxnSpPr>
        <p:spPr>
          <a:xfrm flipV="1">
            <a:off x="8122801" y="1114008"/>
            <a:ext cx="0" cy="156783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Прямоугольник 108">
            <a:extLst>
              <a:ext uri="{FF2B5EF4-FFF2-40B4-BE49-F238E27FC236}">
                <a16:creationId xmlns:a16="http://schemas.microsoft.com/office/drawing/2014/main" id="{83D7B947-F20E-8544-C62D-882404791436}"/>
              </a:ext>
            </a:extLst>
          </p:cNvPr>
          <p:cNvSpPr/>
          <p:nvPr/>
        </p:nvSpPr>
        <p:spPr>
          <a:xfrm>
            <a:off x="6686984" y="1396353"/>
            <a:ext cx="958466" cy="339252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4290" tIns="102870" rIns="34290" bIns="34290" numCol="1" spcCol="1270" anchor="t" anchorCtr="0">
            <a:noAutofit/>
          </a:bodyPr>
          <a:lstStyle/>
          <a:p>
            <a:pPr marL="0" lvl="1" algn="ctr" defTabSz="12001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ru-RU" sz="1400" kern="1200" dirty="0">
                <a:solidFill>
                  <a:schemeClr val="bg1"/>
                </a:solidFill>
                <a:latin typeface="Helvetica Neue"/>
                <a:cs typeface="Arial" panose="020B0604020202020204" pitchFamily="34" charset="0"/>
              </a:rPr>
              <a:t>ХХХХ</a:t>
            </a:r>
          </a:p>
        </p:txBody>
      </p:sp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6E617666-4444-9EBB-09B7-241E6C03ABAC}"/>
              </a:ext>
            </a:extLst>
          </p:cNvPr>
          <p:cNvSpPr/>
          <p:nvPr/>
        </p:nvSpPr>
        <p:spPr>
          <a:xfrm>
            <a:off x="6622388" y="1855264"/>
            <a:ext cx="1198073" cy="339252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4290" tIns="102870" rIns="34290" bIns="34290" numCol="1" spcCol="1270" anchor="t" anchorCtr="0">
            <a:noAutofit/>
          </a:bodyPr>
          <a:lstStyle/>
          <a:p>
            <a:pPr marL="0" lvl="1" defTabSz="12001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ru-RU" sz="1400" kern="1200" dirty="0">
                <a:solidFill>
                  <a:schemeClr val="bg1"/>
                </a:solidFill>
                <a:latin typeface="Helvetica Neue"/>
                <a:cs typeface="Arial" panose="020B0604020202020204" pitchFamily="34" charset="0"/>
              </a:rPr>
              <a:t>ХХХ-ХХ-ХХ</a:t>
            </a: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28B3144B-8C25-9955-B6DA-3FDC015DD4F6}"/>
              </a:ext>
            </a:extLst>
          </p:cNvPr>
          <p:cNvSpPr/>
          <p:nvPr/>
        </p:nvSpPr>
        <p:spPr>
          <a:xfrm>
            <a:off x="6394517" y="2347044"/>
            <a:ext cx="1670324" cy="326254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4290" tIns="102870" rIns="34290" bIns="34290" numCol="1" spcCol="1270" anchor="t" anchorCtr="0">
            <a:noAutofit/>
          </a:bodyPr>
          <a:lstStyle/>
          <a:p>
            <a:pPr marL="0" lvl="1" defTabSz="12001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ru-RU" sz="1400" kern="1200" dirty="0">
                <a:solidFill>
                  <a:schemeClr val="bg1"/>
                </a:solidFill>
                <a:latin typeface="Helvetica Neue"/>
                <a:cs typeface="Arial" panose="020B0604020202020204" pitchFamily="34" charset="0"/>
              </a:rPr>
              <a:t>Х-7ХХ-ХХХ-ХХ-ХХ</a:t>
            </a:r>
          </a:p>
        </p:txBody>
      </p:sp>
      <p:sp>
        <p:nvSpPr>
          <p:cNvPr id="112" name="Прямоугольник 111">
            <a:extLst>
              <a:ext uri="{FF2B5EF4-FFF2-40B4-BE49-F238E27FC236}">
                <a16:creationId xmlns:a16="http://schemas.microsoft.com/office/drawing/2014/main" id="{078FD074-3FE1-A6E4-AB99-7B3210C3B30C}"/>
              </a:ext>
            </a:extLst>
          </p:cNvPr>
          <p:cNvSpPr/>
          <p:nvPr/>
        </p:nvSpPr>
        <p:spPr>
          <a:xfrm>
            <a:off x="8282192" y="1396286"/>
            <a:ext cx="2884641" cy="360652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4290" tIns="102870" rIns="34290" bIns="34290" numCol="1" spcCol="1270" anchor="t" anchorCtr="0">
            <a:noAutofit/>
          </a:bodyPr>
          <a:lstStyle/>
          <a:p>
            <a:pPr marL="0" lvl="1" algn="ctr" defTabSz="12001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ru-RU" sz="1400" kern="1200" dirty="0">
                <a:solidFill>
                  <a:schemeClr val="bg1"/>
                </a:solidFill>
                <a:latin typeface="Helvetica Neue"/>
                <a:cs typeface="Arial" panose="020B0604020202020204" pitchFamily="34" charset="0"/>
              </a:rPr>
              <a:t>Внутреннее подключение</a:t>
            </a:r>
          </a:p>
        </p:txBody>
      </p:sp>
      <p:sp>
        <p:nvSpPr>
          <p:cNvPr id="113" name="Прямоугольник 112">
            <a:extLst>
              <a:ext uri="{FF2B5EF4-FFF2-40B4-BE49-F238E27FC236}">
                <a16:creationId xmlns:a16="http://schemas.microsoft.com/office/drawing/2014/main" id="{B512D2E9-FED0-42F2-664A-9911BC1D607C}"/>
              </a:ext>
            </a:extLst>
          </p:cNvPr>
          <p:cNvSpPr/>
          <p:nvPr/>
        </p:nvSpPr>
        <p:spPr>
          <a:xfrm>
            <a:off x="8268966" y="1758466"/>
            <a:ext cx="3104763" cy="577075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4290" tIns="102870" rIns="34290" bIns="34290" numCol="1" spcCol="1270" anchor="t" anchorCtr="0">
            <a:noAutofit/>
          </a:bodyPr>
          <a:lstStyle/>
          <a:p>
            <a:pPr marL="0" lvl="1" algn="ctr" defTabSz="12001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ru-RU" sz="1400" kern="1200" dirty="0">
                <a:solidFill>
                  <a:schemeClr val="bg1"/>
                </a:solidFill>
                <a:latin typeface="Helvetica Neue"/>
                <a:cs typeface="Arial" panose="020B0604020202020204" pitchFamily="34" charset="0"/>
              </a:rPr>
              <a:t>Через соединение с оператором фиксированной связи</a:t>
            </a:r>
          </a:p>
        </p:txBody>
      </p:sp>
      <p:sp>
        <p:nvSpPr>
          <p:cNvPr id="114" name="Прямоугольник 113">
            <a:extLst>
              <a:ext uri="{FF2B5EF4-FFF2-40B4-BE49-F238E27FC236}">
                <a16:creationId xmlns:a16="http://schemas.microsoft.com/office/drawing/2014/main" id="{681260C1-1B2C-64F7-A288-D2C4B70F4A0D}"/>
              </a:ext>
            </a:extLst>
          </p:cNvPr>
          <p:cNvSpPr/>
          <p:nvPr/>
        </p:nvSpPr>
        <p:spPr>
          <a:xfrm>
            <a:off x="8800659" y="2341302"/>
            <a:ext cx="2366174" cy="37683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4290" tIns="102870" rIns="34290" bIns="34290" numCol="1" spcCol="1270" anchor="t" anchorCtr="0">
            <a:noAutofit/>
          </a:bodyPr>
          <a:lstStyle/>
          <a:p>
            <a:pPr marL="0" lvl="1" defTabSz="12001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ru-RU" sz="1400" kern="1200" dirty="0">
                <a:solidFill>
                  <a:schemeClr val="bg1"/>
                </a:solidFill>
                <a:latin typeface="Helvetica Neue"/>
                <a:cs typeface="Arial" panose="020B0604020202020204" pitchFamily="34" charset="0"/>
              </a:rPr>
              <a:t>Через соединение с </a:t>
            </a:r>
            <a:r>
              <a:rPr lang="en-US" sz="1400" kern="1200" dirty="0">
                <a:solidFill>
                  <a:schemeClr val="bg1"/>
                </a:solidFill>
                <a:latin typeface="Helvetica Neue"/>
                <a:cs typeface="Arial" panose="020B0604020202020204" pitchFamily="34" charset="0"/>
              </a:rPr>
              <a:t>Kcell</a:t>
            </a:r>
            <a:endParaRPr lang="ru-RU" sz="1400" kern="1200" dirty="0">
              <a:solidFill>
                <a:schemeClr val="bg1"/>
              </a:solidFill>
              <a:latin typeface="Helvetica Neue"/>
              <a:cs typeface="Arial" panose="020B06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717E41C-59D2-EA78-6FFE-C8034979E7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5563" y="3603212"/>
            <a:ext cx="700684" cy="70068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2034D23-C051-92C1-97B9-5CDF3E2E13D8}"/>
              </a:ext>
            </a:extLst>
          </p:cNvPr>
          <p:cNvSpPr txBox="1"/>
          <p:nvPr/>
        </p:nvSpPr>
        <p:spPr>
          <a:xfrm>
            <a:off x="799554" y="4303896"/>
            <a:ext cx="2115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Мобильный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номер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2FEF487-90F6-1A25-0733-5E4210BD6B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39" y="3419061"/>
            <a:ext cx="833049" cy="83304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27AF821-6C83-8A2D-9973-1C6849432B2B}"/>
              </a:ext>
            </a:extLst>
          </p:cNvPr>
          <p:cNvSpPr txBox="1"/>
          <p:nvPr/>
        </p:nvSpPr>
        <p:spPr>
          <a:xfrm>
            <a:off x="3987695" y="4291735"/>
            <a:ext cx="7591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Kcell</a:t>
            </a: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B94C97-7330-5C28-24CC-8CBA891D59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7770" y="3415725"/>
            <a:ext cx="833049" cy="83304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166F461-AE88-817A-A758-E4CD2D95B937}"/>
              </a:ext>
            </a:extLst>
          </p:cNvPr>
          <p:cNvSpPr txBox="1"/>
          <p:nvPr/>
        </p:nvSpPr>
        <p:spPr>
          <a:xfrm>
            <a:off x="6602533" y="4299201"/>
            <a:ext cx="19723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АТС клиента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C4290F-9D98-2826-0063-92EFE165947A}"/>
              </a:ext>
            </a:extLst>
          </p:cNvPr>
          <p:cNvSpPr txBox="1"/>
          <p:nvPr/>
        </p:nvSpPr>
        <p:spPr>
          <a:xfrm>
            <a:off x="9167096" y="4299201"/>
            <a:ext cx="18159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Внутренний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номер</a:t>
            </a:r>
          </a:p>
        </p:txBody>
      </p:sp>
      <p:pic>
        <p:nvPicPr>
          <p:cNvPr id="29" name="Рисунок 28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8220C80E-0A38-638A-8102-FBE284FE873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458" y="3247302"/>
            <a:ext cx="1230501" cy="1230501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9F66B28E-1300-1229-DD27-CDE07044AE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59" y="5078289"/>
            <a:ext cx="791561" cy="79156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EBE7794-13FE-3062-76E3-D120EDC485AB}"/>
              </a:ext>
            </a:extLst>
          </p:cNvPr>
          <p:cNvSpPr txBox="1"/>
          <p:nvPr/>
        </p:nvSpPr>
        <p:spPr>
          <a:xfrm>
            <a:off x="863532" y="5968420"/>
            <a:ext cx="18549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Городской</a:t>
            </a:r>
            <a:b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номер</a:t>
            </a:r>
          </a:p>
        </p:txBody>
      </p:sp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1544A35E-E5CD-66A7-4E28-A11B10D7FE4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32" y="4902325"/>
            <a:ext cx="1027147" cy="1027147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431A9C74-E50B-C045-33B6-F11E6A64AD02}"/>
              </a:ext>
            </a:extLst>
          </p:cNvPr>
          <p:cNvSpPr txBox="1"/>
          <p:nvPr/>
        </p:nvSpPr>
        <p:spPr>
          <a:xfrm>
            <a:off x="2457500" y="3522451"/>
            <a:ext cx="1304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+7 </a:t>
            </a:r>
            <a:r>
              <a:rPr lang="en-US" sz="12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701</a:t>
            </a:r>
            <a:r>
              <a:rPr lang="ru-RU" sz="12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001</a:t>
            </a:r>
            <a:r>
              <a:rPr lang="ru-RU" sz="12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1111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9215141-1987-662B-0262-654012CE8ADF}"/>
              </a:ext>
            </a:extLst>
          </p:cNvPr>
          <p:cNvSpPr txBox="1"/>
          <p:nvPr/>
        </p:nvSpPr>
        <p:spPr>
          <a:xfrm>
            <a:off x="5044870" y="3518855"/>
            <a:ext cx="1304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+7 </a:t>
            </a:r>
            <a:r>
              <a:rPr lang="en-US" sz="12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701</a:t>
            </a:r>
            <a:r>
              <a:rPr lang="ru-RU" sz="12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001</a:t>
            </a:r>
            <a:r>
              <a:rPr lang="ru-RU" sz="12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1111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90551B1-D9BE-6A65-7950-0C2BCE7EE733}"/>
              </a:ext>
            </a:extLst>
          </p:cNvPr>
          <p:cNvSpPr txBox="1"/>
          <p:nvPr/>
        </p:nvSpPr>
        <p:spPr>
          <a:xfrm>
            <a:off x="3252935" y="5971271"/>
            <a:ext cx="21629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Оператор фиксированной связи 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B375296-8DA7-8F56-D954-44F1312263B8}"/>
              </a:ext>
            </a:extLst>
          </p:cNvPr>
          <p:cNvSpPr txBox="1"/>
          <p:nvPr/>
        </p:nvSpPr>
        <p:spPr>
          <a:xfrm>
            <a:off x="5240735" y="5224153"/>
            <a:ext cx="8819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rgbClr val="0070C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258-27-55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907440D-6A38-0B59-98EE-DEB6CFABC1A1}"/>
              </a:ext>
            </a:extLst>
          </p:cNvPr>
          <p:cNvSpPr txBox="1"/>
          <p:nvPr/>
        </p:nvSpPr>
        <p:spPr>
          <a:xfrm>
            <a:off x="2645759" y="5214051"/>
            <a:ext cx="8819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rgbClr val="0070C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258-27-55</a:t>
            </a:r>
          </a:p>
        </p:txBody>
      </p:sp>
      <p:cxnSp>
        <p:nvCxnSpPr>
          <p:cNvPr id="91" name="Прямая соединительная линия 90">
            <a:extLst>
              <a:ext uri="{FF2B5EF4-FFF2-40B4-BE49-F238E27FC236}">
                <a16:creationId xmlns:a16="http://schemas.microsoft.com/office/drawing/2014/main" id="{65C5414B-095B-516C-87C8-0270C1DC9107}"/>
              </a:ext>
            </a:extLst>
          </p:cNvPr>
          <p:cNvCxnSpPr>
            <a:cxnSpLocks/>
          </p:cNvCxnSpPr>
          <p:nvPr/>
        </p:nvCxnSpPr>
        <p:spPr>
          <a:xfrm flipH="1">
            <a:off x="2099828" y="3907908"/>
            <a:ext cx="1883828" cy="0"/>
          </a:xfrm>
          <a:prstGeom prst="line">
            <a:avLst/>
          </a:prstGeom>
          <a:ln w="28575">
            <a:solidFill>
              <a:srgbClr val="6A2D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Прямая соединительная линия 92">
            <a:extLst>
              <a:ext uri="{FF2B5EF4-FFF2-40B4-BE49-F238E27FC236}">
                <a16:creationId xmlns:a16="http://schemas.microsoft.com/office/drawing/2014/main" id="{61330BAE-DB31-B8AD-8FD9-0C0F74D4D18D}"/>
              </a:ext>
            </a:extLst>
          </p:cNvPr>
          <p:cNvCxnSpPr>
            <a:cxnSpLocks/>
          </p:cNvCxnSpPr>
          <p:nvPr/>
        </p:nvCxnSpPr>
        <p:spPr>
          <a:xfrm flipH="1">
            <a:off x="4733557" y="3907910"/>
            <a:ext cx="1883552" cy="0"/>
          </a:xfrm>
          <a:prstGeom prst="line">
            <a:avLst/>
          </a:prstGeom>
          <a:ln w="28575">
            <a:solidFill>
              <a:srgbClr val="6A2D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Прямая со стрелкой 94">
            <a:extLst>
              <a:ext uri="{FF2B5EF4-FFF2-40B4-BE49-F238E27FC236}">
                <a16:creationId xmlns:a16="http://schemas.microsoft.com/office/drawing/2014/main" id="{8261928B-6FF4-CB84-9DE0-10D8D94BE650}"/>
              </a:ext>
            </a:extLst>
          </p:cNvPr>
          <p:cNvCxnSpPr>
            <a:cxnSpLocks/>
          </p:cNvCxnSpPr>
          <p:nvPr/>
        </p:nvCxnSpPr>
        <p:spPr>
          <a:xfrm flipH="1">
            <a:off x="2303631" y="3775965"/>
            <a:ext cx="1542611" cy="0"/>
          </a:xfrm>
          <a:prstGeom prst="straightConnector1">
            <a:avLst/>
          </a:prstGeom>
          <a:ln w="1905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Прямая со стрелкой 96">
            <a:extLst>
              <a:ext uri="{FF2B5EF4-FFF2-40B4-BE49-F238E27FC236}">
                <a16:creationId xmlns:a16="http://schemas.microsoft.com/office/drawing/2014/main" id="{4A3FA118-8254-D7BF-451D-518800030AF4}"/>
              </a:ext>
            </a:extLst>
          </p:cNvPr>
          <p:cNvCxnSpPr>
            <a:cxnSpLocks/>
          </p:cNvCxnSpPr>
          <p:nvPr/>
        </p:nvCxnSpPr>
        <p:spPr>
          <a:xfrm flipH="1">
            <a:off x="4870133" y="3785070"/>
            <a:ext cx="1542611" cy="0"/>
          </a:xfrm>
          <a:prstGeom prst="straightConnector1">
            <a:avLst/>
          </a:prstGeom>
          <a:ln w="1905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Прямая со стрелкой 99">
            <a:extLst>
              <a:ext uri="{FF2B5EF4-FFF2-40B4-BE49-F238E27FC236}">
                <a16:creationId xmlns:a16="http://schemas.microsoft.com/office/drawing/2014/main" id="{AE507960-DBBA-17D5-2BAF-1B41B217F709}"/>
              </a:ext>
            </a:extLst>
          </p:cNvPr>
          <p:cNvCxnSpPr>
            <a:cxnSpLocks/>
          </p:cNvCxnSpPr>
          <p:nvPr/>
        </p:nvCxnSpPr>
        <p:spPr>
          <a:xfrm flipH="1">
            <a:off x="2416275" y="5480154"/>
            <a:ext cx="1388435" cy="0"/>
          </a:xfrm>
          <a:prstGeom prst="straightConnector1">
            <a:avLst/>
          </a:prstGeom>
          <a:ln w="19050">
            <a:solidFill>
              <a:srgbClr val="0070C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Прямая со стрелкой 100">
            <a:extLst>
              <a:ext uri="{FF2B5EF4-FFF2-40B4-BE49-F238E27FC236}">
                <a16:creationId xmlns:a16="http://schemas.microsoft.com/office/drawing/2014/main" id="{0A8F0EAB-7AFE-DDE5-C712-BA71C52835A3}"/>
              </a:ext>
            </a:extLst>
          </p:cNvPr>
          <p:cNvCxnSpPr>
            <a:cxnSpLocks/>
          </p:cNvCxnSpPr>
          <p:nvPr/>
        </p:nvCxnSpPr>
        <p:spPr>
          <a:xfrm flipH="1">
            <a:off x="4870133" y="5488162"/>
            <a:ext cx="1542611" cy="0"/>
          </a:xfrm>
          <a:prstGeom prst="straightConnector1">
            <a:avLst/>
          </a:prstGeom>
          <a:ln w="19050">
            <a:solidFill>
              <a:srgbClr val="0070C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Прямая соединительная линия 101">
            <a:extLst>
              <a:ext uri="{FF2B5EF4-FFF2-40B4-BE49-F238E27FC236}">
                <a16:creationId xmlns:a16="http://schemas.microsoft.com/office/drawing/2014/main" id="{5558481C-139C-E9D6-ADB8-4DDC3EC566DE}"/>
              </a:ext>
            </a:extLst>
          </p:cNvPr>
          <p:cNvCxnSpPr>
            <a:cxnSpLocks/>
          </p:cNvCxnSpPr>
          <p:nvPr/>
        </p:nvCxnSpPr>
        <p:spPr>
          <a:xfrm flipH="1">
            <a:off x="2290379" y="5612100"/>
            <a:ext cx="1626583" cy="0"/>
          </a:xfrm>
          <a:prstGeom prst="line">
            <a:avLst/>
          </a:prstGeom>
          <a:ln w="28575">
            <a:solidFill>
              <a:srgbClr val="6A2D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Соединитель: уступ 107">
            <a:extLst>
              <a:ext uri="{FF2B5EF4-FFF2-40B4-BE49-F238E27FC236}">
                <a16:creationId xmlns:a16="http://schemas.microsoft.com/office/drawing/2014/main" id="{126FBF7E-8C8D-0781-E8BA-AA4D983E8691}"/>
              </a:ext>
            </a:extLst>
          </p:cNvPr>
          <p:cNvCxnSpPr>
            <a:cxnSpLocks/>
          </p:cNvCxnSpPr>
          <p:nvPr/>
        </p:nvCxnSpPr>
        <p:spPr>
          <a:xfrm rot="10800000" flipV="1">
            <a:off x="4733560" y="4683760"/>
            <a:ext cx="2608544" cy="928778"/>
          </a:xfrm>
          <a:prstGeom prst="bentConnector3">
            <a:avLst>
              <a:gd name="adj1" fmla="val -634"/>
            </a:avLst>
          </a:prstGeom>
          <a:ln w="28575">
            <a:solidFill>
              <a:srgbClr val="6A2D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FAF24466-FACF-F5E9-3110-51E1DB6081B7}"/>
              </a:ext>
            </a:extLst>
          </p:cNvPr>
          <p:cNvSpPr txBox="1"/>
          <p:nvPr/>
        </p:nvSpPr>
        <p:spPr>
          <a:xfrm>
            <a:off x="1118294" y="3084648"/>
            <a:ext cx="1382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+7</a:t>
            </a:r>
            <a:r>
              <a:rPr lang="ru-RU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701</a:t>
            </a:r>
            <a:r>
              <a:rPr lang="ru-RU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555</a:t>
            </a:r>
            <a:r>
              <a:rPr lang="ru-RU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55</a:t>
            </a:r>
            <a:r>
              <a:rPr lang="ru-RU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55</a:t>
            </a:r>
            <a:endParaRPr lang="ru-RU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A318640A-B047-5791-F5DA-2F4D0EFEC41D}"/>
              </a:ext>
            </a:extLst>
          </p:cNvPr>
          <p:cNvSpPr txBox="1"/>
          <p:nvPr/>
        </p:nvSpPr>
        <p:spPr>
          <a:xfrm>
            <a:off x="1348345" y="4804888"/>
            <a:ext cx="9252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latin typeface="Helvetica" panose="020B0604020202020204" pitchFamily="34" charset="0"/>
                <a:cs typeface="Helvetica" panose="020B0604020202020204" pitchFamily="34" charset="0"/>
                <a:sym typeface="Wingdings"/>
              </a:rPr>
              <a:t> </a:t>
            </a:r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222-44-44</a:t>
            </a:r>
            <a:endParaRPr lang="ru-RU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31" name="Соединитель: уступ 130">
            <a:extLst>
              <a:ext uri="{FF2B5EF4-FFF2-40B4-BE49-F238E27FC236}">
                <a16:creationId xmlns:a16="http://schemas.microsoft.com/office/drawing/2014/main" id="{5E6BA626-B4BB-E8CC-4BF7-E6264C20025B}"/>
              </a:ext>
            </a:extLst>
          </p:cNvPr>
          <p:cNvCxnSpPr>
            <a:cxnSpLocks/>
          </p:cNvCxnSpPr>
          <p:nvPr/>
        </p:nvCxnSpPr>
        <p:spPr>
          <a:xfrm>
            <a:off x="7750147" y="4683760"/>
            <a:ext cx="1695812" cy="928339"/>
          </a:xfrm>
          <a:prstGeom prst="bentConnector3">
            <a:avLst>
              <a:gd name="adj1" fmla="val -1062"/>
            </a:avLst>
          </a:prstGeom>
          <a:ln w="28575">
            <a:solidFill>
              <a:srgbClr val="6A2D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Прямая соединительная линия 137">
            <a:extLst>
              <a:ext uri="{FF2B5EF4-FFF2-40B4-BE49-F238E27FC236}">
                <a16:creationId xmlns:a16="http://schemas.microsoft.com/office/drawing/2014/main" id="{74150F77-20EE-BFED-81B7-0198561FFD79}"/>
              </a:ext>
            </a:extLst>
          </p:cNvPr>
          <p:cNvCxnSpPr>
            <a:cxnSpLocks/>
          </p:cNvCxnSpPr>
          <p:nvPr/>
        </p:nvCxnSpPr>
        <p:spPr>
          <a:xfrm flipH="1">
            <a:off x="8151802" y="3906943"/>
            <a:ext cx="1294157" cy="0"/>
          </a:xfrm>
          <a:prstGeom prst="line">
            <a:avLst/>
          </a:prstGeom>
          <a:ln w="28575">
            <a:solidFill>
              <a:srgbClr val="6A2D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Прямоугольник 142">
            <a:extLst>
              <a:ext uri="{FF2B5EF4-FFF2-40B4-BE49-F238E27FC236}">
                <a16:creationId xmlns:a16="http://schemas.microsoft.com/office/drawing/2014/main" id="{10034890-B0C0-2794-D2EF-64294A3AF846}"/>
              </a:ext>
            </a:extLst>
          </p:cNvPr>
          <p:cNvSpPr/>
          <p:nvPr/>
        </p:nvSpPr>
        <p:spPr>
          <a:xfrm>
            <a:off x="6791847" y="3133184"/>
            <a:ext cx="4358472" cy="3159462"/>
          </a:xfrm>
          <a:prstGeom prst="rect">
            <a:avLst/>
          </a:prstGeom>
          <a:noFill/>
          <a:ln w="2857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A251666D-64FB-AEC9-D0AC-590617A57CB1}"/>
              </a:ext>
            </a:extLst>
          </p:cNvPr>
          <p:cNvSpPr txBox="1"/>
          <p:nvPr/>
        </p:nvSpPr>
        <p:spPr>
          <a:xfrm>
            <a:off x="8505836" y="3240800"/>
            <a:ext cx="4902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chemeClr val="accent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1111</a:t>
            </a:r>
          </a:p>
        </p:txBody>
      </p:sp>
      <p:cxnSp>
        <p:nvCxnSpPr>
          <p:cNvPr id="139" name="Прямая со стрелкой 138">
            <a:extLst>
              <a:ext uri="{FF2B5EF4-FFF2-40B4-BE49-F238E27FC236}">
                <a16:creationId xmlns:a16="http://schemas.microsoft.com/office/drawing/2014/main" id="{50C287E9-C292-F275-BBA7-51F789AD9564}"/>
              </a:ext>
            </a:extLst>
          </p:cNvPr>
          <p:cNvCxnSpPr>
            <a:cxnSpLocks/>
          </p:cNvCxnSpPr>
          <p:nvPr/>
        </p:nvCxnSpPr>
        <p:spPr>
          <a:xfrm flipH="1">
            <a:off x="8455790" y="3507014"/>
            <a:ext cx="554162" cy="0"/>
          </a:xfrm>
          <a:prstGeom prst="straightConnector1">
            <a:avLst/>
          </a:prstGeom>
          <a:ln w="19050">
            <a:solidFill>
              <a:srgbClr val="00B0F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F46F5BB3-64C2-8159-AD60-C478F2563770}"/>
              </a:ext>
            </a:extLst>
          </p:cNvPr>
          <p:cNvSpPr txBox="1"/>
          <p:nvPr/>
        </p:nvSpPr>
        <p:spPr>
          <a:xfrm>
            <a:off x="8505837" y="3524821"/>
            <a:ext cx="4902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1111</a:t>
            </a:r>
          </a:p>
        </p:txBody>
      </p:sp>
      <p:cxnSp>
        <p:nvCxnSpPr>
          <p:cNvPr id="146" name="Прямая со стрелкой 145">
            <a:extLst>
              <a:ext uri="{FF2B5EF4-FFF2-40B4-BE49-F238E27FC236}">
                <a16:creationId xmlns:a16="http://schemas.microsoft.com/office/drawing/2014/main" id="{439905D8-CA4F-C5B2-F941-7FFFEEA42656}"/>
              </a:ext>
            </a:extLst>
          </p:cNvPr>
          <p:cNvCxnSpPr>
            <a:cxnSpLocks/>
          </p:cNvCxnSpPr>
          <p:nvPr/>
        </p:nvCxnSpPr>
        <p:spPr>
          <a:xfrm flipH="1">
            <a:off x="8455791" y="3791035"/>
            <a:ext cx="554162" cy="0"/>
          </a:xfrm>
          <a:prstGeom prst="straightConnector1">
            <a:avLst/>
          </a:prstGeom>
          <a:ln w="19050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46">
            <a:extLst>
              <a:ext uri="{FF2B5EF4-FFF2-40B4-BE49-F238E27FC236}">
                <a16:creationId xmlns:a16="http://schemas.microsoft.com/office/drawing/2014/main" id="{B55339E3-69FA-C01E-41A5-F9D0042AE770}"/>
              </a:ext>
            </a:extLst>
          </p:cNvPr>
          <p:cNvSpPr txBox="1"/>
          <p:nvPr/>
        </p:nvSpPr>
        <p:spPr>
          <a:xfrm>
            <a:off x="8512764" y="3919673"/>
            <a:ext cx="4902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1111</a:t>
            </a:r>
          </a:p>
        </p:txBody>
      </p:sp>
      <p:cxnSp>
        <p:nvCxnSpPr>
          <p:cNvPr id="148" name="Прямая со стрелкой 147">
            <a:extLst>
              <a:ext uri="{FF2B5EF4-FFF2-40B4-BE49-F238E27FC236}">
                <a16:creationId xmlns:a16="http://schemas.microsoft.com/office/drawing/2014/main" id="{CC2BB3F2-5E08-281A-0858-CBC325A2E08C}"/>
              </a:ext>
            </a:extLst>
          </p:cNvPr>
          <p:cNvCxnSpPr>
            <a:cxnSpLocks/>
          </p:cNvCxnSpPr>
          <p:nvPr/>
        </p:nvCxnSpPr>
        <p:spPr>
          <a:xfrm flipH="1">
            <a:off x="8462718" y="4185887"/>
            <a:ext cx="554162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1" name="Рисунок 150">
            <a:extLst>
              <a:ext uri="{FF2B5EF4-FFF2-40B4-BE49-F238E27FC236}">
                <a16:creationId xmlns:a16="http://schemas.microsoft.com/office/drawing/2014/main" id="{29F653E6-D2E8-45BE-7F23-5B626D34523D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5517" y="3342905"/>
            <a:ext cx="200784" cy="200784"/>
          </a:xfrm>
          <a:prstGeom prst="rect">
            <a:avLst/>
          </a:prstGeom>
        </p:spPr>
      </p:pic>
      <p:sp>
        <p:nvSpPr>
          <p:cNvPr id="152" name="TextBox 151">
            <a:extLst>
              <a:ext uri="{FF2B5EF4-FFF2-40B4-BE49-F238E27FC236}">
                <a16:creationId xmlns:a16="http://schemas.microsoft.com/office/drawing/2014/main" id="{F499BF65-94A3-1732-7EC0-CB2E6A58640F}"/>
              </a:ext>
            </a:extLst>
          </p:cNvPr>
          <p:cNvSpPr txBox="1"/>
          <p:nvPr/>
        </p:nvSpPr>
        <p:spPr>
          <a:xfrm>
            <a:off x="9918478" y="3322127"/>
            <a:ext cx="4902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1111</a:t>
            </a:r>
          </a:p>
        </p:txBody>
      </p:sp>
      <p:pic>
        <p:nvPicPr>
          <p:cNvPr id="156" name="Рисунок 155">
            <a:extLst>
              <a:ext uri="{FF2B5EF4-FFF2-40B4-BE49-F238E27FC236}">
                <a16:creationId xmlns:a16="http://schemas.microsoft.com/office/drawing/2014/main" id="{B7046073-DAAC-33CE-DEC2-71A40B0B6A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1746" y="5075538"/>
            <a:ext cx="700684" cy="700684"/>
          </a:xfrm>
          <a:prstGeom prst="rect">
            <a:avLst/>
          </a:prstGeom>
        </p:spPr>
      </p:pic>
      <p:sp>
        <p:nvSpPr>
          <p:cNvPr id="157" name="TextBox 156">
            <a:extLst>
              <a:ext uri="{FF2B5EF4-FFF2-40B4-BE49-F238E27FC236}">
                <a16:creationId xmlns:a16="http://schemas.microsoft.com/office/drawing/2014/main" id="{3E776DD1-0C48-E242-88BD-35ECCFF755BA}"/>
              </a:ext>
            </a:extLst>
          </p:cNvPr>
          <p:cNvSpPr txBox="1"/>
          <p:nvPr/>
        </p:nvSpPr>
        <p:spPr>
          <a:xfrm>
            <a:off x="9163279" y="5771527"/>
            <a:ext cx="18159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Внутренний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номер</a:t>
            </a:r>
          </a:p>
        </p:txBody>
      </p:sp>
      <p:pic>
        <p:nvPicPr>
          <p:cNvPr id="158" name="Рисунок 157">
            <a:extLst>
              <a:ext uri="{FF2B5EF4-FFF2-40B4-BE49-F238E27FC236}">
                <a16:creationId xmlns:a16="http://schemas.microsoft.com/office/drawing/2014/main" id="{993C95AD-0FDA-5C1C-B671-15354F9A66AB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4059" y="4819655"/>
            <a:ext cx="200784" cy="200784"/>
          </a:xfrm>
          <a:prstGeom prst="rect">
            <a:avLst/>
          </a:prstGeom>
        </p:spPr>
      </p:pic>
      <p:sp>
        <p:nvSpPr>
          <p:cNvPr id="159" name="TextBox 158">
            <a:extLst>
              <a:ext uri="{FF2B5EF4-FFF2-40B4-BE49-F238E27FC236}">
                <a16:creationId xmlns:a16="http://schemas.microsoft.com/office/drawing/2014/main" id="{2E8FDEBA-2F29-5CB0-1565-C7F9EA67F075}"/>
              </a:ext>
            </a:extLst>
          </p:cNvPr>
          <p:cNvSpPr txBox="1"/>
          <p:nvPr/>
        </p:nvSpPr>
        <p:spPr>
          <a:xfrm>
            <a:off x="9917020" y="4798877"/>
            <a:ext cx="5245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2222</a:t>
            </a:r>
            <a:endParaRPr lang="ru-RU" sz="1200" dirty="0">
              <a:solidFill>
                <a:schemeClr val="tx1">
                  <a:lumMod val="50000"/>
                  <a:lumOff val="5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8A0C62A8-5017-8E81-3188-05220E63EAD1}"/>
              </a:ext>
            </a:extLst>
          </p:cNvPr>
          <p:cNvSpPr txBox="1"/>
          <p:nvPr/>
        </p:nvSpPr>
        <p:spPr>
          <a:xfrm>
            <a:off x="8512764" y="5251881"/>
            <a:ext cx="4902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1111</a:t>
            </a:r>
          </a:p>
        </p:txBody>
      </p:sp>
      <p:cxnSp>
        <p:nvCxnSpPr>
          <p:cNvPr id="161" name="Прямая со стрелкой 160">
            <a:extLst>
              <a:ext uri="{FF2B5EF4-FFF2-40B4-BE49-F238E27FC236}">
                <a16:creationId xmlns:a16="http://schemas.microsoft.com/office/drawing/2014/main" id="{7629911C-5E9F-65AA-1555-ACE15DE4A0E2}"/>
              </a:ext>
            </a:extLst>
          </p:cNvPr>
          <p:cNvCxnSpPr>
            <a:cxnSpLocks/>
          </p:cNvCxnSpPr>
          <p:nvPr/>
        </p:nvCxnSpPr>
        <p:spPr>
          <a:xfrm>
            <a:off x="8483516" y="5518095"/>
            <a:ext cx="55440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4D4F77E4-627C-C23A-E021-42DD45E25B0F}"/>
              </a:ext>
            </a:extLst>
          </p:cNvPr>
          <p:cNvSpPr txBox="1"/>
          <p:nvPr/>
        </p:nvSpPr>
        <p:spPr>
          <a:xfrm>
            <a:off x="7186841" y="5821004"/>
            <a:ext cx="12689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КЛИЕНТ</a:t>
            </a:r>
          </a:p>
        </p:txBody>
      </p:sp>
    </p:spTree>
    <p:extLst>
      <p:ext uri="{BB962C8B-B14F-4D97-AF65-F5344CB8AC3E}">
        <p14:creationId xmlns:p14="http://schemas.microsoft.com/office/powerpoint/2010/main" val="2222857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4FD8AFE-9381-944D-F3EA-28E5E39469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2322" y="399717"/>
            <a:ext cx="736255" cy="2410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139D6B-F1C0-AB78-74B4-E16DF6CA6E68}"/>
              </a:ext>
            </a:extLst>
          </p:cNvPr>
          <p:cNvSpPr txBox="1"/>
          <p:nvPr/>
        </p:nvSpPr>
        <p:spPr>
          <a:xfrm>
            <a:off x="677622" y="332556"/>
            <a:ext cx="5884482" cy="5847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2800" b="1" dirty="0">
                <a:solidFill>
                  <a:srgbClr val="6A2E92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Подключение по Интернету</a:t>
            </a:r>
            <a:endParaRPr lang="en-US" sz="2800" b="1" dirty="0">
              <a:solidFill>
                <a:srgbClr val="6A2E92"/>
              </a:solidFill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A54717-DAA7-79BA-F795-DD900D4C7931}"/>
              </a:ext>
            </a:extLst>
          </p:cNvPr>
          <p:cNvSpPr txBox="1"/>
          <p:nvPr/>
        </p:nvSpPr>
        <p:spPr>
          <a:xfrm>
            <a:off x="8468362" y="1523825"/>
            <a:ext cx="1245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Helvetica" panose="020B0604020202020204" pitchFamily="34" charset="0"/>
                <a:cs typeface="Helvetica" panose="020B0604020202020204" pitchFamily="34" charset="0"/>
              </a:rPr>
              <a:t>Описание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3DB238-20F0-2293-33D8-E7670D3C9BF1}"/>
              </a:ext>
            </a:extLst>
          </p:cNvPr>
          <p:cNvSpPr txBox="1"/>
          <p:nvPr/>
        </p:nvSpPr>
        <p:spPr>
          <a:xfrm>
            <a:off x="7101138" y="1893157"/>
            <a:ext cx="475252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500" dirty="0">
                <a:latin typeface="Helvetica" panose="020B0604020202020204" pitchFamily="34" charset="0"/>
                <a:cs typeface="Helvetica" panose="020B0604020202020204" pitchFamily="34" charset="0"/>
              </a:rPr>
              <a:t>Количество сессий ограниченно шириной Интернет-канала на стороне Заказчика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500" dirty="0">
                <a:latin typeface="Helvetica" panose="020B0604020202020204" pitchFamily="34" charset="0"/>
                <a:cs typeface="Helvetica" panose="020B0604020202020204" pitchFamily="34" charset="0"/>
              </a:rPr>
              <a:t>Необходимо использовать кодек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0A30C1-B05E-074D-D5DF-DF8F19F1C09E}"/>
              </a:ext>
            </a:extLst>
          </p:cNvPr>
          <p:cNvSpPr txBox="1"/>
          <p:nvPr/>
        </p:nvSpPr>
        <p:spPr>
          <a:xfrm>
            <a:off x="136573" y="2575930"/>
            <a:ext cx="241598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500" dirty="0">
                <a:latin typeface="Arial" panose="020B0604020202020204" pitchFamily="34" charset="0"/>
                <a:cs typeface="Arial" panose="020B0604020202020204" pitchFamily="34" charset="0"/>
              </a:rPr>
              <a:t>Внешний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IP </a:t>
            </a:r>
            <a:r>
              <a:rPr lang="ru-RU" sz="1500" dirty="0">
                <a:latin typeface="Arial" panose="020B0604020202020204" pitchFamily="34" charset="0"/>
                <a:cs typeface="Arial" panose="020B0604020202020204" pitchFamily="34" charset="0"/>
              </a:rPr>
              <a:t>адрес</a:t>
            </a:r>
            <a:br>
              <a:rPr lang="ru-RU" sz="15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1500" dirty="0">
                <a:latin typeface="Arial" panose="020B0604020202020204" pitchFamily="34" charset="0"/>
                <a:cs typeface="Arial" panose="020B0604020202020204" pitchFamily="34" charset="0"/>
              </a:rPr>
              <a:t>на АТС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219FB8-3510-F8C7-F1CC-D91F71065A21}"/>
              </a:ext>
            </a:extLst>
          </p:cNvPr>
          <p:cNvSpPr txBox="1"/>
          <p:nvPr/>
        </p:nvSpPr>
        <p:spPr>
          <a:xfrm>
            <a:off x="5285432" y="2570507"/>
            <a:ext cx="134261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Helvetica" panose="020B0604020202020204" pitchFamily="34" charset="0"/>
                <a:cs typeface="Helvetica" panose="020B0604020202020204" pitchFamily="34" charset="0"/>
              </a:rPr>
              <a:t>SBC</a:t>
            </a:r>
            <a:r>
              <a:rPr lang="ru-RU" sz="1500" dirty="0">
                <a:latin typeface="Helvetica" panose="020B0604020202020204" pitchFamily="34" charset="0"/>
                <a:cs typeface="Helvetica" panose="020B0604020202020204" pitchFamily="34" charset="0"/>
              </a:rPr>
              <a:t> Кселл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CDD44A-AFC6-4F05-76D0-9676D001BF55}"/>
              </a:ext>
            </a:extLst>
          </p:cNvPr>
          <p:cNvSpPr txBox="1"/>
          <p:nvPr/>
        </p:nvSpPr>
        <p:spPr>
          <a:xfrm>
            <a:off x="3116980" y="2570507"/>
            <a:ext cx="110856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500" dirty="0">
                <a:latin typeface="Helvetica" panose="020B0604020202020204" pitchFamily="34" charset="0"/>
                <a:cs typeface="Helvetica" panose="020B0604020202020204" pitchFamily="34" charset="0"/>
              </a:rPr>
              <a:t>Интернет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6FD491-E322-A0D3-FD11-C47978C71AF2}"/>
              </a:ext>
            </a:extLst>
          </p:cNvPr>
          <p:cNvSpPr txBox="1"/>
          <p:nvPr/>
        </p:nvSpPr>
        <p:spPr>
          <a:xfrm>
            <a:off x="3045061" y="2233708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SIP</a:t>
            </a:r>
            <a:endParaRPr lang="ru-R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Рисунок 1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469619E3-C23D-401E-5AA1-85171D7A15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72" y="1517787"/>
            <a:ext cx="1230501" cy="1230501"/>
          </a:xfrm>
          <a:prstGeom prst="rect">
            <a:avLst/>
          </a:prstGeom>
        </p:spPr>
      </p:pic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8AA9BCC5-5496-50F5-986F-042194D09708}"/>
              </a:ext>
            </a:extLst>
          </p:cNvPr>
          <p:cNvGrpSpPr/>
          <p:nvPr/>
        </p:nvGrpSpPr>
        <p:grpSpPr>
          <a:xfrm>
            <a:off x="3142647" y="1878450"/>
            <a:ext cx="1108562" cy="612578"/>
            <a:chOff x="2602202" y="4689844"/>
            <a:chExt cx="1108562" cy="612578"/>
          </a:xfrm>
        </p:grpSpPr>
        <p:pic>
          <p:nvPicPr>
            <p:cNvPr id="18" name="Рисунок 17" descr="Изображение выглядит как текст, силуэт, векторная графика, арка&#10;&#10;Автоматически созданное описание">
              <a:extLst>
                <a:ext uri="{FF2B5EF4-FFF2-40B4-BE49-F238E27FC236}">
                  <a16:creationId xmlns:a16="http://schemas.microsoft.com/office/drawing/2014/main" id="{5AF32BD1-9C6A-186B-AAE5-D66124795A9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02202" y="4689844"/>
              <a:ext cx="1108562" cy="612578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7EC9056-7E98-9FD1-3080-25BE7E2B8229}"/>
                </a:ext>
              </a:extLst>
            </p:cNvPr>
            <p:cNvSpPr txBox="1"/>
            <p:nvPr/>
          </p:nvSpPr>
          <p:spPr>
            <a:xfrm>
              <a:off x="2858272" y="4875953"/>
              <a:ext cx="5565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SIP</a:t>
              </a:r>
              <a:endPara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D50D9343-7CDC-A826-9522-EFBA4D600A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2956" y="1646867"/>
            <a:ext cx="608404" cy="844161"/>
          </a:xfrm>
          <a:prstGeom prst="rect">
            <a:avLst/>
          </a:prstGeom>
        </p:spPr>
      </p:pic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F4E49E81-984A-1C07-E7A1-739FFFB453A2}"/>
              </a:ext>
            </a:extLst>
          </p:cNvPr>
          <p:cNvCxnSpPr/>
          <p:nvPr/>
        </p:nvCxnSpPr>
        <p:spPr>
          <a:xfrm>
            <a:off x="1974473" y="2144808"/>
            <a:ext cx="987586" cy="0"/>
          </a:xfrm>
          <a:prstGeom prst="straightConnector1">
            <a:avLst/>
          </a:prstGeom>
          <a:ln w="38100">
            <a:solidFill>
              <a:srgbClr val="A6D71E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EF5CC70C-1D62-D2CC-974E-40B2BB2202DD}"/>
              </a:ext>
            </a:extLst>
          </p:cNvPr>
          <p:cNvCxnSpPr/>
          <p:nvPr/>
        </p:nvCxnSpPr>
        <p:spPr>
          <a:xfrm>
            <a:off x="4476672" y="2148350"/>
            <a:ext cx="987586" cy="0"/>
          </a:xfrm>
          <a:prstGeom prst="straightConnector1">
            <a:avLst/>
          </a:prstGeom>
          <a:ln w="38100">
            <a:solidFill>
              <a:srgbClr val="A6D71E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0" name="Таблица 49">
            <a:extLst>
              <a:ext uri="{FF2B5EF4-FFF2-40B4-BE49-F238E27FC236}">
                <a16:creationId xmlns:a16="http://schemas.microsoft.com/office/drawing/2014/main" id="{6962207F-05AF-2F3D-672E-78875426BE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1454206"/>
              </p:ext>
            </p:extLst>
          </p:nvPr>
        </p:nvGraphicFramePr>
        <p:xfrm>
          <a:off x="551874" y="3299937"/>
          <a:ext cx="11060492" cy="2605891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21700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58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7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339">
                  <a:extLst>
                    <a:ext uri="{9D8B030D-6E8A-4147-A177-3AD203B41FA5}">
                      <a16:colId xmlns:a16="http://schemas.microsoft.com/office/drawing/2014/main" val="3541945421"/>
                    </a:ext>
                  </a:extLst>
                </a:gridCol>
                <a:gridCol w="1612706">
                  <a:extLst>
                    <a:ext uri="{9D8B030D-6E8A-4147-A177-3AD203B41FA5}">
                      <a16:colId xmlns:a16="http://schemas.microsoft.com/office/drawing/2014/main" val="2526165342"/>
                    </a:ext>
                  </a:extLst>
                </a:gridCol>
              </a:tblGrid>
              <a:tr h="767200">
                <a:tc rowSpan="2"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Helvetica Neue"/>
                          <a:cs typeface="Arial" panose="020B0604020202020204" pitchFamily="34" charset="0"/>
                        </a:rPr>
                        <a:t>Наименование</a:t>
                      </a:r>
                      <a:br>
                        <a:rPr lang="ru-RU" sz="1600" dirty="0">
                          <a:latin typeface="Helvetica Neue"/>
                          <a:cs typeface="Arial" panose="020B0604020202020204" pitchFamily="34" charset="0"/>
                        </a:rPr>
                      </a:br>
                      <a:r>
                        <a:rPr lang="ru-RU" sz="1600" dirty="0">
                          <a:latin typeface="Helvetica Neue"/>
                          <a:cs typeface="Arial" panose="020B0604020202020204" pitchFamily="34" charset="0"/>
                        </a:rPr>
                        <a:t>кодека</a:t>
                      </a:r>
                      <a:endParaRPr lang="ru-RU" sz="1600" b="1" dirty="0"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71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Helvetica Neue"/>
                          <a:cs typeface="Arial" panose="020B0604020202020204" pitchFamily="34" charset="0"/>
                        </a:rPr>
                        <a:t>Скорость передачи по Ethernet, Кбит/с</a:t>
                      </a:r>
                      <a:endParaRPr lang="ru-RU" sz="1600" baseline="0" dirty="0"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71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Helvetica Neue"/>
                          <a:cs typeface="Arial" panose="020B0604020202020204" pitchFamily="34" charset="0"/>
                        </a:rPr>
                        <a:t>Лицензия</a:t>
                      </a:r>
                      <a:endParaRPr lang="ru-RU" sz="1600" baseline="0" dirty="0"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71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Helvetica Neue"/>
                          <a:cs typeface="Arial" panose="020B0604020202020204" pitchFamily="34" charset="0"/>
                        </a:rPr>
                        <a:t>Количество единовременных соединений (звонков)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71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3814">
                <a:tc vMerge="1">
                  <a:txBody>
                    <a:bodyPr/>
                    <a:lstStyle/>
                    <a:p>
                      <a:r>
                        <a:rPr lang="ru-RU" sz="1500" b="1" dirty="0">
                          <a:latin typeface="Helvetica Neue"/>
                          <a:cs typeface="Arial" panose="020B0604020202020204" pitchFamily="34" charset="0"/>
                        </a:rPr>
                        <a:t>Требования на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500" dirty="0">
                          <a:latin typeface="Helvetica Neue"/>
                          <a:cs typeface="Arial" panose="020B0604020202020204" pitchFamily="34" charset="0"/>
                        </a:rPr>
                        <a:t>АТС</a:t>
                      </a:r>
                      <a:r>
                        <a:rPr lang="ru-RU" sz="1500" baseline="0" dirty="0">
                          <a:latin typeface="Helvetica Neue"/>
                          <a:cs typeface="Arial" panose="020B0604020202020204" pitchFamily="34" charset="0"/>
                        </a:rPr>
                        <a:t> с поддержкой </a:t>
                      </a:r>
                      <a:r>
                        <a:rPr lang="en-US" sz="1500" baseline="0" dirty="0">
                          <a:latin typeface="Helvetica Neue"/>
                          <a:cs typeface="Arial" panose="020B0604020202020204" pitchFamily="34" charset="0"/>
                        </a:rPr>
                        <a:t>SIP (h.323 </a:t>
                      </a:r>
                      <a:r>
                        <a:rPr lang="ru-RU" sz="1500" baseline="0" dirty="0">
                          <a:latin typeface="Helvetica Neue"/>
                          <a:cs typeface="Arial" panose="020B0604020202020204" pitchFamily="34" charset="0"/>
                        </a:rPr>
                        <a:t>протокол не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500" dirty="0">
                          <a:latin typeface="Helvetica Neue"/>
                          <a:cs typeface="Arial" panose="020B0604020202020204" pitchFamily="34" charset="0"/>
                        </a:rPr>
                        <a:t>АТС с поддержкой</a:t>
                      </a:r>
                      <a:r>
                        <a:rPr lang="ru-RU" sz="1500" baseline="0" dirty="0">
                          <a:latin typeface="Helvetica Neue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500" baseline="0" dirty="0">
                          <a:latin typeface="Helvetica Neue"/>
                          <a:cs typeface="Arial" panose="020B0604020202020204" pitchFamily="34" charset="0"/>
                        </a:rPr>
                        <a:t>SIP </a:t>
                      </a:r>
                      <a:r>
                        <a:rPr lang="ru-RU" sz="1500" baseline="0" dirty="0">
                          <a:latin typeface="Helvetica Neue"/>
                          <a:cs typeface="Arial" panose="020B0604020202020204" pitchFamily="34" charset="0"/>
                        </a:rPr>
                        <a:t>или </a:t>
                      </a:r>
                      <a:r>
                        <a:rPr lang="en-US" sz="1500" baseline="0" dirty="0">
                          <a:latin typeface="Helvetica Neue"/>
                          <a:cs typeface="Arial" panose="020B0604020202020204" pitchFamily="34" charset="0"/>
                        </a:rPr>
                        <a:t>E1 </a:t>
                      </a:r>
                      <a:r>
                        <a:rPr lang="ru-RU" sz="1500" baseline="0" dirty="0">
                          <a:latin typeface="Helvetica Neue"/>
                          <a:cs typeface="Arial" panose="020B0604020202020204" pitchFamily="34" charset="0"/>
                        </a:rPr>
                        <a:t>потоков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При</a:t>
                      </a:r>
                      <a:r>
                        <a:rPr lang="ru-RU" sz="16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канале</a:t>
                      </a:r>
                    </a:p>
                    <a:p>
                      <a:pPr algn="ctr"/>
                      <a:r>
                        <a:rPr lang="ru-RU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2Мбит/с</a:t>
                      </a:r>
                      <a:endParaRPr lang="ru-RU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При канале</a:t>
                      </a:r>
                    </a:p>
                    <a:p>
                      <a:pPr algn="ctr"/>
                      <a:r>
                        <a:rPr lang="ru-RU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4Мбит</a:t>
                      </a:r>
                      <a:r>
                        <a:rPr 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/c</a:t>
                      </a:r>
                      <a:endParaRPr lang="ru-RU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72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G.711</a:t>
                      </a:r>
                      <a:endParaRPr lang="ru-RU" sz="16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95</a:t>
                      </a:r>
                      <a:r>
                        <a:rPr 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,2</a:t>
                      </a:r>
                      <a:endParaRPr lang="ru-RU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+mn-cs"/>
                        </a:rPr>
                        <a:t>Не</a:t>
                      </a:r>
                      <a:r>
                        <a:rPr lang="ru-RU" sz="16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+mn-cs"/>
                        </a:rPr>
                        <a:t> требуется</a:t>
                      </a:r>
                      <a:endParaRPr lang="ru-RU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23</a:t>
                      </a:r>
                      <a:endParaRPr lang="ru-RU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46</a:t>
                      </a:r>
                      <a:endParaRPr lang="ru-RU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14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G.729</a:t>
                      </a:r>
                      <a:endParaRPr lang="ru-RU" sz="16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</a:t>
                      </a:r>
                      <a:r>
                        <a:rPr lang="ru-RU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9</a:t>
                      </a:r>
                      <a:r>
                        <a:rPr 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,2</a:t>
                      </a:r>
                      <a:endParaRPr lang="ru-RU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ru-RU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+mn-cs"/>
                        </a:rPr>
                        <a:t>Требуется</a:t>
                      </a:r>
                      <a:endParaRPr lang="ru-RU" sz="15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elvetica Neue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65</a:t>
                      </a:r>
                      <a:endParaRPr lang="ru-RU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130</a:t>
                      </a:r>
                      <a:endParaRPr lang="ru-RU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EEFA5389-88E4-DF4F-133B-4F031B019149}"/>
              </a:ext>
            </a:extLst>
          </p:cNvPr>
          <p:cNvSpPr/>
          <p:nvPr/>
        </p:nvSpPr>
        <p:spPr>
          <a:xfrm>
            <a:off x="717345" y="6093142"/>
            <a:ext cx="911938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>
                <a:latin typeface="Pragmatica Book Reg"/>
                <a:cs typeface="Arial" panose="020B0604020202020204" pitchFamily="34" charset="0"/>
              </a:rPr>
              <a:t>* </a:t>
            </a:r>
            <a:r>
              <a:rPr lang="ru-RU" sz="1000" dirty="0">
                <a:latin typeface="Pragmatica Book Reg"/>
                <a:cs typeface="Arial" panose="020B0604020202020204" pitchFamily="34" charset="0"/>
              </a:rPr>
              <a:t>Для передачи звука используются различные алгоритмы сжатия и кодирования данных. Эти алгоритмы называются </a:t>
            </a:r>
            <a:r>
              <a:rPr lang="ru-RU" sz="1000" b="1" dirty="0">
                <a:latin typeface="Pragmatica Book Reg"/>
                <a:cs typeface="Arial" panose="020B0604020202020204" pitchFamily="34" charset="0"/>
              </a:rPr>
              <a:t>кодеками</a:t>
            </a:r>
            <a:r>
              <a:rPr lang="ru-RU" sz="1000" dirty="0">
                <a:latin typeface="Pragmatica Book Reg"/>
                <a:cs typeface="Arial" panose="020B0604020202020204" pitchFamily="34" charset="0"/>
              </a:rPr>
              <a:t>. </a:t>
            </a:r>
            <a:br>
              <a:rPr lang="ru-RU" sz="1000" dirty="0">
                <a:latin typeface="Pragmatica Book Reg"/>
                <a:cs typeface="Arial" panose="020B0604020202020204" pitchFamily="34" charset="0"/>
              </a:rPr>
            </a:br>
            <a:r>
              <a:rPr lang="ru-RU" sz="1000" dirty="0">
                <a:latin typeface="Pragmatica Book Reg"/>
                <a:cs typeface="Arial" panose="020B0604020202020204" pitchFamily="34" charset="0"/>
              </a:rPr>
              <a:t>   Различные кодеки используют различную ширину полосы пропускания, а также вносят различные задержки и обеспечивают различное качество звонков.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7091FAB-565C-0122-2FB2-D900BFD1AE2B}"/>
              </a:ext>
            </a:extLst>
          </p:cNvPr>
          <p:cNvSpPr txBox="1"/>
          <p:nvPr/>
        </p:nvSpPr>
        <p:spPr>
          <a:xfrm>
            <a:off x="2552562" y="1216030"/>
            <a:ext cx="2213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Helvetica" panose="020B0604020202020204" pitchFamily="34" charset="0"/>
                <a:cs typeface="Helvetica" panose="020B0604020202020204" pitchFamily="34" charset="0"/>
              </a:rPr>
              <a:t>Схема соединения</a:t>
            </a:r>
          </a:p>
        </p:txBody>
      </p:sp>
    </p:spTree>
    <p:extLst>
      <p:ext uri="{BB962C8B-B14F-4D97-AF65-F5344CB8AC3E}">
        <p14:creationId xmlns:p14="http://schemas.microsoft.com/office/powerpoint/2010/main" val="921882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Скругленный прямоугольник 61">
            <a:extLst>
              <a:ext uri="{FF2B5EF4-FFF2-40B4-BE49-F238E27FC236}">
                <a16:creationId xmlns:a16="http://schemas.microsoft.com/office/drawing/2014/main" id="{B7FCCE83-8DDB-022D-7832-EDCF42D88B50}"/>
              </a:ext>
            </a:extLst>
          </p:cNvPr>
          <p:cNvSpPr/>
          <p:nvPr/>
        </p:nvSpPr>
        <p:spPr>
          <a:xfrm>
            <a:off x="6859838" y="3128576"/>
            <a:ext cx="4828739" cy="3433921"/>
          </a:xfrm>
          <a:prstGeom prst="roundRect">
            <a:avLst>
              <a:gd name="adj" fmla="val 1338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dirty="0"/>
          </a:p>
        </p:txBody>
      </p:sp>
      <p:sp>
        <p:nvSpPr>
          <p:cNvPr id="30" name="Скругленный прямоугольник 61">
            <a:extLst>
              <a:ext uri="{FF2B5EF4-FFF2-40B4-BE49-F238E27FC236}">
                <a16:creationId xmlns:a16="http://schemas.microsoft.com/office/drawing/2014/main" id="{A8BE2F92-F120-F366-B9C6-9DBB6C663C38}"/>
              </a:ext>
            </a:extLst>
          </p:cNvPr>
          <p:cNvSpPr/>
          <p:nvPr/>
        </p:nvSpPr>
        <p:spPr>
          <a:xfrm>
            <a:off x="503423" y="3128579"/>
            <a:ext cx="5986216" cy="3433920"/>
          </a:xfrm>
          <a:prstGeom prst="roundRect">
            <a:avLst>
              <a:gd name="adj" fmla="val 1338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4FD8AFE-9381-944D-F3EA-28E5E39469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2322" y="399717"/>
            <a:ext cx="736255" cy="2410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139D6B-F1C0-AB78-74B4-E16DF6CA6E68}"/>
              </a:ext>
            </a:extLst>
          </p:cNvPr>
          <p:cNvSpPr txBox="1"/>
          <p:nvPr/>
        </p:nvSpPr>
        <p:spPr>
          <a:xfrm>
            <a:off x="677622" y="332556"/>
            <a:ext cx="5884482" cy="5847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2800" b="1" dirty="0">
                <a:solidFill>
                  <a:srgbClr val="6A2E92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Прямое подключение</a:t>
            </a:r>
            <a:endParaRPr lang="en-US" sz="2800" b="1" dirty="0">
              <a:solidFill>
                <a:srgbClr val="6A2E92"/>
              </a:solidFill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A54717-DAA7-79BA-F795-DD900D4C7931}"/>
              </a:ext>
            </a:extLst>
          </p:cNvPr>
          <p:cNvSpPr txBox="1"/>
          <p:nvPr/>
        </p:nvSpPr>
        <p:spPr>
          <a:xfrm>
            <a:off x="8848452" y="1873344"/>
            <a:ext cx="1245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Helvetica" panose="020B0604020202020204" pitchFamily="34" charset="0"/>
                <a:cs typeface="Helvetica" panose="020B0604020202020204" pitchFamily="34" charset="0"/>
              </a:rPr>
              <a:t>Описание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3DB238-20F0-2293-33D8-E7670D3C9BF1}"/>
              </a:ext>
            </a:extLst>
          </p:cNvPr>
          <p:cNvSpPr txBox="1"/>
          <p:nvPr/>
        </p:nvSpPr>
        <p:spPr>
          <a:xfrm>
            <a:off x="7268795" y="2242676"/>
            <a:ext cx="475252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500" dirty="0">
                <a:latin typeface="Helvetica" panose="020B0604020202020204" pitchFamily="34" charset="0"/>
                <a:cs typeface="Helvetica" panose="020B0604020202020204" pitchFamily="34" charset="0"/>
              </a:rPr>
              <a:t>Дальность передачи сигнала – 100 м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219FB8-3510-F8C7-F1CC-D91F71065A21}"/>
              </a:ext>
            </a:extLst>
          </p:cNvPr>
          <p:cNvSpPr txBox="1"/>
          <p:nvPr/>
        </p:nvSpPr>
        <p:spPr>
          <a:xfrm>
            <a:off x="4866913" y="2537234"/>
            <a:ext cx="134261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Helvetica" panose="020B0604020202020204" pitchFamily="34" charset="0"/>
                <a:cs typeface="Helvetica" panose="020B0604020202020204" pitchFamily="34" charset="0"/>
              </a:rPr>
              <a:t>SBC</a:t>
            </a:r>
            <a:r>
              <a:rPr lang="ru-RU" sz="1500" dirty="0">
                <a:latin typeface="Helvetica" panose="020B0604020202020204" pitchFamily="34" charset="0"/>
                <a:cs typeface="Helvetica" panose="020B0604020202020204" pitchFamily="34" charset="0"/>
              </a:rPr>
              <a:t> Кселл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CDD44A-AFC6-4F05-76D0-9676D001BF55}"/>
              </a:ext>
            </a:extLst>
          </p:cNvPr>
          <p:cNvSpPr txBox="1"/>
          <p:nvPr/>
        </p:nvSpPr>
        <p:spPr>
          <a:xfrm>
            <a:off x="2930835" y="2260780"/>
            <a:ext cx="142146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500" dirty="0">
                <a:latin typeface="Helvetica" panose="020B0604020202020204" pitchFamily="34" charset="0"/>
                <a:cs typeface="Helvetica" panose="020B0604020202020204" pitchFamily="34" charset="0"/>
              </a:rPr>
              <a:t>КВСМ кабель</a:t>
            </a:r>
          </a:p>
        </p:txBody>
      </p: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F4E49E81-984A-1C07-E7A1-739FFFB453A2}"/>
              </a:ext>
            </a:extLst>
          </p:cNvPr>
          <p:cNvCxnSpPr>
            <a:cxnSpLocks/>
          </p:cNvCxnSpPr>
          <p:nvPr/>
        </p:nvCxnSpPr>
        <p:spPr>
          <a:xfrm>
            <a:off x="2120968" y="2200435"/>
            <a:ext cx="2977936" cy="0"/>
          </a:xfrm>
          <a:prstGeom prst="straightConnector1">
            <a:avLst/>
          </a:prstGeom>
          <a:ln w="38100">
            <a:solidFill>
              <a:srgbClr val="A6D71E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6193E3C-75DB-3F8B-641D-3C84BE2D9C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8904" y="1679650"/>
            <a:ext cx="833049" cy="8330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8C05CE-0107-F728-FEF4-12780E625DF0}"/>
              </a:ext>
            </a:extLst>
          </p:cNvPr>
          <p:cNvSpPr txBox="1"/>
          <p:nvPr/>
        </p:nvSpPr>
        <p:spPr>
          <a:xfrm>
            <a:off x="528884" y="2540940"/>
            <a:ext cx="197239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500" dirty="0">
                <a:latin typeface="Arial" panose="020B0604020202020204" pitchFamily="34" charset="0"/>
                <a:cs typeface="Arial" panose="020B0604020202020204" pitchFamily="34" charset="0"/>
              </a:rPr>
              <a:t>АТС клиента </a:t>
            </a:r>
          </a:p>
        </p:txBody>
      </p:sp>
      <p:pic>
        <p:nvPicPr>
          <p:cNvPr id="9" name="Рисунок 8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64DD9F57-8DDB-728F-DAE2-96F7EBEA77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809" y="1489041"/>
            <a:ext cx="1230501" cy="123050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913028F-16F2-4BAD-368F-BEF60470BC54}"/>
              </a:ext>
            </a:extLst>
          </p:cNvPr>
          <p:cNvSpPr txBox="1"/>
          <p:nvPr/>
        </p:nvSpPr>
        <p:spPr>
          <a:xfrm>
            <a:off x="2603362" y="1416678"/>
            <a:ext cx="2213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Helvetica" panose="020B0604020202020204" pitchFamily="34" charset="0"/>
                <a:cs typeface="Helvetica" panose="020B0604020202020204" pitchFamily="34" charset="0"/>
              </a:rPr>
              <a:t>Схема соединения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A60778-62CC-928A-D85E-B4B4574E0A5E}"/>
              </a:ext>
            </a:extLst>
          </p:cNvPr>
          <p:cNvSpPr txBox="1"/>
          <p:nvPr/>
        </p:nvSpPr>
        <p:spPr>
          <a:xfrm>
            <a:off x="729311" y="3294814"/>
            <a:ext cx="5550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500" dirty="0">
                <a:latin typeface="Helvetica" panose="020B0604020202020204" pitchFamily="34" charset="0"/>
                <a:cs typeface="Helvetica" panose="020B0604020202020204" pitchFamily="34" charset="0"/>
              </a:rPr>
              <a:t>На АТС клиента должен быть свободный порт </a:t>
            </a:r>
            <a:r>
              <a:rPr lang="ru-RU" sz="1500" b="1" dirty="0">
                <a:solidFill>
                  <a:srgbClr val="6A2D9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SIP</a:t>
            </a:r>
            <a:r>
              <a:rPr lang="ru-RU" sz="15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ru-RU" sz="1500" dirty="0">
                <a:latin typeface="Helvetica" panose="020B0604020202020204" pitchFamily="34" charset="0"/>
                <a:cs typeface="Helvetica" panose="020B0604020202020204" pitchFamily="34" charset="0"/>
              </a:rPr>
              <a:t>или </a:t>
            </a:r>
            <a:r>
              <a:rPr lang="ru-RU" sz="1500" b="1" dirty="0">
                <a:solidFill>
                  <a:srgbClr val="6A2D9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474B61-2DE4-430F-F44B-4B59B33064ED}"/>
              </a:ext>
            </a:extLst>
          </p:cNvPr>
          <p:cNvSpPr txBox="1"/>
          <p:nvPr/>
        </p:nvSpPr>
        <p:spPr>
          <a:xfrm>
            <a:off x="7517611" y="3296556"/>
            <a:ext cx="38493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500" b="1" dirty="0">
                <a:solidFill>
                  <a:srgbClr val="6A2D9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БC</a:t>
            </a:r>
            <a:r>
              <a:rPr lang="ru-RU" sz="1500" dirty="0">
                <a:latin typeface="Helvetica" panose="020B0604020202020204" pitchFamily="34" charset="0"/>
                <a:cs typeface="Helvetica" panose="020B0604020202020204" pitchFamily="34" charset="0"/>
              </a:rPr>
              <a:t> должна быть на крыше здания,</a:t>
            </a:r>
            <a:br>
              <a:rPr lang="ru-RU" sz="15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ru-RU" sz="1500" dirty="0">
                <a:latin typeface="Helvetica" panose="020B0604020202020204" pitchFamily="34" charset="0"/>
                <a:cs typeface="Helvetica" panose="020B0604020202020204" pitchFamily="34" charset="0"/>
              </a:rPr>
              <a:t>где находится АТС клиента</a:t>
            </a:r>
            <a:endParaRPr lang="ru-RU" sz="1500" b="1" dirty="0">
              <a:solidFill>
                <a:srgbClr val="6A2D9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3" name="Picture 2" descr="C:\Users\vladimir.kim\Downloads\My Kcell\PBX\Presentation\mater\e1 плата.png">
            <a:extLst>
              <a:ext uri="{FF2B5EF4-FFF2-40B4-BE49-F238E27FC236}">
                <a16:creationId xmlns:a16="http://schemas.microsoft.com/office/drawing/2014/main" id="{E1506A36-1B65-38BE-0967-A5F36E714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778344"/>
            <a:ext cx="1925597" cy="1925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3" descr="C:\Users\vladimir.kim\Downloads\My Kcell\PBX\Presentation\mater\шлюз е1.png">
            <a:extLst>
              <a:ext uri="{FF2B5EF4-FFF2-40B4-BE49-F238E27FC236}">
                <a16:creationId xmlns:a16="http://schemas.microsoft.com/office/drawing/2014/main" id="{263DE3CF-4BA1-DC11-F798-960DE8282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6016" y="3730481"/>
            <a:ext cx="2611879" cy="2611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94263BE5-784A-F5F7-3175-7134587A7208}"/>
              </a:ext>
            </a:extLst>
          </p:cNvPr>
          <p:cNvSpPr txBox="1"/>
          <p:nvPr/>
        </p:nvSpPr>
        <p:spPr>
          <a:xfrm>
            <a:off x="824228" y="5799341"/>
            <a:ext cx="218098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500" dirty="0">
                <a:latin typeface="Arial" panose="020B0604020202020204" pitchFamily="34" charset="0"/>
                <a:cs typeface="Arial" panose="020B0604020202020204" pitchFamily="34" charset="0"/>
              </a:rPr>
              <a:t>Плата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E1</a:t>
            </a:r>
          </a:p>
          <a:p>
            <a:pPr algn="ctr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ru-RU" sz="1500" dirty="0">
                <a:latin typeface="Arial" panose="020B0604020202020204" pitchFamily="34" charset="0"/>
                <a:cs typeface="Arial" panose="020B0604020202020204" pitchFamily="34" charset="0"/>
              </a:rPr>
              <a:t>вставляется в АТС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ru-RU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FC7D2E-82BE-1B8A-BA8B-A60A092C3081}"/>
              </a:ext>
            </a:extLst>
          </p:cNvPr>
          <p:cNvSpPr txBox="1"/>
          <p:nvPr/>
        </p:nvSpPr>
        <p:spPr>
          <a:xfrm>
            <a:off x="3562707" y="5745130"/>
            <a:ext cx="218098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500" dirty="0">
                <a:latin typeface="Arial" panose="020B0604020202020204" pitchFamily="34" charset="0"/>
                <a:cs typeface="Arial" panose="020B0604020202020204" pitchFamily="34" charset="0"/>
              </a:rPr>
              <a:t>Шлюз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E1</a:t>
            </a:r>
            <a:r>
              <a:rPr lang="ru-RU" sz="15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SIP</a:t>
            </a:r>
          </a:p>
          <a:p>
            <a:pPr algn="ctr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ru-RU" sz="1500" dirty="0">
                <a:latin typeface="Arial" panose="020B0604020202020204" pitchFamily="34" charset="0"/>
                <a:cs typeface="Arial" panose="020B0604020202020204" pitchFamily="34" charset="0"/>
              </a:rPr>
              <a:t>подключается к АТС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ru-RU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C2D514E8-6FBB-7682-F967-E03064070A7D}"/>
              </a:ext>
            </a:extLst>
          </p:cNvPr>
          <p:cNvGrpSpPr/>
          <p:nvPr/>
        </p:nvGrpSpPr>
        <p:grpSpPr>
          <a:xfrm>
            <a:off x="9155005" y="4049014"/>
            <a:ext cx="1673943" cy="2283388"/>
            <a:chOff x="8545319" y="4121777"/>
            <a:chExt cx="1596208" cy="2177351"/>
          </a:xfrm>
        </p:grpSpPr>
        <p:pic>
          <p:nvPicPr>
            <p:cNvPr id="35" name="Рисунок 34" descr="Изображение выглядит как текст&#10;&#10;Автоматически созданное описание">
              <a:extLst>
                <a:ext uri="{FF2B5EF4-FFF2-40B4-BE49-F238E27FC236}">
                  <a16:creationId xmlns:a16="http://schemas.microsoft.com/office/drawing/2014/main" id="{2B7CECBB-D7D0-FD10-6884-6ECBBA54A18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45319" y="4702920"/>
              <a:ext cx="1596208" cy="1596208"/>
            </a:xfrm>
            <a:prstGeom prst="rect">
              <a:avLst/>
            </a:prstGeom>
          </p:spPr>
        </p:pic>
        <p:pic>
          <p:nvPicPr>
            <p:cNvPr id="37" name="Рисунок 36">
              <a:extLst>
                <a:ext uri="{FF2B5EF4-FFF2-40B4-BE49-F238E27FC236}">
                  <a16:creationId xmlns:a16="http://schemas.microsoft.com/office/drawing/2014/main" id="{187C85F2-22AA-A4FC-6972-813F2C6C0D2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77404" y="4121777"/>
              <a:ext cx="374110" cy="632686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9C5EAF3B-84EF-6835-C10A-83E71891DFD9}"/>
              </a:ext>
            </a:extLst>
          </p:cNvPr>
          <p:cNvSpPr txBox="1"/>
          <p:nvPr/>
        </p:nvSpPr>
        <p:spPr>
          <a:xfrm>
            <a:off x="7575185" y="4226132"/>
            <a:ext cx="1342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Helvetica" panose="020B0604020202020204" pitchFamily="34" charset="0"/>
                <a:cs typeface="Helvetica" panose="020B0604020202020204" pitchFamily="34" charset="0"/>
              </a:rPr>
              <a:t>Базовая станция </a:t>
            </a:r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Kcell</a:t>
            </a:r>
            <a:endParaRPr lang="ru-RU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082818E-9C7C-6E66-1230-D25E5AA1EE3A}"/>
              </a:ext>
            </a:extLst>
          </p:cNvPr>
          <p:cNvSpPr txBox="1"/>
          <p:nvPr/>
        </p:nvSpPr>
        <p:spPr>
          <a:xfrm>
            <a:off x="7504229" y="5277318"/>
            <a:ext cx="15175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Helvetica" panose="020B0604020202020204" pitchFamily="34" charset="0"/>
                <a:cs typeface="Helvetica" panose="020B0604020202020204" pitchFamily="34" charset="0"/>
              </a:rPr>
              <a:t>Здание клиента</a:t>
            </a:r>
          </a:p>
        </p:txBody>
      </p:sp>
      <p:cxnSp>
        <p:nvCxnSpPr>
          <p:cNvPr id="43" name="Соединитель: уступ 42">
            <a:extLst>
              <a:ext uri="{FF2B5EF4-FFF2-40B4-BE49-F238E27FC236}">
                <a16:creationId xmlns:a16="http://schemas.microsoft.com/office/drawing/2014/main" id="{463772EA-A7CB-8946-7B7F-FF6C1C0F04FB}"/>
              </a:ext>
            </a:extLst>
          </p:cNvPr>
          <p:cNvCxnSpPr>
            <a:cxnSpLocks/>
          </p:cNvCxnSpPr>
          <p:nvPr/>
        </p:nvCxnSpPr>
        <p:spPr>
          <a:xfrm flipV="1">
            <a:off x="7591693" y="4406041"/>
            <a:ext cx="2156157" cy="276626"/>
          </a:xfrm>
          <a:prstGeom prst="bentConnector3">
            <a:avLst>
              <a:gd name="adj1" fmla="val 65039"/>
            </a:avLst>
          </a:prstGeom>
          <a:ln>
            <a:solidFill>
              <a:srgbClr val="6A2D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Соединитель: уступ 47">
            <a:extLst>
              <a:ext uri="{FF2B5EF4-FFF2-40B4-BE49-F238E27FC236}">
                <a16:creationId xmlns:a16="http://schemas.microsoft.com/office/drawing/2014/main" id="{3E5F1A70-1B58-AC52-9CD5-9376F21CE38F}"/>
              </a:ext>
            </a:extLst>
          </p:cNvPr>
          <p:cNvCxnSpPr>
            <a:cxnSpLocks/>
          </p:cNvCxnSpPr>
          <p:nvPr/>
        </p:nvCxnSpPr>
        <p:spPr>
          <a:xfrm flipV="1">
            <a:off x="7575268" y="5278898"/>
            <a:ext cx="1769032" cy="275419"/>
          </a:xfrm>
          <a:prstGeom prst="bentConnector3">
            <a:avLst>
              <a:gd name="adj1" fmla="val 80060"/>
            </a:avLst>
          </a:prstGeom>
          <a:ln>
            <a:solidFill>
              <a:srgbClr val="6A2D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1ED9D655-0077-75CA-2E40-21CEFD90FEC1}"/>
              </a:ext>
            </a:extLst>
          </p:cNvPr>
          <p:cNvSpPr/>
          <p:nvPr/>
        </p:nvSpPr>
        <p:spPr>
          <a:xfrm>
            <a:off x="700854" y="857252"/>
            <a:ext cx="563864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300" dirty="0">
                <a:latin typeface="Pragmatica Book Reg"/>
                <a:cs typeface="Arial" panose="020B0604020202020204" pitchFamily="34" charset="0"/>
              </a:rPr>
              <a:t>(Если базовая станция находится на крыше здания, где расположена АТС)</a:t>
            </a:r>
          </a:p>
        </p:txBody>
      </p:sp>
    </p:spTree>
    <p:extLst>
      <p:ext uri="{BB962C8B-B14F-4D97-AF65-F5344CB8AC3E}">
        <p14:creationId xmlns:p14="http://schemas.microsoft.com/office/powerpoint/2010/main" val="660159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4FD8AFE-9381-944D-F3EA-28E5E39469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2322" y="399717"/>
            <a:ext cx="736255" cy="2410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139D6B-F1C0-AB78-74B4-E16DF6CA6E68}"/>
              </a:ext>
            </a:extLst>
          </p:cNvPr>
          <p:cNvSpPr txBox="1"/>
          <p:nvPr/>
        </p:nvSpPr>
        <p:spPr>
          <a:xfrm>
            <a:off x="677622" y="332556"/>
            <a:ext cx="5884482" cy="5847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2800" b="1" dirty="0">
                <a:solidFill>
                  <a:srgbClr val="6A2E92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Прямое подключение</a:t>
            </a:r>
            <a:endParaRPr lang="en-US" sz="2800" b="1" dirty="0">
              <a:solidFill>
                <a:srgbClr val="6A2E92"/>
              </a:solidFill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219FB8-3510-F8C7-F1CC-D91F71065A21}"/>
              </a:ext>
            </a:extLst>
          </p:cNvPr>
          <p:cNvSpPr txBox="1"/>
          <p:nvPr/>
        </p:nvSpPr>
        <p:spPr>
          <a:xfrm>
            <a:off x="4786443" y="2514752"/>
            <a:ext cx="15254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500" dirty="0">
                <a:latin typeface="Helvetica" panose="020B0604020202020204" pitchFamily="34" charset="0"/>
                <a:cs typeface="Helvetica" panose="020B0604020202020204" pitchFamily="34" charset="0"/>
              </a:rPr>
              <a:t>Базовая станция Кселл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CDD44A-AFC6-4F05-76D0-9676D001BF55}"/>
              </a:ext>
            </a:extLst>
          </p:cNvPr>
          <p:cNvSpPr txBox="1"/>
          <p:nvPr/>
        </p:nvSpPr>
        <p:spPr>
          <a:xfrm>
            <a:off x="2335164" y="2505325"/>
            <a:ext cx="82907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500" dirty="0">
                <a:latin typeface="Helvetica" panose="020B0604020202020204" pitchFamily="34" charset="0"/>
                <a:cs typeface="Helvetica" panose="020B0604020202020204" pitchFamily="34" charset="0"/>
              </a:rPr>
              <a:t>модем</a:t>
            </a:r>
          </a:p>
        </p:txBody>
      </p: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F4E49E81-984A-1C07-E7A1-739FFFB453A2}"/>
              </a:ext>
            </a:extLst>
          </p:cNvPr>
          <p:cNvCxnSpPr>
            <a:cxnSpLocks/>
          </p:cNvCxnSpPr>
          <p:nvPr/>
        </p:nvCxnSpPr>
        <p:spPr>
          <a:xfrm>
            <a:off x="1798388" y="2272223"/>
            <a:ext cx="648000" cy="0"/>
          </a:xfrm>
          <a:prstGeom prst="straightConnector1">
            <a:avLst/>
          </a:prstGeom>
          <a:ln w="38100">
            <a:solidFill>
              <a:srgbClr val="A6D71E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6193E3C-75DB-3F8B-641D-3C84BE2D9C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148" y="1853986"/>
            <a:ext cx="655085" cy="6550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8C05CE-0107-F728-FEF4-12780E625DF0}"/>
              </a:ext>
            </a:extLst>
          </p:cNvPr>
          <p:cNvSpPr txBox="1"/>
          <p:nvPr/>
        </p:nvSpPr>
        <p:spPr>
          <a:xfrm>
            <a:off x="206304" y="2612728"/>
            <a:ext cx="197239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500" dirty="0">
                <a:latin typeface="Arial" panose="020B0604020202020204" pitchFamily="34" charset="0"/>
                <a:cs typeface="Arial" panose="020B0604020202020204" pitchFamily="34" charset="0"/>
              </a:rPr>
              <a:t>АТС клиента </a:t>
            </a:r>
          </a:p>
        </p:txBody>
      </p:sp>
      <p:pic>
        <p:nvPicPr>
          <p:cNvPr id="9" name="Рисунок 8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64DD9F57-8DDB-728F-DAE2-96F7EBEA77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742" y="1735196"/>
            <a:ext cx="1056134" cy="105613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913028F-16F2-4BAD-368F-BEF60470BC54}"/>
              </a:ext>
            </a:extLst>
          </p:cNvPr>
          <p:cNvSpPr txBox="1"/>
          <p:nvPr/>
        </p:nvSpPr>
        <p:spPr>
          <a:xfrm>
            <a:off x="2356590" y="1277340"/>
            <a:ext cx="2213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Helvetica" panose="020B0604020202020204" pitchFamily="34" charset="0"/>
                <a:cs typeface="Helvetica" panose="020B0604020202020204" pitchFamily="34" charset="0"/>
              </a:rPr>
              <a:t>Схема соединения</a:t>
            </a:r>
          </a:p>
        </p:txBody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1ED9D655-0077-75CA-2E40-21CEFD90FEC1}"/>
              </a:ext>
            </a:extLst>
          </p:cNvPr>
          <p:cNvSpPr/>
          <p:nvPr/>
        </p:nvSpPr>
        <p:spPr>
          <a:xfrm>
            <a:off x="700854" y="857252"/>
            <a:ext cx="6529286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300" dirty="0">
                <a:latin typeface="Pragmatica Book Reg"/>
                <a:cs typeface="Arial" panose="020B0604020202020204" pitchFamily="34" charset="0"/>
              </a:rPr>
              <a:t>(Если базовая станция находится на отдалении от здания клиента, где расположена АТС)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684672-83AE-C34C-B53C-8A17F1532FD9}"/>
              </a:ext>
            </a:extLst>
          </p:cNvPr>
          <p:cNvSpPr txBox="1"/>
          <p:nvPr/>
        </p:nvSpPr>
        <p:spPr>
          <a:xfrm>
            <a:off x="8060785" y="1275471"/>
            <a:ext cx="2213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Helvetica" panose="020B0604020202020204" pitchFamily="34" charset="0"/>
                <a:cs typeface="Helvetica" panose="020B0604020202020204" pitchFamily="34" charset="0"/>
              </a:rPr>
              <a:t>Схема соединения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C3DEC39-B04D-E13A-03D0-E728109123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673" y="1704795"/>
            <a:ext cx="1056134" cy="1056134"/>
          </a:xfrm>
          <a:prstGeom prst="rect">
            <a:avLst/>
          </a:prstGeom>
        </p:spPr>
      </p:pic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A16582F9-CF18-9F69-C0CB-A04E6E9A4FF4}"/>
              </a:ext>
            </a:extLst>
          </p:cNvPr>
          <p:cNvCxnSpPr>
            <a:cxnSpLocks/>
          </p:cNvCxnSpPr>
          <p:nvPr/>
        </p:nvCxnSpPr>
        <p:spPr>
          <a:xfrm>
            <a:off x="3152151" y="2274492"/>
            <a:ext cx="648000" cy="0"/>
          </a:xfrm>
          <a:prstGeom prst="straightConnector1">
            <a:avLst/>
          </a:prstGeom>
          <a:ln w="38100">
            <a:solidFill>
              <a:srgbClr val="A6D71E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97053B8-682A-E77A-DD1E-46B247E35BA8}"/>
              </a:ext>
            </a:extLst>
          </p:cNvPr>
          <p:cNvSpPr txBox="1"/>
          <p:nvPr/>
        </p:nvSpPr>
        <p:spPr>
          <a:xfrm>
            <a:off x="3712473" y="2505325"/>
            <a:ext cx="82907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500" dirty="0">
                <a:latin typeface="Helvetica" panose="020B0604020202020204" pitchFamily="34" charset="0"/>
                <a:cs typeface="Helvetica" panose="020B0604020202020204" pitchFamily="34" charset="0"/>
              </a:rPr>
              <a:t>модем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6E7AF97-2EBE-ECE4-4E60-CF24159793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5982" y="1704795"/>
            <a:ext cx="1056134" cy="1056134"/>
          </a:xfrm>
          <a:prstGeom prst="rect">
            <a:avLst/>
          </a:prstGeom>
        </p:spPr>
      </p:pic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9689F6A2-66E4-BC81-5A61-63FACF89C2E2}"/>
              </a:ext>
            </a:extLst>
          </p:cNvPr>
          <p:cNvCxnSpPr>
            <a:cxnSpLocks/>
          </p:cNvCxnSpPr>
          <p:nvPr/>
        </p:nvCxnSpPr>
        <p:spPr>
          <a:xfrm>
            <a:off x="4518106" y="2271944"/>
            <a:ext cx="648000" cy="0"/>
          </a:xfrm>
          <a:prstGeom prst="straightConnector1">
            <a:avLst/>
          </a:prstGeom>
          <a:ln w="38100">
            <a:solidFill>
              <a:srgbClr val="A6D71E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1278972-31E4-099F-8CF4-D6EF11479E2B}"/>
              </a:ext>
            </a:extLst>
          </p:cNvPr>
          <p:cNvSpPr txBox="1"/>
          <p:nvPr/>
        </p:nvSpPr>
        <p:spPr>
          <a:xfrm>
            <a:off x="2619749" y="3146860"/>
            <a:ext cx="1245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Helvetica" panose="020B0604020202020204" pitchFamily="34" charset="0"/>
                <a:cs typeface="Helvetica" panose="020B0604020202020204" pitchFamily="34" charset="0"/>
              </a:rPr>
              <a:t>Описание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015C65-B36C-45C8-0659-F84BFA2E40A1}"/>
              </a:ext>
            </a:extLst>
          </p:cNvPr>
          <p:cNvSpPr txBox="1"/>
          <p:nvPr/>
        </p:nvSpPr>
        <p:spPr>
          <a:xfrm>
            <a:off x="571500" y="3543914"/>
            <a:ext cx="5356107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500" dirty="0">
                <a:latin typeface="Helvetica" panose="020B0604020202020204" pitchFamily="34" charset="0"/>
                <a:cs typeface="Helvetica" panose="020B0604020202020204" pitchFamily="34" charset="0"/>
              </a:rPr>
              <a:t>Для объектов удаленных от базовых станции и находящиеся вблизи оптоволоконных колец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ru-RU" sz="1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500" dirty="0">
                <a:latin typeface="Helvetica" panose="020B0604020202020204" pitchFamily="34" charset="0"/>
                <a:cs typeface="Helvetica" panose="020B0604020202020204" pitchFamily="34" charset="0"/>
              </a:rPr>
              <a:t>Необходима аренда канала у сторонних операторов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A3BEF5-07C9-3046-4F14-A71C446FC08A}"/>
              </a:ext>
            </a:extLst>
          </p:cNvPr>
          <p:cNvSpPr txBox="1"/>
          <p:nvPr/>
        </p:nvSpPr>
        <p:spPr>
          <a:xfrm>
            <a:off x="8434006" y="3148562"/>
            <a:ext cx="1245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Helvetica" panose="020B0604020202020204" pitchFamily="34" charset="0"/>
                <a:cs typeface="Helvetica" panose="020B0604020202020204" pitchFamily="34" charset="0"/>
              </a:rPr>
              <a:t>Описание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E7D1A5F-B7A7-1095-D79F-9EB74064F106}"/>
              </a:ext>
            </a:extLst>
          </p:cNvPr>
          <p:cNvSpPr txBox="1"/>
          <p:nvPr/>
        </p:nvSpPr>
        <p:spPr>
          <a:xfrm>
            <a:off x="6821689" y="3545616"/>
            <a:ext cx="500831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500" dirty="0">
                <a:latin typeface="Helvetica" panose="020B0604020202020204" pitchFamily="34" charset="0"/>
                <a:cs typeface="Helvetica" panose="020B0604020202020204" pitchFamily="34" charset="0"/>
              </a:rPr>
              <a:t>Для объектов удаленных от населенных пунктов или от базовых станций Кселл</a:t>
            </a:r>
          </a:p>
          <a:p>
            <a:endParaRPr lang="ru-RU" sz="1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500" dirty="0">
                <a:latin typeface="Helvetica" panose="020B0604020202020204" pitchFamily="34" charset="0"/>
                <a:cs typeface="Helvetica" panose="020B0604020202020204" pitchFamily="34" charset="0"/>
              </a:rPr>
              <a:t>Необходима прямая видимость между зданием клиента и базовой станцией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E9DD397-ACAD-CE75-4559-7D0A13F9CD53}"/>
              </a:ext>
            </a:extLst>
          </p:cNvPr>
          <p:cNvSpPr txBox="1"/>
          <p:nvPr/>
        </p:nvSpPr>
        <p:spPr>
          <a:xfrm>
            <a:off x="3212798" y="1758667"/>
            <a:ext cx="50045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>
                <a:latin typeface="Helvetica" panose="020B0604020202020204" pitchFamily="34" charset="0"/>
                <a:cs typeface="Helvetica" panose="020B0604020202020204" pitchFamily="34" charset="0"/>
              </a:rPr>
              <a:t>IP</a:t>
            </a:r>
            <a:endParaRPr lang="ru-RU" sz="2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64" name="Группа 63">
            <a:extLst>
              <a:ext uri="{FF2B5EF4-FFF2-40B4-BE49-F238E27FC236}">
                <a16:creationId xmlns:a16="http://schemas.microsoft.com/office/drawing/2014/main" id="{E29E64CB-EDBA-02DB-FA4D-50C1350C609D}"/>
              </a:ext>
            </a:extLst>
          </p:cNvPr>
          <p:cNvGrpSpPr/>
          <p:nvPr/>
        </p:nvGrpSpPr>
        <p:grpSpPr>
          <a:xfrm>
            <a:off x="8473900" y="1907571"/>
            <a:ext cx="596048" cy="1011524"/>
            <a:chOff x="8308800" y="2073221"/>
            <a:chExt cx="596048" cy="1011524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88596C1-F9C8-E65E-8992-CB1046F77CB6}"/>
                </a:ext>
              </a:extLst>
            </p:cNvPr>
            <p:cNvSpPr txBox="1"/>
            <p:nvPr/>
          </p:nvSpPr>
          <p:spPr>
            <a:xfrm>
              <a:off x="8308800" y="2761580"/>
              <a:ext cx="596048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500" dirty="0">
                  <a:latin typeface="Helvetica" panose="020B0604020202020204" pitchFamily="34" charset="0"/>
                  <a:cs typeface="Helvetica" panose="020B0604020202020204" pitchFamily="34" charset="0"/>
                </a:rPr>
                <a:t>РРЛ</a:t>
              </a:r>
            </a:p>
          </p:txBody>
        </p:sp>
        <p:pic>
          <p:nvPicPr>
            <p:cNvPr id="50" name="Picture 2" descr="C:\Users\vladimir.kim\Desktop\SHUT\bs.png">
              <a:extLst>
                <a:ext uri="{FF2B5EF4-FFF2-40B4-BE49-F238E27FC236}">
                  <a16:creationId xmlns:a16="http://schemas.microsoft.com/office/drawing/2014/main" id="{D2329FD3-81E3-6947-D182-BAD57BF73A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00797" y="2073221"/>
              <a:ext cx="386043" cy="7051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" name="Picture 237">
              <a:extLst>
                <a:ext uri="{FF2B5EF4-FFF2-40B4-BE49-F238E27FC236}">
                  <a16:creationId xmlns:a16="http://schemas.microsoft.com/office/drawing/2014/main" id="{D6893D06-7288-18F9-6594-ED2FA8719A8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700000">
              <a:off x="8658226" y="2156590"/>
              <a:ext cx="205017" cy="205017"/>
            </a:xfrm>
            <a:prstGeom prst="rect">
              <a:avLst/>
            </a:prstGeom>
          </p:spPr>
        </p:pic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E95AF354-775C-55AA-1016-B0B278DEDF5A}"/>
              </a:ext>
            </a:extLst>
          </p:cNvPr>
          <p:cNvSpPr txBox="1"/>
          <p:nvPr/>
        </p:nvSpPr>
        <p:spPr>
          <a:xfrm>
            <a:off x="8890511" y="2231173"/>
            <a:ext cx="6545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900" dirty="0">
                <a:latin typeface="Helvetica" panose="020B0604020202020204" pitchFamily="34" charset="0"/>
                <a:cs typeface="Helvetica" panose="020B0604020202020204" pitchFamily="34" charset="0"/>
              </a:rPr>
              <a:t>40-50 км</a:t>
            </a:r>
          </a:p>
        </p:txBody>
      </p:sp>
      <p:pic>
        <p:nvPicPr>
          <p:cNvPr id="56" name="Рисунок 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A3924966-F47F-2439-DA28-CFDF7BE478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1689" y="1825780"/>
            <a:ext cx="1056134" cy="1056134"/>
          </a:xfrm>
          <a:prstGeom prst="rect">
            <a:avLst/>
          </a:prstGeom>
        </p:spPr>
      </p:pic>
      <p:cxnSp>
        <p:nvCxnSpPr>
          <p:cNvPr id="57" name="Прямая со стрелкой 56">
            <a:extLst>
              <a:ext uri="{FF2B5EF4-FFF2-40B4-BE49-F238E27FC236}">
                <a16:creationId xmlns:a16="http://schemas.microsoft.com/office/drawing/2014/main" id="{042CC7DA-A68B-2CBB-75A7-3920CFA9123C}"/>
              </a:ext>
            </a:extLst>
          </p:cNvPr>
          <p:cNvCxnSpPr>
            <a:cxnSpLocks/>
          </p:cNvCxnSpPr>
          <p:nvPr/>
        </p:nvCxnSpPr>
        <p:spPr>
          <a:xfrm>
            <a:off x="7889207" y="2370831"/>
            <a:ext cx="648000" cy="0"/>
          </a:xfrm>
          <a:prstGeom prst="straightConnector1">
            <a:avLst/>
          </a:prstGeom>
          <a:ln w="38100">
            <a:solidFill>
              <a:srgbClr val="A6D71E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Группа 64">
            <a:extLst>
              <a:ext uri="{FF2B5EF4-FFF2-40B4-BE49-F238E27FC236}">
                <a16:creationId xmlns:a16="http://schemas.microsoft.com/office/drawing/2014/main" id="{72152C64-67B3-D7AE-1147-C87D13F9E7FB}"/>
              </a:ext>
            </a:extLst>
          </p:cNvPr>
          <p:cNvGrpSpPr/>
          <p:nvPr/>
        </p:nvGrpSpPr>
        <p:grpSpPr>
          <a:xfrm>
            <a:off x="9358319" y="1906035"/>
            <a:ext cx="596048" cy="1013165"/>
            <a:chOff x="9193219" y="2071685"/>
            <a:chExt cx="596048" cy="1013165"/>
          </a:xfrm>
        </p:grpSpPr>
        <p:pic>
          <p:nvPicPr>
            <p:cNvPr id="51" name="Picture 2" descr="C:\Users\vladimir.kim\Desktop\SHUT\bs.png">
              <a:extLst>
                <a:ext uri="{FF2B5EF4-FFF2-40B4-BE49-F238E27FC236}">
                  <a16:creationId xmlns:a16="http://schemas.microsoft.com/office/drawing/2014/main" id="{F9F3A76C-ABB5-3AE2-7885-5799D453D8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86840" y="2071685"/>
              <a:ext cx="386043" cy="7051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3" name="Picture 237">
              <a:extLst>
                <a:ext uri="{FF2B5EF4-FFF2-40B4-BE49-F238E27FC236}">
                  <a16:creationId xmlns:a16="http://schemas.microsoft.com/office/drawing/2014/main" id="{8381AAAB-EB4B-289D-D15A-15541CF59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13500000">
              <a:off x="9253790" y="2154062"/>
              <a:ext cx="205017" cy="205017"/>
            </a:xfrm>
            <a:prstGeom prst="rect">
              <a:avLst/>
            </a:prstGeom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24E7A015-11B3-5CCC-2E6C-E1C0FC06A061}"/>
                </a:ext>
              </a:extLst>
            </p:cNvPr>
            <p:cNvSpPr txBox="1"/>
            <p:nvPr/>
          </p:nvSpPr>
          <p:spPr>
            <a:xfrm>
              <a:off x="9193219" y="2761685"/>
              <a:ext cx="596048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500" dirty="0">
                  <a:latin typeface="Helvetica" panose="020B0604020202020204" pitchFamily="34" charset="0"/>
                  <a:cs typeface="Helvetica" panose="020B0604020202020204" pitchFamily="34" charset="0"/>
                </a:rPr>
                <a:t>РРЛ</a:t>
              </a:r>
            </a:p>
          </p:txBody>
        </p:sp>
      </p:grpSp>
      <p:cxnSp>
        <p:nvCxnSpPr>
          <p:cNvPr id="60" name="Прямая со стрелкой 59">
            <a:extLst>
              <a:ext uri="{FF2B5EF4-FFF2-40B4-BE49-F238E27FC236}">
                <a16:creationId xmlns:a16="http://schemas.microsoft.com/office/drawing/2014/main" id="{B39BFD44-A998-1A91-688A-42D4FFD50A38}"/>
              </a:ext>
            </a:extLst>
          </p:cNvPr>
          <p:cNvCxnSpPr>
            <a:cxnSpLocks/>
          </p:cNvCxnSpPr>
          <p:nvPr/>
        </p:nvCxnSpPr>
        <p:spPr>
          <a:xfrm>
            <a:off x="9879812" y="2371466"/>
            <a:ext cx="648000" cy="0"/>
          </a:xfrm>
          <a:prstGeom prst="straightConnector1">
            <a:avLst/>
          </a:prstGeom>
          <a:ln w="38100">
            <a:solidFill>
              <a:srgbClr val="A6D71E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9B6B800A-2F8D-01B9-D8DF-B2B6838420CF}"/>
              </a:ext>
            </a:extLst>
          </p:cNvPr>
          <p:cNvSpPr txBox="1"/>
          <p:nvPr/>
        </p:nvSpPr>
        <p:spPr>
          <a:xfrm>
            <a:off x="10149705" y="2551907"/>
            <a:ext cx="15254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500" dirty="0">
                <a:latin typeface="Helvetica" panose="020B0604020202020204" pitchFamily="34" charset="0"/>
                <a:cs typeface="Helvetica" panose="020B0604020202020204" pitchFamily="34" charset="0"/>
              </a:rPr>
              <a:t>Базовая станция Кселл</a:t>
            </a:r>
          </a:p>
        </p:txBody>
      </p:sp>
      <p:pic>
        <p:nvPicPr>
          <p:cNvPr id="63" name="Рисунок 62">
            <a:extLst>
              <a:ext uri="{FF2B5EF4-FFF2-40B4-BE49-F238E27FC236}">
                <a16:creationId xmlns:a16="http://schemas.microsoft.com/office/drawing/2014/main" id="{E5CE72A6-BFFB-A678-8998-4999266CE3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1410" y="1891141"/>
            <a:ext cx="655085" cy="655085"/>
          </a:xfrm>
          <a:prstGeom prst="rect">
            <a:avLst/>
          </a:prstGeom>
        </p:spPr>
      </p:pic>
      <p:sp>
        <p:nvSpPr>
          <p:cNvPr id="66" name="Rectangle 13">
            <a:extLst>
              <a:ext uri="{FF2B5EF4-FFF2-40B4-BE49-F238E27FC236}">
                <a16:creationId xmlns:a16="http://schemas.microsoft.com/office/drawing/2014/main" id="{F17A9310-9D1C-CE19-634A-B5B1A74ED9B6}"/>
              </a:ext>
            </a:extLst>
          </p:cNvPr>
          <p:cNvSpPr/>
          <p:nvPr/>
        </p:nvSpPr>
        <p:spPr>
          <a:xfrm>
            <a:off x="9276200" y="5198769"/>
            <a:ext cx="1356333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500" dirty="0">
                <a:latin typeface="Helvetica" panose="020B0604020202020204" pitchFamily="34" charset="0"/>
                <a:cs typeface="Helvetica" panose="020B0604020202020204" pitchFamily="34" charset="0"/>
              </a:rPr>
              <a:t>Антенна РРЛ</a:t>
            </a:r>
          </a:p>
        </p:txBody>
      </p:sp>
      <p:pic>
        <p:nvPicPr>
          <p:cNvPr id="67" name="Picture 2" descr="C:\Users\vladimir.kim\Downloads\My Kcell\PBX\Presentation\mater\fomux4le_preview.gif">
            <a:extLst>
              <a:ext uri="{FF2B5EF4-FFF2-40B4-BE49-F238E27FC236}">
                <a16:creationId xmlns:a16="http://schemas.microsoft.com/office/drawing/2014/main" id="{83BE44EA-17BC-3234-1AEA-94F725057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8798" y="5040025"/>
            <a:ext cx="3048000" cy="104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3" descr="C:\Users\vladimir.kim\Downloads\My Kcell\PBX\Presentation\mater\photo-21072.png">
            <a:extLst>
              <a:ext uri="{FF2B5EF4-FFF2-40B4-BE49-F238E27FC236}">
                <a16:creationId xmlns:a16="http://schemas.microsoft.com/office/drawing/2014/main" id="{872CE35E-A97B-7E12-D146-67D41492C3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0524" y="4742890"/>
            <a:ext cx="1829288" cy="1956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Rectangle 13">
            <a:extLst>
              <a:ext uri="{FF2B5EF4-FFF2-40B4-BE49-F238E27FC236}">
                <a16:creationId xmlns:a16="http://schemas.microsoft.com/office/drawing/2014/main" id="{A9DEBB77-B710-1E0D-4CCB-9F62A567405D}"/>
              </a:ext>
            </a:extLst>
          </p:cNvPr>
          <p:cNvSpPr/>
          <p:nvPr/>
        </p:nvSpPr>
        <p:spPr>
          <a:xfrm>
            <a:off x="2068584" y="6202279"/>
            <a:ext cx="2326984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500" dirty="0">
                <a:latin typeface="Helvetica" panose="020B0604020202020204" pitchFamily="34" charset="0"/>
                <a:cs typeface="Helvetica" panose="020B0604020202020204" pitchFamily="34" charset="0"/>
              </a:rPr>
              <a:t>Мультиплексор (модем)</a:t>
            </a:r>
          </a:p>
        </p:txBody>
      </p:sp>
    </p:spTree>
    <p:extLst>
      <p:ext uri="{BB962C8B-B14F-4D97-AF65-F5344CB8AC3E}">
        <p14:creationId xmlns:p14="http://schemas.microsoft.com/office/powerpoint/2010/main" val="3157289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018C3262-7CF2-45D3-B978-4F6967B874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7736676"/>
              </p:ext>
            </p:extLst>
          </p:nvPr>
        </p:nvGraphicFramePr>
        <p:xfrm>
          <a:off x="677621" y="1378738"/>
          <a:ext cx="11006379" cy="4841119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2130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6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90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6111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Helvetica Neue"/>
                          <a:cs typeface="Arial" panose="020B0604020202020204" pitchFamily="34" charset="0"/>
                        </a:rPr>
                        <a:t>КРИТЕРИЙ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7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Helvetica Neue"/>
                          <a:cs typeface="Arial" panose="020B0604020202020204" pitchFamily="34" charset="0"/>
                        </a:rPr>
                        <a:t>ПО ИНТЕРНЕТУ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7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Helvetica Neue"/>
                          <a:cs typeface="Arial" panose="020B0604020202020204" pitchFamily="34" charset="0"/>
                        </a:rPr>
                        <a:t>ПРЯМОЕ ПОДКЛЮЧЕНИЕ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7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6221">
                <a:tc>
                  <a:txBody>
                    <a:bodyPr/>
                    <a:lstStyle/>
                    <a:p>
                      <a:pPr algn="l"/>
                      <a:r>
                        <a:rPr lang="ru-RU" sz="1400" b="1" dirty="0">
                          <a:latin typeface="Helvetica Neue"/>
                          <a:cs typeface="Arial" panose="020B0604020202020204" pitchFamily="34" charset="0"/>
                        </a:rPr>
                        <a:t>Требования на</a:t>
                      </a:r>
                      <a:r>
                        <a:rPr lang="ru-RU" sz="1400" b="1" baseline="0" dirty="0">
                          <a:latin typeface="Helvetica Neue"/>
                          <a:cs typeface="Arial" panose="020B0604020202020204" pitchFamily="34" charset="0"/>
                        </a:rPr>
                        <a:t> стороне</a:t>
                      </a:r>
                      <a:r>
                        <a:rPr lang="ru-RU" sz="1400" b="1" dirty="0">
                          <a:latin typeface="Helvetica Neue"/>
                          <a:cs typeface="Arial" panose="020B0604020202020204" pitchFamily="34" charset="0"/>
                        </a:rPr>
                        <a:t> Заказчика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198438" algn="l">
                        <a:buFont typeface="Arial" panose="020B0604020202020204" pitchFamily="34" charset="0"/>
                        <a:buChar char="•"/>
                      </a:pPr>
                      <a:r>
                        <a:rPr lang="ru-RU" sz="1400" dirty="0">
                          <a:latin typeface="Helvetica Neue"/>
                          <a:cs typeface="Arial" panose="020B0604020202020204" pitchFamily="34" charset="0"/>
                        </a:rPr>
                        <a:t>АТС</a:t>
                      </a:r>
                      <a:r>
                        <a:rPr lang="ru-RU" sz="1400" baseline="0" dirty="0">
                          <a:latin typeface="Helvetica Neue"/>
                          <a:cs typeface="Arial" panose="020B0604020202020204" pitchFamily="34" charset="0"/>
                        </a:rPr>
                        <a:t> с поддержкой </a:t>
                      </a:r>
                      <a:r>
                        <a:rPr lang="en-US" sz="1400" baseline="0" dirty="0">
                          <a:latin typeface="Helvetica Neue"/>
                          <a:cs typeface="Arial" panose="020B0604020202020204" pitchFamily="34" charset="0"/>
                        </a:rPr>
                        <a:t>SIP (h.323 </a:t>
                      </a:r>
                      <a:r>
                        <a:rPr lang="ru-RU" sz="1400" baseline="0" dirty="0">
                          <a:latin typeface="Helvetica Neue"/>
                          <a:cs typeface="Arial" panose="020B0604020202020204" pitchFamily="34" charset="0"/>
                        </a:rPr>
                        <a:t>протокол не поддерживается</a:t>
                      </a:r>
                      <a:r>
                        <a:rPr lang="en-US" sz="1400" baseline="0" dirty="0">
                          <a:latin typeface="Helvetica Neue"/>
                          <a:cs typeface="Arial" panose="020B0604020202020204" pitchFamily="34" charset="0"/>
                        </a:rPr>
                        <a:t>)</a:t>
                      </a:r>
                      <a:endParaRPr lang="ru-RU" sz="1400" baseline="0" dirty="0">
                        <a:latin typeface="Helvetica Neue"/>
                        <a:cs typeface="Arial" panose="020B0604020202020204" pitchFamily="34" charset="0"/>
                      </a:endParaRPr>
                    </a:p>
                    <a:p>
                      <a:pPr marL="285750" indent="-198438" algn="l">
                        <a:buFont typeface="Arial" panose="020B0604020202020204" pitchFamily="34" charset="0"/>
                        <a:buChar char="•"/>
                      </a:pPr>
                      <a:r>
                        <a:rPr lang="ru-RU" sz="1400" baseline="0" dirty="0">
                          <a:latin typeface="Helvetica Neue"/>
                          <a:cs typeface="Arial" panose="020B0604020202020204" pitchFamily="34" charset="0"/>
                        </a:rPr>
                        <a:t>Внешний статический </a:t>
                      </a:r>
                      <a:r>
                        <a:rPr lang="en-US" sz="1400" baseline="0" dirty="0">
                          <a:latin typeface="Helvetica Neue"/>
                          <a:cs typeface="Arial" panose="020B0604020202020204" pitchFamily="34" charset="0"/>
                        </a:rPr>
                        <a:t>IP </a:t>
                      </a:r>
                      <a:r>
                        <a:rPr lang="ru-RU" sz="1400" baseline="0" dirty="0">
                          <a:latin typeface="Helvetica Neue"/>
                          <a:cs typeface="Arial" panose="020B0604020202020204" pitchFamily="34" charset="0"/>
                        </a:rPr>
                        <a:t>адрес интернета</a:t>
                      </a:r>
                    </a:p>
                    <a:p>
                      <a:pPr marL="285750" marR="0" indent="-1984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400" baseline="0" dirty="0">
                          <a:latin typeface="Helvetica Neue"/>
                          <a:cs typeface="Arial" panose="020B0604020202020204" pitchFamily="34" charset="0"/>
                        </a:rPr>
                        <a:t>Тех. специалист способный настроить АТС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198438" algn="l">
                        <a:buFont typeface="Arial" panose="020B0604020202020204" pitchFamily="34" charset="0"/>
                        <a:buChar char="•"/>
                      </a:pPr>
                      <a:r>
                        <a:rPr lang="ru-RU" sz="1400" dirty="0">
                          <a:latin typeface="Helvetica Neue"/>
                          <a:cs typeface="Arial" panose="020B0604020202020204" pitchFamily="34" charset="0"/>
                        </a:rPr>
                        <a:t>АТС с поддержкой</a:t>
                      </a:r>
                      <a:r>
                        <a:rPr lang="ru-RU" sz="1400" baseline="0" dirty="0">
                          <a:latin typeface="Helvetica Neue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aseline="0" dirty="0">
                          <a:latin typeface="Helvetica Neue"/>
                          <a:cs typeface="Arial" panose="020B0604020202020204" pitchFamily="34" charset="0"/>
                        </a:rPr>
                        <a:t>SIP </a:t>
                      </a:r>
                      <a:r>
                        <a:rPr lang="ru-RU" sz="1400" baseline="0" dirty="0">
                          <a:latin typeface="Helvetica Neue"/>
                          <a:cs typeface="Arial" panose="020B0604020202020204" pitchFamily="34" charset="0"/>
                        </a:rPr>
                        <a:t>или </a:t>
                      </a:r>
                      <a:r>
                        <a:rPr lang="en-US" sz="1400" baseline="0" dirty="0">
                          <a:latin typeface="Helvetica Neue"/>
                          <a:cs typeface="Arial" panose="020B0604020202020204" pitchFamily="34" charset="0"/>
                        </a:rPr>
                        <a:t>E1 </a:t>
                      </a:r>
                      <a:r>
                        <a:rPr lang="ru-RU" sz="1400" baseline="0" dirty="0">
                          <a:latin typeface="Helvetica Neue"/>
                          <a:cs typeface="Arial" panose="020B0604020202020204" pitchFamily="34" charset="0"/>
                        </a:rPr>
                        <a:t>потоков</a:t>
                      </a:r>
                    </a:p>
                    <a:p>
                      <a:pPr marL="285750" indent="-198438" algn="l">
                        <a:buFont typeface="Arial" panose="020B0604020202020204" pitchFamily="34" charset="0"/>
                        <a:buChar char="•"/>
                      </a:pPr>
                      <a:r>
                        <a:rPr lang="ru-RU" sz="1400" baseline="0" dirty="0">
                          <a:latin typeface="Helvetica Neue"/>
                          <a:cs typeface="Arial" panose="020B0604020202020204" pitchFamily="34" charset="0"/>
                        </a:rPr>
                        <a:t>Желательно расположение базовой станции Кселл вблизи АТС</a:t>
                      </a:r>
                    </a:p>
                    <a:p>
                      <a:pPr marL="285750" indent="-198438" algn="l">
                        <a:buFont typeface="Arial" panose="020B0604020202020204" pitchFamily="34" charset="0"/>
                        <a:buChar char="•"/>
                      </a:pPr>
                      <a:r>
                        <a:rPr lang="ru-RU" sz="1400" baseline="0" dirty="0">
                          <a:latin typeface="Helvetica Neue"/>
                          <a:cs typeface="Arial" panose="020B0604020202020204" pitchFamily="34" charset="0"/>
                        </a:rPr>
                        <a:t>Тех. специалист способный настроить АТС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4249">
                <a:tc>
                  <a:txBody>
                    <a:bodyPr/>
                    <a:lstStyle/>
                    <a:p>
                      <a:pPr algn="l"/>
                      <a:r>
                        <a:rPr lang="ru-RU" sz="1400" b="1" dirty="0">
                          <a:latin typeface="Helvetica Neue"/>
                          <a:cs typeface="Arial" panose="020B0604020202020204" pitchFamily="34" charset="0"/>
                        </a:rPr>
                        <a:t>Качество</a:t>
                      </a:r>
                      <a:r>
                        <a:rPr lang="ru-RU" sz="1400" b="1" baseline="0" dirty="0">
                          <a:latin typeface="Helvetica Neue"/>
                          <a:cs typeface="Arial" panose="020B0604020202020204" pitchFamily="34" charset="0"/>
                        </a:rPr>
                        <a:t> соединения</a:t>
                      </a:r>
                      <a:endParaRPr lang="ru-RU" sz="1400" b="1" dirty="0">
                        <a:latin typeface="Helvetica Neue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198438" algn="l">
                        <a:buFont typeface="Arial" panose="020B0604020202020204" pitchFamily="34" charset="0"/>
                        <a:buChar char="•"/>
                      </a:pPr>
                      <a:r>
                        <a:rPr lang="ru-RU" sz="1400" dirty="0">
                          <a:latin typeface="Helvetica Neue"/>
                          <a:cs typeface="Arial" panose="020B0604020202020204" pitchFamily="34" charset="0"/>
                        </a:rPr>
                        <a:t>Зависит от качества</a:t>
                      </a:r>
                      <a:r>
                        <a:rPr lang="ru-RU" sz="1400" baseline="0" dirty="0">
                          <a:latin typeface="Helvetica Neue"/>
                          <a:cs typeface="Arial" panose="020B0604020202020204" pitchFamily="34" charset="0"/>
                        </a:rPr>
                        <a:t> интернета на стороне Заказчика</a:t>
                      </a:r>
                    </a:p>
                    <a:p>
                      <a:pPr marL="285750" indent="-198438" algn="l">
                        <a:buFont typeface="Arial" panose="020B0604020202020204" pitchFamily="34" charset="0"/>
                        <a:buChar char="•"/>
                      </a:pPr>
                      <a:r>
                        <a:rPr lang="ru-RU" sz="1400" baseline="0" dirty="0">
                          <a:latin typeface="Helvetica Neue"/>
                          <a:cs typeface="Arial" panose="020B0604020202020204" pitchFamily="34" charset="0"/>
                        </a:rPr>
                        <a:t>Зависит от количества единовременных соединений</a:t>
                      </a:r>
                      <a:endParaRPr lang="ru-RU" sz="1400" dirty="0">
                        <a:latin typeface="Helvetica Neue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ru-RU" sz="1400" dirty="0">
                          <a:latin typeface="Helvetica Neue"/>
                          <a:cs typeface="Arial" panose="020B0604020202020204" pitchFamily="34" charset="0"/>
                        </a:rPr>
                        <a:t>Высокое качество,</a:t>
                      </a:r>
                      <a:r>
                        <a:rPr lang="ru-RU" sz="1400" baseline="0" dirty="0">
                          <a:latin typeface="Helvetica Neue"/>
                          <a:cs typeface="Arial" panose="020B0604020202020204" pitchFamily="34" charset="0"/>
                        </a:rPr>
                        <a:t> соединение по кабелю</a:t>
                      </a:r>
                      <a:endParaRPr lang="ru-RU" sz="1400" dirty="0">
                        <a:latin typeface="Helvetica Neue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7780">
                <a:tc>
                  <a:txBody>
                    <a:bodyPr/>
                    <a:lstStyle/>
                    <a:p>
                      <a:pPr algn="l"/>
                      <a:r>
                        <a:rPr lang="ru-RU" sz="1400" b="1" dirty="0">
                          <a:latin typeface="Helvetica Neue"/>
                          <a:cs typeface="Arial" panose="020B0604020202020204" pitchFamily="34" charset="0"/>
                        </a:rPr>
                        <a:t>Количество сессий</a:t>
                      </a:r>
                      <a:r>
                        <a:rPr lang="en-US" sz="1400" b="1" dirty="0">
                          <a:latin typeface="Helvetica Neue"/>
                          <a:cs typeface="Arial" panose="020B0604020202020204" pitchFamily="34" charset="0"/>
                        </a:rPr>
                        <a:t>/</a:t>
                      </a:r>
                      <a:r>
                        <a:rPr lang="ru-RU" sz="1400" b="1" dirty="0">
                          <a:latin typeface="Helvetica Neue"/>
                          <a:cs typeface="Arial" panose="020B0604020202020204" pitchFamily="34" charset="0"/>
                        </a:rPr>
                        <a:t>каналов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ru-RU" sz="1400" dirty="0">
                          <a:latin typeface="Helvetica Neue"/>
                          <a:cs typeface="Arial" panose="020B0604020202020204" pitchFamily="34" charset="0"/>
                        </a:rPr>
                        <a:t>Неограниченное</a:t>
                      </a:r>
                      <a:r>
                        <a:rPr lang="ru-RU" sz="1400" baseline="0" dirty="0">
                          <a:latin typeface="Helvetica Neue"/>
                          <a:cs typeface="Arial" panose="020B0604020202020204" pitchFamily="34" charset="0"/>
                        </a:rPr>
                        <a:t> количество сессий</a:t>
                      </a:r>
                      <a:endParaRPr lang="ru-RU" sz="1400" dirty="0">
                        <a:latin typeface="Helvetica Neue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ru-RU" sz="1400" dirty="0">
                          <a:latin typeface="Helvetica Neue"/>
                          <a:cs typeface="Arial" panose="020B0604020202020204" pitchFamily="34" charset="0"/>
                        </a:rPr>
                        <a:t>Одно</a:t>
                      </a:r>
                      <a:r>
                        <a:rPr lang="ru-RU" sz="1400" baseline="0" dirty="0">
                          <a:latin typeface="Helvetica Neue"/>
                          <a:cs typeface="Arial" panose="020B0604020202020204" pitchFamily="34" charset="0"/>
                        </a:rPr>
                        <a:t> соединение – 30 каналов</a:t>
                      </a:r>
                      <a:endParaRPr lang="ru-RU" sz="1400" dirty="0">
                        <a:latin typeface="Helvetica Neue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8476">
                <a:tc>
                  <a:txBody>
                    <a:bodyPr/>
                    <a:lstStyle/>
                    <a:p>
                      <a:pPr algn="l"/>
                      <a:r>
                        <a:rPr lang="ru-RU" sz="1400" b="1" dirty="0">
                          <a:latin typeface="Helvetica Neue"/>
                          <a:cs typeface="Arial" panose="020B0604020202020204" pitchFamily="34" charset="0"/>
                        </a:rPr>
                        <a:t>Тестирование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ru-RU" sz="1400" dirty="0">
                          <a:latin typeface="Helvetica Neue"/>
                          <a:cs typeface="Arial" panose="020B0604020202020204" pitchFamily="34" charset="0"/>
                        </a:rPr>
                        <a:t>Бесплатное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ru-RU" sz="1400" dirty="0">
                          <a:latin typeface="Helvetica Neue"/>
                          <a:cs typeface="Arial" panose="020B0604020202020204" pitchFamily="34" charset="0"/>
                        </a:rPr>
                        <a:t>После подписания договора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282">
                <a:tc>
                  <a:txBody>
                    <a:bodyPr/>
                    <a:lstStyle/>
                    <a:p>
                      <a:pPr algn="l"/>
                      <a:r>
                        <a:rPr lang="ru-RU" sz="1400" b="1" dirty="0">
                          <a:latin typeface="Helvetica Neue"/>
                          <a:cs typeface="Arial" panose="020B0604020202020204" pitchFamily="34" charset="0"/>
                        </a:rPr>
                        <a:t>Сроки </a:t>
                      </a:r>
                      <a:endParaRPr lang="en-US" sz="1400" b="1" dirty="0">
                        <a:latin typeface="Helvetica Neue"/>
                        <a:cs typeface="Arial" panose="020B0604020202020204" pitchFamily="34" charset="0"/>
                      </a:endParaRPr>
                    </a:p>
                    <a:p>
                      <a:pPr algn="l"/>
                      <a:r>
                        <a:rPr lang="ru-RU" sz="1400" b="1" dirty="0">
                          <a:latin typeface="Helvetica Neue"/>
                          <a:cs typeface="Arial" panose="020B0604020202020204" pitchFamily="34" charset="0"/>
                        </a:rPr>
                        <a:t>подключения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ru-RU" sz="1400" dirty="0">
                          <a:latin typeface="Helvetica Neue"/>
                          <a:cs typeface="Arial" panose="020B0604020202020204" pitchFamily="34" charset="0"/>
                        </a:rPr>
                        <a:t>1-2 дня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ru-RU" sz="1400" dirty="0">
                          <a:latin typeface="Helvetica Neue"/>
                          <a:cs typeface="Arial" panose="020B0604020202020204" pitchFamily="34" charset="0"/>
                        </a:rPr>
                        <a:t>7-30 дней (зависит от сложности постройки сети)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4FD8AFE-9381-944D-F3EA-28E5E39469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2322" y="399717"/>
            <a:ext cx="736255" cy="2410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E82372-F76B-C953-2C05-F7D69E68ACFE}"/>
              </a:ext>
            </a:extLst>
          </p:cNvPr>
          <p:cNvSpPr txBox="1"/>
          <p:nvPr/>
        </p:nvSpPr>
        <p:spPr>
          <a:xfrm>
            <a:off x="677622" y="332556"/>
            <a:ext cx="5884482" cy="5847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2800" b="1" dirty="0">
                <a:solidFill>
                  <a:srgbClr val="6A2E92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Сравнение</a:t>
            </a:r>
            <a:endParaRPr lang="en-US" sz="2800" b="1" dirty="0">
              <a:solidFill>
                <a:srgbClr val="6A2E92"/>
              </a:solidFill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6098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3D561B-C22A-433D-ACF7-02CCF929F33A}"/>
              </a:ext>
            </a:extLst>
          </p:cNvPr>
          <p:cNvSpPr/>
          <p:nvPr/>
        </p:nvSpPr>
        <p:spPr>
          <a:xfrm>
            <a:off x="704101" y="4779816"/>
            <a:ext cx="1059889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* При первичном подключении Тарифного плана не с 1-го числа месяца абонентская плата списана не будет, ежемесячный пакет минут для звонков</a:t>
            </a:r>
          </a:p>
          <a:p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на номера сотовых операторов по Казахстану предоставлен не будет, тарификация используемых в этом месяце услуг будет производиться по тарифам, указанным в таблице.</a:t>
            </a:r>
            <a:b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В дальнейшем, абонентская плата списывается каждое 1-е число месяца, следующего за учетным, независимо от даты отключения Тарифного плана. В абонентскую плату включена стоимость ежемесячного пакета минут для звонков на номера всех сотовых операторов по Казахстану.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b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** Минуты в пакете действуют в течение календарного месяца и на следующий месяц не переносятся. После исчерпания пакета минут в учетном месяце исходящие звонки </a:t>
            </a:r>
            <a:r>
              <a:rPr lang="ru-RU" sz="1000" dirty="0">
                <a:latin typeface="Arial" panose="020B0604020202020204" pitchFamily="34" charset="0"/>
                <a:ea typeface="ヒラギノ角ゴ ProN W3" charset="-128"/>
                <a:cs typeface="Arial" panose="020B0604020202020204" pitchFamily="34" charset="0"/>
                <a:sym typeface="Pragmatica" charset="0"/>
              </a:rPr>
              <a:t>на номера всех сотовых операторов </a:t>
            </a: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по Казахстану тарифицируются согласно условиям тарифного плана.</a:t>
            </a:r>
          </a:p>
        </p:txBody>
      </p:sp>
      <p:graphicFrame>
        <p:nvGraphicFramePr>
          <p:cNvPr id="3" name="Group 5">
            <a:extLst>
              <a:ext uri="{FF2B5EF4-FFF2-40B4-BE49-F238E27FC236}">
                <a16:creationId xmlns:a16="http://schemas.microsoft.com/office/drawing/2014/main" id="{3E72BE0C-C431-4A59-B945-2E4D0DC8D8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8895310"/>
              </p:ext>
            </p:extLst>
          </p:nvPr>
        </p:nvGraphicFramePr>
        <p:xfrm>
          <a:off x="704101" y="1339520"/>
          <a:ext cx="10993380" cy="3191144"/>
        </p:xfrm>
        <a:graphic>
          <a:graphicData uri="http://schemas.openxmlformats.org/drawingml/2006/table">
            <a:tbl>
              <a:tblPr/>
              <a:tblGrid>
                <a:gridCol w="4413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882658430"/>
                    </a:ext>
                  </a:extLst>
                </a:gridCol>
                <a:gridCol w="2286781">
                  <a:extLst>
                    <a:ext uri="{9D8B030D-6E8A-4147-A177-3AD203B41FA5}">
                      <a16:colId xmlns:a16="http://schemas.microsoft.com/office/drawing/2014/main" val="3158258357"/>
                    </a:ext>
                  </a:extLst>
                </a:gridCol>
              </a:tblGrid>
              <a:tr h="543089">
                <a:tc>
                  <a:txBody>
                    <a:bodyPr/>
                    <a:lstStyle/>
                    <a:p>
                      <a:pPr marL="39688" marR="0" lvl="0" indent="0" algn="ctr" defTabSz="914400" rtl="0" eaLnBrk="1" fontAlgn="base" latinLnBrk="0" hangingPunct="1">
                        <a:lnSpc>
                          <a:spcPct val="8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52D86"/>
                        </a:buClr>
                        <a:buSzPct val="11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ru-RU" sz="16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Pragmatica Book Reg"/>
                          <a:ea typeface="ヒラギノ角ゴ ProN W3" charset="-128"/>
                          <a:cs typeface="Arial" panose="020B0604020202020204" pitchFamily="34" charset="0"/>
                          <a:sym typeface="Pragmatica" charset="0"/>
                        </a:rPr>
                        <a:t>ТАРИФНЫЕ ПЛАНЫ</a:t>
                      </a:r>
                    </a:p>
                  </a:txBody>
                  <a:tcPr marL="50800" marR="50800" marT="50800" marB="508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6D71E"/>
                    </a:solidFill>
                  </a:tcPr>
                </a:tc>
                <a:tc>
                  <a:txBody>
                    <a:bodyPr/>
                    <a:lstStyle/>
                    <a:p>
                      <a:pPr marL="39688" marR="0" lvl="0" indent="0" algn="ctr" defTabSz="914400" rtl="0" eaLnBrk="1" fontAlgn="base" latinLnBrk="0" hangingPunct="1">
                        <a:lnSpc>
                          <a:spcPct val="8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52D86"/>
                        </a:buClr>
                        <a:buSzPct val="11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ru-RU" sz="16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Pragmatica Book Reg"/>
                          <a:ea typeface="ヒラギノ角ゴ ProN W3" charset="-128"/>
                          <a:cs typeface="Arial" panose="020B0604020202020204" pitchFamily="34" charset="0"/>
                          <a:sym typeface="Pragmatica" charset="0"/>
                        </a:rPr>
                        <a:t>СТАРТОВЫЙ 10</a:t>
                      </a:r>
                    </a:p>
                  </a:txBody>
                  <a:tcPr marL="50800" marR="50800" marT="50800" marB="508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6D71E"/>
                    </a:solidFill>
                  </a:tcPr>
                </a:tc>
                <a:tc>
                  <a:txBody>
                    <a:bodyPr/>
                    <a:lstStyle/>
                    <a:p>
                      <a:pPr marL="39688" marR="0" lvl="0" indent="0" algn="ctr" defTabSz="914400" rtl="0" eaLnBrk="1" fontAlgn="base" latinLnBrk="0" hangingPunct="1">
                        <a:lnSpc>
                          <a:spcPct val="8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52D86"/>
                        </a:buClr>
                        <a:buSzPct val="11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ru-RU" sz="16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Pragmatica Book Reg"/>
                          <a:ea typeface="ヒラギノ角ゴ ProN W3" charset="-128"/>
                          <a:cs typeface="Arial" panose="020B0604020202020204" pitchFamily="34" charset="0"/>
                          <a:sym typeface="Pragmatica" charset="0"/>
                        </a:rPr>
                        <a:t>БИЗНЕС ПАКЕТ </a:t>
                      </a:r>
                      <a:r>
                        <a:rPr kumimoji="0" lang="en-US" sz="16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Pragmatica Book Reg"/>
                          <a:ea typeface="ヒラギノ角ゴ ProN W3" charset="-128"/>
                          <a:cs typeface="Arial" panose="020B0604020202020204" pitchFamily="34" charset="0"/>
                          <a:sym typeface="Pragmatica" charset="0"/>
                        </a:rPr>
                        <a:t>30</a:t>
                      </a:r>
                      <a:endParaRPr kumimoji="0" lang="ru-RU" sz="1600" b="1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Pragmatica Book Reg"/>
                        <a:ea typeface="ヒラギノ角ゴ ProN W3" charset="-128"/>
                        <a:cs typeface="Arial" panose="020B0604020202020204" pitchFamily="34" charset="0"/>
                        <a:sym typeface="Pragmatica" charset="0"/>
                      </a:endParaRPr>
                    </a:p>
                  </a:txBody>
                  <a:tcPr marL="50800" marR="50800" marT="50800" marB="508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6D71E"/>
                    </a:solidFill>
                  </a:tcPr>
                </a:tc>
                <a:tc>
                  <a:txBody>
                    <a:bodyPr/>
                    <a:lstStyle/>
                    <a:p>
                      <a:pPr marL="39688" marR="0" lvl="0" indent="0" algn="ctr" defTabSz="914400" rtl="0" eaLnBrk="1" fontAlgn="base" latinLnBrk="0" hangingPunct="1">
                        <a:lnSpc>
                          <a:spcPct val="8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52D86"/>
                        </a:buClr>
                        <a:buSzPct val="11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ru-RU" sz="16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Pragmatica Book Reg"/>
                          <a:ea typeface="ヒラギノ角ゴ ProN W3" charset="-128"/>
                          <a:cs typeface="Arial" panose="020B0604020202020204" pitchFamily="34" charset="0"/>
                          <a:sym typeface="Pragmatica" charset="0"/>
                        </a:rPr>
                        <a:t>БИЗНЕС ПАКЕТ </a:t>
                      </a:r>
                      <a:r>
                        <a:rPr kumimoji="0" lang="en-US" sz="16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Pragmatica Book Reg"/>
                          <a:ea typeface="ヒラギノ角ゴ ProN W3" charset="-128"/>
                          <a:cs typeface="Arial" panose="020B0604020202020204" pitchFamily="34" charset="0"/>
                          <a:sym typeface="Pragmatica" charset="0"/>
                        </a:rPr>
                        <a:t>30</a:t>
                      </a:r>
                      <a:endParaRPr kumimoji="0" lang="ru-RU" sz="1600" b="1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Pragmatica Book Reg"/>
                        <a:ea typeface="ヒラギノ角ゴ ProN W3" charset="-128"/>
                        <a:cs typeface="Arial" panose="020B0604020202020204" pitchFamily="34" charset="0"/>
                        <a:sym typeface="Pragmatica" charset="0"/>
                      </a:endParaRPr>
                    </a:p>
                  </a:txBody>
                  <a:tcPr marL="50800" marR="50800" marT="50800" marB="508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6D7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584">
                <a:tc>
                  <a:txBody>
                    <a:bodyPr/>
                    <a:lstStyle/>
                    <a:p>
                      <a:pPr marL="39688" marR="0" lvl="0" indent="0" algn="l" defTabSz="914400" rtl="0" eaLnBrk="1" fontAlgn="base" latinLnBrk="0" hangingPunct="1">
                        <a:lnSpc>
                          <a:spcPct val="8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52D86"/>
                        </a:buClr>
                        <a:buSzPct val="11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ru-RU" sz="14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agmatica Book Reg"/>
                          <a:ea typeface="ヒラギノ角ゴ ProN W3" charset="-128"/>
                          <a:cs typeface="Arial" panose="020B0604020202020204" pitchFamily="34" charset="0"/>
                          <a:sym typeface="Pragmatica" charset="0"/>
                        </a:rPr>
                        <a:t>Ежемесячная абонентская плата*</a:t>
                      </a:r>
                    </a:p>
                  </a:txBody>
                  <a:tcPr marL="50800" marR="50800" marT="50800" marB="508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Pragmatica Book Reg"/>
                          <a:cs typeface="Arial" panose="020B0604020202020204" pitchFamily="34" charset="0"/>
                        </a:rPr>
                        <a:t>10 000</a:t>
                      </a:r>
                      <a:endParaRPr lang="en-US" sz="1400" dirty="0">
                        <a:latin typeface="Pragmatica Book Reg"/>
                        <a:cs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9688" marR="0" lvl="0" indent="0" algn="ctr" defTabSz="914400" rtl="0" eaLnBrk="1" fontAlgn="base" latinLnBrk="0" hangingPunct="1">
                        <a:lnSpc>
                          <a:spcPct val="8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52D86"/>
                        </a:buClr>
                        <a:buSzPct val="11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Pragmatica Book Reg"/>
                          <a:ea typeface="ヒラギノ角ゴ ProN W3" charset="-128"/>
                          <a:cs typeface="Arial" panose="020B0604020202020204" pitchFamily="34" charset="0"/>
                          <a:sym typeface="Pragmatica" charset="0"/>
                        </a:rPr>
                        <a:t>30 000</a:t>
                      </a:r>
                      <a:endParaRPr kumimoji="0" lang="ru-RU" sz="14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Pragmatica Book Reg"/>
                        <a:ea typeface="ヒラギノ角ゴ ProN W3" charset="-128"/>
                        <a:cs typeface="Arial" panose="020B0604020202020204" pitchFamily="34" charset="0"/>
                        <a:sym typeface="Pragmatica" charset="0"/>
                      </a:endParaRPr>
                    </a:p>
                  </a:txBody>
                  <a:tcPr marL="50800" marR="50800" marT="50800" marB="508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9688" marR="0" lvl="0" indent="0" algn="ctr" defTabSz="914400" rtl="0" eaLnBrk="1" fontAlgn="base" latinLnBrk="0" hangingPunct="1">
                        <a:lnSpc>
                          <a:spcPct val="8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52D86"/>
                        </a:buClr>
                        <a:buSzPct val="110000"/>
                        <a:buFont typeface="Arial" pitchFamily="34" charset="0"/>
                        <a:buNone/>
                        <a:tabLst/>
                      </a:pPr>
                      <a:r>
                        <a:rPr kumimoji="0" lang="ru-RU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Pragmatica Book Reg"/>
                          <a:ea typeface="ヒラギノ角ゴ ProN W3" charset="-128"/>
                          <a:cs typeface="Arial" panose="020B0604020202020204" pitchFamily="34" charset="0"/>
                          <a:sym typeface="Pragmatica" charset="0"/>
                        </a:rPr>
                        <a:t>50</a:t>
                      </a:r>
                      <a:r>
                        <a:rPr kumimoji="0" lang="en-US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Pragmatica Book Reg"/>
                          <a:ea typeface="ヒラギノ角ゴ ProN W3" charset="-128"/>
                          <a:cs typeface="Arial" panose="020B0604020202020204" pitchFamily="34" charset="0"/>
                          <a:sym typeface="Pragmatica" charset="0"/>
                        </a:rPr>
                        <a:t> 000</a:t>
                      </a:r>
                      <a:endParaRPr kumimoji="0" lang="ru-RU" sz="14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Pragmatica Book Reg"/>
                        <a:ea typeface="ヒラギノ角ゴ ProN W3" charset="-128"/>
                        <a:cs typeface="Arial" panose="020B0604020202020204" pitchFamily="34" charset="0"/>
                        <a:sym typeface="Pragmatica" charset="0"/>
                      </a:endParaRPr>
                    </a:p>
                  </a:txBody>
                  <a:tcPr marL="50800" marR="50800" marT="50800" marB="508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5856">
                <a:tc>
                  <a:txBody>
                    <a:bodyPr/>
                    <a:lstStyle/>
                    <a:p>
                      <a:pPr marL="39688" marR="0" lvl="0" indent="0" algn="l" defTabSz="914400" rtl="0" eaLnBrk="1" fontAlgn="base" latinLnBrk="0" hangingPunct="1">
                        <a:lnSpc>
                          <a:spcPct val="8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52D86"/>
                        </a:buClr>
                        <a:buSzPct val="11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ru-RU" sz="14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agmatica Book Reg"/>
                          <a:ea typeface="ヒラギノ角ゴ ProN W3" charset="-128"/>
                          <a:cs typeface="Arial" panose="020B0604020202020204" pitchFamily="34" charset="0"/>
                          <a:sym typeface="Pragmatica" charset="0"/>
                        </a:rPr>
                        <a:t>Ежемесячный пакет минут для звонков на номера</a:t>
                      </a:r>
                      <a:br>
                        <a:rPr kumimoji="0" lang="ru-RU" sz="14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agmatica Book Reg"/>
                          <a:ea typeface="ヒラギノ角ゴ ProN W3" charset="-128"/>
                          <a:cs typeface="Arial" panose="020B0604020202020204" pitchFamily="34" charset="0"/>
                          <a:sym typeface="Pragmatica" charset="0"/>
                        </a:rPr>
                      </a:br>
                      <a:r>
                        <a:rPr kumimoji="0" lang="ru-RU" sz="14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agmatica Book Reg"/>
                          <a:ea typeface="ヒラギノ角ゴ ProN W3" charset="-128"/>
                          <a:cs typeface="Arial" panose="020B0604020202020204" pitchFamily="34" charset="0"/>
                          <a:sym typeface="Pragmatica" charset="0"/>
                        </a:rPr>
                        <a:t>всех сотовых операторов по Казахстану**</a:t>
                      </a:r>
                    </a:p>
                  </a:txBody>
                  <a:tcPr marL="50800" marR="50800" marT="50800" marB="508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9688" marR="0" lvl="0" indent="0" algn="ctr" defTabSz="914400" rtl="0" eaLnBrk="1" fontAlgn="base" latinLnBrk="0" hangingPunct="1">
                        <a:lnSpc>
                          <a:spcPct val="8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52D86"/>
                        </a:buClr>
                        <a:buSzPct val="110000"/>
                        <a:buFont typeface="Arial" pitchFamily="34" charset="0"/>
                        <a:buNone/>
                        <a:tabLst/>
                      </a:pPr>
                      <a:r>
                        <a:rPr kumimoji="0" lang="ru-RU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agmatica Book Reg"/>
                          <a:ea typeface="ヒラギノ角ゴ ProN W3" charset="-128"/>
                          <a:cs typeface="Arial" panose="020B0604020202020204" pitchFamily="34" charset="0"/>
                        </a:rPr>
                        <a:t>1 250</a:t>
                      </a:r>
                      <a:endParaRPr kumimoji="0" 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agmatica Book Reg"/>
                        <a:ea typeface="ヒラギノ角ゴ ProN W3" charset="-128"/>
                        <a:cs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9688" marR="0" lvl="0" indent="0" algn="ctr" defTabSz="914400" rtl="0" eaLnBrk="1" fontAlgn="base" latinLnBrk="0" hangingPunct="1">
                        <a:lnSpc>
                          <a:spcPct val="8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52D86"/>
                        </a:buClr>
                        <a:buSzPct val="11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Pragmatica Book Reg"/>
                          <a:ea typeface="ヒラギノ角ゴ ProN W3" charset="-128"/>
                          <a:cs typeface="Arial" panose="020B0604020202020204" pitchFamily="34" charset="0"/>
                          <a:sym typeface="Pragmatica" charset="0"/>
                        </a:rPr>
                        <a:t>3 000</a:t>
                      </a:r>
                      <a:endParaRPr kumimoji="0" lang="ru-RU" sz="14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Pragmatica Book Reg"/>
                        <a:ea typeface="ヒラギノ角ゴ ProN W3" charset="-128"/>
                        <a:cs typeface="Arial" panose="020B0604020202020204" pitchFamily="34" charset="0"/>
                        <a:sym typeface="Pragmatica" charset="0"/>
                      </a:endParaRPr>
                    </a:p>
                  </a:txBody>
                  <a:tcPr marL="50800" marR="50800" marT="50800" marB="508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9688" marR="0" lvl="0" indent="0" algn="ctr" defTabSz="914400" rtl="0" eaLnBrk="1" fontAlgn="base" latinLnBrk="0" hangingPunct="1">
                        <a:lnSpc>
                          <a:spcPct val="8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52D86"/>
                        </a:buClr>
                        <a:buSzPct val="110000"/>
                        <a:buFont typeface="Arial" pitchFamily="34" charset="0"/>
                        <a:buNone/>
                        <a:tabLst/>
                      </a:pPr>
                      <a:r>
                        <a:rPr kumimoji="0" lang="ru-RU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Pragmatica Book Reg"/>
                          <a:ea typeface="ヒラギノ角ゴ ProN W3" charset="-128"/>
                          <a:cs typeface="Arial" panose="020B0604020202020204" pitchFamily="34" charset="0"/>
                          <a:sym typeface="Pragmatica" charset="0"/>
                        </a:rPr>
                        <a:t>5 556</a:t>
                      </a:r>
                    </a:p>
                  </a:txBody>
                  <a:tcPr marL="50800" marR="50800" marT="50800" marB="508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666">
                <a:tc>
                  <a:txBody>
                    <a:bodyPr/>
                    <a:lstStyle/>
                    <a:p>
                      <a:pPr marL="39688" marR="0" lvl="0" indent="0" algn="l" defTabSz="914400" rtl="0" eaLnBrk="1" fontAlgn="base" latinLnBrk="0" hangingPunct="1">
                        <a:lnSpc>
                          <a:spcPct val="8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52D86"/>
                        </a:buClr>
                        <a:buSzPct val="11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tx1"/>
                          </a:solidFill>
                          <a:effectLst/>
                          <a:latin typeface="Pragmatica Book Reg"/>
                          <a:ea typeface="+mn-ea"/>
                          <a:cs typeface="Arial" panose="020B0604020202020204" pitchFamily="34" charset="0"/>
                        </a:rPr>
                        <a:t>Внутри сети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Helvetica Neue" panose="02000503000000020004"/>
                          <a:ea typeface="+mn-ea"/>
                          <a:cs typeface="Arial" panose="020B0604020202020204" pitchFamily="34" charset="0"/>
                        </a:rPr>
                        <a:t>Kcell</a:t>
                      </a:r>
                      <a:r>
                        <a:rPr lang="ru-RU" sz="1400" kern="1200" dirty="0">
                          <a:solidFill>
                            <a:schemeClr val="tx1"/>
                          </a:solidFill>
                          <a:effectLst/>
                          <a:latin typeface="Pragmatica Book Reg"/>
                          <a:ea typeface="+mn-ea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Helvetica Neue" panose="02000503000000020004"/>
                          <a:ea typeface="+mn-ea"/>
                          <a:cs typeface="Arial" panose="020B0604020202020204" pitchFamily="34" charset="0"/>
                        </a:rPr>
                        <a:t>activ</a:t>
                      </a:r>
                      <a:r>
                        <a:rPr lang="en-US" sz="1400" kern="1200" baseline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marL="50800" marR="50800" marT="50800" marB="508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9688" marR="0" lvl="0" indent="0" algn="ctr" defTabSz="914400" rtl="0" eaLnBrk="1" fontAlgn="base" latinLnBrk="0" hangingPunct="1">
                        <a:lnSpc>
                          <a:spcPct val="8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52D86"/>
                        </a:buClr>
                        <a:buSzPct val="11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Pragmatica Book Reg"/>
                          <a:ea typeface="ヒラギノ角ゴ ProN W3" charset="-128"/>
                          <a:cs typeface="Arial" panose="020B0604020202020204" pitchFamily="34" charset="0"/>
                          <a:sym typeface="Pragmatica" charset="0"/>
                        </a:rPr>
                        <a:t>11</a:t>
                      </a:r>
                      <a:endParaRPr kumimoji="0" lang="ru-RU" sz="14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Pragmatica Book Reg"/>
                        <a:ea typeface="ヒラギノ角ゴ ProN W3" charset="-128"/>
                        <a:cs typeface="Arial" panose="020B0604020202020204" pitchFamily="34" charset="0"/>
                        <a:sym typeface="Pragmatica" charset="0"/>
                      </a:endParaRPr>
                    </a:p>
                  </a:txBody>
                  <a:tcPr marL="50800" marR="50800" marT="50800" marB="508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9688" marR="0" lvl="0" indent="0" algn="ctr" defTabSz="914400" rtl="0" eaLnBrk="1" fontAlgn="base" latinLnBrk="0" hangingPunct="1">
                        <a:lnSpc>
                          <a:spcPct val="8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52D86"/>
                        </a:buClr>
                        <a:buSzPct val="11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Pragmatica Book Reg"/>
                          <a:ea typeface="ヒラギノ角ゴ ProN W3" charset="-128"/>
                          <a:cs typeface="Arial" panose="020B0604020202020204" pitchFamily="34" charset="0"/>
                          <a:sym typeface="Pragmatica" charset="0"/>
                        </a:rPr>
                        <a:t>11</a:t>
                      </a:r>
                      <a:endParaRPr kumimoji="0" lang="ru-RU" sz="14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Pragmatica Book Reg"/>
                        <a:ea typeface="ヒラギノ角ゴ ProN W3" charset="-128"/>
                        <a:cs typeface="Arial" panose="020B0604020202020204" pitchFamily="34" charset="0"/>
                        <a:sym typeface="Pragmatica" charset="0"/>
                      </a:endParaRPr>
                    </a:p>
                  </a:txBody>
                  <a:tcPr marL="50800" marR="50800" marT="50800" marB="508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9688" marR="0" lvl="0" indent="0" algn="ctr" defTabSz="914400" rtl="0" eaLnBrk="1" fontAlgn="base" latinLnBrk="0" hangingPunct="1">
                        <a:lnSpc>
                          <a:spcPct val="8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52D86"/>
                        </a:buClr>
                        <a:buSzPct val="11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Pragmatica Book Reg"/>
                          <a:ea typeface="ヒラギノ角ゴ ProN W3" charset="-128"/>
                          <a:cs typeface="Arial" panose="020B0604020202020204" pitchFamily="34" charset="0"/>
                          <a:sym typeface="Pragmatica" charset="0"/>
                        </a:rPr>
                        <a:t>11</a:t>
                      </a:r>
                      <a:endParaRPr kumimoji="0" lang="ru-RU" sz="14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Pragmatica Book Reg"/>
                        <a:ea typeface="ヒラギノ角ゴ ProN W3" charset="-128"/>
                        <a:cs typeface="Arial" panose="020B0604020202020204" pitchFamily="34" charset="0"/>
                        <a:sym typeface="Pragmatica" charset="0"/>
                      </a:endParaRPr>
                    </a:p>
                  </a:txBody>
                  <a:tcPr marL="50800" marR="50800" marT="50800" marB="508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951">
                <a:tc>
                  <a:txBody>
                    <a:bodyPr/>
                    <a:lstStyle/>
                    <a:p>
                      <a:pPr marL="39688" marR="0" lvl="0" indent="0" algn="l" defTabSz="914400" rtl="0" eaLnBrk="1" fontAlgn="base" latinLnBrk="0" hangingPunct="1">
                        <a:lnSpc>
                          <a:spcPct val="8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52D86"/>
                        </a:buClr>
                        <a:buSzPct val="11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tx1"/>
                          </a:solidFill>
                          <a:effectLst/>
                          <a:latin typeface="Pragmatica Book Reg"/>
                          <a:ea typeface="+mn-ea"/>
                          <a:cs typeface="Arial" panose="020B0604020202020204" pitchFamily="34" charset="0"/>
                        </a:rPr>
                        <a:t>Внутри корпоративной группы</a:t>
                      </a:r>
                      <a:endParaRPr kumimoji="0" lang="ru-RU" sz="14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agmatica Book Reg"/>
                        <a:ea typeface="ヒラギノ角ゴ ProN W3" charset="-128"/>
                        <a:cs typeface="Arial" panose="020B0604020202020204" pitchFamily="34" charset="0"/>
                        <a:sym typeface="Pragmatica" charset="0"/>
                      </a:endParaRPr>
                    </a:p>
                  </a:txBody>
                  <a:tcPr marL="50800" marR="50800" marT="50800" marB="508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9688" marR="0" lvl="0" indent="0" algn="ctr" defTabSz="914400" rtl="0" eaLnBrk="1" fontAlgn="base" latinLnBrk="0" hangingPunct="1">
                        <a:lnSpc>
                          <a:spcPct val="8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52D86"/>
                        </a:buClr>
                        <a:buSzPct val="11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Pragmatica Book Reg"/>
                          <a:ea typeface="ヒラギノ角ゴ ProN W3" charset="-128"/>
                          <a:cs typeface="Arial" panose="020B0604020202020204" pitchFamily="34" charset="0"/>
                          <a:sym typeface="Pragmatica" charset="0"/>
                        </a:rPr>
                        <a:t>11</a:t>
                      </a:r>
                      <a:endParaRPr kumimoji="0" lang="ru-RU" sz="14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Pragmatica Book Reg"/>
                        <a:ea typeface="ヒラギノ角ゴ ProN W3" charset="-128"/>
                        <a:cs typeface="Arial" panose="020B0604020202020204" pitchFamily="34" charset="0"/>
                        <a:sym typeface="Pragmatica" charset="0"/>
                      </a:endParaRPr>
                    </a:p>
                  </a:txBody>
                  <a:tcPr marL="50800" marR="50800" marT="50800" marB="508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9688" marR="0" lvl="0" indent="0" algn="ctr" defTabSz="914400" rtl="0" eaLnBrk="1" fontAlgn="base" latinLnBrk="0" hangingPunct="1">
                        <a:lnSpc>
                          <a:spcPct val="8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52D86"/>
                        </a:buClr>
                        <a:buSzPct val="11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agmatica Book Reg"/>
                          <a:ea typeface="ヒラギノ角ゴ ProN W3" charset="-128"/>
                          <a:cs typeface="Arial" panose="020B0604020202020204" pitchFamily="34" charset="0"/>
                          <a:sym typeface="Pragmatica" charset="0"/>
                        </a:rPr>
                        <a:t>11</a:t>
                      </a:r>
                      <a:endParaRPr kumimoji="0" lang="ru-RU" sz="14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agmatica Book Reg"/>
                        <a:ea typeface="ヒラギノ角ゴ ProN W3" charset="-128"/>
                        <a:cs typeface="Arial" panose="020B0604020202020204" pitchFamily="34" charset="0"/>
                        <a:sym typeface="Pragmatica" charset="0"/>
                      </a:endParaRPr>
                    </a:p>
                  </a:txBody>
                  <a:tcPr marL="50800" marR="50800" marT="50800" marB="508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9688" marR="0" lvl="0" indent="0" algn="ctr" defTabSz="914400" rtl="0" eaLnBrk="1" fontAlgn="base" latinLnBrk="0" hangingPunct="1">
                        <a:lnSpc>
                          <a:spcPct val="8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52D86"/>
                        </a:buClr>
                        <a:buSzPct val="11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agmatica Book Reg"/>
                          <a:ea typeface="ヒラギノ角ゴ ProN W3" charset="-128"/>
                          <a:cs typeface="Arial" panose="020B0604020202020204" pitchFamily="34" charset="0"/>
                          <a:sym typeface="Pragmatica" charset="0"/>
                        </a:rPr>
                        <a:t>11</a:t>
                      </a:r>
                      <a:endParaRPr kumimoji="0" lang="ru-RU" sz="14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agmatica Book Reg"/>
                        <a:ea typeface="ヒラギノ角ゴ ProN W3" charset="-128"/>
                        <a:cs typeface="Arial" panose="020B0604020202020204" pitchFamily="34" charset="0"/>
                        <a:sym typeface="Pragmatica" charset="0"/>
                      </a:endParaRPr>
                    </a:p>
                  </a:txBody>
                  <a:tcPr marL="50800" marR="50800" marT="50800" marB="508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666">
                <a:tc>
                  <a:txBody>
                    <a:bodyPr/>
                    <a:lstStyle/>
                    <a:p>
                      <a:pPr marL="39688" marR="0" lvl="0" indent="0" algn="l" defTabSz="914400" rtl="0" eaLnBrk="1" fontAlgn="base" latinLnBrk="0" hangingPunct="1">
                        <a:lnSpc>
                          <a:spcPct val="8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52D86"/>
                        </a:buClr>
                        <a:buSzPct val="11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tx1"/>
                          </a:solidFill>
                          <a:effectLst/>
                          <a:latin typeface="Pragmatica Book Reg"/>
                          <a:ea typeface="+mn-ea"/>
                          <a:cs typeface="Arial" panose="020B0604020202020204" pitchFamily="34" charset="0"/>
                        </a:rPr>
                        <a:t>На других операторов РК</a:t>
                      </a:r>
                      <a:endParaRPr kumimoji="0" lang="ru-RU" sz="14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agmatica Book Reg"/>
                        <a:ea typeface="ヒラギノ角ゴ ProN W3" charset="-128"/>
                        <a:cs typeface="Arial" panose="020B0604020202020204" pitchFamily="34" charset="0"/>
                        <a:sym typeface="Pragmatica" charset="0"/>
                      </a:endParaRPr>
                    </a:p>
                  </a:txBody>
                  <a:tcPr marL="50800" marR="50800" marT="50800" marB="508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9688" marR="0" lvl="0" indent="0" algn="ctr" defTabSz="914400" rtl="0" eaLnBrk="1" fontAlgn="base" latinLnBrk="0" hangingPunct="1">
                        <a:lnSpc>
                          <a:spcPct val="8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52D86"/>
                        </a:buClr>
                        <a:buSzPct val="11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Pragmatica Book Reg"/>
                          <a:ea typeface="ヒラギノ角ゴ ProN W3" charset="-128"/>
                          <a:cs typeface="Arial" panose="020B0604020202020204" pitchFamily="34" charset="0"/>
                          <a:sym typeface="Pragmatica" charset="0"/>
                        </a:rPr>
                        <a:t>11</a:t>
                      </a:r>
                      <a:endParaRPr kumimoji="0" lang="ru-RU" sz="14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Pragmatica Book Reg"/>
                        <a:ea typeface="ヒラギノ角ゴ ProN W3" charset="-128"/>
                        <a:cs typeface="Arial" panose="020B0604020202020204" pitchFamily="34" charset="0"/>
                        <a:sym typeface="Pragmatica" charset="0"/>
                      </a:endParaRPr>
                    </a:p>
                  </a:txBody>
                  <a:tcPr marL="50800" marR="50800" marT="50800" marB="508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9688" marR="0" lvl="0" indent="0" algn="ctr" defTabSz="914400" rtl="0" eaLnBrk="1" fontAlgn="base" latinLnBrk="0" hangingPunct="1">
                        <a:lnSpc>
                          <a:spcPct val="8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52D86"/>
                        </a:buClr>
                        <a:buSzPct val="11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agmatica Book Reg"/>
                          <a:ea typeface="ヒラギノ角ゴ ProN W3" charset="-128"/>
                          <a:cs typeface="Arial" panose="020B0604020202020204" pitchFamily="34" charset="0"/>
                          <a:sym typeface="Pragmatica" charset="0"/>
                        </a:rPr>
                        <a:t>11</a:t>
                      </a:r>
                      <a:endParaRPr kumimoji="0" lang="ru-RU" sz="14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agmatica Book Reg"/>
                        <a:ea typeface="ヒラギノ角ゴ ProN W3" charset="-128"/>
                        <a:cs typeface="Arial" panose="020B0604020202020204" pitchFamily="34" charset="0"/>
                        <a:sym typeface="Pragmatica" charset="0"/>
                      </a:endParaRPr>
                    </a:p>
                  </a:txBody>
                  <a:tcPr marL="50800" marR="50800" marT="50800" marB="508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9688" marR="0" lvl="0" indent="0" algn="ctr" defTabSz="914400" rtl="0" eaLnBrk="1" fontAlgn="base" latinLnBrk="0" hangingPunct="1">
                        <a:lnSpc>
                          <a:spcPct val="8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52D86"/>
                        </a:buClr>
                        <a:buSzPct val="11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agmatica Book Reg"/>
                          <a:ea typeface="ヒラギノ角ゴ ProN W3" charset="-128"/>
                          <a:cs typeface="Arial" panose="020B0604020202020204" pitchFamily="34" charset="0"/>
                          <a:sym typeface="Pragmatica" charset="0"/>
                        </a:rPr>
                        <a:t>11</a:t>
                      </a:r>
                      <a:endParaRPr kumimoji="0" lang="ru-RU" sz="14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agmatica Book Reg"/>
                        <a:ea typeface="ヒラギノ角ゴ ProN W3" charset="-128"/>
                        <a:cs typeface="Arial" panose="020B0604020202020204" pitchFamily="34" charset="0"/>
                        <a:sym typeface="Pragmatica" charset="0"/>
                      </a:endParaRPr>
                    </a:p>
                  </a:txBody>
                  <a:tcPr marL="50800" marR="50800" marT="50800" marB="508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706743"/>
                  </a:ext>
                </a:extLst>
              </a:tr>
              <a:tr h="297666">
                <a:tc>
                  <a:txBody>
                    <a:bodyPr/>
                    <a:lstStyle/>
                    <a:p>
                      <a:pPr marL="39688" marR="0" lvl="0" indent="0" algn="l" defTabSz="914400" rtl="0" eaLnBrk="1" fontAlgn="base" latinLnBrk="0" hangingPunct="1">
                        <a:lnSpc>
                          <a:spcPct val="8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52D86"/>
                        </a:buClr>
                        <a:buSzPct val="11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ru-RU" sz="14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agmatica Book Reg"/>
                          <a:ea typeface="ヒラギノ角ゴ ProN W3" charset="-128"/>
                          <a:cs typeface="Arial" panose="020B0604020202020204" pitchFamily="34" charset="0"/>
                          <a:sym typeface="Pragmatica" charset="0"/>
                        </a:rPr>
                        <a:t>На городские номера РК</a:t>
                      </a:r>
                    </a:p>
                  </a:txBody>
                  <a:tcPr marL="50800" marR="50800" marT="50800" marB="508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9688" marR="0" lvl="0" indent="0" algn="ctr" defTabSz="914400" rtl="0" eaLnBrk="1" fontAlgn="base" latinLnBrk="0" hangingPunct="1">
                        <a:lnSpc>
                          <a:spcPct val="8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52D86"/>
                        </a:buClr>
                        <a:buSzPct val="11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Pragmatica Book Reg"/>
                          <a:ea typeface="ヒラギノ角ゴ ProN W3" charset="-128"/>
                          <a:cs typeface="Arial" panose="020B0604020202020204" pitchFamily="34" charset="0"/>
                          <a:sym typeface="Pragmatica" charset="0"/>
                        </a:rPr>
                        <a:t>17</a:t>
                      </a:r>
                    </a:p>
                  </a:txBody>
                  <a:tcPr marL="50800" marR="50800" marT="50800" marB="508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9688" marR="0" lvl="0" indent="0" algn="ctr" defTabSz="914400" rtl="0" eaLnBrk="1" fontAlgn="base" latinLnBrk="0" hangingPunct="1">
                        <a:lnSpc>
                          <a:spcPct val="8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52D86"/>
                        </a:buClr>
                        <a:buSzPct val="110000"/>
                        <a:buFont typeface="Arial" pitchFamily="34" charset="0"/>
                        <a:buNone/>
                        <a:tabLst/>
                      </a:pPr>
                      <a:r>
                        <a:rPr kumimoji="0" lang="ru-RU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agmatica Book Reg"/>
                          <a:ea typeface="ヒラギノ角ゴ ProN W3" charset="-128"/>
                          <a:cs typeface="Arial" panose="020B0604020202020204" pitchFamily="34" charset="0"/>
                          <a:sym typeface="Pragmatica" charset="0"/>
                        </a:rPr>
                        <a:t>17</a:t>
                      </a:r>
                    </a:p>
                  </a:txBody>
                  <a:tcPr marL="50800" marR="50800" marT="50800" marB="508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9688" marR="0" lvl="0" indent="0" algn="ctr" defTabSz="914400" rtl="0" eaLnBrk="1" fontAlgn="base" latinLnBrk="0" hangingPunct="1">
                        <a:lnSpc>
                          <a:spcPct val="8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52D86"/>
                        </a:buClr>
                        <a:buSzPct val="110000"/>
                        <a:buFont typeface="Arial" pitchFamily="34" charset="0"/>
                        <a:buNone/>
                        <a:tabLst/>
                      </a:pPr>
                      <a:r>
                        <a:rPr kumimoji="0" lang="ru-RU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agmatica Book Reg"/>
                          <a:ea typeface="ヒラギノ角ゴ ProN W3" charset="-128"/>
                          <a:cs typeface="Arial" panose="020B0604020202020204" pitchFamily="34" charset="0"/>
                          <a:sym typeface="Pragmatica" charset="0"/>
                        </a:rPr>
                        <a:t>17</a:t>
                      </a:r>
                    </a:p>
                  </a:txBody>
                  <a:tcPr marL="50800" marR="50800" marT="50800" marB="508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666">
                <a:tc>
                  <a:txBody>
                    <a:bodyPr/>
                    <a:lstStyle/>
                    <a:p>
                      <a:pPr marL="39688" marR="0" lvl="0" indent="0" algn="l" defTabSz="914400" rtl="0" eaLnBrk="1" fontAlgn="base" latinLnBrk="0" hangingPunct="1">
                        <a:lnSpc>
                          <a:spcPct val="8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52D86"/>
                        </a:buClr>
                        <a:buSzPct val="11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ru-RU" sz="14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agmatica Book Reg"/>
                          <a:ea typeface="ヒラギノ角ゴ ProN W3" charset="-128"/>
                          <a:cs typeface="Arial" panose="020B0604020202020204" pitchFamily="34" charset="0"/>
                          <a:sym typeface="Pragmatica" charset="0"/>
                        </a:rPr>
                        <a:t>Шаг округления</a:t>
                      </a:r>
                    </a:p>
                  </a:txBody>
                  <a:tcPr marL="50800" marR="50800" marT="50800" marB="508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39688" marR="0" lvl="0" indent="0" algn="ctr" defTabSz="914400" rtl="0" eaLnBrk="1" fontAlgn="base" latinLnBrk="0" hangingPunct="1">
                        <a:lnSpc>
                          <a:spcPct val="8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52D86"/>
                        </a:buClr>
                        <a:buSzPct val="110000"/>
                        <a:buFont typeface="Arial" pitchFamily="34" charset="0"/>
                        <a:buNone/>
                        <a:tabLst/>
                      </a:pPr>
                      <a:r>
                        <a:rPr kumimoji="0" lang="ru-RU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agmatica Book Reg"/>
                          <a:ea typeface="ヒラギノ角ゴ ProN W3" charset="-128"/>
                          <a:cs typeface="Arial" panose="020B0604020202020204" pitchFamily="34" charset="0"/>
                          <a:sym typeface="Pragmatica" charset="0"/>
                        </a:rPr>
                        <a:t>1 секунда</a:t>
                      </a:r>
                    </a:p>
                  </a:txBody>
                  <a:tcPr marL="50800" marR="50800" marT="50800" marB="508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mpd="sng">
                      <a:noFill/>
                      <a:prstDash val="solid"/>
                    </a:lnL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39688" marR="0" lvl="0" indent="0" algn="ctr" defTabSz="914400" rtl="0" eaLnBrk="1" fontAlgn="base" latinLnBrk="0" hangingPunct="1">
                        <a:lnSpc>
                          <a:spcPct val="8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52D86"/>
                        </a:buClr>
                        <a:buSzPct val="110000"/>
                        <a:buFont typeface="Arial" pitchFamily="34" charset="0"/>
                        <a:buNone/>
                        <a:tabLst/>
                      </a:pPr>
                      <a:r>
                        <a:rPr kumimoji="0" lang="ru-RU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agmatica Book Reg"/>
                          <a:ea typeface="ヒラギノ角ゴ ProN W3" charset="-128"/>
                          <a:cs typeface="Arial" panose="020B0604020202020204" pitchFamily="34" charset="0"/>
                          <a:sym typeface="Pragmatica" charset="0"/>
                        </a:rPr>
                        <a:t>15</a:t>
                      </a: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E6699C9-53DF-C0F0-A923-71A5D7CE06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2322" y="399717"/>
            <a:ext cx="736255" cy="2410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08EC08-A097-731F-96CC-8D9422E3E0AB}"/>
              </a:ext>
            </a:extLst>
          </p:cNvPr>
          <p:cNvSpPr txBox="1"/>
          <p:nvPr/>
        </p:nvSpPr>
        <p:spPr>
          <a:xfrm>
            <a:off x="677622" y="332556"/>
            <a:ext cx="5884482" cy="5847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2800" b="1" dirty="0">
                <a:solidFill>
                  <a:srgbClr val="6A2E92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Ценовое предложение</a:t>
            </a:r>
            <a:endParaRPr lang="en-US" sz="2800" b="1" dirty="0">
              <a:solidFill>
                <a:srgbClr val="6A2E92"/>
              </a:solidFill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7312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Скругленный прямоугольник 32">
            <a:extLst>
              <a:ext uri="{FF2B5EF4-FFF2-40B4-BE49-F238E27FC236}">
                <a16:creationId xmlns:a16="http://schemas.microsoft.com/office/drawing/2014/main" id="{4750B38D-2430-FB1A-3382-8FAB6E1F1157}"/>
              </a:ext>
            </a:extLst>
          </p:cNvPr>
          <p:cNvSpPr/>
          <p:nvPr/>
        </p:nvSpPr>
        <p:spPr>
          <a:xfrm>
            <a:off x="6372261" y="1802013"/>
            <a:ext cx="5388478" cy="144926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4D030C0-B2A9-2DA9-7043-DD4BF4E222E3}"/>
              </a:ext>
            </a:extLst>
          </p:cNvPr>
          <p:cNvSpPr txBox="1"/>
          <p:nvPr/>
        </p:nvSpPr>
        <p:spPr>
          <a:xfrm>
            <a:off x="6636782" y="2558533"/>
            <a:ext cx="1032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>
                <a:latin typeface="Helvetica" panose="020B0604020202020204" pitchFamily="34" charset="0"/>
                <a:cs typeface="Helvetica" panose="020B0604020202020204" pitchFamily="34" charset="0"/>
              </a:rPr>
              <a:t>Внутренний</a:t>
            </a:r>
          </a:p>
          <a:p>
            <a:pPr algn="ctr"/>
            <a:r>
              <a:rPr lang="ru-RU" sz="1200" dirty="0">
                <a:latin typeface="Helvetica" panose="020B0604020202020204" pitchFamily="34" charset="0"/>
                <a:cs typeface="Helvetica" panose="020B0604020202020204" pitchFamily="34" charset="0"/>
              </a:rPr>
              <a:t>номер</a:t>
            </a:r>
          </a:p>
        </p:txBody>
      </p:sp>
      <p:cxnSp>
        <p:nvCxnSpPr>
          <p:cNvPr id="118" name="Прямая со стрелкой 117">
            <a:extLst>
              <a:ext uri="{FF2B5EF4-FFF2-40B4-BE49-F238E27FC236}">
                <a16:creationId xmlns:a16="http://schemas.microsoft.com/office/drawing/2014/main" id="{9EBBAEA5-349B-6173-2FC1-5AF8E44A1873}"/>
              </a:ext>
            </a:extLst>
          </p:cNvPr>
          <p:cNvCxnSpPr>
            <a:cxnSpLocks/>
          </p:cNvCxnSpPr>
          <p:nvPr/>
        </p:nvCxnSpPr>
        <p:spPr>
          <a:xfrm>
            <a:off x="7618541" y="2322706"/>
            <a:ext cx="1972567" cy="0"/>
          </a:xfrm>
          <a:prstGeom prst="straightConnector1">
            <a:avLst/>
          </a:prstGeom>
          <a:ln w="38100">
            <a:solidFill>
              <a:srgbClr val="6A2D9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9" name="Рисунок 118">
            <a:extLst>
              <a:ext uri="{FF2B5EF4-FFF2-40B4-BE49-F238E27FC236}">
                <a16:creationId xmlns:a16="http://schemas.microsoft.com/office/drawing/2014/main" id="{36EC6ADF-ED8D-555A-71B5-D1E0F55FCB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0994" y="1998027"/>
            <a:ext cx="537818" cy="537818"/>
          </a:xfrm>
          <a:prstGeom prst="rect">
            <a:avLst/>
          </a:prstGeom>
        </p:spPr>
      </p:pic>
      <p:sp>
        <p:nvSpPr>
          <p:cNvPr id="18" name="Скругленный прямоугольник 32">
            <a:extLst>
              <a:ext uri="{FF2B5EF4-FFF2-40B4-BE49-F238E27FC236}">
                <a16:creationId xmlns:a16="http://schemas.microsoft.com/office/drawing/2014/main" id="{E76A8C98-95E4-4DA5-A984-6498B2442C94}"/>
              </a:ext>
            </a:extLst>
          </p:cNvPr>
          <p:cNvSpPr/>
          <p:nvPr/>
        </p:nvSpPr>
        <p:spPr>
          <a:xfrm>
            <a:off x="663402" y="1792284"/>
            <a:ext cx="5058807" cy="144926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CE46A85E-AC0E-4561-B38E-5148BD3FE2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710151"/>
              </p:ext>
            </p:extLst>
          </p:nvPr>
        </p:nvGraphicFramePr>
        <p:xfrm>
          <a:off x="677622" y="3663951"/>
          <a:ext cx="11083117" cy="2220371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62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9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01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39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19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113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428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bg1"/>
                          </a:solidFill>
                          <a:effectLst/>
                          <a:latin typeface="Helvetica Neue"/>
                        </a:rPr>
                        <a:t>Направление</a:t>
                      </a:r>
                      <a:endParaRPr lang="ru-RU" sz="1400" b="0" i="0" u="none" strike="noStrike" dirty="0">
                        <a:solidFill>
                          <a:schemeClr val="bg1"/>
                        </a:solidFill>
                        <a:effectLst/>
                        <a:latin typeface="Helvetica Neue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71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bg1"/>
                          </a:solidFill>
                          <a:effectLst/>
                          <a:latin typeface="Helvetica Neue"/>
                        </a:rPr>
                        <a:t>Трафик</a:t>
                      </a:r>
                      <a:endParaRPr lang="ru-RU" sz="1400" b="0" i="0" u="none" strike="noStrike" dirty="0">
                        <a:solidFill>
                          <a:schemeClr val="bg1"/>
                        </a:solidFill>
                        <a:effectLst/>
                        <a:latin typeface="Helvetica Neue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71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bg1"/>
                          </a:solidFill>
                          <a:effectLst/>
                          <a:latin typeface="Helvetica Neue"/>
                        </a:rPr>
                        <a:t>Тариф</a:t>
                      </a:r>
                      <a:r>
                        <a:rPr lang="ru-RU" sz="1400" u="none" strike="noStrike" baseline="0" dirty="0">
                          <a:solidFill>
                            <a:schemeClr val="bg1"/>
                          </a:solidFill>
                          <a:effectLst/>
                          <a:latin typeface="Helvetica Neue"/>
                        </a:rPr>
                        <a:t> о</a:t>
                      </a:r>
                      <a:r>
                        <a:rPr lang="ru-RU" sz="1400" u="none" strike="noStrike" dirty="0">
                          <a:solidFill>
                            <a:schemeClr val="bg1"/>
                          </a:solidFill>
                          <a:effectLst/>
                          <a:latin typeface="Helvetica Neue"/>
                        </a:rPr>
                        <a:t>ператора фиксированной связи</a:t>
                      </a:r>
                      <a:endParaRPr lang="ru-RU" sz="1400" b="0" i="0" u="none" strike="noStrike" dirty="0">
                        <a:solidFill>
                          <a:schemeClr val="bg1"/>
                        </a:solidFill>
                        <a:effectLst/>
                        <a:latin typeface="Helvetica Neue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71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bg1"/>
                          </a:solidFill>
                          <a:effectLst/>
                          <a:latin typeface="Helvetica Neue"/>
                        </a:rPr>
                        <a:t>Начисления оператора фиксированной связи</a:t>
                      </a:r>
                      <a:endParaRPr lang="ru-RU" sz="1400" b="0" i="0" u="none" strike="noStrike" dirty="0">
                        <a:solidFill>
                          <a:schemeClr val="bg1"/>
                        </a:solidFill>
                        <a:effectLst/>
                        <a:latin typeface="Helvetica Neue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71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bg1"/>
                          </a:solidFill>
                          <a:effectLst/>
                          <a:latin typeface="Helvetica Neue"/>
                        </a:rPr>
                        <a:t>Тариф</a:t>
                      </a:r>
                      <a:br>
                        <a:rPr lang="ru-RU" sz="1400" u="none" strike="noStrike" dirty="0">
                          <a:solidFill>
                            <a:schemeClr val="bg1"/>
                          </a:solidFill>
                          <a:effectLst/>
                          <a:latin typeface="Helvetica Neue"/>
                        </a:rPr>
                      </a:br>
                      <a:r>
                        <a:rPr lang="ru-RU" sz="1400" u="none" strike="noStrike" dirty="0">
                          <a:solidFill>
                            <a:schemeClr val="bg1"/>
                          </a:solidFill>
                          <a:effectLst/>
                          <a:latin typeface="Helvetica Neue"/>
                        </a:rPr>
                        <a:t>Кселл</a:t>
                      </a:r>
                      <a:endParaRPr lang="ru-RU" sz="1400" b="0" i="0" u="none" strike="noStrike" dirty="0">
                        <a:solidFill>
                          <a:schemeClr val="bg1"/>
                        </a:solidFill>
                        <a:effectLst/>
                        <a:latin typeface="Helvetica Neue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71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bg1"/>
                          </a:solidFill>
                          <a:effectLst/>
                          <a:latin typeface="Helvetica Neue"/>
                        </a:rPr>
                        <a:t>Начисления</a:t>
                      </a:r>
                      <a:br>
                        <a:rPr lang="ru-RU" sz="1400" u="none" strike="noStrike" dirty="0">
                          <a:solidFill>
                            <a:schemeClr val="bg1"/>
                          </a:solidFill>
                          <a:effectLst/>
                          <a:latin typeface="Helvetica Neue"/>
                        </a:rPr>
                      </a:br>
                      <a:r>
                        <a:rPr lang="ru-RU" sz="1400" u="none" strike="noStrike" dirty="0">
                          <a:solidFill>
                            <a:schemeClr val="bg1"/>
                          </a:solidFill>
                          <a:effectLst/>
                          <a:latin typeface="Helvetica Neue"/>
                        </a:rPr>
                        <a:t>Кселл</a:t>
                      </a:r>
                      <a:endParaRPr lang="ru-RU" sz="1400" b="0" i="0" u="none" strike="noStrike" dirty="0">
                        <a:solidFill>
                          <a:schemeClr val="bg1"/>
                        </a:solidFill>
                        <a:effectLst/>
                        <a:latin typeface="Helvetica Neue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7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625">
                <a:tc>
                  <a:txBody>
                    <a:bodyPr/>
                    <a:lstStyle/>
                    <a:p>
                      <a:pPr marL="179388" indent="-95250" algn="l" fontAlgn="ctr">
                        <a:lnSpc>
                          <a:spcPts val="1300"/>
                        </a:lnSpc>
                      </a:pPr>
                      <a:r>
                        <a:rPr lang="ru-RU" sz="1300" u="none" strike="noStrike" dirty="0">
                          <a:effectLst/>
                          <a:latin typeface="Helvetica Neue" panose="02000503000000020004"/>
                        </a:rPr>
                        <a:t>Мобильные</a:t>
                      </a:r>
                    </a:p>
                    <a:p>
                      <a:pPr marL="179388" indent="-95250" algn="l" fontAlgn="ctr">
                        <a:lnSpc>
                          <a:spcPts val="1300"/>
                        </a:lnSpc>
                      </a:pPr>
                      <a:r>
                        <a:rPr lang="ru-RU" sz="1300" u="none" strike="noStrike" dirty="0">
                          <a:effectLst/>
                          <a:latin typeface="Helvetica Neue" panose="02000503000000020004"/>
                        </a:rPr>
                        <a:t>направления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500"/>
                        </a:lnSpc>
                      </a:pPr>
                      <a:r>
                        <a:rPr lang="ru-RU" sz="1300" u="none" strike="noStrike" dirty="0">
                          <a:effectLst/>
                          <a:latin typeface="Helvetica Neue" panose="02000503000000020004"/>
                        </a:rPr>
                        <a:t>8 346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500"/>
                        </a:lnSpc>
                      </a:pPr>
                      <a:r>
                        <a:rPr lang="ru-RU" sz="1300" u="none" strike="noStrike" dirty="0">
                          <a:effectLst/>
                          <a:latin typeface="Helvetica Neue" panose="02000503000000020004"/>
                        </a:rPr>
                        <a:t>38,24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500"/>
                        </a:lnSpc>
                      </a:pPr>
                      <a:r>
                        <a:rPr lang="ru-RU" sz="1300" u="none" strike="noStrike" dirty="0">
                          <a:effectLst/>
                          <a:latin typeface="Helvetica Neue" panose="02000503000000020004"/>
                        </a:rPr>
                        <a:t>319 151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500"/>
                        </a:lnSpc>
                      </a:pPr>
                      <a:r>
                        <a:rPr lang="ru-RU" sz="1300" u="none" strike="noStrike" dirty="0">
                          <a:effectLst/>
                          <a:latin typeface="Helvetica Neue" panose="02000503000000020004"/>
                        </a:rPr>
                        <a:t>1</a:t>
                      </a:r>
                      <a:r>
                        <a:rPr lang="en-US" sz="1300" u="none" strike="noStrike" dirty="0">
                          <a:effectLst/>
                          <a:latin typeface="Helvetica Neue" panose="02000503000000020004"/>
                        </a:rPr>
                        <a:t>1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500"/>
                        </a:lnSpc>
                      </a:pPr>
                      <a:r>
                        <a:rPr lang="en-US" sz="1300" u="none" strike="noStrike" dirty="0">
                          <a:effectLst/>
                          <a:latin typeface="Helvetica Neue" panose="02000503000000020004"/>
                        </a:rPr>
                        <a:t>91 806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208">
                <a:tc>
                  <a:txBody>
                    <a:bodyPr/>
                    <a:lstStyle/>
                    <a:p>
                      <a:pPr marL="179388" indent="-95250" algn="l" fontAlgn="ctr">
                        <a:lnSpc>
                          <a:spcPts val="1300"/>
                        </a:lnSpc>
                      </a:pPr>
                      <a:r>
                        <a:rPr lang="ru-RU" sz="1300" u="none" strike="noStrike" dirty="0">
                          <a:effectLst/>
                          <a:latin typeface="Helvetica Neue" panose="02000503000000020004"/>
                        </a:rPr>
                        <a:t>Междугородние</a:t>
                      </a:r>
                    </a:p>
                    <a:p>
                      <a:pPr marL="179388" indent="-95250" algn="l" fontAlgn="ctr">
                        <a:lnSpc>
                          <a:spcPts val="1300"/>
                        </a:lnSpc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звонки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500"/>
                        </a:lnSpc>
                      </a:pPr>
                      <a:r>
                        <a:rPr lang="ru-RU" sz="1300" u="none" strike="noStrike" dirty="0">
                          <a:effectLst/>
                          <a:latin typeface="Helvetica Neue" panose="02000503000000020004"/>
                        </a:rPr>
                        <a:t>5 893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500"/>
                        </a:lnSpc>
                      </a:pPr>
                      <a:r>
                        <a:rPr lang="ru-RU" sz="1300" u="none" strike="noStrike" dirty="0">
                          <a:effectLst/>
                          <a:latin typeface="Helvetica Neue" panose="02000503000000020004"/>
                        </a:rPr>
                        <a:t>22,00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500"/>
                        </a:lnSpc>
                      </a:pPr>
                      <a:r>
                        <a:rPr lang="ru-RU" sz="1300" u="none" strike="noStrike" dirty="0">
                          <a:effectLst/>
                          <a:latin typeface="Helvetica Neue" panose="02000503000000020004"/>
                        </a:rPr>
                        <a:t>129 646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500"/>
                        </a:lnSpc>
                      </a:pPr>
                      <a:r>
                        <a:rPr lang="ru-RU" sz="1300" u="none" strike="noStrike" dirty="0">
                          <a:effectLst/>
                          <a:latin typeface="Helvetica Neue" panose="02000503000000020004"/>
                        </a:rPr>
                        <a:t>11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500"/>
                        </a:lnSpc>
                      </a:pPr>
                      <a:r>
                        <a:rPr lang="ru-RU" sz="1300" u="none" strike="noStrike" dirty="0">
                          <a:effectLst/>
                          <a:latin typeface="Helvetica Neue" panose="02000503000000020004"/>
                        </a:rPr>
                        <a:t>64 823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10">
                <a:tc>
                  <a:txBody>
                    <a:bodyPr/>
                    <a:lstStyle/>
                    <a:p>
                      <a:pPr marL="179388" indent="-95250" algn="l" fontAlgn="ctr">
                        <a:lnSpc>
                          <a:spcPts val="1300"/>
                        </a:lnSpc>
                      </a:pPr>
                      <a:r>
                        <a:rPr lang="ru-RU" sz="1300" u="none" strike="noStrike" dirty="0">
                          <a:effectLst/>
                          <a:latin typeface="Helvetica Neue" panose="02000503000000020004"/>
                        </a:rPr>
                        <a:t>Междугородние</a:t>
                      </a:r>
                    </a:p>
                    <a:p>
                      <a:pPr marL="179388" indent="-95250" algn="l" fontAlgn="ctr">
                        <a:lnSpc>
                          <a:spcPts val="1300"/>
                        </a:lnSpc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звонки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500"/>
                        </a:lnSpc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984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500"/>
                        </a:lnSpc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27,29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500"/>
                        </a:lnSpc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26 854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500"/>
                        </a:lnSpc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49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500"/>
                        </a:lnSpc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48 216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5647417"/>
                  </a:ext>
                </a:extLst>
              </a:tr>
              <a:tr h="472240">
                <a:tc>
                  <a:txBody>
                    <a:bodyPr/>
                    <a:lstStyle/>
                    <a:p>
                      <a:pPr marL="84138" indent="0" algn="l" fontAlgn="ctr">
                        <a:lnSpc>
                          <a:spcPts val="1500"/>
                        </a:lnSpc>
                      </a:pPr>
                      <a:r>
                        <a:rPr lang="ru-RU" sz="1300" b="1" u="none" strike="noStrike" dirty="0">
                          <a:solidFill>
                            <a:srgbClr val="6A2D91"/>
                          </a:solidFill>
                          <a:effectLst/>
                          <a:latin typeface="Helvetica Neue" panose="02000503000000020004"/>
                        </a:rPr>
                        <a:t>ИТОГО</a:t>
                      </a:r>
                      <a:endParaRPr lang="ru-RU" sz="1300" b="1" i="0" u="none" strike="noStrike" dirty="0">
                        <a:solidFill>
                          <a:srgbClr val="6A2D91"/>
                        </a:solidFill>
                        <a:effectLst/>
                        <a:latin typeface="Helvetica Neue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500"/>
                        </a:lnSpc>
                      </a:pPr>
                      <a:r>
                        <a:rPr lang="ru-RU" sz="1300" b="1" u="none" strike="noStrike" dirty="0">
                          <a:solidFill>
                            <a:srgbClr val="6A2D91"/>
                          </a:solidFill>
                          <a:effectLst/>
                          <a:latin typeface="Helvetica Neue" panose="02000503000000020004"/>
                        </a:rPr>
                        <a:t>15 223</a:t>
                      </a:r>
                      <a:endParaRPr lang="ru-RU" sz="1300" b="1" i="0" u="none" strike="noStrike" dirty="0">
                        <a:solidFill>
                          <a:srgbClr val="6A2D91"/>
                        </a:solidFill>
                        <a:effectLst/>
                        <a:latin typeface="Helvetica Neue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500"/>
                        </a:lnSpc>
                      </a:pPr>
                      <a:r>
                        <a:rPr lang="ru-RU" sz="1300" u="none" strike="noStrike" dirty="0">
                          <a:effectLst/>
                          <a:latin typeface="Helvetica Neue" panose="02000503000000020004"/>
                        </a:rPr>
                        <a:t> </a:t>
                      </a:r>
                      <a:endParaRPr lang="ru-RU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500"/>
                        </a:lnSpc>
                      </a:pPr>
                      <a:r>
                        <a:rPr lang="ru-RU" sz="1300" b="1" u="none" strike="noStrike" dirty="0">
                          <a:solidFill>
                            <a:srgbClr val="6A2D91"/>
                          </a:solidFill>
                          <a:effectLst/>
                          <a:latin typeface="Helvetica Neue" panose="02000503000000020004"/>
                        </a:rPr>
                        <a:t>475 635</a:t>
                      </a:r>
                      <a:endParaRPr lang="ru-RU" sz="1300" b="1" i="0" u="none" strike="noStrike" dirty="0">
                        <a:solidFill>
                          <a:srgbClr val="6A2D91"/>
                        </a:solidFill>
                        <a:effectLst/>
                        <a:latin typeface="Helvetica Neue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500"/>
                        </a:lnSpc>
                      </a:pPr>
                      <a:r>
                        <a:rPr lang="ru-RU" sz="1300" b="1" u="none" strike="noStrike" dirty="0">
                          <a:solidFill>
                            <a:srgbClr val="6A2D91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ru-RU" sz="1300" b="1" i="0" u="none" strike="noStrike" dirty="0">
                        <a:solidFill>
                          <a:srgbClr val="6A2D91"/>
                        </a:solidFill>
                        <a:effectLst/>
                        <a:latin typeface="Helvetica Neue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500"/>
                        </a:lnSpc>
                      </a:pPr>
                      <a:r>
                        <a:rPr lang="ru-RU" sz="1300" b="1" u="none" strike="noStrike" dirty="0">
                          <a:solidFill>
                            <a:srgbClr val="6A2D91"/>
                          </a:solidFill>
                          <a:effectLst/>
                          <a:latin typeface="Helvetica Neue" panose="02000503000000020004"/>
                        </a:rPr>
                        <a:t>204 845</a:t>
                      </a:r>
                      <a:endParaRPr lang="ru-RU" sz="1300" b="1" i="0" u="none" strike="noStrike" dirty="0">
                        <a:solidFill>
                          <a:srgbClr val="6A2D91"/>
                        </a:solidFill>
                        <a:effectLst/>
                        <a:latin typeface="Helvetica Neue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CB44A94-7E31-452B-BB11-55DCCE388041}"/>
              </a:ext>
            </a:extLst>
          </p:cNvPr>
          <p:cNvSpPr txBox="1"/>
          <p:nvPr/>
        </p:nvSpPr>
        <p:spPr>
          <a:xfrm>
            <a:off x="890218" y="2548804"/>
            <a:ext cx="1032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>
                <a:latin typeface="Helvetica" panose="020B0604020202020204" pitchFamily="34" charset="0"/>
                <a:cs typeface="Helvetica" panose="020B0604020202020204" pitchFamily="34" charset="0"/>
              </a:rPr>
              <a:t>Внутренний</a:t>
            </a:r>
          </a:p>
          <a:p>
            <a:pPr algn="ctr"/>
            <a:r>
              <a:rPr lang="ru-RU" sz="1200" dirty="0">
                <a:latin typeface="Helvetica" panose="020B0604020202020204" pitchFamily="34" charset="0"/>
                <a:cs typeface="Helvetica" panose="020B0604020202020204" pitchFamily="34" charset="0"/>
              </a:rPr>
              <a:t>номер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421A75-404F-438E-AA4E-BAEAEB8933FD}"/>
              </a:ext>
            </a:extLst>
          </p:cNvPr>
          <p:cNvSpPr txBox="1"/>
          <p:nvPr/>
        </p:nvSpPr>
        <p:spPr>
          <a:xfrm>
            <a:off x="1964615" y="2528138"/>
            <a:ext cx="1407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Helvetica" panose="020B0604020202020204" pitchFamily="34" charset="0"/>
                <a:cs typeface="Helvetica" panose="020B0604020202020204" pitchFamily="34" charset="0"/>
              </a:rPr>
              <a:t>Оператор</a:t>
            </a:r>
          </a:p>
          <a:p>
            <a:pPr algn="ctr"/>
            <a:r>
              <a:rPr lang="ru-RU" sz="1200" dirty="0">
                <a:latin typeface="Helvetica" panose="020B0604020202020204" pitchFamily="34" charset="0"/>
                <a:cs typeface="Helvetica" panose="020B0604020202020204" pitchFamily="34" charset="0"/>
              </a:rPr>
              <a:t>фиксированной</a:t>
            </a:r>
            <a:br>
              <a:rPr lang="ru-RU" sz="12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ru-RU" sz="1200" dirty="0">
                <a:latin typeface="Helvetica" panose="020B0604020202020204" pitchFamily="34" charset="0"/>
                <a:cs typeface="Helvetica" panose="020B0604020202020204" pitchFamily="34" charset="0"/>
              </a:rPr>
              <a:t>связи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573EA4-55E0-46EA-BC63-9FBE8FD18B4E}"/>
              </a:ext>
            </a:extLst>
          </p:cNvPr>
          <p:cNvSpPr txBox="1"/>
          <p:nvPr/>
        </p:nvSpPr>
        <p:spPr>
          <a:xfrm>
            <a:off x="7721759" y="2571057"/>
            <a:ext cx="1794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b="1" dirty="0">
                <a:solidFill>
                  <a:srgbClr val="6A2D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Услуга </a:t>
            </a:r>
          </a:p>
          <a:p>
            <a:pPr algn="ctr"/>
            <a:r>
              <a:rPr lang="ru-RU" sz="1200" b="1" dirty="0">
                <a:solidFill>
                  <a:srgbClr val="6A2D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«Бизнес-телефония»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2B5EC1F-D78A-425D-A39B-E3FB04C1ABEA}"/>
              </a:ext>
            </a:extLst>
          </p:cNvPr>
          <p:cNvSpPr txBox="1"/>
          <p:nvPr/>
        </p:nvSpPr>
        <p:spPr>
          <a:xfrm>
            <a:off x="982711" y="1062419"/>
            <a:ext cx="38925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Helvetica Neue"/>
                <a:cs typeface="Arial" panose="020B0604020202020204" pitchFamily="34" charset="0"/>
              </a:rPr>
              <a:t>Средняя стоимость минуты разговора </a:t>
            </a:r>
          </a:p>
          <a:p>
            <a:r>
              <a:rPr lang="ru-RU" sz="1600" dirty="0">
                <a:latin typeface="Helvetica Neue"/>
                <a:cs typeface="Arial" panose="020B0604020202020204" pitchFamily="34" charset="0"/>
              </a:rPr>
              <a:t>(до внедрения услуги) – </a:t>
            </a:r>
            <a:r>
              <a:rPr lang="ru-RU" sz="1600" b="1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38 тенге</a:t>
            </a:r>
            <a:endParaRPr lang="ru-RU" sz="1600" dirty="0">
              <a:solidFill>
                <a:srgbClr val="6A2D91"/>
              </a:solidFill>
              <a:latin typeface="Helvetica Neue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6F83B8C-BDED-4689-A46D-7D39D529316F}"/>
              </a:ext>
            </a:extLst>
          </p:cNvPr>
          <p:cNvSpPr txBox="1"/>
          <p:nvPr/>
        </p:nvSpPr>
        <p:spPr>
          <a:xfrm>
            <a:off x="7358663" y="1061806"/>
            <a:ext cx="36754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Helvetica Neue"/>
                <a:cs typeface="Arial" panose="020B0604020202020204" pitchFamily="34" charset="0"/>
              </a:rPr>
              <a:t>Стоимость минуты разговора </a:t>
            </a:r>
          </a:p>
          <a:p>
            <a:r>
              <a:rPr lang="ru-RU" sz="1600" dirty="0">
                <a:latin typeface="Helvetica Neue"/>
                <a:cs typeface="Arial" panose="020B0604020202020204" pitchFamily="34" charset="0"/>
              </a:rPr>
              <a:t>(после внедрения услуги) – </a:t>
            </a:r>
            <a:r>
              <a:rPr lang="ru-RU" sz="1600" b="1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1</a:t>
            </a:r>
            <a:r>
              <a:rPr lang="en-US" sz="1600" b="1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1</a:t>
            </a:r>
            <a:r>
              <a:rPr lang="ru-RU" sz="1600" b="1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 тенге</a:t>
            </a:r>
            <a:endParaRPr lang="ru-RU" sz="1600" dirty="0">
              <a:solidFill>
                <a:srgbClr val="6A2D91"/>
              </a:solidFill>
              <a:latin typeface="Helvetica Neue"/>
              <a:cs typeface="Arial" panose="020B0604020202020204" pitchFamily="34" charset="0"/>
            </a:endParaRPr>
          </a:p>
        </p:txBody>
      </p:sp>
      <p:grpSp>
        <p:nvGrpSpPr>
          <p:cNvPr id="127" name="Группа 126">
            <a:extLst>
              <a:ext uri="{FF2B5EF4-FFF2-40B4-BE49-F238E27FC236}">
                <a16:creationId xmlns:a16="http://schemas.microsoft.com/office/drawing/2014/main" id="{27A0B9FA-4B92-83EC-20FE-917757B082E3}"/>
              </a:ext>
            </a:extLst>
          </p:cNvPr>
          <p:cNvGrpSpPr/>
          <p:nvPr/>
        </p:nvGrpSpPr>
        <p:grpSpPr>
          <a:xfrm>
            <a:off x="8977971" y="6092042"/>
            <a:ext cx="2803736" cy="765958"/>
            <a:chOff x="9012212" y="6221040"/>
            <a:chExt cx="2803736" cy="636960"/>
          </a:xfrm>
        </p:grpSpPr>
        <p:grpSp>
          <p:nvGrpSpPr>
            <p:cNvPr id="126" name="Группа 125">
              <a:extLst>
                <a:ext uri="{FF2B5EF4-FFF2-40B4-BE49-F238E27FC236}">
                  <a16:creationId xmlns:a16="http://schemas.microsoft.com/office/drawing/2014/main" id="{62030C7A-982B-3859-8DD0-06C14A0C8803}"/>
                </a:ext>
              </a:extLst>
            </p:cNvPr>
            <p:cNvGrpSpPr/>
            <p:nvPr/>
          </p:nvGrpSpPr>
          <p:grpSpPr>
            <a:xfrm>
              <a:off x="9012212" y="6221040"/>
              <a:ext cx="2803736" cy="636960"/>
              <a:chOff x="9012212" y="6221040"/>
              <a:chExt cx="2803736" cy="636960"/>
            </a:xfrm>
          </p:grpSpPr>
          <p:sp>
            <p:nvSpPr>
              <p:cNvPr id="36" name="Скругленный прямоугольник 61">
                <a:extLst>
                  <a:ext uri="{FF2B5EF4-FFF2-40B4-BE49-F238E27FC236}">
                    <a16:creationId xmlns:a16="http://schemas.microsoft.com/office/drawing/2014/main" id="{9354BF39-A31D-4E11-85A0-07E2D557A1D8}"/>
                  </a:ext>
                </a:extLst>
              </p:cNvPr>
              <p:cNvSpPr/>
              <p:nvPr/>
            </p:nvSpPr>
            <p:spPr>
              <a:xfrm>
                <a:off x="9012212" y="6221040"/>
                <a:ext cx="2803736" cy="548693"/>
              </a:xfrm>
              <a:prstGeom prst="roundRect">
                <a:avLst>
                  <a:gd name="adj" fmla="val 13383"/>
                </a:avLst>
              </a:prstGeom>
              <a:solidFill>
                <a:srgbClr val="6A2D9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KZ" dirty="0">
                  <a:solidFill>
                    <a:srgbClr val="6A2D91"/>
                  </a:solidFill>
                </a:endParaRPr>
              </a:p>
            </p:txBody>
          </p:sp>
          <p:sp>
            <p:nvSpPr>
              <p:cNvPr id="109" name="Скругленный прямоугольник 61">
                <a:extLst>
                  <a:ext uri="{FF2B5EF4-FFF2-40B4-BE49-F238E27FC236}">
                    <a16:creationId xmlns:a16="http://schemas.microsoft.com/office/drawing/2014/main" id="{98B1120B-1440-4DBD-AB41-071902D76519}"/>
                  </a:ext>
                </a:extLst>
              </p:cNvPr>
              <p:cNvSpPr/>
              <p:nvPr/>
            </p:nvSpPr>
            <p:spPr>
              <a:xfrm>
                <a:off x="9012212" y="6291709"/>
                <a:ext cx="2803736" cy="566291"/>
              </a:xfrm>
              <a:prstGeom prst="roundRect">
                <a:avLst>
                  <a:gd name="adj" fmla="val 0"/>
                </a:avLst>
              </a:prstGeom>
              <a:solidFill>
                <a:srgbClr val="6A2D9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KZ" dirty="0">
                  <a:solidFill>
                    <a:srgbClr val="6A2D91"/>
                  </a:solidFill>
                </a:endParaRPr>
              </a:p>
            </p:txBody>
          </p: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82C7A9E-16D5-4E36-BCDB-BFA2653E354C}"/>
                </a:ext>
              </a:extLst>
            </p:cNvPr>
            <p:cNvSpPr txBox="1"/>
            <p:nvPr/>
          </p:nvSpPr>
          <p:spPr>
            <a:xfrm>
              <a:off x="9387097" y="6321921"/>
              <a:ext cx="203549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dirty="0">
                  <a:solidFill>
                    <a:schemeClr val="bg1"/>
                  </a:solidFill>
                  <a:latin typeface="Helvetica Neue"/>
                  <a:cs typeface="Arial" panose="020B0604020202020204" pitchFamily="34" charset="0"/>
                </a:rPr>
                <a:t>Экономия </a:t>
              </a:r>
              <a:r>
                <a:rPr lang="ru-RU" sz="2800" b="1" dirty="0">
                  <a:solidFill>
                    <a:schemeClr val="bg1"/>
                  </a:solidFill>
                  <a:latin typeface="Helvetica Neue"/>
                  <a:cs typeface="Arial" panose="020B0604020202020204" pitchFamily="34" charset="0"/>
                </a:rPr>
                <a:t>57%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C7E66562-FF29-49B2-8E6E-AFB66451F0CE}"/>
              </a:ext>
            </a:extLst>
          </p:cNvPr>
          <p:cNvSpPr txBox="1"/>
          <p:nvPr/>
        </p:nvSpPr>
        <p:spPr>
          <a:xfrm>
            <a:off x="701347" y="3289772"/>
            <a:ext cx="9509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i="1" dirty="0">
                <a:solidFill>
                  <a:schemeClr val="bg2">
                    <a:lumMod val="25000"/>
                  </a:schemeClr>
                </a:solidFill>
                <a:latin typeface="Helvetica Neue"/>
                <a:cs typeface="Arial" panose="020B0604020202020204" pitchFamily="34" charset="0"/>
              </a:rPr>
              <a:t>пример:</a:t>
            </a:r>
            <a:endParaRPr lang="ru-RU" sz="1600" b="1" i="1" dirty="0">
              <a:solidFill>
                <a:schemeClr val="bg2">
                  <a:lumMod val="25000"/>
                </a:schemeClr>
              </a:solidFill>
              <a:latin typeface="Helvetica Neue"/>
              <a:cs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E86E23F-DE29-B3C2-44EA-9B0376019E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52322" y="399717"/>
            <a:ext cx="736255" cy="2410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853D58-4DFF-D63C-7F6E-43504885F7B3}"/>
              </a:ext>
            </a:extLst>
          </p:cNvPr>
          <p:cNvSpPr txBox="1"/>
          <p:nvPr/>
        </p:nvSpPr>
        <p:spPr>
          <a:xfrm>
            <a:off x="3405454" y="2551788"/>
            <a:ext cx="7591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Kcell</a:t>
            </a:r>
            <a:endParaRPr lang="ru-RU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19AC328-27ED-08F5-34C8-A08FC85BD5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3828" y="1988298"/>
            <a:ext cx="567308" cy="56730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876D1A2-9A5B-B571-5392-CAA889CC8A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2765" y="1881117"/>
            <a:ext cx="633573" cy="63357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BF7F7D7-4948-D55A-B3C9-9ADE021F0103}"/>
              </a:ext>
            </a:extLst>
          </p:cNvPr>
          <p:cNvSpPr txBox="1"/>
          <p:nvPr/>
        </p:nvSpPr>
        <p:spPr>
          <a:xfrm>
            <a:off x="677622" y="332556"/>
            <a:ext cx="5884482" cy="5847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2800" b="1" dirty="0">
                <a:solidFill>
                  <a:srgbClr val="6A2E92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Экономическое обоснование</a:t>
            </a:r>
            <a:endParaRPr lang="en-US" sz="2800" b="1" dirty="0">
              <a:solidFill>
                <a:srgbClr val="6A2E92"/>
              </a:solidFill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5884CE-7D1F-E006-D666-F7685B6DC2F1}"/>
              </a:ext>
            </a:extLst>
          </p:cNvPr>
          <p:cNvSpPr txBox="1"/>
          <p:nvPr/>
        </p:nvSpPr>
        <p:spPr>
          <a:xfrm>
            <a:off x="4288555" y="2553767"/>
            <a:ext cx="1182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Helvetica" panose="020B0604020202020204" pitchFamily="34" charset="0"/>
                <a:cs typeface="Helvetica" panose="020B0604020202020204" pitchFamily="34" charset="0"/>
              </a:rPr>
              <a:t>Мобильный</a:t>
            </a:r>
            <a:br>
              <a:rPr lang="ru-RU" sz="12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ru-RU" sz="1200" dirty="0">
                <a:latin typeface="Helvetica" panose="020B0604020202020204" pitchFamily="34" charset="0"/>
                <a:cs typeface="Helvetica" panose="020B0604020202020204" pitchFamily="34" charset="0"/>
              </a:rPr>
              <a:t>номер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25E154F7-438C-3CC8-8205-438A177CEED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962" y="1944917"/>
            <a:ext cx="606871" cy="606871"/>
          </a:xfrm>
          <a:prstGeom prst="rect">
            <a:avLst/>
          </a:prstGeom>
        </p:spPr>
      </p:pic>
      <p:cxnSp>
        <p:nvCxnSpPr>
          <p:cNvPr id="95" name="Прямая со стрелкой 94">
            <a:extLst>
              <a:ext uri="{FF2B5EF4-FFF2-40B4-BE49-F238E27FC236}">
                <a16:creationId xmlns:a16="http://schemas.microsoft.com/office/drawing/2014/main" id="{8E147CFC-939A-BE0D-F3D2-A6D45DE99761}"/>
              </a:ext>
            </a:extLst>
          </p:cNvPr>
          <p:cNvCxnSpPr/>
          <p:nvPr/>
        </p:nvCxnSpPr>
        <p:spPr>
          <a:xfrm>
            <a:off x="1796561" y="2312977"/>
            <a:ext cx="537818" cy="0"/>
          </a:xfrm>
          <a:prstGeom prst="straightConnector1">
            <a:avLst/>
          </a:prstGeom>
          <a:ln w="38100">
            <a:solidFill>
              <a:srgbClr val="6A2D9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6" name="Рисунок 95">
            <a:extLst>
              <a:ext uri="{FF2B5EF4-FFF2-40B4-BE49-F238E27FC236}">
                <a16:creationId xmlns:a16="http://schemas.microsoft.com/office/drawing/2014/main" id="{4ADFC8BB-121F-2654-0A46-0E2FE7DCF2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430" y="1988298"/>
            <a:ext cx="537818" cy="537818"/>
          </a:xfrm>
          <a:prstGeom prst="rect">
            <a:avLst/>
          </a:prstGeom>
        </p:spPr>
      </p:pic>
      <p:cxnSp>
        <p:nvCxnSpPr>
          <p:cNvPr id="110" name="Прямая со стрелкой 109">
            <a:extLst>
              <a:ext uri="{FF2B5EF4-FFF2-40B4-BE49-F238E27FC236}">
                <a16:creationId xmlns:a16="http://schemas.microsoft.com/office/drawing/2014/main" id="{DE360AA0-9B8D-C89E-5BD5-3921354E28B8}"/>
              </a:ext>
            </a:extLst>
          </p:cNvPr>
          <p:cNvCxnSpPr/>
          <p:nvPr/>
        </p:nvCxnSpPr>
        <p:spPr>
          <a:xfrm>
            <a:off x="4053887" y="2312884"/>
            <a:ext cx="537818" cy="0"/>
          </a:xfrm>
          <a:prstGeom prst="straightConnector1">
            <a:avLst/>
          </a:prstGeom>
          <a:ln w="38100">
            <a:solidFill>
              <a:srgbClr val="6A2D9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Прямая со стрелкой 110">
            <a:extLst>
              <a:ext uri="{FF2B5EF4-FFF2-40B4-BE49-F238E27FC236}">
                <a16:creationId xmlns:a16="http://schemas.microsoft.com/office/drawing/2014/main" id="{0E33003C-4681-9EE4-A0DA-DA4782678866}"/>
              </a:ext>
            </a:extLst>
          </p:cNvPr>
          <p:cNvCxnSpPr/>
          <p:nvPr/>
        </p:nvCxnSpPr>
        <p:spPr>
          <a:xfrm>
            <a:off x="2993063" y="2312884"/>
            <a:ext cx="537818" cy="0"/>
          </a:xfrm>
          <a:prstGeom prst="straightConnector1">
            <a:avLst/>
          </a:prstGeom>
          <a:ln w="38100">
            <a:solidFill>
              <a:srgbClr val="6A2D9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B8FA7799-B2D2-7FAB-4CF5-8DF31AAD885D}"/>
              </a:ext>
            </a:extLst>
          </p:cNvPr>
          <p:cNvSpPr txBox="1"/>
          <p:nvPr/>
        </p:nvSpPr>
        <p:spPr>
          <a:xfrm>
            <a:off x="9496738" y="2553358"/>
            <a:ext cx="7591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Kcell</a:t>
            </a:r>
            <a:endParaRPr lang="ru-RU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22" name="Рисунок 121">
            <a:extLst>
              <a:ext uri="{FF2B5EF4-FFF2-40B4-BE49-F238E27FC236}">
                <a16:creationId xmlns:a16="http://schemas.microsoft.com/office/drawing/2014/main" id="{AFB6A5E0-4F02-B732-1976-D42021D7BE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5112" y="1989868"/>
            <a:ext cx="567308" cy="567308"/>
          </a:xfrm>
          <a:prstGeom prst="rect">
            <a:avLst/>
          </a:prstGeom>
        </p:spPr>
      </p:pic>
      <p:sp>
        <p:nvSpPr>
          <p:cNvPr id="123" name="TextBox 122">
            <a:extLst>
              <a:ext uri="{FF2B5EF4-FFF2-40B4-BE49-F238E27FC236}">
                <a16:creationId xmlns:a16="http://schemas.microsoft.com/office/drawing/2014/main" id="{359259D8-8FD8-DBEE-78A7-DE903985F674}"/>
              </a:ext>
            </a:extLst>
          </p:cNvPr>
          <p:cNvSpPr txBox="1"/>
          <p:nvPr/>
        </p:nvSpPr>
        <p:spPr>
          <a:xfrm>
            <a:off x="10379839" y="2555337"/>
            <a:ext cx="1182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Helvetica" panose="020B0604020202020204" pitchFamily="34" charset="0"/>
                <a:cs typeface="Helvetica" panose="020B0604020202020204" pitchFamily="34" charset="0"/>
              </a:rPr>
              <a:t>Мобильный</a:t>
            </a:r>
            <a:br>
              <a:rPr lang="ru-RU" sz="12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ru-RU" sz="1200" dirty="0">
                <a:latin typeface="Helvetica" panose="020B0604020202020204" pitchFamily="34" charset="0"/>
                <a:cs typeface="Helvetica" panose="020B0604020202020204" pitchFamily="34" charset="0"/>
              </a:rPr>
              <a:t>номер</a:t>
            </a:r>
          </a:p>
        </p:txBody>
      </p:sp>
      <p:pic>
        <p:nvPicPr>
          <p:cNvPr id="124" name="Рисунок 123">
            <a:extLst>
              <a:ext uri="{FF2B5EF4-FFF2-40B4-BE49-F238E27FC236}">
                <a16:creationId xmlns:a16="http://schemas.microsoft.com/office/drawing/2014/main" id="{72B4C82F-D899-3079-2740-C8465186FC2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246" y="1946487"/>
            <a:ext cx="606871" cy="606871"/>
          </a:xfrm>
          <a:prstGeom prst="rect">
            <a:avLst/>
          </a:prstGeom>
        </p:spPr>
      </p:pic>
      <p:cxnSp>
        <p:nvCxnSpPr>
          <p:cNvPr id="125" name="Прямая со стрелкой 124">
            <a:extLst>
              <a:ext uri="{FF2B5EF4-FFF2-40B4-BE49-F238E27FC236}">
                <a16:creationId xmlns:a16="http://schemas.microsoft.com/office/drawing/2014/main" id="{8B0A5BCB-589C-6711-6096-9BCF517376EC}"/>
              </a:ext>
            </a:extLst>
          </p:cNvPr>
          <p:cNvCxnSpPr/>
          <p:nvPr/>
        </p:nvCxnSpPr>
        <p:spPr>
          <a:xfrm>
            <a:off x="10145171" y="2314454"/>
            <a:ext cx="537818" cy="0"/>
          </a:xfrm>
          <a:prstGeom prst="straightConnector1">
            <a:avLst/>
          </a:prstGeom>
          <a:ln w="38100">
            <a:solidFill>
              <a:srgbClr val="6A2D9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37841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Скругленный прямоугольник 61">
            <a:extLst>
              <a:ext uri="{FF2B5EF4-FFF2-40B4-BE49-F238E27FC236}">
                <a16:creationId xmlns:a16="http://schemas.microsoft.com/office/drawing/2014/main" id="{633A6BCD-8248-6BB5-547B-A69CA69E3236}"/>
              </a:ext>
            </a:extLst>
          </p:cNvPr>
          <p:cNvSpPr/>
          <p:nvPr/>
        </p:nvSpPr>
        <p:spPr>
          <a:xfrm>
            <a:off x="6472468" y="5083721"/>
            <a:ext cx="2880000" cy="1044337"/>
          </a:xfrm>
          <a:prstGeom prst="roundRect">
            <a:avLst>
              <a:gd name="adj" fmla="val 1338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dirty="0"/>
          </a:p>
        </p:txBody>
      </p:sp>
      <p:sp>
        <p:nvSpPr>
          <p:cNvPr id="71" name="Скругленный прямоугольник 61">
            <a:extLst>
              <a:ext uri="{FF2B5EF4-FFF2-40B4-BE49-F238E27FC236}">
                <a16:creationId xmlns:a16="http://schemas.microsoft.com/office/drawing/2014/main" id="{20C26CC9-BD27-D7C7-85FC-6F2E6AB07C82}"/>
              </a:ext>
            </a:extLst>
          </p:cNvPr>
          <p:cNvSpPr/>
          <p:nvPr/>
        </p:nvSpPr>
        <p:spPr>
          <a:xfrm>
            <a:off x="2345704" y="5083721"/>
            <a:ext cx="2880000" cy="1044337"/>
          </a:xfrm>
          <a:prstGeom prst="roundRect">
            <a:avLst>
              <a:gd name="adj" fmla="val 1338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dirty="0"/>
          </a:p>
        </p:txBody>
      </p:sp>
      <p:sp>
        <p:nvSpPr>
          <p:cNvPr id="47" name="Скругленный прямоугольник 61">
            <a:extLst>
              <a:ext uri="{FF2B5EF4-FFF2-40B4-BE49-F238E27FC236}">
                <a16:creationId xmlns:a16="http://schemas.microsoft.com/office/drawing/2014/main" id="{E574558F-014A-AA40-6F26-82098394468F}"/>
              </a:ext>
            </a:extLst>
          </p:cNvPr>
          <p:cNvSpPr/>
          <p:nvPr/>
        </p:nvSpPr>
        <p:spPr>
          <a:xfrm>
            <a:off x="4059006" y="1350587"/>
            <a:ext cx="3601633" cy="1367213"/>
          </a:xfrm>
          <a:prstGeom prst="roundRect">
            <a:avLst>
              <a:gd name="adj" fmla="val 1338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4FD8AFE-9381-944D-F3EA-28E5E39469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2322" y="399717"/>
            <a:ext cx="736255" cy="2410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139D6B-F1C0-AB78-74B4-E16DF6CA6E68}"/>
              </a:ext>
            </a:extLst>
          </p:cNvPr>
          <p:cNvSpPr txBox="1"/>
          <p:nvPr/>
        </p:nvSpPr>
        <p:spPr>
          <a:xfrm>
            <a:off x="677622" y="332556"/>
            <a:ext cx="5884482" cy="5847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2800" b="1" dirty="0">
                <a:solidFill>
                  <a:srgbClr val="6A2E92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Схема фрода *</a:t>
            </a:r>
            <a:endParaRPr lang="en-US" sz="2800" b="1" dirty="0">
              <a:solidFill>
                <a:srgbClr val="6A2E92"/>
              </a:solidFill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8C05CE-0107-F728-FEF4-12780E625DF0}"/>
              </a:ext>
            </a:extLst>
          </p:cNvPr>
          <p:cNvSpPr txBox="1"/>
          <p:nvPr/>
        </p:nvSpPr>
        <p:spPr>
          <a:xfrm>
            <a:off x="4875400" y="4201729"/>
            <a:ext cx="197239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500" dirty="0">
                <a:latin typeface="Arial" panose="020B0604020202020204" pitchFamily="34" charset="0"/>
                <a:cs typeface="Arial" panose="020B0604020202020204" pitchFamily="34" charset="0"/>
              </a:rPr>
              <a:t>АТС клиента </a:t>
            </a:r>
          </a:p>
        </p:txBody>
      </p:sp>
      <p:pic>
        <p:nvPicPr>
          <p:cNvPr id="9" name="Рисунок 8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64DD9F57-8DDB-728F-DAE2-96F7EBEA77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2539" y="3131597"/>
            <a:ext cx="1239929" cy="1239929"/>
          </a:xfrm>
          <a:prstGeom prst="rect">
            <a:avLst/>
          </a:prstGeom>
        </p:spPr>
      </p:pic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1ED9D655-0077-75CA-2E40-21CEFD90FEC1}"/>
              </a:ext>
            </a:extLst>
          </p:cNvPr>
          <p:cNvSpPr/>
          <p:nvPr/>
        </p:nvSpPr>
        <p:spPr>
          <a:xfrm>
            <a:off x="700854" y="857252"/>
            <a:ext cx="6529286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300" dirty="0">
                <a:latin typeface="Pragmatica Book Reg"/>
                <a:cs typeface="Arial" panose="020B0604020202020204" pitchFamily="34" charset="0"/>
              </a:rPr>
              <a:t>(Перенаправление международного трафика во внутрисетевой)</a:t>
            </a:r>
          </a:p>
        </p:txBody>
      </p:sp>
      <p:sp>
        <p:nvSpPr>
          <p:cNvPr id="7" name="Облачко с текстом: прямоугольное со скругленными углами 6">
            <a:extLst>
              <a:ext uri="{FF2B5EF4-FFF2-40B4-BE49-F238E27FC236}">
                <a16:creationId xmlns:a16="http://schemas.microsoft.com/office/drawing/2014/main" id="{03441C40-B322-BB7C-435E-FC55FEE95109}"/>
              </a:ext>
            </a:extLst>
          </p:cNvPr>
          <p:cNvSpPr/>
          <p:nvPr/>
        </p:nvSpPr>
        <p:spPr>
          <a:xfrm>
            <a:off x="604299" y="1351029"/>
            <a:ext cx="3079984" cy="1361393"/>
          </a:xfrm>
          <a:prstGeom prst="wedgeRoundRectCallout">
            <a:avLst>
              <a:gd name="adj1" fmla="val -32400"/>
              <a:gd name="adj2" fmla="val 91619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CC9CD1-B83A-45C2-76E2-4812FB2D2C3F}"/>
              </a:ext>
            </a:extLst>
          </p:cNvPr>
          <p:cNvSpPr txBox="1"/>
          <p:nvPr/>
        </p:nvSpPr>
        <p:spPr>
          <a:xfrm>
            <a:off x="724489" y="1426302"/>
            <a:ext cx="275997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Helvetica" panose="020B0604020202020204" pitchFamily="34" charset="0"/>
                <a:cs typeface="Helvetica" panose="020B0604020202020204" pitchFamily="34" charset="0"/>
              </a:rPr>
              <a:t>Звоню в Алматы </a:t>
            </a:r>
            <a:br>
              <a:rPr lang="ru-RU" sz="16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ru-RU" sz="1600" dirty="0">
                <a:latin typeface="Helvetica" panose="020B0604020202020204" pitchFamily="34" charset="0"/>
                <a:cs typeface="Helvetica" panose="020B0604020202020204" pitchFamily="34" charset="0"/>
              </a:rPr>
              <a:t>на номер </a:t>
            </a:r>
            <a:r>
              <a:rPr lang="ru-RU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+7 701 222 22 22 </a:t>
            </a:r>
            <a:r>
              <a:rPr lang="ru-RU" sz="1600" dirty="0">
                <a:latin typeface="Helvetica" panose="020B0604020202020204" pitchFamily="34" charset="0"/>
                <a:cs typeface="Helvetica" panose="020B0604020202020204" pitchFamily="34" charset="0"/>
              </a:rPr>
              <a:t>с номера </a:t>
            </a:r>
            <a:r>
              <a:rPr lang="ru-RU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+7 495 111 11 11 </a:t>
            </a:r>
            <a:r>
              <a:rPr lang="ru-RU" sz="1600" dirty="0">
                <a:latin typeface="Helvetica" panose="020B0604020202020204" pitchFamily="34" charset="0"/>
                <a:cs typeface="Helvetica" panose="020B0604020202020204" pitchFamily="34" charset="0"/>
              </a:rPr>
              <a:t>Нахожусь вне РК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F08C5C-0009-70AA-C48D-BB85A6C80CC2}"/>
              </a:ext>
            </a:extLst>
          </p:cNvPr>
          <p:cNvSpPr txBox="1"/>
          <p:nvPr/>
        </p:nvSpPr>
        <p:spPr>
          <a:xfrm>
            <a:off x="2164652" y="4174475"/>
            <a:ext cx="236229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500" dirty="0">
                <a:latin typeface="Helvetica" panose="020B0604020202020204" pitchFamily="34" charset="0"/>
                <a:cs typeface="Helvetica" panose="020B0604020202020204" pitchFamily="34" charset="0"/>
              </a:rPr>
              <a:t>Сторонний оператор международной связи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9D46665-A17C-07C1-368B-16D3FD33E2F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0915" y="3259524"/>
            <a:ext cx="867740" cy="86774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B668A6A5-B63A-8114-7017-F29BCBA0D3CB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31" y="3087424"/>
            <a:ext cx="1549730" cy="1549730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FCAD087C-313F-8814-7E98-A102FBD0FFD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333" y="3036039"/>
            <a:ext cx="833049" cy="833049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F63214AD-C37B-1984-920D-1E05CEDA9E2E}"/>
              </a:ext>
            </a:extLst>
          </p:cNvPr>
          <p:cNvSpPr txBox="1"/>
          <p:nvPr/>
        </p:nvSpPr>
        <p:spPr>
          <a:xfrm>
            <a:off x="7939476" y="4229311"/>
            <a:ext cx="7591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Kcell</a:t>
            </a: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1C71E2C7-DF2D-BE2D-0105-A9261915694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301" y="3353301"/>
            <a:ext cx="833049" cy="833049"/>
          </a:xfrm>
          <a:prstGeom prst="rect">
            <a:avLst/>
          </a:prstGeom>
        </p:spPr>
      </p:pic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328B389D-DA64-1485-95A6-669011DB77D7}"/>
              </a:ext>
            </a:extLst>
          </p:cNvPr>
          <p:cNvCxnSpPr>
            <a:cxnSpLocks/>
          </p:cNvCxnSpPr>
          <p:nvPr/>
        </p:nvCxnSpPr>
        <p:spPr>
          <a:xfrm>
            <a:off x="1499565" y="3789657"/>
            <a:ext cx="1440000" cy="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1CEE20BC-FCFD-0EA5-D223-59767A8D3165}"/>
              </a:ext>
            </a:extLst>
          </p:cNvPr>
          <p:cNvCxnSpPr>
            <a:cxnSpLocks/>
          </p:cNvCxnSpPr>
          <p:nvPr/>
        </p:nvCxnSpPr>
        <p:spPr>
          <a:xfrm>
            <a:off x="3736348" y="3787681"/>
            <a:ext cx="1440000" cy="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75A73E47-5DFD-30D0-00A9-86B7CB830163}"/>
              </a:ext>
            </a:extLst>
          </p:cNvPr>
          <p:cNvCxnSpPr>
            <a:cxnSpLocks/>
          </p:cNvCxnSpPr>
          <p:nvPr/>
        </p:nvCxnSpPr>
        <p:spPr>
          <a:xfrm>
            <a:off x="6512403" y="3797581"/>
            <a:ext cx="1440000" cy="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14CA1687-6A44-E4A9-16A5-18D6C40DBE5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572" y="3298291"/>
            <a:ext cx="521542" cy="1341882"/>
          </a:xfrm>
          <a:prstGeom prst="rect">
            <a:avLst/>
          </a:prstGeom>
        </p:spPr>
      </p:pic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F5C905BE-CD9C-DC26-2A6C-16FCD8E55779}"/>
              </a:ext>
            </a:extLst>
          </p:cNvPr>
          <p:cNvCxnSpPr>
            <a:cxnSpLocks/>
          </p:cNvCxnSpPr>
          <p:nvPr/>
        </p:nvCxnSpPr>
        <p:spPr>
          <a:xfrm>
            <a:off x="8757501" y="3795604"/>
            <a:ext cx="1440000" cy="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Облачко с текстом: прямоугольное со скругленными углами 42">
            <a:extLst>
              <a:ext uri="{FF2B5EF4-FFF2-40B4-BE49-F238E27FC236}">
                <a16:creationId xmlns:a16="http://schemas.microsoft.com/office/drawing/2014/main" id="{98B663C7-A954-1AAC-39EE-DADEAF914DA9}"/>
              </a:ext>
            </a:extLst>
          </p:cNvPr>
          <p:cNvSpPr/>
          <p:nvPr/>
        </p:nvSpPr>
        <p:spPr>
          <a:xfrm>
            <a:off x="8050899" y="1357212"/>
            <a:ext cx="3475428" cy="1361393"/>
          </a:xfrm>
          <a:prstGeom prst="wedgeRoundRectCallout">
            <a:avLst>
              <a:gd name="adj1" fmla="val 30680"/>
              <a:gd name="adj2" fmla="val 85719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B3A87D9-E540-5FC5-F94B-546CCC14E84B}"/>
              </a:ext>
            </a:extLst>
          </p:cNvPr>
          <p:cNvSpPr txBox="1"/>
          <p:nvPr/>
        </p:nvSpPr>
        <p:spPr>
          <a:xfrm>
            <a:off x="8267071" y="1442645"/>
            <a:ext cx="297931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Helvetica" panose="020B0604020202020204" pitchFamily="34" charset="0"/>
                <a:cs typeface="Helvetica" panose="020B0604020202020204" pitchFamily="34" charset="0"/>
              </a:rPr>
              <a:t>Получаю звонок из Москвы вижу номер </a:t>
            </a:r>
            <a:r>
              <a:rPr lang="ru-RU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+7 701 123 45 67 </a:t>
            </a:r>
            <a:r>
              <a:rPr lang="ru-RU" sz="1600" dirty="0">
                <a:latin typeface="Helvetica" panose="020B0604020202020204" pitchFamily="34" charset="0"/>
                <a:cs typeface="Helvetica" panose="020B0604020202020204" pitchFamily="34" charset="0"/>
              </a:rPr>
              <a:t>Нахожусь в Алматы </a:t>
            </a:r>
            <a:r>
              <a:rPr lang="ru-RU" sz="16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Качество плохое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0F8A5C5-A564-F533-4140-2684BBA04286}"/>
              </a:ext>
            </a:extLst>
          </p:cNvPr>
          <p:cNvSpPr txBox="1"/>
          <p:nvPr/>
        </p:nvSpPr>
        <p:spPr>
          <a:xfrm>
            <a:off x="4227677" y="1417227"/>
            <a:ext cx="325884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ВРЕД ОТ ФРОДА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" panose="020B0604020202020204" pitchFamily="34" charset="0"/>
                <a:cs typeface="Helvetica" panose="020B0604020202020204" pitchFamily="34" charset="0"/>
              </a:rPr>
              <a:t>Недополученная прибыль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" panose="020B0604020202020204" pitchFamily="34" charset="0"/>
                <a:cs typeface="Helvetica" panose="020B0604020202020204" pitchFamily="34" charset="0"/>
              </a:rPr>
              <a:t>Плохое качество звонков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" panose="020B0604020202020204" pitchFamily="34" charset="0"/>
                <a:cs typeface="Helvetica" panose="020B0604020202020204" pitchFamily="34" charset="0"/>
              </a:rPr>
              <a:t>Потеря лояльности клиентов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86ABD7B-77B2-B426-C706-8C3A2F1A791C}"/>
              </a:ext>
            </a:extLst>
          </p:cNvPr>
          <p:cNvSpPr txBox="1"/>
          <p:nvPr/>
        </p:nvSpPr>
        <p:spPr>
          <a:xfrm>
            <a:off x="2345704" y="5260441"/>
            <a:ext cx="28306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Helvetica" panose="020B0604020202020204" pitchFamily="34" charset="0"/>
                <a:cs typeface="Helvetica" panose="020B0604020202020204" pitchFamily="34" charset="0"/>
              </a:rPr>
              <a:t>Номер А</a:t>
            </a:r>
          </a:p>
          <a:p>
            <a:pPr algn="ctr"/>
            <a:r>
              <a:rPr lang="ru-RU" sz="2000" dirty="0">
                <a:latin typeface="Helvetica" panose="020B0604020202020204" pitchFamily="34" charset="0"/>
                <a:cs typeface="Helvetica" panose="020B0604020202020204" pitchFamily="34" charset="0"/>
              </a:rPr>
              <a:t>+7 495 111 11 11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2F36F02-9720-B2A9-8CEB-84AFF4F67FFD}"/>
              </a:ext>
            </a:extLst>
          </p:cNvPr>
          <p:cNvSpPr txBox="1"/>
          <p:nvPr/>
        </p:nvSpPr>
        <p:spPr>
          <a:xfrm>
            <a:off x="6479301" y="5257752"/>
            <a:ext cx="28731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Helvetica" panose="020B0604020202020204" pitchFamily="34" charset="0"/>
                <a:cs typeface="Helvetica" panose="020B0604020202020204" pitchFamily="34" charset="0"/>
              </a:rPr>
              <a:t>Номер А</a:t>
            </a:r>
          </a:p>
          <a:p>
            <a:pPr algn="ctr"/>
            <a:r>
              <a:rPr lang="ru-RU" sz="20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+7 </a:t>
            </a:r>
            <a:r>
              <a:rPr lang="en-US" sz="20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701</a:t>
            </a:r>
            <a:r>
              <a:rPr lang="ru-RU" sz="20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123</a:t>
            </a:r>
            <a:r>
              <a:rPr lang="ru-RU" sz="20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45</a:t>
            </a:r>
            <a:r>
              <a:rPr lang="ru-RU" sz="20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67</a:t>
            </a:r>
          </a:p>
        </p:txBody>
      </p:sp>
      <p:sp>
        <p:nvSpPr>
          <p:cNvPr id="61" name="Прямоугольник 1">
            <a:extLst>
              <a:ext uri="{FF2B5EF4-FFF2-40B4-BE49-F238E27FC236}">
                <a16:creationId xmlns:a16="http://schemas.microsoft.com/office/drawing/2014/main" id="{F3F0433F-CB1A-9397-9E7D-F4AA1993698F}"/>
              </a:ext>
            </a:extLst>
          </p:cNvPr>
          <p:cNvSpPr/>
          <p:nvPr/>
        </p:nvSpPr>
        <p:spPr>
          <a:xfrm>
            <a:off x="461931" y="6369824"/>
            <a:ext cx="1127791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>
                <a:latin typeface="Pragmatica Book Reg"/>
                <a:cs typeface="Arial" panose="020B0604020202020204" pitchFamily="34" charset="0"/>
              </a:rPr>
              <a:t>*</a:t>
            </a:r>
            <a:r>
              <a:rPr lang="en-US" sz="1000" b="1" dirty="0">
                <a:latin typeface="Pragmatica Book Reg"/>
                <a:cs typeface="Arial" panose="020B0604020202020204" pitchFamily="34" charset="0"/>
              </a:rPr>
              <a:t> </a:t>
            </a:r>
            <a:r>
              <a:rPr lang="ru-RU" sz="1000" b="1" dirty="0" err="1">
                <a:latin typeface="Pragmatica Book Reg"/>
                <a:cs typeface="Arial" panose="020B0604020202020204" pitchFamily="34" charset="0"/>
              </a:rPr>
              <a:t>Фрод</a:t>
            </a:r>
            <a:r>
              <a:rPr lang="ru-RU" sz="1000" dirty="0">
                <a:latin typeface="Pragmatica Book Reg"/>
                <a:cs typeface="Arial" panose="020B0604020202020204" pitchFamily="34" charset="0"/>
              </a:rPr>
              <a:t> (от англ. </a:t>
            </a:r>
            <a:r>
              <a:rPr lang="ru-RU" sz="1000" b="1" i="1" dirty="0" err="1">
                <a:latin typeface="Pragmatica Book Reg"/>
                <a:cs typeface="Arial" panose="020B0604020202020204" pitchFamily="34" charset="0"/>
              </a:rPr>
              <a:t>fraud</a:t>
            </a:r>
            <a:r>
              <a:rPr lang="ru-RU" sz="1000" dirty="0">
                <a:latin typeface="Pragmatica Book Reg"/>
                <a:cs typeface="Arial" panose="020B0604020202020204" pitchFamily="34" charset="0"/>
              </a:rPr>
              <a:t>) — вид мошенничества в области информационных технологий, в частности, несанкционированные действия и неправомочное пользование ресурсами и услугами в сетях связи</a:t>
            </a:r>
          </a:p>
        </p:txBody>
      </p:sp>
      <p:cxnSp>
        <p:nvCxnSpPr>
          <p:cNvPr id="3" name="Прямая со стрелкой 2">
            <a:extLst>
              <a:ext uri="{FF2B5EF4-FFF2-40B4-BE49-F238E27FC236}">
                <a16:creationId xmlns:a16="http://schemas.microsoft.com/office/drawing/2014/main" id="{453143D4-A33D-7D3F-085E-CC0DA9D2DBC0}"/>
              </a:ext>
            </a:extLst>
          </p:cNvPr>
          <p:cNvCxnSpPr/>
          <p:nvPr/>
        </p:nvCxnSpPr>
        <p:spPr>
          <a:xfrm flipH="1">
            <a:off x="1617636" y="4900484"/>
            <a:ext cx="4180697" cy="0"/>
          </a:xfrm>
          <a:prstGeom prst="straightConnector1">
            <a:avLst/>
          </a:prstGeom>
          <a:ln w="76200">
            <a:solidFill>
              <a:srgbClr val="0083BE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1B114E62-6B76-8227-94AF-DB84460A72CE}"/>
              </a:ext>
            </a:extLst>
          </p:cNvPr>
          <p:cNvCxnSpPr/>
          <p:nvPr/>
        </p:nvCxnSpPr>
        <p:spPr>
          <a:xfrm flipH="1">
            <a:off x="5933297" y="4900484"/>
            <a:ext cx="4149608" cy="0"/>
          </a:xfrm>
          <a:prstGeom prst="straightConnector1">
            <a:avLst/>
          </a:prstGeom>
          <a:ln w="76200">
            <a:solidFill>
              <a:srgbClr val="6A2D9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48C7259-AF61-AB94-F56B-0F218CDBCEC3}"/>
              </a:ext>
            </a:extLst>
          </p:cNvPr>
          <p:cNvSpPr txBox="1"/>
          <p:nvPr/>
        </p:nvSpPr>
        <p:spPr>
          <a:xfrm>
            <a:off x="5419637" y="5392086"/>
            <a:ext cx="8803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300" i="1" dirty="0">
                <a:latin typeface="Arial" panose="020B0604020202020204" pitchFamily="34" charset="0"/>
                <a:cs typeface="Arial" panose="020B0604020202020204" pitchFamily="34" charset="0"/>
              </a:rPr>
              <a:t>Подмена</a:t>
            </a:r>
            <a:endParaRPr lang="en-US" sz="13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2567B89F-DC2A-BB6C-219B-B838F939332B}"/>
              </a:ext>
            </a:extLst>
          </p:cNvPr>
          <p:cNvCxnSpPr>
            <a:cxnSpLocks/>
          </p:cNvCxnSpPr>
          <p:nvPr/>
        </p:nvCxnSpPr>
        <p:spPr>
          <a:xfrm>
            <a:off x="5854976" y="4716877"/>
            <a:ext cx="4845" cy="674401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2629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Скругленный прямоугольник 61">
            <a:extLst>
              <a:ext uri="{FF2B5EF4-FFF2-40B4-BE49-F238E27FC236}">
                <a16:creationId xmlns:a16="http://schemas.microsoft.com/office/drawing/2014/main" id="{633A6BCD-8248-6BB5-547B-A69CA69E3236}"/>
              </a:ext>
            </a:extLst>
          </p:cNvPr>
          <p:cNvSpPr/>
          <p:nvPr/>
        </p:nvSpPr>
        <p:spPr>
          <a:xfrm>
            <a:off x="6472468" y="5083721"/>
            <a:ext cx="2880000" cy="1044337"/>
          </a:xfrm>
          <a:prstGeom prst="roundRect">
            <a:avLst>
              <a:gd name="adj" fmla="val 1338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dirty="0"/>
          </a:p>
        </p:txBody>
      </p:sp>
      <p:sp>
        <p:nvSpPr>
          <p:cNvPr id="71" name="Скругленный прямоугольник 61">
            <a:extLst>
              <a:ext uri="{FF2B5EF4-FFF2-40B4-BE49-F238E27FC236}">
                <a16:creationId xmlns:a16="http://schemas.microsoft.com/office/drawing/2014/main" id="{20C26CC9-BD27-D7C7-85FC-6F2E6AB07C82}"/>
              </a:ext>
            </a:extLst>
          </p:cNvPr>
          <p:cNvSpPr/>
          <p:nvPr/>
        </p:nvSpPr>
        <p:spPr>
          <a:xfrm>
            <a:off x="2345704" y="5083721"/>
            <a:ext cx="2880000" cy="1044337"/>
          </a:xfrm>
          <a:prstGeom prst="roundRect">
            <a:avLst>
              <a:gd name="adj" fmla="val 1338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dirty="0"/>
          </a:p>
        </p:txBody>
      </p:sp>
      <p:sp>
        <p:nvSpPr>
          <p:cNvPr id="47" name="Скругленный прямоугольник 61">
            <a:extLst>
              <a:ext uri="{FF2B5EF4-FFF2-40B4-BE49-F238E27FC236}">
                <a16:creationId xmlns:a16="http://schemas.microsoft.com/office/drawing/2014/main" id="{E574558F-014A-AA40-6F26-82098394468F}"/>
              </a:ext>
            </a:extLst>
          </p:cNvPr>
          <p:cNvSpPr/>
          <p:nvPr/>
        </p:nvSpPr>
        <p:spPr>
          <a:xfrm>
            <a:off x="4059006" y="1350587"/>
            <a:ext cx="3601633" cy="1367213"/>
          </a:xfrm>
          <a:prstGeom prst="roundRect">
            <a:avLst>
              <a:gd name="adj" fmla="val 1338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4FD8AFE-9381-944D-F3EA-28E5E39469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2322" y="399717"/>
            <a:ext cx="736255" cy="2410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139D6B-F1C0-AB78-74B4-E16DF6CA6E68}"/>
              </a:ext>
            </a:extLst>
          </p:cNvPr>
          <p:cNvSpPr txBox="1"/>
          <p:nvPr/>
        </p:nvSpPr>
        <p:spPr>
          <a:xfrm>
            <a:off x="677622" y="332556"/>
            <a:ext cx="5884482" cy="5847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2800" b="1" dirty="0">
                <a:solidFill>
                  <a:srgbClr val="6A2E92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Схема фрода *</a:t>
            </a:r>
            <a:endParaRPr lang="en-US" sz="2800" b="1" dirty="0">
              <a:solidFill>
                <a:srgbClr val="6A2E92"/>
              </a:solidFill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8C05CE-0107-F728-FEF4-12780E625DF0}"/>
              </a:ext>
            </a:extLst>
          </p:cNvPr>
          <p:cNvSpPr txBox="1"/>
          <p:nvPr/>
        </p:nvSpPr>
        <p:spPr>
          <a:xfrm>
            <a:off x="4875400" y="4350319"/>
            <a:ext cx="197239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500" dirty="0">
                <a:latin typeface="Arial" panose="020B0604020202020204" pitchFamily="34" charset="0"/>
                <a:cs typeface="Arial" panose="020B0604020202020204" pitchFamily="34" charset="0"/>
              </a:rPr>
              <a:t>АТС клиента 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4DD9F57-8DDB-728F-DAE2-96F7EBEA77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45249" y="3294065"/>
            <a:ext cx="1239929" cy="1239929"/>
          </a:xfrm>
          <a:prstGeom prst="rect">
            <a:avLst/>
          </a:prstGeom>
        </p:spPr>
      </p:pic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1ED9D655-0077-75CA-2E40-21CEFD90FEC1}"/>
              </a:ext>
            </a:extLst>
          </p:cNvPr>
          <p:cNvSpPr/>
          <p:nvPr/>
        </p:nvSpPr>
        <p:spPr>
          <a:xfrm>
            <a:off x="700854" y="857252"/>
            <a:ext cx="6529286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300" dirty="0">
                <a:latin typeface="Pragmatica Book Reg"/>
                <a:cs typeface="Arial" panose="020B0604020202020204" pitchFamily="34" charset="0"/>
              </a:rPr>
              <a:t>(Перенаправление (перепродажа) трафика 3-им лицам*)</a:t>
            </a:r>
          </a:p>
        </p:txBody>
      </p:sp>
      <p:sp>
        <p:nvSpPr>
          <p:cNvPr id="7" name="Облачко с текстом: прямоугольное со скругленными углами 6">
            <a:extLst>
              <a:ext uri="{FF2B5EF4-FFF2-40B4-BE49-F238E27FC236}">
                <a16:creationId xmlns:a16="http://schemas.microsoft.com/office/drawing/2014/main" id="{03441C40-B322-BB7C-435E-FC55FEE95109}"/>
              </a:ext>
            </a:extLst>
          </p:cNvPr>
          <p:cNvSpPr/>
          <p:nvPr/>
        </p:nvSpPr>
        <p:spPr>
          <a:xfrm>
            <a:off x="604299" y="1351029"/>
            <a:ext cx="3079984" cy="1361393"/>
          </a:xfrm>
          <a:prstGeom prst="wedgeRoundRectCallout">
            <a:avLst>
              <a:gd name="adj1" fmla="val -32400"/>
              <a:gd name="adj2" fmla="val 91619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CC9CD1-B83A-45C2-76E2-4812FB2D2C3F}"/>
              </a:ext>
            </a:extLst>
          </p:cNvPr>
          <p:cNvSpPr txBox="1"/>
          <p:nvPr/>
        </p:nvSpPr>
        <p:spPr>
          <a:xfrm>
            <a:off x="724489" y="1616984"/>
            <a:ext cx="27599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Helvetica" panose="020B0604020202020204" pitchFamily="34" charset="0"/>
                <a:cs typeface="Helvetica" panose="020B0604020202020204" pitchFamily="34" charset="0"/>
              </a:rPr>
              <a:t>Звоню через компанию, </a:t>
            </a:r>
            <a:br>
              <a:rPr lang="ru-RU" sz="16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ru-RU" sz="1600" dirty="0">
                <a:latin typeface="Helvetica" panose="020B0604020202020204" pitchFamily="34" charset="0"/>
                <a:cs typeface="Helvetica" panose="020B0604020202020204" pitchFamily="34" charset="0"/>
              </a:rPr>
              <a:t>у которой есть договор</a:t>
            </a:r>
            <a:br>
              <a:rPr lang="ru-RU" sz="16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ru-RU" sz="1600" dirty="0">
                <a:latin typeface="Helvetica" panose="020B0604020202020204" pitchFamily="34" charset="0"/>
                <a:cs typeface="Helvetica" panose="020B0604020202020204" pitchFamily="34" charset="0"/>
              </a:rPr>
              <a:t>с Кселл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F08C5C-0009-70AA-C48D-BB85A6C80CC2}"/>
              </a:ext>
            </a:extLst>
          </p:cNvPr>
          <p:cNvSpPr txBox="1"/>
          <p:nvPr/>
        </p:nvSpPr>
        <p:spPr>
          <a:xfrm>
            <a:off x="2583453" y="4348314"/>
            <a:ext cx="1519631" cy="332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500" dirty="0">
                <a:latin typeface="Helvetica" panose="020B0604020202020204" pitchFamily="34" charset="0"/>
                <a:cs typeface="Helvetica" panose="020B0604020202020204" pitchFamily="34" charset="0"/>
              </a:rPr>
              <a:t>АТС 3-х лиц</a:t>
            </a:r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B668A6A5-B63A-8114-7017-F29BCBA0D3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1931" y="3236014"/>
            <a:ext cx="1549730" cy="1549730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FCAD087C-313F-8814-7E98-A102FBD0FF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333" y="3184629"/>
            <a:ext cx="833049" cy="833049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F63214AD-C37B-1984-920D-1E05CEDA9E2E}"/>
              </a:ext>
            </a:extLst>
          </p:cNvPr>
          <p:cNvSpPr txBox="1"/>
          <p:nvPr/>
        </p:nvSpPr>
        <p:spPr>
          <a:xfrm>
            <a:off x="7939476" y="4377901"/>
            <a:ext cx="7591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Kcell</a:t>
            </a: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1C71E2C7-DF2D-BE2D-0105-A9261915694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301" y="3501891"/>
            <a:ext cx="833049" cy="833049"/>
          </a:xfrm>
          <a:prstGeom prst="rect">
            <a:avLst/>
          </a:prstGeom>
        </p:spPr>
      </p:pic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328B389D-DA64-1485-95A6-669011DB77D7}"/>
              </a:ext>
            </a:extLst>
          </p:cNvPr>
          <p:cNvCxnSpPr>
            <a:cxnSpLocks/>
          </p:cNvCxnSpPr>
          <p:nvPr/>
        </p:nvCxnSpPr>
        <p:spPr>
          <a:xfrm>
            <a:off x="1499565" y="3938247"/>
            <a:ext cx="1155953" cy="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1CEE20BC-FCFD-0EA5-D223-59767A8D3165}"/>
              </a:ext>
            </a:extLst>
          </p:cNvPr>
          <p:cNvCxnSpPr>
            <a:cxnSpLocks/>
          </p:cNvCxnSpPr>
          <p:nvPr/>
        </p:nvCxnSpPr>
        <p:spPr>
          <a:xfrm>
            <a:off x="4084028" y="3936271"/>
            <a:ext cx="1092320" cy="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75A73E47-5DFD-30D0-00A9-86B7CB830163}"/>
              </a:ext>
            </a:extLst>
          </p:cNvPr>
          <p:cNvCxnSpPr>
            <a:cxnSpLocks/>
          </p:cNvCxnSpPr>
          <p:nvPr/>
        </p:nvCxnSpPr>
        <p:spPr>
          <a:xfrm>
            <a:off x="6512403" y="3946171"/>
            <a:ext cx="1440000" cy="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14CA1687-6A44-E4A9-16A5-18D6C40DBE5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572" y="3446881"/>
            <a:ext cx="521542" cy="1341882"/>
          </a:xfrm>
          <a:prstGeom prst="rect">
            <a:avLst/>
          </a:prstGeom>
        </p:spPr>
      </p:pic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F5C905BE-CD9C-DC26-2A6C-16FCD8E55779}"/>
              </a:ext>
            </a:extLst>
          </p:cNvPr>
          <p:cNvCxnSpPr>
            <a:cxnSpLocks/>
          </p:cNvCxnSpPr>
          <p:nvPr/>
        </p:nvCxnSpPr>
        <p:spPr>
          <a:xfrm>
            <a:off x="8757501" y="3944194"/>
            <a:ext cx="1440000" cy="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Облачко с текстом: прямоугольное со скругленными углами 42">
            <a:extLst>
              <a:ext uri="{FF2B5EF4-FFF2-40B4-BE49-F238E27FC236}">
                <a16:creationId xmlns:a16="http://schemas.microsoft.com/office/drawing/2014/main" id="{98B663C7-A954-1AAC-39EE-DADEAF914DA9}"/>
              </a:ext>
            </a:extLst>
          </p:cNvPr>
          <p:cNvSpPr/>
          <p:nvPr/>
        </p:nvSpPr>
        <p:spPr>
          <a:xfrm>
            <a:off x="8050899" y="1357212"/>
            <a:ext cx="3475428" cy="1361393"/>
          </a:xfrm>
          <a:prstGeom prst="wedgeRoundRectCallout">
            <a:avLst>
              <a:gd name="adj1" fmla="val 30680"/>
              <a:gd name="adj2" fmla="val 85719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B3A87D9-E540-5FC5-F94B-546CCC14E84B}"/>
              </a:ext>
            </a:extLst>
          </p:cNvPr>
          <p:cNvSpPr txBox="1"/>
          <p:nvPr/>
        </p:nvSpPr>
        <p:spPr>
          <a:xfrm>
            <a:off x="8267071" y="1747921"/>
            <a:ext cx="2979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Helvetica" panose="020B0604020202020204" pitchFamily="34" charset="0"/>
                <a:cs typeface="Helvetica" panose="020B0604020202020204" pitchFamily="34" charset="0"/>
              </a:rPr>
              <a:t>Получаю обычный звонок </a:t>
            </a:r>
            <a:r>
              <a:rPr lang="ru-RU" sz="16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Качество плохое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0F8A5C5-A564-F533-4140-2684BBA04286}"/>
              </a:ext>
            </a:extLst>
          </p:cNvPr>
          <p:cNvSpPr txBox="1"/>
          <p:nvPr/>
        </p:nvSpPr>
        <p:spPr>
          <a:xfrm>
            <a:off x="4084028" y="1391827"/>
            <a:ext cx="341914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ВРЕД ОТ ФРОДА</a:t>
            </a:r>
          </a:p>
          <a:p>
            <a:pPr marL="44450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" panose="020B0604020202020204" pitchFamily="34" charset="0"/>
                <a:cs typeface="Helvetica" panose="020B0604020202020204" pitchFamily="34" charset="0"/>
              </a:rPr>
              <a:t>Потеря клиента</a:t>
            </a:r>
          </a:p>
          <a:p>
            <a:pPr marL="44450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" panose="020B0604020202020204" pitchFamily="34" charset="0"/>
                <a:cs typeface="Helvetica" panose="020B0604020202020204" pitchFamily="34" charset="0"/>
              </a:rPr>
              <a:t>Плохое качество звонков</a:t>
            </a:r>
          </a:p>
          <a:p>
            <a:pPr marL="44450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" panose="020B0604020202020204" pitchFamily="34" charset="0"/>
                <a:cs typeface="Helvetica" panose="020B0604020202020204" pitchFamily="34" charset="0"/>
              </a:rPr>
              <a:t>Потеря лояльности клиентов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86ABD7B-77B2-B426-C706-8C3A2F1A791C}"/>
              </a:ext>
            </a:extLst>
          </p:cNvPr>
          <p:cNvSpPr txBox="1"/>
          <p:nvPr/>
        </p:nvSpPr>
        <p:spPr>
          <a:xfrm>
            <a:off x="2345704" y="5271871"/>
            <a:ext cx="28306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Helvetica" panose="020B0604020202020204" pitchFamily="34" charset="0"/>
                <a:cs typeface="Helvetica" panose="020B0604020202020204" pitchFamily="34" charset="0"/>
              </a:rPr>
              <a:t>Номер А</a:t>
            </a:r>
          </a:p>
          <a:p>
            <a:pPr algn="ctr"/>
            <a:r>
              <a:rPr lang="ru-RU" sz="2000" dirty="0">
                <a:latin typeface="Helvetica" panose="020B0604020202020204" pitchFamily="34" charset="0"/>
                <a:cs typeface="Helvetica" panose="020B0604020202020204" pitchFamily="34" charset="0"/>
              </a:rPr>
              <a:t>+7 495 111 11 11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2F36F02-9720-B2A9-8CEB-84AFF4F67FFD}"/>
              </a:ext>
            </a:extLst>
          </p:cNvPr>
          <p:cNvSpPr txBox="1"/>
          <p:nvPr/>
        </p:nvSpPr>
        <p:spPr>
          <a:xfrm>
            <a:off x="6479301" y="5269182"/>
            <a:ext cx="28731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Helvetica" panose="020B0604020202020204" pitchFamily="34" charset="0"/>
                <a:cs typeface="Helvetica" panose="020B0604020202020204" pitchFamily="34" charset="0"/>
              </a:rPr>
              <a:t>Номер А</a:t>
            </a:r>
          </a:p>
          <a:p>
            <a:pPr algn="ctr"/>
            <a:r>
              <a:rPr lang="ru-RU" sz="20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+7 </a:t>
            </a:r>
            <a:r>
              <a:rPr lang="en-US" sz="20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701</a:t>
            </a:r>
            <a:r>
              <a:rPr lang="ru-RU" sz="20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123</a:t>
            </a:r>
            <a:r>
              <a:rPr lang="ru-RU" sz="20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45</a:t>
            </a:r>
            <a:r>
              <a:rPr lang="ru-RU" sz="20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67</a:t>
            </a:r>
          </a:p>
        </p:txBody>
      </p:sp>
      <p:sp>
        <p:nvSpPr>
          <p:cNvPr id="61" name="Прямоугольник 1">
            <a:extLst>
              <a:ext uri="{FF2B5EF4-FFF2-40B4-BE49-F238E27FC236}">
                <a16:creationId xmlns:a16="http://schemas.microsoft.com/office/drawing/2014/main" id="{F3F0433F-CB1A-9397-9E7D-F4AA1993698F}"/>
              </a:ext>
            </a:extLst>
          </p:cNvPr>
          <p:cNvSpPr/>
          <p:nvPr/>
        </p:nvSpPr>
        <p:spPr>
          <a:xfrm>
            <a:off x="461931" y="6369824"/>
            <a:ext cx="1127791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dirty="0">
                <a:latin typeface="Pragmatica Book Reg"/>
                <a:cs typeface="Arial" panose="020B0604020202020204" pitchFamily="34" charset="0"/>
              </a:rPr>
              <a:t>* исключение, если клиент является компанией, предоставляющая услуги связи  (кроме перепродажи) компаниям в пределах одного здания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6B9E5DA-B61E-05E6-FD41-DACDE20715BA}"/>
              </a:ext>
            </a:extLst>
          </p:cNvPr>
          <p:cNvSpPr txBox="1"/>
          <p:nvPr/>
        </p:nvSpPr>
        <p:spPr>
          <a:xfrm>
            <a:off x="5419637" y="5392086"/>
            <a:ext cx="8803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300" i="1" dirty="0">
                <a:latin typeface="Arial" panose="020B0604020202020204" pitchFamily="34" charset="0"/>
                <a:cs typeface="Arial" panose="020B0604020202020204" pitchFamily="34" charset="0"/>
              </a:rPr>
              <a:t>Подмена</a:t>
            </a:r>
            <a:endParaRPr lang="en-US" sz="13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Прямая со стрелкой 2">
            <a:extLst>
              <a:ext uri="{FF2B5EF4-FFF2-40B4-BE49-F238E27FC236}">
                <a16:creationId xmlns:a16="http://schemas.microsoft.com/office/drawing/2014/main" id="{453143D4-A33D-7D3F-085E-CC0DA9D2DBC0}"/>
              </a:ext>
            </a:extLst>
          </p:cNvPr>
          <p:cNvCxnSpPr/>
          <p:nvPr/>
        </p:nvCxnSpPr>
        <p:spPr>
          <a:xfrm flipH="1">
            <a:off x="1617636" y="4900484"/>
            <a:ext cx="4180697" cy="0"/>
          </a:xfrm>
          <a:prstGeom prst="straightConnector1">
            <a:avLst/>
          </a:prstGeom>
          <a:ln w="762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1B114E62-6B76-8227-94AF-DB84460A72CE}"/>
              </a:ext>
            </a:extLst>
          </p:cNvPr>
          <p:cNvCxnSpPr/>
          <p:nvPr/>
        </p:nvCxnSpPr>
        <p:spPr>
          <a:xfrm flipH="1">
            <a:off x="5933297" y="4900484"/>
            <a:ext cx="4149608" cy="0"/>
          </a:xfrm>
          <a:prstGeom prst="straightConnector1">
            <a:avLst/>
          </a:prstGeom>
          <a:ln w="76200">
            <a:solidFill>
              <a:srgbClr val="652D86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30A1510F-377A-8495-0D43-AFE3942CF589}"/>
              </a:ext>
            </a:extLst>
          </p:cNvPr>
          <p:cNvCxnSpPr>
            <a:cxnSpLocks/>
          </p:cNvCxnSpPr>
          <p:nvPr/>
        </p:nvCxnSpPr>
        <p:spPr>
          <a:xfrm>
            <a:off x="5854976" y="4716877"/>
            <a:ext cx="4845" cy="674401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Рисунок 1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D1160757-B4DD-CCF0-61B8-21D3518C404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2539" y="3292713"/>
            <a:ext cx="1239929" cy="1239929"/>
          </a:xfrm>
          <a:prstGeom prst="rect">
            <a:avLst/>
          </a:prstGeom>
        </p:spPr>
      </p:pic>
      <p:sp>
        <p:nvSpPr>
          <p:cNvPr id="18" name="Правая фигурная скобка 17">
            <a:extLst>
              <a:ext uri="{FF2B5EF4-FFF2-40B4-BE49-F238E27FC236}">
                <a16:creationId xmlns:a16="http://schemas.microsoft.com/office/drawing/2014/main" id="{6ED29245-30B2-638E-BF81-50849652AE55}"/>
              </a:ext>
            </a:extLst>
          </p:cNvPr>
          <p:cNvSpPr/>
          <p:nvPr/>
        </p:nvSpPr>
        <p:spPr>
          <a:xfrm rot="16200000">
            <a:off x="4449328" y="2604246"/>
            <a:ext cx="315083" cy="1650203"/>
          </a:xfrm>
          <a:prstGeom prst="rightBrace">
            <a:avLst>
              <a:gd name="adj1" fmla="val 57513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FFA037-71F1-4191-8F6D-22EB291AC7D8}"/>
              </a:ext>
            </a:extLst>
          </p:cNvPr>
          <p:cNvSpPr txBox="1"/>
          <p:nvPr/>
        </p:nvSpPr>
        <p:spPr>
          <a:xfrm>
            <a:off x="3885950" y="2935822"/>
            <a:ext cx="1519631" cy="332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500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7 тенге</a:t>
            </a:r>
          </a:p>
        </p:txBody>
      </p:sp>
      <p:sp>
        <p:nvSpPr>
          <p:cNvPr id="20" name="Правая фигурная скобка 19">
            <a:extLst>
              <a:ext uri="{FF2B5EF4-FFF2-40B4-BE49-F238E27FC236}">
                <a16:creationId xmlns:a16="http://schemas.microsoft.com/office/drawing/2014/main" id="{7959BEF6-3862-384B-8016-BCEE2C784F65}"/>
              </a:ext>
            </a:extLst>
          </p:cNvPr>
          <p:cNvSpPr/>
          <p:nvPr/>
        </p:nvSpPr>
        <p:spPr>
          <a:xfrm rot="16200000">
            <a:off x="7024888" y="2596626"/>
            <a:ext cx="315083" cy="1650203"/>
          </a:xfrm>
          <a:prstGeom prst="rightBrace">
            <a:avLst>
              <a:gd name="adj1" fmla="val 57513"/>
              <a:gd name="adj2" fmla="val 50000"/>
            </a:avLst>
          </a:prstGeom>
          <a:ln w="28575">
            <a:solidFill>
              <a:srgbClr val="6A2D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053939-9CE5-397D-1EB3-8AD373FA1AE5}"/>
              </a:ext>
            </a:extLst>
          </p:cNvPr>
          <p:cNvSpPr txBox="1"/>
          <p:nvPr/>
        </p:nvSpPr>
        <p:spPr>
          <a:xfrm>
            <a:off x="6461510" y="2928202"/>
            <a:ext cx="1519631" cy="3325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500" b="1" dirty="0">
                <a:solidFill>
                  <a:srgbClr val="6A2D9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6 тенге</a:t>
            </a:r>
          </a:p>
        </p:txBody>
      </p:sp>
    </p:spTree>
    <p:extLst>
      <p:ext uri="{BB962C8B-B14F-4D97-AF65-F5344CB8AC3E}">
        <p14:creationId xmlns:p14="http://schemas.microsoft.com/office/powerpoint/2010/main" val="27893697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A25844A-3C72-DFE2-504A-163701144B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2322" y="399717"/>
            <a:ext cx="736255" cy="2410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C054FC-021E-DACC-0704-E61125534DA2}"/>
              </a:ext>
            </a:extLst>
          </p:cNvPr>
          <p:cNvSpPr txBox="1"/>
          <p:nvPr/>
        </p:nvSpPr>
        <p:spPr>
          <a:xfrm>
            <a:off x="677622" y="332556"/>
            <a:ext cx="5884482" cy="5847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2800" b="1" dirty="0">
                <a:solidFill>
                  <a:srgbClr val="6A2E92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Необходимые документы</a:t>
            </a:r>
            <a:endParaRPr lang="en-US" sz="2800" b="1" dirty="0">
              <a:solidFill>
                <a:srgbClr val="6A2E92"/>
              </a:solidFill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03D63B11-BA23-86DF-4CB2-7D4184926033}"/>
              </a:ext>
            </a:extLst>
          </p:cNvPr>
          <p:cNvGrpSpPr/>
          <p:nvPr/>
        </p:nvGrpSpPr>
        <p:grpSpPr>
          <a:xfrm>
            <a:off x="0" y="2440097"/>
            <a:ext cx="12255191" cy="2683499"/>
            <a:chOff x="0" y="2440097"/>
            <a:chExt cx="12255191" cy="2683499"/>
          </a:xfrm>
        </p:grpSpPr>
        <p:sp>
          <p:nvSpPr>
            <p:cNvPr id="4" name="Равнобедренный треугольник 3">
              <a:extLst>
                <a:ext uri="{FF2B5EF4-FFF2-40B4-BE49-F238E27FC236}">
                  <a16:creationId xmlns:a16="http://schemas.microsoft.com/office/drawing/2014/main" id="{6359B389-7039-487C-AEFE-FBF82764DE87}"/>
                </a:ext>
              </a:extLst>
            </p:cNvPr>
            <p:cNvSpPr/>
            <p:nvPr/>
          </p:nvSpPr>
          <p:spPr>
            <a:xfrm rot="5400000">
              <a:off x="7524865" y="3499749"/>
              <a:ext cx="2665759" cy="581935"/>
            </a:xfrm>
            <a:prstGeom prst="triangle">
              <a:avLst/>
            </a:prstGeom>
            <a:solidFill>
              <a:srgbClr val="A6D7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: скругленные углы 4">
              <a:extLst>
                <a:ext uri="{FF2B5EF4-FFF2-40B4-BE49-F238E27FC236}">
                  <a16:creationId xmlns:a16="http://schemas.microsoft.com/office/drawing/2014/main" id="{DE445261-1C0B-4E4F-9682-C12D0AC3E7F8}"/>
                </a:ext>
              </a:extLst>
            </p:cNvPr>
            <p:cNvSpPr/>
            <p:nvPr/>
          </p:nvSpPr>
          <p:spPr>
            <a:xfrm>
              <a:off x="3011803" y="2447952"/>
              <a:ext cx="2485690" cy="2665755"/>
            </a:xfrm>
            <a:prstGeom prst="roundRect">
              <a:avLst>
                <a:gd name="adj" fmla="val 0"/>
              </a:avLst>
            </a:prstGeom>
            <a:solidFill>
              <a:srgbClr val="A6D7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buClr>
                  <a:srgbClr val="6A2D91"/>
                </a:buClr>
              </a:pPr>
              <a:endParaRPr lang="ru-RU" sz="2000" b="1" dirty="0">
                <a:solidFill>
                  <a:srgbClr val="6A2D91"/>
                </a:solidFill>
                <a:latin typeface="Pragmatica Black"/>
              </a:endParaRPr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4F3CA06A-7B99-4D22-8768-F82CA3EC9BEB}"/>
                </a:ext>
              </a:extLst>
            </p:cNvPr>
            <p:cNvSpPr/>
            <p:nvPr/>
          </p:nvSpPr>
          <p:spPr>
            <a:xfrm>
              <a:off x="6089001" y="2455201"/>
              <a:ext cx="2485690" cy="2665755"/>
            </a:xfrm>
            <a:prstGeom prst="roundRect">
              <a:avLst>
                <a:gd name="adj" fmla="val 0"/>
              </a:avLst>
            </a:prstGeom>
            <a:solidFill>
              <a:srgbClr val="A6D7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buClr>
                  <a:srgbClr val="6A2D91"/>
                </a:buClr>
              </a:pPr>
              <a:endParaRPr lang="ru-RU" sz="2000" b="1" dirty="0">
                <a:solidFill>
                  <a:srgbClr val="6A2D91"/>
                </a:solidFill>
                <a:latin typeface="Pragmatica Black"/>
              </a:endParaRPr>
            </a:p>
          </p:txBody>
        </p:sp>
        <p:sp>
          <p:nvSpPr>
            <p:cNvPr id="7" name="Равнобедренный треугольник 6">
              <a:extLst>
                <a:ext uri="{FF2B5EF4-FFF2-40B4-BE49-F238E27FC236}">
                  <a16:creationId xmlns:a16="http://schemas.microsoft.com/office/drawing/2014/main" id="{AEA00E17-EBD9-4FFA-9593-B1E2C8270DDD}"/>
                </a:ext>
              </a:extLst>
            </p:cNvPr>
            <p:cNvSpPr/>
            <p:nvPr/>
          </p:nvSpPr>
          <p:spPr>
            <a:xfrm rot="5400000">
              <a:off x="1376568" y="3482009"/>
              <a:ext cx="2665759" cy="581935"/>
            </a:xfrm>
            <a:prstGeom prst="triangle">
              <a:avLst/>
            </a:prstGeom>
            <a:solidFill>
              <a:srgbClr val="A6D7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: скругленные углы 7">
              <a:extLst>
                <a:ext uri="{FF2B5EF4-FFF2-40B4-BE49-F238E27FC236}">
                  <a16:creationId xmlns:a16="http://schemas.microsoft.com/office/drawing/2014/main" id="{A3A3A0CE-5259-48A4-8FBC-B2C5188B0184}"/>
                </a:ext>
              </a:extLst>
            </p:cNvPr>
            <p:cNvSpPr/>
            <p:nvPr/>
          </p:nvSpPr>
          <p:spPr>
            <a:xfrm>
              <a:off x="0" y="2440097"/>
              <a:ext cx="2423854" cy="2665755"/>
            </a:xfrm>
            <a:prstGeom prst="roundRect">
              <a:avLst>
                <a:gd name="adj" fmla="val 0"/>
              </a:avLst>
            </a:prstGeom>
            <a:solidFill>
              <a:srgbClr val="A6D7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buClr>
                  <a:srgbClr val="6A2D91"/>
                </a:buClr>
              </a:pPr>
              <a:endParaRPr lang="ru-RU" sz="2000" b="1" dirty="0">
                <a:solidFill>
                  <a:srgbClr val="A9C139"/>
                </a:solidFill>
                <a:latin typeface="Pragmatica Black"/>
              </a:endParaRPr>
            </a:p>
          </p:txBody>
        </p:sp>
        <p:sp>
          <p:nvSpPr>
            <p:cNvPr id="9" name="Равнобедренный треугольник 8">
              <a:extLst>
                <a:ext uri="{FF2B5EF4-FFF2-40B4-BE49-F238E27FC236}">
                  <a16:creationId xmlns:a16="http://schemas.microsoft.com/office/drawing/2014/main" id="{1CDA6133-D4D7-4920-A60A-3F0505958DCB}"/>
                </a:ext>
              </a:extLst>
            </p:cNvPr>
            <p:cNvSpPr/>
            <p:nvPr/>
          </p:nvSpPr>
          <p:spPr>
            <a:xfrm rot="5400000">
              <a:off x="4452511" y="3497110"/>
              <a:ext cx="2665759" cy="581935"/>
            </a:xfrm>
            <a:prstGeom prst="triangle">
              <a:avLst/>
            </a:prstGeom>
            <a:solidFill>
              <a:srgbClr val="A6D7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7EDC425-4050-4048-9B74-176DC3C564B9}"/>
                </a:ext>
              </a:extLst>
            </p:cNvPr>
            <p:cNvSpPr txBox="1"/>
            <p:nvPr/>
          </p:nvSpPr>
          <p:spPr>
            <a:xfrm>
              <a:off x="271622" y="3575439"/>
              <a:ext cx="2728865" cy="938802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/>
            <a:p>
              <a:pPr>
                <a:lnSpc>
                  <a:spcPts val="2000"/>
                </a:lnSpc>
                <a:spcBef>
                  <a:spcPct val="0"/>
                </a:spcBef>
                <a:spcAft>
                  <a:spcPts val="600"/>
                </a:spcAft>
              </a:pPr>
              <a:r>
                <a:rPr lang="ru-RU" sz="2000" b="1" dirty="0">
                  <a:solidFill>
                    <a:schemeClr val="bg1"/>
                  </a:solidFill>
                  <a:latin typeface="Helvetica" panose="020B0604020202020204" pitchFamily="34" charset="0"/>
                  <a:ea typeface="+mj-ea"/>
                  <a:cs typeface="Helvetica" panose="020B0604020202020204" pitchFamily="34" charset="0"/>
                </a:rPr>
                <a:t>Заполненный</a:t>
              </a:r>
            </a:p>
            <a:p>
              <a:pPr>
                <a:lnSpc>
                  <a:spcPts val="2000"/>
                </a:lnSpc>
                <a:spcBef>
                  <a:spcPct val="0"/>
                </a:spcBef>
                <a:spcAft>
                  <a:spcPts val="600"/>
                </a:spcAft>
              </a:pPr>
              <a:r>
                <a:rPr lang="ru-RU" sz="2000" b="1" dirty="0">
                  <a:solidFill>
                    <a:schemeClr val="bg1"/>
                  </a:solidFill>
                  <a:latin typeface="Helvetica" panose="020B0604020202020204" pitchFamily="34" charset="0"/>
                  <a:ea typeface="+mj-ea"/>
                  <a:cs typeface="Helvetica" panose="020B0604020202020204" pitchFamily="34" charset="0"/>
                </a:rPr>
                <a:t>опросник</a:t>
              </a:r>
              <a:endParaRPr lang="en-US" sz="2000" b="1" dirty="0">
                <a:solidFill>
                  <a:schemeClr val="bg1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A07DD9A-DB7D-46F9-9DD6-972AD36B5180}"/>
                </a:ext>
              </a:extLst>
            </p:cNvPr>
            <p:cNvSpPr txBox="1"/>
            <p:nvPr/>
          </p:nvSpPr>
          <p:spPr>
            <a:xfrm>
              <a:off x="3212289" y="3593270"/>
              <a:ext cx="2728865" cy="938802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/>
            <a:p>
              <a:pPr>
                <a:lnSpc>
                  <a:spcPts val="2000"/>
                </a:lnSpc>
                <a:spcBef>
                  <a:spcPct val="0"/>
                </a:spcBef>
                <a:spcAft>
                  <a:spcPts val="600"/>
                </a:spcAft>
              </a:pPr>
              <a:r>
                <a:rPr lang="ru-RU" sz="2000" b="1" dirty="0">
                  <a:solidFill>
                    <a:schemeClr val="bg1"/>
                  </a:solidFill>
                  <a:latin typeface="Helvetica" panose="020B0604020202020204" pitchFamily="34" charset="0"/>
                  <a:ea typeface="+mj-ea"/>
                  <a:cs typeface="Helvetica" panose="020B0604020202020204" pitchFamily="34" charset="0"/>
                </a:rPr>
                <a:t>Заявление</a:t>
              </a:r>
            </a:p>
            <a:p>
              <a:pPr>
                <a:lnSpc>
                  <a:spcPts val="2000"/>
                </a:lnSpc>
                <a:spcBef>
                  <a:spcPct val="0"/>
                </a:spcBef>
                <a:spcAft>
                  <a:spcPts val="600"/>
                </a:spcAft>
              </a:pPr>
              <a:r>
                <a:rPr lang="ru-RU" sz="2000" b="1" dirty="0">
                  <a:solidFill>
                    <a:schemeClr val="bg1"/>
                  </a:solidFill>
                  <a:latin typeface="Helvetica" panose="020B0604020202020204" pitchFamily="34" charset="0"/>
                  <a:ea typeface="+mj-ea"/>
                  <a:cs typeface="Helvetica" panose="020B0604020202020204" pitchFamily="34" charset="0"/>
                </a:rPr>
                <a:t>на подключение</a:t>
              </a:r>
              <a:endParaRPr lang="en-US" sz="2000" b="1" dirty="0">
                <a:solidFill>
                  <a:schemeClr val="bg1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0A3DA2A-96DA-465F-BBFF-B6B17E4CCE20}"/>
                </a:ext>
              </a:extLst>
            </p:cNvPr>
            <p:cNvSpPr txBox="1"/>
            <p:nvPr/>
          </p:nvSpPr>
          <p:spPr>
            <a:xfrm>
              <a:off x="6368222" y="3595244"/>
              <a:ext cx="2835172" cy="938802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/>
            <a:p>
              <a:pPr>
                <a:lnSpc>
                  <a:spcPts val="2000"/>
                </a:lnSpc>
                <a:spcBef>
                  <a:spcPct val="0"/>
                </a:spcBef>
                <a:spcAft>
                  <a:spcPts val="600"/>
                </a:spcAft>
              </a:pPr>
              <a:r>
                <a:rPr lang="ru-RU" sz="2000" b="1" dirty="0">
                  <a:solidFill>
                    <a:schemeClr val="bg1"/>
                  </a:solidFill>
                  <a:latin typeface="Helvetica" panose="020B0604020202020204" pitchFamily="34" charset="0"/>
                  <a:ea typeface="+mj-ea"/>
                  <a:cs typeface="Helvetica" panose="020B0604020202020204" pitchFamily="34" charset="0"/>
                </a:rPr>
                <a:t>Детализация</a:t>
              </a:r>
              <a:endParaRPr lang="en-US" sz="2000" b="1" dirty="0">
                <a:solidFill>
                  <a:schemeClr val="bg1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endParaRPr>
            </a:p>
            <a:p>
              <a:pPr>
                <a:lnSpc>
                  <a:spcPts val="2000"/>
                </a:lnSpc>
                <a:spcBef>
                  <a:spcPct val="0"/>
                </a:spcBef>
                <a:spcAft>
                  <a:spcPts val="600"/>
                </a:spcAft>
              </a:pPr>
              <a:r>
                <a:rPr lang="ru-RU" sz="2000" b="1" dirty="0">
                  <a:solidFill>
                    <a:schemeClr val="bg1"/>
                  </a:solidFill>
                  <a:latin typeface="Helvetica" panose="020B0604020202020204" pitchFamily="34" charset="0"/>
                  <a:ea typeface="+mj-ea"/>
                  <a:cs typeface="Helvetica" panose="020B0604020202020204" pitchFamily="34" charset="0"/>
                </a:rPr>
                <a:t>звонков</a:t>
              </a:r>
              <a:r>
                <a:rPr lang="en-US" sz="2000" b="1" dirty="0">
                  <a:solidFill>
                    <a:schemeClr val="bg1"/>
                  </a:solidFill>
                  <a:latin typeface="Helvetica" panose="020B0604020202020204" pitchFamily="34" charset="0"/>
                  <a:ea typeface="+mj-ea"/>
                  <a:cs typeface="Helvetica" panose="020B0604020202020204" pitchFamily="34" charset="0"/>
                </a:rPr>
                <a:t> </a:t>
              </a:r>
              <a:r>
                <a:rPr lang="ru-RU" sz="2000" b="1" dirty="0">
                  <a:solidFill>
                    <a:schemeClr val="bg1"/>
                  </a:solidFill>
                  <a:latin typeface="Helvetica" panose="020B0604020202020204" pitchFamily="34" charset="0"/>
                  <a:ea typeface="+mj-ea"/>
                  <a:cs typeface="Helvetica" panose="020B0604020202020204" pitchFamily="34" charset="0"/>
                </a:rPr>
                <a:t>*</a:t>
              </a:r>
            </a:p>
          </p:txBody>
        </p:sp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3216DC04-2024-4E18-BE19-1FF32ECFE5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3069" y="2747292"/>
              <a:ext cx="828778" cy="828779"/>
            </a:xfrm>
            <a:prstGeom prst="rect">
              <a:avLst/>
            </a:prstGeom>
          </p:spPr>
        </p:pic>
        <p:pic>
          <p:nvPicPr>
            <p:cNvPr id="20" name="Рисунок 19">
              <a:extLst>
                <a:ext uri="{FF2B5EF4-FFF2-40B4-BE49-F238E27FC236}">
                  <a16:creationId xmlns:a16="http://schemas.microsoft.com/office/drawing/2014/main" id="{66BB36B5-28E0-4469-8777-489CCCA1F6E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5895" y="2747292"/>
              <a:ext cx="836548" cy="836548"/>
            </a:xfrm>
            <a:prstGeom prst="rect">
              <a:avLst/>
            </a:prstGeom>
          </p:spPr>
        </p:pic>
        <p:sp>
          <p:nvSpPr>
            <p:cNvPr id="21" name="Равнобедренный треугольник 20">
              <a:extLst>
                <a:ext uri="{FF2B5EF4-FFF2-40B4-BE49-F238E27FC236}">
                  <a16:creationId xmlns:a16="http://schemas.microsoft.com/office/drawing/2014/main" id="{ED82668C-1102-86A4-28B6-9EBC41F207CE}"/>
                </a:ext>
              </a:extLst>
            </p:cNvPr>
            <p:cNvSpPr/>
            <p:nvPr/>
          </p:nvSpPr>
          <p:spPr>
            <a:xfrm rot="5400000">
              <a:off x="10576661" y="3497109"/>
              <a:ext cx="2665759" cy="581935"/>
            </a:xfrm>
            <a:prstGeom prst="triangle">
              <a:avLst/>
            </a:prstGeom>
            <a:solidFill>
              <a:srgbClr val="A6D7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: скругленные углы 22">
              <a:extLst>
                <a:ext uri="{FF2B5EF4-FFF2-40B4-BE49-F238E27FC236}">
                  <a16:creationId xmlns:a16="http://schemas.microsoft.com/office/drawing/2014/main" id="{41E95C12-48F9-8EE4-FC04-A2439DB007B0}"/>
                </a:ext>
              </a:extLst>
            </p:cNvPr>
            <p:cNvSpPr/>
            <p:nvPr/>
          </p:nvSpPr>
          <p:spPr>
            <a:xfrm>
              <a:off x="9140797" y="2452561"/>
              <a:ext cx="2485690" cy="2665755"/>
            </a:xfrm>
            <a:prstGeom prst="roundRect">
              <a:avLst>
                <a:gd name="adj" fmla="val 0"/>
              </a:avLst>
            </a:prstGeom>
            <a:solidFill>
              <a:srgbClr val="A6D7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buClr>
                  <a:srgbClr val="6A2D91"/>
                </a:buClr>
              </a:pPr>
              <a:endParaRPr lang="ru-RU" sz="2000" b="1" dirty="0">
                <a:solidFill>
                  <a:srgbClr val="6A2D91"/>
                </a:solidFill>
                <a:latin typeface="Pragmatica Black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9DD1563-6780-DFA0-A445-42E2CAE8F0BC}"/>
                </a:ext>
              </a:extLst>
            </p:cNvPr>
            <p:cNvSpPr txBox="1"/>
            <p:nvPr/>
          </p:nvSpPr>
          <p:spPr>
            <a:xfrm>
              <a:off x="9420019" y="3592604"/>
              <a:ext cx="2835172" cy="938802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/>
            <a:p>
              <a:pPr>
                <a:lnSpc>
                  <a:spcPts val="2000"/>
                </a:lnSpc>
                <a:spcBef>
                  <a:spcPct val="0"/>
                </a:spcBef>
                <a:spcAft>
                  <a:spcPts val="600"/>
                </a:spcAft>
              </a:pPr>
              <a:r>
                <a:rPr lang="ru-RU" sz="2000" b="1" dirty="0">
                  <a:solidFill>
                    <a:schemeClr val="bg1"/>
                  </a:solidFill>
                  <a:latin typeface="Helvetica" panose="020B0604020202020204" pitchFamily="34" charset="0"/>
                  <a:ea typeface="+mj-ea"/>
                  <a:cs typeface="Helvetica" panose="020B0604020202020204" pitchFamily="34" charset="0"/>
                </a:rPr>
                <a:t>Дополнительное </a:t>
              </a:r>
            </a:p>
            <a:p>
              <a:pPr>
                <a:lnSpc>
                  <a:spcPts val="2000"/>
                </a:lnSpc>
                <a:spcBef>
                  <a:spcPct val="0"/>
                </a:spcBef>
                <a:spcAft>
                  <a:spcPts val="600"/>
                </a:spcAft>
              </a:pPr>
              <a:r>
                <a:rPr lang="ru-RU" sz="2000" b="1" dirty="0">
                  <a:solidFill>
                    <a:schemeClr val="bg1"/>
                  </a:solidFill>
                  <a:latin typeface="Helvetica" panose="020B0604020202020204" pitchFamily="34" charset="0"/>
                  <a:ea typeface="+mj-ea"/>
                  <a:cs typeface="Helvetica" panose="020B0604020202020204" pitchFamily="34" charset="0"/>
                </a:rPr>
                <a:t>соглашение</a:t>
              </a:r>
            </a:p>
          </p:txBody>
        </p:sp>
        <p:pic>
          <p:nvPicPr>
            <p:cNvPr id="22" name="Рисунок 21">
              <a:extLst>
                <a:ext uri="{FF2B5EF4-FFF2-40B4-BE49-F238E27FC236}">
                  <a16:creationId xmlns:a16="http://schemas.microsoft.com/office/drawing/2014/main" id="{1A909009-2E74-4B1D-BE0E-E3F82D71588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09227" y="2772879"/>
              <a:ext cx="777604" cy="777604"/>
            </a:xfrm>
            <a:prstGeom prst="rect">
              <a:avLst/>
            </a:prstGeom>
          </p:spPr>
        </p:pic>
        <p:pic>
          <p:nvPicPr>
            <p:cNvPr id="29" name="Рисунок 28">
              <a:extLst>
                <a:ext uri="{FF2B5EF4-FFF2-40B4-BE49-F238E27FC236}">
                  <a16:creationId xmlns:a16="http://schemas.microsoft.com/office/drawing/2014/main" id="{1E5DAC62-98B5-A7BA-7B3A-AC9786571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3010" y="2747292"/>
              <a:ext cx="830548" cy="830548"/>
            </a:xfrm>
            <a:prstGeom prst="rect">
              <a:avLst/>
            </a:prstGeom>
          </p:spPr>
        </p:pic>
      </p:grpSp>
      <p:sp>
        <p:nvSpPr>
          <p:cNvPr id="30" name="Прямоугольник 1">
            <a:extLst>
              <a:ext uri="{FF2B5EF4-FFF2-40B4-BE49-F238E27FC236}">
                <a16:creationId xmlns:a16="http://schemas.microsoft.com/office/drawing/2014/main" id="{1A1BBEE0-C2FC-F8EB-C4F3-2D822308DA55}"/>
              </a:ext>
            </a:extLst>
          </p:cNvPr>
          <p:cNvSpPr/>
          <p:nvPr/>
        </p:nvSpPr>
        <p:spPr>
          <a:xfrm>
            <a:off x="461931" y="6369824"/>
            <a:ext cx="1127791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dirty="0">
                <a:latin typeface="Pragmatica Book Reg"/>
                <a:cs typeface="Arial" panose="020B0604020202020204" pitchFamily="34" charset="0"/>
              </a:rPr>
              <a:t>* Для более детального просчета тарифного предложения необходима детализация звонков по мобильным направлениям за последний месяц</a:t>
            </a:r>
          </a:p>
        </p:txBody>
      </p:sp>
    </p:spTree>
    <p:extLst>
      <p:ext uri="{BB962C8B-B14F-4D97-AF65-F5344CB8AC3E}">
        <p14:creationId xmlns:p14="http://schemas.microsoft.com/office/powerpoint/2010/main" val="19535231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Скругленный прямоугольник 23">
            <a:extLst>
              <a:ext uri="{FF2B5EF4-FFF2-40B4-BE49-F238E27FC236}">
                <a16:creationId xmlns:a16="http://schemas.microsoft.com/office/drawing/2014/main" id="{44246879-9AC0-4C3A-A306-581A573D7703}"/>
              </a:ext>
            </a:extLst>
          </p:cNvPr>
          <p:cNvSpPr/>
          <p:nvPr/>
        </p:nvSpPr>
        <p:spPr>
          <a:xfrm>
            <a:off x="3384983" y="2165487"/>
            <a:ext cx="7522232" cy="1135386"/>
          </a:xfrm>
          <a:prstGeom prst="roundRect">
            <a:avLst>
              <a:gd name="adj" fmla="val 50000"/>
            </a:avLst>
          </a:prstGeom>
          <a:solidFill>
            <a:srgbClr val="6F3D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dirty="0"/>
          </a:p>
        </p:txBody>
      </p:sp>
      <p:sp>
        <p:nvSpPr>
          <p:cNvPr id="14" name="Скругленный прямоугольник 10">
            <a:extLst>
              <a:ext uri="{FF2B5EF4-FFF2-40B4-BE49-F238E27FC236}">
                <a16:creationId xmlns:a16="http://schemas.microsoft.com/office/drawing/2014/main" id="{499B4B3B-B355-4F86-983D-8D4C1F94E80B}"/>
              </a:ext>
            </a:extLst>
          </p:cNvPr>
          <p:cNvSpPr/>
          <p:nvPr/>
        </p:nvSpPr>
        <p:spPr>
          <a:xfrm>
            <a:off x="1195657" y="2165488"/>
            <a:ext cx="5453313" cy="1135386"/>
          </a:xfrm>
          <a:prstGeom prst="roundRect">
            <a:avLst>
              <a:gd name="adj" fmla="val 50000"/>
            </a:avLst>
          </a:prstGeom>
          <a:solidFill>
            <a:srgbClr val="A6D7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2F2D83ED-4887-444F-A8FC-CB1678A5F815}"/>
              </a:ext>
            </a:extLst>
          </p:cNvPr>
          <p:cNvSpPr/>
          <p:nvPr/>
        </p:nvSpPr>
        <p:spPr>
          <a:xfrm>
            <a:off x="5572905" y="2221366"/>
            <a:ext cx="1023631" cy="102363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57783B-F6E7-4DF8-AAE0-FB0F78034DDA}"/>
              </a:ext>
            </a:extLst>
          </p:cNvPr>
          <p:cNvSpPr txBox="1"/>
          <p:nvPr/>
        </p:nvSpPr>
        <p:spPr>
          <a:xfrm>
            <a:off x="1863397" y="2377940"/>
            <a:ext cx="3747456" cy="5847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2800" b="1" dirty="0">
                <a:solidFill>
                  <a:schemeClr val="bg1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Короткий номер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A397FB-6DE7-4970-8570-71850F915DD8}"/>
              </a:ext>
            </a:extLst>
          </p:cNvPr>
          <p:cNvSpPr txBox="1"/>
          <p:nvPr/>
        </p:nvSpPr>
        <p:spPr>
          <a:xfrm>
            <a:off x="7291458" y="2496065"/>
            <a:ext cx="3747456" cy="4431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2800" b="1" dirty="0">
                <a:solidFill>
                  <a:schemeClr val="bg1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Мульти-номер</a:t>
            </a:r>
          </a:p>
        </p:txBody>
      </p:sp>
      <p:sp>
        <p:nvSpPr>
          <p:cNvPr id="19" name="Скругленный прямоугольник 23">
            <a:extLst>
              <a:ext uri="{FF2B5EF4-FFF2-40B4-BE49-F238E27FC236}">
                <a16:creationId xmlns:a16="http://schemas.microsoft.com/office/drawing/2014/main" id="{D4F2EB2E-98D5-40E5-8E3E-3AAD281B52FC}"/>
              </a:ext>
            </a:extLst>
          </p:cNvPr>
          <p:cNvSpPr/>
          <p:nvPr/>
        </p:nvSpPr>
        <p:spPr>
          <a:xfrm>
            <a:off x="3537383" y="3718091"/>
            <a:ext cx="7369832" cy="1949782"/>
          </a:xfrm>
          <a:prstGeom prst="roundRect">
            <a:avLst>
              <a:gd name="adj" fmla="val 50000"/>
            </a:avLst>
          </a:prstGeom>
          <a:solidFill>
            <a:srgbClr val="A6D7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dirty="0"/>
          </a:p>
        </p:txBody>
      </p:sp>
      <p:sp>
        <p:nvSpPr>
          <p:cNvPr id="20" name="Скругленный прямоугольник 10">
            <a:extLst>
              <a:ext uri="{FF2B5EF4-FFF2-40B4-BE49-F238E27FC236}">
                <a16:creationId xmlns:a16="http://schemas.microsoft.com/office/drawing/2014/main" id="{9FD3940C-A5B3-4036-A473-14A5FB948318}"/>
              </a:ext>
            </a:extLst>
          </p:cNvPr>
          <p:cNvSpPr/>
          <p:nvPr/>
        </p:nvSpPr>
        <p:spPr>
          <a:xfrm>
            <a:off x="1195657" y="3718092"/>
            <a:ext cx="5877563" cy="1949782"/>
          </a:xfrm>
          <a:prstGeom prst="roundRect">
            <a:avLst>
              <a:gd name="adj" fmla="val 50000"/>
            </a:avLst>
          </a:prstGeom>
          <a:solidFill>
            <a:srgbClr val="6A2D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>
              <a:solidFill>
                <a:srgbClr val="6A2D91"/>
              </a:solidFill>
            </a:endParaRPr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991D5380-BF1C-42B3-AEA2-56F074B5AF4F}"/>
              </a:ext>
            </a:extLst>
          </p:cNvPr>
          <p:cNvSpPr/>
          <p:nvPr/>
        </p:nvSpPr>
        <p:spPr>
          <a:xfrm>
            <a:off x="5168411" y="3773969"/>
            <a:ext cx="1832617" cy="183261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EB196E-3689-447D-A09D-7B55A2D58B38}"/>
              </a:ext>
            </a:extLst>
          </p:cNvPr>
          <p:cNvSpPr txBox="1"/>
          <p:nvPr/>
        </p:nvSpPr>
        <p:spPr>
          <a:xfrm>
            <a:off x="1863397" y="3983341"/>
            <a:ext cx="3747456" cy="132938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dirty="0">
                <a:solidFill>
                  <a:schemeClr val="bg1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IVR</a:t>
            </a:r>
            <a:endParaRPr lang="ru-RU" sz="2800" b="1" dirty="0">
              <a:solidFill>
                <a:schemeClr val="bg1"/>
              </a:solidFill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2800" b="1" dirty="0">
                <a:solidFill>
                  <a:schemeClr val="bg1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Интерактивное голосовое меню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10151A-A197-4988-AA98-E55D0494ECAA}"/>
              </a:ext>
            </a:extLst>
          </p:cNvPr>
          <p:cNvSpPr txBox="1"/>
          <p:nvPr/>
        </p:nvSpPr>
        <p:spPr>
          <a:xfrm>
            <a:off x="7291458" y="3983341"/>
            <a:ext cx="3747456" cy="113538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2800" b="1" dirty="0">
                <a:solidFill>
                  <a:schemeClr val="bg1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Револьверные номера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8EEEC00-BF6D-8F57-2F34-B83FDDD611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2322" y="399717"/>
            <a:ext cx="736255" cy="2410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501847-65DF-E49D-B4AC-CF8DBE5587F4}"/>
              </a:ext>
            </a:extLst>
          </p:cNvPr>
          <p:cNvSpPr txBox="1"/>
          <p:nvPr/>
        </p:nvSpPr>
        <p:spPr>
          <a:xfrm>
            <a:off x="677622" y="332556"/>
            <a:ext cx="5884482" cy="5847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2800" b="1" dirty="0">
                <a:solidFill>
                  <a:srgbClr val="6A2E92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Дополнительные услуги</a:t>
            </a:r>
            <a:endParaRPr lang="en-US" sz="2800" b="1" dirty="0">
              <a:solidFill>
                <a:srgbClr val="6A2E92"/>
              </a:solidFill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73761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8EEEC00-BF6D-8F57-2F34-B83FDDD611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2322" y="399717"/>
            <a:ext cx="736255" cy="2410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501847-65DF-E49D-B4AC-CF8DBE5587F4}"/>
              </a:ext>
            </a:extLst>
          </p:cNvPr>
          <p:cNvSpPr txBox="1"/>
          <p:nvPr/>
        </p:nvSpPr>
        <p:spPr>
          <a:xfrm>
            <a:off x="677622" y="332556"/>
            <a:ext cx="5884482" cy="5847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2800" b="1" dirty="0">
                <a:solidFill>
                  <a:srgbClr val="6A2E92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Услуга «Револьверные номера»</a:t>
            </a:r>
            <a:endParaRPr lang="en-US" sz="2800" b="1" dirty="0">
              <a:solidFill>
                <a:srgbClr val="6A2E92"/>
              </a:solidFill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75FD433-FC2B-20FB-805F-B251E91E3948}"/>
              </a:ext>
            </a:extLst>
          </p:cNvPr>
          <p:cNvSpPr/>
          <p:nvPr/>
        </p:nvSpPr>
        <p:spPr>
          <a:xfrm>
            <a:off x="700854" y="857252"/>
            <a:ext cx="6529286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300" dirty="0">
                <a:latin typeface="Pragmatica Book Reg"/>
                <a:cs typeface="Arial" panose="020B0604020202020204" pitchFamily="34" charset="0"/>
              </a:rPr>
              <a:t>(подмена исходящего номера)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BA5BA6-072D-D9BD-209D-AB44B7FD655F}"/>
              </a:ext>
            </a:extLst>
          </p:cNvPr>
          <p:cNvSpPr txBox="1"/>
          <p:nvPr/>
        </p:nvSpPr>
        <p:spPr>
          <a:xfrm>
            <a:off x="677019" y="1302327"/>
            <a:ext cx="106629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2">
                    <a:lumMod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Дополнительная услуга, с помощью которой при исходящем звонке номера</a:t>
            </a:r>
          </a:p>
          <a:p>
            <a:r>
              <a:rPr lang="ru-RU" dirty="0">
                <a:solidFill>
                  <a:schemeClr val="bg2">
                    <a:lumMod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чередуются из закрепленного за клиентом перечня абонентских номеров. </a:t>
            </a:r>
          </a:p>
          <a:p>
            <a:endParaRPr lang="ru-RU" dirty="0">
              <a:solidFill>
                <a:schemeClr val="bg2">
                  <a:lumMod val="2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ru-RU" dirty="0">
                <a:solidFill>
                  <a:schemeClr val="bg2">
                    <a:lumMod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Данная услуга позволяет банкам и коллекторским компаниям увеличить количество</a:t>
            </a:r>
          </a:p>
          <a:p>
            <a:r>
              <a:rPr lang="ru-RU" dirty="0">
                <a:solidFill>
                  <a:schemeClr val="bg2">
                    <a:lumMod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успешных дозвонов до должников, за счет постоянной смены исходящего номера.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93AAA1-04AC-A0A9-FB81-6825FEF7C407}"/>
              </a:ext>
            </a:extLst>
          </p:cNvPr>
          <p:cNvSpPr txBox="1"/>
          <p:nvPr/>
        </p:nvSpPr>
        <p:spPr>
          <a:xfrm>
            <a:off x="677019" y="3072042"/>
            <a:ext cx="106629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6A2D9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ПРЕИМУЩЕСТВА</a:t>
            </a:r>
          </a:p>
          <a:p>
            <a:pPr marL="285750" indent="-1968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2">
                    <a:lumMod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Повышение количества успешных дозвонов до абонентов до 15%</a:t>
            </a:r>
          </a:p>
          <a:p>
            <a:pPr marL="285750" indent="-1968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2">
                    <a:lumMod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Гибкость в выборе перечня номеров</a:t>
            </a:r>
          </a:p>
          <a:p>
            <a:pPr marL="285750" indent="-1968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2">
                    <a:lumMod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Возможность обратного дозвона</a:t>
            </a:r>
          </a:p>
          <a:p>
            <a:pPr marL="88900"/>
            <a:br>
              <a:rPr lang="ru-RU" b="1" dirty="0">
                <a:solidFill>
                  <a:schemeClr val="bg2">
                    <a:lumMod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ru-RU" b="1" dirty="0">
                <a:solidFill>
                  <a:srgbClr val="6A2D9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ТРЕБОВАНИЯ</a:t>
            </a:r>
          </a:p>
          <a:p>
            <a:pPr marL="3746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2">
                    <a:lumMod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Наличие соединительного канала между АТС Заказчика и Оборудованием Kcell</a:t>
            </a:r>
          </a:p>
        </p:txBody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32E21F4E-EBD6-E59B-EAD2-267205997BC0}"/>
              </a:ext>
            </a:extLst>
          </p:cNvPr>
          <p:cNvGrpSpPr/>
          <p:nvPr/>
        </p:nvGrpSpPr>
        <p:grpSpPr>
          <a:xfrm>
            <a:off x="7230140" y="5381642"/>
            <a:ext cx="4961860" cy="1137764"/>
            <a:chOff x="7230140" y="5318142"/>
            <a:chExt cx="4961860" cy="1137764"/>
          </a:xfrm>
        </p:grpSpPr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10D62CDB-6EFA-C02C-07A5-CC901A8B4091}"/>
                </a:ext>
              </a:extLst>
            </p:cNvPr>
            <p:cNvSpPr/>
            <p:nvPr/>
          </p:nvSpPr>
          <p:spPr>
            <a:xfrm>
              <a:off x="7766404" y="5320520"/>
              <a:ext cx="4425596" cy="1135386"/>
            </a:xfrm>
            <a:prstGeom prst="rect">
              <a:avLst/>
            </a:prstGeom>
            <a:solidFill>
              <a:srgbClr val="A6D7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0B0EF2C7-0BAA-F0E4-5551-DFEC155BC9F0}"/>
                </a:ext>
              </a:extLst>
            </p:cNvPr>
            <p:cNvSpPr/>
            <p:nvPr/>
          </p:nvSpPr>
          <p:spPr>
            <a:xfrm>
              <a:off x="7230140" y="5318142"/>
              <a:ext cx="1136390" cy="1135386"/>
            </a:xfrm>
            <a:prstGeom prst="ellipse">
              <a:avLst/>
            </a:prstGeom>
            <a:solidFill>
              <a:srgbClr val="A6D7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CE0E8D4-2620-B3F5-84CE-7F42A9442A24}"/>
                </a:ext>
              </a:extLst>
            </p:cNvPr>
            <p:cNvSpPr txBox="1"/>
            <p:nvPr/>
          </p:nvSpPr>
          <p:spPr>
            <a:xfrm>
              <a:off x="7557079" y="5558959"/>
              <a:ext cx="4319412" cy="536059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</a:pPr>
              <a:r>
                <a:rPr lang="ru-RU" sz="2000" dirty="0">
                  <a:solidFill>
                    <a:schemeClr val="bg1"/>
                  </a:solidFill>
                  <a:latin typeface="Helvetica" panose="020B0604020202020204" pitchFamily="34" charset="0"/>
                  <a:ea typeface="+mj-ea"/>
                  <a:cs typeface="Helvetica" panose="020B0604020202020204" pitchFamily="34" charset="0"/>
                </a:rPr>
                <a:t>Качество дозвона выше на</a:t>
              </a:r>
              <a:r>
                <a:rPr lang="ru-RU" sz="2800" b="1" dirty="0">
                  <a:solidFill>
                    <a:schemeClr val="bg1"/>
                  </a:solidFill>
                  <a:latin typeface="Helvetica" panose="020B0604020202020204" pitchFamily="34" charset="0"/>
                  <a:ea typeface="+mj-ea"/>
                  <a:cs typeface="Helvetica" panose="020B0604020202020204" pitchFamily="34" charset="0"/>
                </a:rPr>
                <a:t> </a:t>
              </a:r>
              <a:r>
                <a:rPr lang="ru-RU" sz="3000" b="1" dirty="0">
                  <a:solidFill>
                    <a:schemeClr val="bg1"/>
                  </a:solidFill>
                  <a:latin typeface="Helvetica" panose="020B0604020202020204" pitchFamily="34" charset="0"/>
                  <a:ea typeface="+mj-ea"/>
                  <a:cs typeface="Helvetica" panose="020B0604020202020204" pitchFamily="34" charset="0"/>
                </a:rPr>
                <a:t>15%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57786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8EEEC00-BF6D-8F57-2F34-B83FDDD611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2322" y="399717"/>
            <a:ext cx="736255" cy="2410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501847-65DF-E49D-B4AC-CF8DBE5587F4}"/>
              </a:ext>
            </a:extLst>
          </p:cNvPr>
          <p:cNvSpPr txBox="1"/>
          <p:nvPr/>
        </p:nvSpPr>
        <p:spPr>
          <a:xfrm>
            <a:off x="677622" y="332556"/>
            <a:ext cx="5884482" cy="5847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2800" b="1" dirty="0">
                <a:solidFill>
                  <a:srgbClr val="6A2E92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Услуга «Револьверные номера»</a:t>
            </a:r>
            <a:endParaRPr lang="en-US" sz="2800" b="1" dirty="0">
              <a:solidFill>
                <a:srgbClr val="6A2E92"/>
              </a:solidFill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75FD433-FC2B-20FB-805F-B251E91E3948}"/>
              </a:ext>
            </a:extLst>
          </p:cNvPr>
          <p:cNvSpPr/>
          <p:nvPr/>
        </p:nvSpPr>
        <p:spPr>
          <a:xfrm>
            <a:off x="700854" y="857252"/>
            <a:ext cx="6529286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300" dirty="0">
                <a:latin typeface="Pragmatica Book Reg"/>
                <a:cs typeface="Arial" panose="020B0604020202020204" pitchFamily="34" charset="0"/>
              </a:rPr>
              <a:t>(подмена исходящего номера)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426C74-21CE-4D07-932F-2FB9E8FABAC8}"/>
              </a:ext>
            </a:extLst>
          </p:cNvPr>
          <p:cNvSpPr txBox="1"/>
          <p:nvPr/>
        </p:nvSpPr>
        <p:spPr>
          <a:xfrm>
            <a:off x="4500753" y="1195334"/>
            <a:ext cx="2721379" cy="39548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2000" dirty="0"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Технология</a:t>
            </a:r>
            <a:endParaRPr lang="en-US" sz="2000" dirty="0"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525A95-0952-33B8-F134-B793DA863996}"/>
              </a:ext>
            </a:extLst>
          </p:cNvPr>
          <p:cNvSpPr txBox="1"/>
          <p:nvPr/>
        </p:nvSpPr>
        <p:spPr>
          <a:xfrm>
            <a:off x="1857201" y="1560244"/>
            <a:ext cx="24592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Helvetica" panose="020B0604020202020204" pitchFamily="34" charset="0"/>
                <a:cs typeface="Helvetica" panose="020B0604020202020204" pitchFamily="34" charset="0"/>
              </a:rPr>
              <a:t>Цифровой</a:t>
            </a:r>
            <a:br>
              <a:rPr lang="ru-RU" sz="16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ru-RU" sz="1600" dirty="0">
                <a:latin typeface="Helvetica" panose="020B0604020202020204" pitchFamily="34" charset="0"/>
                <a:cs typeface="Helvetica" panose="020B0604020202020204" pitchFamily="34" charset="0"/>
              </a:rPr>
              <a:t>Идентификатор</a:t>
            </a:r>
            <a:br>
              <a:rPr lang="ru-RU" sz="16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ru-RU" sz="1600" dirty="0">
                <a:latin typeface="Helvetica" panose="020B0604020202020204" pitchFamily="34" charset="0"/>
                <a:cs typeface="Helvetica" panose="020B0604020202020204" pitchFamily="34" charset="0"/>
              </a:rPr>
              <a:t>ХХХХХХ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65103C-0784-1CBE-F7DC-B8EACBBC35DA}"/>
              </a:ext>
            </a:extLst>
          </p:cNvPr>
          <p:cNvSpPr txBox="1"/>
          <p:nvPr/>
        </p:nvSpPr>
        <p:spPr>
          <a:xfrm>
            <a:off x="7606375" y="1560244"/>
            <a:ext cx="2459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Helvetica" panose="020B0604020202020204" pitchFamily="34" charset="0"/>
                <a:cs typeface="Helvetica" panose="020B0604020202020204" pitchFamily="34" charset="0"/>
              </a:rPr>
              <a:t>Исходящий номер</a:t>
            </a:r>
            <a:br>
              <a:rPr lang="ru-RU" sz="16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ru-RU" sz="16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+7 778 856 79 64</a:t>
            </a:r>
          </a:p>
        </p:txBody>
      </p:sp>
      <p:sp>
        <p:nvSpPr>
          <p:cNvPr id="23" name="Скругленный прямоугольник 61">
            <a:extLst>
              <a:ext uri="{FF2B5EF4-FFF2-40B4-BE49-F238E27FC236}">
                <a16:creationId xmlns:a16="http://schemas.microsoft.com/office/drawing/2014/main" id="{28B03408-1D9B-3A9C-EC48-144C66EBA618}"/>
              </a:ext>
            </a:extLst>
          </p:cNvPr>
          <p:cNvSpPr/>
          <p:nvPr/>
        </p:nvSpPr>
        <p:spPr>
          <a:xfrm>
            <a:off x="4283286" y="1674614"/>
            <a:ext cx="3227000" cy="2264486"/>
          </a:xfrm>
          <a:prstGeom prst="roundRect">
            <a:avLst>
              <a:gd name="adj" fmla="val 7567"/>
            </a:avLst>
          </a:prstGeom>
          <a:solidFill>
            <a:srgbClr val="6A2D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E9F6AE-81AF-1178-117E-58F2CCC47379}"/>
              </a:ext>
            </a:extLst>
          </p:cNvPr>
          <p:cNvSpPr txBox="1"/>
          <p:nvPr/>
        </p:nvSpPr>
        <p:spPr>
          <a:xfrm>
            <a:off x="4417476" y="1795894"/>
            <a:ext cx="29491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Kcell</a:t>
            </a:r>
          </a:p>
          <a:p>
            <a:pPr algn="ctr"/>
            <a:r>
              <a:rPr lang="ru-RU" sz="16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Револьверные номера</a:t>
            </a:r>
            <a:br>
              <a:rPr lang="ru-RU" sz="16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endParaRPr lang="ru-RU" sz="1000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r>
              <a:rPr lang="ru-RU" sz="16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+7 701 561 87 11</a:t>
            </a:r>
          </a:p>
          <a:p>
            <a:pPr algn="ctr"/>
            <a:r>
              <a:rPr lang="ru-RU" sz="16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+7 7</a:t>
            </a:r>
            <a:r>
              <a:rPr lang="en-US" sz="16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01</a:t>
            </a:r>
            <a:r>
              <a:rPr lang="ru-RU" sz="16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546 15 78</a:t>
            </a:r>
          </a:p>
          <a:p>
            <a:pPr algn="ctr"/>
            <a:r>
              <a:rPr lang="ru-RU" sz="16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+7 702 154 97 46</a:t>
            </a:r>
          </a:p>
          <a:p>
            <a:pPr algn="ctr"/>
            <a:r>
              <a:rPr lang="ru-RU" sz="16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+7 7</a:t>
            </a:r>
            <a:r>
              <a:rPr lang="en-US" sz="16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78</a:t>
            </a:r>
            <a:r>
              <a:rPr lang="ru-RU" sz="16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856 79 64</a:t>
            </a:r>
          </a:p>
          <a:p>
            <a:pPr algn="ctr"/>
            <a:r>
              <a:rPr lang="ru-RU" sz="16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+7 701 756 88 65</a:t>
            </a:r>
          </a:p>
        </p:txBody>
      </p: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8724C72A-F589-810E-D60C-9E3CE2F17E16}"/>
              </a:ext>
            </a:extLst>
          </p:cNvPr>
          <p:cNvGrpSpPr/>
          <p:nvPr/>
        </p:nvGrpSpPr>
        <p:grpSpPr>
          <a:xfrm>
            <a:off x="10008367" y="1996021"/>
            <a:ext cx="1596232" cy="1890963"/>
            <a:chOff x="9884568" y="3573813"/>
            <a:chExt cx="1596232" cy="1890963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B3218D8-04B5-8F6A-A680-31999E85C83A}"/>
                </a:ext>
              </a:extLst>
            </p:cNvPr>
            <p:cNvSpPr txBox="1"/>
            <p:nvPr/>
          </p:nvSpPr>
          <p:spPr>
            <a:xfrm>
              <a:off x="9884568" y="5095444"/>
              <a:ext cx="14978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>
                  <a:latin typeface="Helvetica" panose="020B0604020202020204" pitchFamily="34" charset="0"/>
                  <a:cs typeface="Helvetica" panose="020B0604020202020204" pitchFamily="34" charset="0"/>
                </a:rPr>
                <a:t>Клиенты</a:t>
              </a:r>
            </a:p>
          </p:txBody>
        </p:sp>
        <p:grpSp>
          <p:nvGrpSpPr>
            <p:cNvPr id="20" name="Группа 19">
              <a:extLst>
                <a:ext uri="{FF2B5EF4-FFF2-40B4-BE49-F238E27FC236}">
                  <a16:creationId xmlns:a16="http://schemas.microsoft.com/office/drawing/2014/main" id="{D76CF8B2-0133-3CA3-7CA4-A7FF764DEE68}"/>
                </a:ext>
              </a:extLst>
            </p:cNvPr>
            <p:cNvGrpSpPr/>
            <p:nvPr/>
          </p:nvGrpSpPr>
          <p:grpSpPr>
            <a:xfrm>
              <a:off x="9889872" y="3573813"/>
              <a:ext cx="1590928" cy="1341882"/>
              <a:chOff x="9889872" y="3353057"/>
              <a:chExt cx="1590928" cy="1341882"/>
            </a:xfrm>
          </p:grpSpPr>
          <p:pic>
            <p:nvPicPr>
              <p:cNvPr id="17" name="Рисунок 16">
                <a:extLst>
                  <a:ext uri="{FF2B5EF4-FFF2-40B4-BE49-F238E27FC236}">
                    <a16:creationId xmlns:a16="http://schemas.microsoft.com/office/drawing/2014/main" id="{4A65C4CD-9324-C9E0-9083-ED3EE43358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89872" y="3353057"/>
                <a:ext cx="521542" cy="1341882"/>
              </a:xfrm>
              <a:prstGeom prst="rect">
                <a:avLst/>
              </a:prstGeom>
            </p:spPr>
          </p:pic>
          <p:pic>
            <p:nvPicPr>
              <p:cNvPr id="18" name="Рисунок 17">
                <a:extLst>
                  <a:ext uri="{FF2B5EF4-FFF2-40B4-BE49-F238E27FC236}">
                    <a16:creationId xmlns:a16="http://schemas.microsoft.com/office/drawing/2014/main" id="{AC26338A-4156-D430-85AC-1792B9F6D4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30780" y="3353057"/>
                <a:ext cx="521542" cy="1341882"/>
              </a:xfrm>
              <a:prstGeom prst="rect">
                <a:avLst/>
              </a:prstGeom>
            </p:spPr>
          </p:pic>
          <p:pic>
            <p:nvPicPr>
              <p:cNvPr id="19" name="Рисунок 18">
                <a:extLst>
                  <a:ext uri="{FF2B5EF4-FFF2-40B4-BE49-F238E27FC236}">
                    <a16:creationId xmlns:a16="http://schemas.microsoft.com/office/drawing/2014/main" id="{D7488416-4988-DFF9-64E0-8EC801355E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959258" y="3353057"/>
                <a:ext cx="521542" cy="1341882"/>
              </a:xfrm>
              <a:prstGeom prst="rect">
                <a:avLst/>
              </a:prstGeom>
            </p:spPr>
          </p:pic>
        </p:grpSp>
      </p:grp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44EC5206-E8F4-E459-C584-048AD76B87F8}"/>
              </a:ext>
            </a:extLst>
          </p:cNvPr>
          <p:cNvGrpSpPr/>
          <p:nvPr/>
        </p:nvGrpSpPr>
        <p:grpSpPr>
          <a:xfrm>
            <a:off x="550875" y="1902124"/>
            <a:ext cx="1566840" cy="1981797"/>
            <a:chOff x="550875" y="3479916"/>
            <a:chExt cx="1566840" cy="198179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4387A48-6D9E-012F-00F9-147006565EFA}"/>
                </a:ext>
              </a:extLst>
            </p:cNvPr>
            <p:cNvSpPr txBox="1"/>
            <p:nvPr/>
          </p:nvSpPr>
          <p:spPr>
            <a:xfrm>
              <a:off x="637326" y="5092381"/>
              <a:ext cx="1384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Helvetica" panose="020B0604020202020204" pitchFamily="34" charset="0"/>
                  <a:cs typeface="Helvetica" panose="020B0604020202020204" pitchFamily="34" charset="0"/>
                </a:rPr>
                <a:t>Call-</a:t>
              </a:r>
              <a:r>
                <a:rPr lang="ru-RU" dirty="0">
                  <a:latin typeface="Helvetica" panose="020B0604020202020204" pitchFamily="34" charset="0"/>
                  <a:cs typeface="Helvetica" panose="020B0604020202020204" pitchFamily="34" charset="0"/>
                </a:rPr>
                <a:t>центр</a:t>
              </a:r>
            </a:p>
          </p:txBody>
        </p:sp>
        <p:pic>
          <p:nvPicPr>
            <p:cNvPr id="22" name="Рисунок 21">
              <a:extLst>
                <a:ext uri="{FF2B5EF4-FFF2-40B4-BE49-F238E27FC236}">
                  <a16:creationId xmlns:a16="http://schemas.microsoft.com/office/drawing/2014/main" id="{5CB54B67-8137-EF91-A165-B50FA13169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0875" y="3479916"/>
              <a:ext cx="1566840" cy="1566840"/>
            </a:xfrm>
            <a:prstGeom prst="rect">
              <a:avLst/>
            </a:prstGeom>
          </p:spPr>
        </p:pic>
      </p:grp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B5E139FC-A3C2-998E-EC92-364A9F86AE62}"/>
              </a:ext>
            </a:extLst>
          </p:cNvPr>
          <p:cNvCxnSpPr>
            <a:cxnSpLocks/>
          </p:cNvCxnSpPr>
          <p:nvPr/>
        </p:nvCxnSpPr>
        <p:spPr>
          <a:xfrm>
            <a:off x="2117715" y="2777615"/>
            <a:ext cx="1920885" cy="0"/>
          </a:xfrm>
          <a:prstGeom prst="straightConnector1">
            <a:avLst/>
          </a:prstGeom>
          <a:ln w="38100">
            <a:solidFill>
              <a:srgbClr val="6A2D9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4B36B935-CFD7-AA94-E8CD-459B76B296F0}"/>
              </a:ext>
            </a:extLst>
          </p:cNvPr>
          <p:cNvCxnSpPr>
            <a:cxnSpLocks/>
          </p:cNvCxnSpPr>
          <p:nvPr/>
        </p:nvCxnSpPr>
        <p:spPr>
          <a:xfrm>
            <a:off x="7729551" y="2786630"/>
            <a:ext cx="1998649" cy="0"/>
          </a:xfrm>
          <a:prstGeom prst="straightConnector1">
            <a:avLst/>
          </a:prstGeom>
          <a:ln w="38100">
            <a:solidFill>
              <a:srgbClr val="6A2D9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7DF2923-291B-619F-0178-348809B9CC28}"/>
              </a:ext>
            </a:extLst>
          </p:cNvPr>
          <p:cNvSpPr txBox="1"/>
          <p:nvPr/>
        </p:nvSpPr>
        <p:spPr>
          <a:xfrm>
            <a:off x="4500752" y="4191831"/>
            <a:ext cx="2721379" cy="39548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2000" dirty="0"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Тарифный план</a:t>
            </a:r>
            <a:endParaRPr lang="en-US" sz="2000" dirty="0"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  <p:graphicFrame>
        <p:nvGraphicFramePr>
          <p:cNvPr id="36" name="Group 5">
            <a:extLst>
              <a:ext uri="{FF2B5EF4-FFF2-40B4-BE49-F238E27FC236}">
                <a16:creationId xmlns:a16="http://schemas.microsoft.com/office/drawing/2014/main" id="{FF6EB324-C8C2-B95B-8F13-AA9EFCF44F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228151"/>
              </p:ext>
            </p:extLst>
          </p:nvPr>
        </p:nvGraphicFramePr>
        <p:xfrm>
          <a:off x="700854" y="4691584"/>
          <a:ext cx="10926977" cy="1639255"/>
        </p:xfrm>
        <a:graphic>
          <a:graphicData uri="http://schemas.openxmlformats.org/drawingml/2006/table">
            <a:tbl>
              <a:tblPr/>
              <a:tblGrid>
                <a:gridCol w="13057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47731">
                  <a:extLst>
                    <a:ext uri="{9D8B030D-6E8A-4147-A177-3AD203B41FA5}">
                      <a16:colId xmlns:a16="http://schemas.microsoft.com/office/drawing/2014/main" val="882658430"/>
                    </a:ext>
                  </a:extLst>
                </a:gridCol>
              </a:tblGrid>
              <a:tr h="417870">
                <a:tc>
                  <a:txBody>
                    <a:bodyPr/>
                    <a:lstStyle/>
                    <a:p>
                      <a:pPr marL="39688" marR="0" lvl="0" indent="0" algn="ctr" defTabSz="914400" rtl="0" eaLnBrk="1" fontAlgn="base" latinLnBrk="0" hangingPunct="1">
                        <a:lnSpc>
                          <a:spcPct val="8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52D86"/>
                        </a:buClr>
                        <a:buSzPct val="11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ru-RU" sz="16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Pragmatica Book Reg"/>
                          <a:ea typeface="ヒラギノ角ゴ ProN W3" charset="-128"/>
                          <a:cs typeface="Arial" panose="020B0604020202020204" pitchFamily="34" charset="0"/>
                          <a:sym typeface="Pragmatica" charset="0"/>
                        </a:rPr>
                        <a:t>ПАКЕТ</a:t>
                      </a:r>
                    </a:p>
                  </a:txBody>
                  <a:tcPr marL="50800" marR="50800" marT="50800" marB="508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6D71E"/>
                    </a:solidFill>
                  </a:tcPr>
                </a:tc>
                <a:tc>
                  <a:txBody>
                    <a:bodyPr/>
                    <a:lstStyle/>
                    <a:p>
                      <a:pPr marL="39688" marR="0" lvl="0" indent="0" algn="ctr" defTabSz="914400" rtl="0" eaLnBrk="1" fontAlgn="base" latinLnBrk="0" hangingPunct="1">
                        <a:lnSpc>
                          <a:spcPct val="8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52D86"/>
                        </a:buClr>
                        <a:buSzPct val="11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ru-RU" sz="16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Pragmatica Book Reg"/>
                          <a:ea typeface="ヒラギノ角ゴ ProN W3" charset="-128"/>
                          <a:cs typeface="Arial" panose="020B0604020202020204" pitchFamily="34" charset="0"/>
                          <a:sym typeface="Pragmatica" charset="0"/>
                        </a:rPr>
                        <a:t>КОЛИЧЕСТВО НОМЕРОВ</a:t>
                      </a:r>
                    </a:p>
                  </a:txBody>
                  <a:tcPr marL="50800" marR="50800" marT="50800" marB="508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6D71E"/>
                    </a:solidFill>
                  </a:tcPr>
                </a:tc>
                <a:tc>
                  <a:txBody>
                    <a:bodyPr/>
                    <a:lstStyle/>
                    <a:p>
                      <a:pPr marL="39688" marR="0" lvl="0" indent="0" algn="ctr" defTabSz="914400" rtl="0" eaLnBrk="1" fontAlgn="base" latinLnBrk="0" hangingPunct="1">
                        <a:lnSpc>
                          <a:spcPct val="8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52D86"/>
                        </a:buClr>
                        <a:buSzPct val="11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ru-RU" sz="16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Pragmatica Book Reg"/>
                          <a:ea typeface="ヒラギノ角ゴ ProN W3" charset="-128"/>
                          <a:cs typeface="Arial" panose="020B0604020202020204" pitchFamily="34" charset="0"/>
                          <a:sym typeface="Pragmatica" charset="0"/>
                        </a:rPr>
                        <a:t>АБОНЕНТСКАЯ ПЛАТА В МЕСЯЦ</a:t>
                      </a:r>
                    </a:p>
                  </a:txBody>
                  <a:tcPr marL="50800" marR="50800" marT="50800" marB="508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6D7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867">
                <a:tc>
                  <a:txBody>
                    <a:bodyPr/>
                    <a:lstStyle/>
                    <a:p>
                      <a:pPr marL="39688" marR="0" lvl="0" indent="0" algn="ctr" defTabSz="914400" rtl="0" eaLnBrk="1" fontAlgn="base" latinLnBrk="0" hangingPunct="1">
                        <a:lnSpc>
                          <a:spcPct val="8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52D86"/>
                        </a:buClr>
                        <a:buSzPct val="11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tx1"/>
                          </a:solidFill>
                          <a:effectLst/>
                          <a:latin typeface="Pragmatica Book Reg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endParaRPr lang="en-US" sz="1400" kern="1200" baseline="0" dirty="0">
                        <a:solidFill>
                          <a:schemeClr val="tx1"/>
                        </a:solidFill>
                        <a:effectLst/>
                        <a:latin typeface="Helvetica Neue" panose="02000503000000020004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9688" marR="0" lvl="0" indent="0" algn="ctr" defTabSz="914400" rtl="0" eaLnBrk="1" fontAlgn="base" latinLnBrk="0" hangingPunct="1">
                        <a:lnSpc>
                          <a:spcPct val="8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52D86"/>
                        </a:buClr>
                        <a:buSzPct val="110000"/>
                        <a:buFont typeface="Arial" pitchFamily="34" charset="0"/>
                        <a:buNone/>
                        <a:tabLst/>
                      </a:pPr>
                      <a:r>
                        <a:rPr kumimoji="0" lang="ru-RU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Pragmatica Book Reg"/>
                          <a:ea typeface="ヒラギノ角ゴ ProN W3" charset="-128"/>
                          <a:cs typeface="Arial" panose="020B0604020202020204" pitchFamily="34" charset="0"/>
                          <a:sym typeface="Pragmatica" charset="0"/>
                        </a:rPr>
                        <a:t>60</a:t>
                      </a:r>
                    </a:p>
                  </a:txBody>
                  <a:tcPr marL="50800" marR="50800" marT="50800" marB="508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9688" marR="0" lvl="0" indent="0" algn="ctr" defTabSz="914400" rtl="0" eaLnBrk="1" fontAlgn="base" latinLnBrk="0" hangingPunct="1">
                        <a:lnSpc>
                          <a:spcPct val="8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52D86"/>
                        </a:buClr>
                        <a:buSzPct val="11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Pragmatica Book Reg"/>
                          <a:ea typeface="ヒラギノ角ゴ ProN W3" charset="-128"/>
                          <a:cs typeface="Arial" panose="020B0604020202020204" pitchFamily="34" charset="0"/>
                          <a:sym typeface="Pragmatica" charset="0"/>
                        </a:rPr>
                        <a:t>36 000</a:t>
                      </a:r>
                    </a:p>
                  </a:txBody>
                  <a:tcPr marL="50800" marR="50800" marT="50800" marB="508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031">
                <a:tc>
                  <a:txBody>
                    <a:bodyPr/>
                    <a:lstStyle/>
                    <a:p>
                      <a:pPr marL="39688" marR="0" lvl="0" indent="0" algn="ctr" defTabSz="914400" rtl="0" eaLnBrk="1" fontAlgn="base" latinLnBrk="0" hangingPunct="1">
                        <a:lnSpc>
                          <a:spcPct val="8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52D86"/>
                        </a:buClr>
                        <a:buSzPct val="11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tx1"/>
                          </a:solidFill>
                          <a:effectLst/>
                          <a:latin typeface="Pragmatica Book Reg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  <a:endParaRPr kumimoji="0" lang="ru-RU" sz="14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agmatica Book Reg"/>
                        <a:ea typeface="ヒラギノ角ゴ ProN W3" charset="-128"/>
                        <a:cs typeface="Arial" panose="020B0604020202020204" pitchFamily="34" charset="0"/>
                        <a:sym typeface="Pragmatica" charset="0"/>
                      </a:endParaRPr>
                    </a:p>
                  </a:txBody>
                  <a:tcPr marL="50800" marR="50800" marT="50800" marB="508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9688" marR="0" lvl="0" indent="0" algn="ctr" defTabSz="914400" rtl="0" eaLnBrk="1" fontAlgn="base" latinLnBrk="0" hangingPunct="1">
                        <a:lnSpc>
                          <a:spcPct val="8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52D86"/>
                        </a:buClr>
                        <a:buSzPct val="110000"/>
                        <a:buFont typeface="Arial" pitchFamily="34" charset="0"/>
                        <a:buNone/>
                        <a:tabLst/>
                      </a:pPr>
                      <a:r>
                        <a:rPr kumimoji="0" lang="ru-RU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agmatica Book Reg"/>
                          <a:ea typeface="ヒラギノ角ゴ ProN W3" charset="-128"/>
                          <a:cs typeface="Arial" panose="020B0604020202020204" pitchFamily="34" charset="0"/>
                          <a:sym typeface="Pragmatica" charset="0"/>
                        </a:rPr>
                        <a:t>100</a:t>
                      </a:r>
                    </a:p>
                  </a:txBody>
                  <a:tcPr marL="50800" marR="50800" marT="50800" marB="508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9688" marR="0" lvl="0" indent="0" algn="ctr" defTabSz="914400" rtl="0" eaLnBrk="1" fontAlgn="base" latinLnBrk="0" hangingPunct="1">
                        <a:lnSpc>
                          <a:spcPct val="8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52D86"/>
                        </a:buClr>
                        <a:buSzPct val="11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Pragmatica Book Reg"/>
                          <a:ea typeface="ヒラギノ角ゴ ProN W3" charset="-128"/>
                          <a:cs typeface="Arial" panose="020B0604020202020204" pitchFamily="34" charset="0"/>
                          <a:sym typeface="Pragmatica" charset="0"/>
                        </a:rPr>
                        <a:t>50 000</a:t>
                      </a:r>
                    </a:p>
                  </a:txBody>
                  <a:tcPr marL="50800" marR="50800" marT="50800" marB="508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655">
                <a:tc>
                  <a:txBody>
                    <a:bodyPr/>
                    <a:lstStyle/>
                    <a:p>
                      <a:pPr marL="39688" marR="0" lvl="0" indent="0" algn="ctr" defTabSz="914400" rtl="0" eaLnBrk="1" fontAlgn="base" latinLnBrk="0" hangingPunct="1">
                        <a:lnSpc>
                          <a:spcPct val="8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52D86"/>
                        </a:buClr>
                        <a:buSzPct val="11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tx1"/>
                          </a:solidFill>
                          <a:effectLst/>
                          <a:latin typeface="Pragmatica Book Reg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  <a:endParaRPr kumimoji="0" lang="ru-RU" sz="14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agmatica Book Reg"/>
                        <a:ea typeface="ヒラギノ角ゴ ProN W3" charset="-128"/>
                        <a:cs typeface="Arial" panose="020B0604020202020204" pitchFamily="34" charset="0"/>
                        <a:sym typeface="Pragmatica" charset="0"/>
                      </a:endParaRPr>
                    </a:p>
                  </a:txBody>
                  <a:tcPr marL="50800" marR="50800" marT="50800" marB="508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9688" marR="0" lvl="0" indent="0" algn="ctr" defTabSz="914400" rtl="0" eaLnBrk="1" fontAlgn="base" latinLnBrk="0" hangingPunct="1">
                        <a:lnSpc>
                          <a:spcPct val="8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52D86"/>
                        </a:buClr>
                        <a:buSzPct val="110000"/>
                        <a:buFont typeface="Arial" pitchFamily="34" charset="0"/>
                        <a:buNone/>
                        <a:tabLst/>
                      </a:pPr>
                      <a:r>
                        <a:rPr kumimoji="0" lang="ru-RU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agmatica Book Reg"/>
                          <a:ea typeface="ヒラギノ角ゴ ProN W3" charset="-128"/>
                          <a:cs typeface="Arial" panose="020B0604020202020204" pitchFamily="34" charset="0"/>
                          <a:sym typeface="Pragmatica" charset="0"/>
                        </a:rPr>
                        <a:t>250</a:t>
                      </a:r>
                    </a:p>
                  </a:txBody>
                  <a:tcPr marL="50800" marR="50800" marT="50800" marB="508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9688" marR="0" lvl="0" indent="0" algn="ctr" defTabSz="914400" rtl="0" eaLnBrk="1" fontAlgn="base" latinLnBrk="0" hangingPunct="1">
                        <a:lnSpc>
                          <a:spcPct val="8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52D86"/>
                        </a:buClr>
                        <a:buSzPct val="11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Pragmatica Book Reg"/>
                          <a:ea typeface="ヒラギノ角ゴ ProN W3" charset="-128"/>
                          <a:cs typeface="Arial" panose="020B0604020202020204" pitchFamily="34" charset="0"/>
                          <a:sym typeface="Pragmatica" charset="0"/>
                        </a:rPr>
                        <a:t>100 000</a:t>
                      </a:r>
                    </a:p>
                  </a:txBody>
                  <a:tcPr marL="50800" marR="50800" marT="50800" marB="508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706743"/>
                  </a:ext>
                </a:extLst>
              </a:tr>
              <a:tr h="355128">
                <a:tc>
                  <a:txBody>
                    <a:bodyPr/>
                    <a:lstStyle/>
                    <a:p>
                      <a:pPr marL="39688" marR="0" lvl="0" indent="0" algn="ctr" defTabSz="914400" rtl="0" eaLnBrk="1" fontAlgn="base" latinLnBrk="0" hangingPunct="1">
                        <a:lnSpc>
                          <a:spcPct val="8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52D86"/>
                        </a:buClr>
                        <a:buSzPct val="11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ru-RU" sz="14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agmatica Book Reg"/>
                          <a:ea typeface="ヒラギノ角ゴ ProN W3" charset="-128"/>
                          <a:cs typeface="Arial" panose="020B0604020202020204" pitchFamily="34" charset="0"/>
                          <a:sym typeface="Pragmatica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9688" marR="0" lvl="0" indent="0" algn="ctr" defTabSz="914400" rtl="0" eaLnBrk="1" fontAlgn="base" latinLnBrk="0" hangingPunct="1">
                        <a:lnSpc>
                          <a:spcPct val="8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52D86"/>
                        </a:buClr>
                        <a:buSzPct val="110000"/>
                        <a:buFont typeface="Arial" pitchFamily="34" charset="0"/>
                        <a:buNone/>
                        <a:tabLst/>
                      </a:pPr>
                      <a:r>
                        <a:rPr kumimoji="0" lang="ru-RU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agmatica Book Reg"/>
                          <a:ea typeface="ヒラギノ角ゴ ProN W3" charset="-128"/>
                          <a:cs typeface="Arial" panose="020B0604020202020204" pitchFamily="34" charset="0"/>
                          <a:sym typeface="Pragmatica" charset="0"/>
                        </a:rPr>
                        <a:t>500</a:t>
                      </a:r>
                    </a:p>
                  </a:txBody>
                  <a:tcPr marL="50800" marR="50800" marT="50800" marB="508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9688" marR="0" lvl="0" indent="0" algn="ctr" defTabSz="914400" rtl="0" eaLnBrk="1" fontAlgn="base" latinLnBrk="0" hangingPunct="1">
                        <a:lnSpc>
                          <a:spcPct val="8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52D86"/>
                        </a:buClr>
                        <a:buSzPct val="11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Pragmatica Book Reg"/>
                          <a:ea typeface="ヒラギノ角ゴ ProN W3" charset="-128"/>
                          <a:cs typeface="Arial" panose="020B0604020202020204" pitchFamily="34" charset="0"/>
                          <a:sym typeface="Pragmatica" charset="0"/>
                        </a:rPr>
                        <a:t>150 000</a:t>
                      </a:r>
                    </a:p>
                  </a:txBody>
                  <a:tcPr marL="50800" marR="50800" marT="50800" marB="508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8" name="Прямоугольник 1">
            <a:extLst>
              <a:ext uri="{FF2B5EF4-FFF2-40B4-BE49-F238E27FC236}">
                <a16:creationId xmlns:a16="http://schemas.microsoft.com/office/drawing/2014/main" id="{2FAE967E-6CBA-5BDF-A48D-D26B76275601}"/>
              </a:ext>
            </a:extLst>
          </p:cNvPr>
          <p:cNvSpPr/>
          <p:nvPr/>
        </p:nvSpPr>
        <p:spPr>
          <a:xfrm>
            <a:off x="700854" y="6430486"/>
            <a:ext cx="266226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dirty="0">
                <a:latin typeface="Pragmatica Book Reg"/>
                <a:cs typeface="Arial" panose="020B0604020202020204" pitchFamily="34" charset="0"/>
              </a:rPr>
              <a:t>* Цены указаны в тенге с учетом НДС</a:t>
            </a:r>
          </a:p>
        </p:txBody>
      </p:sp>
    </p:spTree>
    <p:extLst>
      <p:ext uri="{BB962C8B-B14F-4D97-AF65-F5344CB8AC3E}">
        <p14:creationId xmlns:p14="http://schemas.microsoft.com/office/powerpoint/2010/main" val="27921719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…">
            <a:extLst>
              <a:ext uri="{FF2B5EF4-FFF2-40B4-BE49-F238E27FC236}">
                <a16:creationId xmlns:a16="http://schemas.microsoft.com/office/drawing/2014/main" id="{07DCF8ED-1E42-4B8A-BAAA-3E6E5FB69CE4}"/>
              </a:ext>
            </a:extLst>
          </p:cNvPr>
          <p:cNvSpPr txBox="1"/>
          <p:nvPr/>
        </p:nvSpPr>
        <p:spPr>
          <a:xfrm>
            <a:off x="582781" y="564146"/>
            <a:ext cx="5259219" cy="143629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5400" tIns="25400" rIns="25400" bIns="25400" anchor="ctr">
            <a:spAutoFit/>
          </a:bodyPr>
          <a:lstStyle/>
          <a:p>
            <a:pPr>
              <a:lnSpc>
                <a:spcPts val="5400"/>
              </a:lnSpc>
              <a:spcBef>
                <a:spcPts val="0"/>
              </a:spcBef>
              <a:defRPr sz="80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lang="ru-RU" sz="5400" b="1" dirty="0">
                <a:solidFill>
                  <a:srgbClr val="6A2D9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Спасибо</a:t>
            </a:r>
            <a:endParaRPr lang="en-US" sz="5400" b="1" dirty="0">
              <a:solidFill>
                <a:srgbClr val="6A2D9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lnSpc>
                <a:spcPts val="5400"/>
              </a:lnSpc>
              <a:spcBef>
                <a:spcPts val="0"/>
              </a:spcBef>
              <a:defRPr sz="80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lang="ru-RU" sz="5400" b="1" dirty="0">
                <a:solidFill>
                  <a:srgbClr val="6A2D9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за внимание!</a:t>
            </a:r>
            <a:endParaRPr sz="5400" b="1" dirty="0">
              <a:solidFill>
                <a:srgbClr val="6A2D9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1BAD813-EFD6-081F-7E7F-E0F4016023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52322" y="399717"/>
            <a:ext cx="736255" cy="24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12754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BB748690335E3F45B6D32F35E393220A" ma:contentTypeVersion="0" ma:contentTypeDescription="Создание документа." ma:contentTypeScope="" ma:versionID="79695b7229812c3da6832a15d046d42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d3e22c7cd2c031952bb0ace1fddabb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ABB372F-9E56-40BA-A83C-25C4AB1B78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4884C4-3705-4450-A57D-C4CF98418178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CA0247E4-9169-44D6-80BD-9BDA8AAE48D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3257</TotalTime>
  <Words>1416</Words>
  <Application>Microsoft Office PowerPoint</Application>
  <PresentationFormat>Широкоэкранный</PresentationFormat>
  <Paragraphs>368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8" baseType="lpstr">
      <vt:lpstr>Arial</vt:lpstr>
      <vt:lpstr>Calibri</vt:lpstr>
      <vt:lpstr>Calibri Light</vt:lpstr>
      <vt:lpstr>Helvetica</vt:lpstr>
      <vt:lpstr>Helvetica Neue</vt:lpstr>
      <vt:lpstr>Pragmatica Black</vt:lpstr>
      <vt:lpstr>Pragmatica Book Reg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Yanicorn</dc:creator>
  <cp:lastModifiedBy>Alexandr Murdassov</cp:lastModifiedBy>
  <cp:revision>158</cp:revision>
  <dcterms:created xsi:type="dcterms:W3CDTF">2023-01-18T10:06:39Z</dcterms:created>
  <dcterms:modified xsi:type="dcterms:W3CDTF">2025-12-02T06:39:58Z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cdd97af-22dc-49fa-ac47-e24224ce56c4_Enabled">
    <vt:lpwstr>true</vt:lpwstr>
  </property>
  <property fmtid="{D5CDD505-2E9C-101B-9397-08002B2CF9AE}" pid="3" name="MSIP_Label_9cdd97af-22dc-49fa-ac47-e24224ce56c4_SetDate">
    <vt:lpwstr>2025-10-30T05:17:37Z</vt:lpwstr>
  </property>
  <property fmtid="{D5CDD505-2E9C-101B-9397-08002B2CF9AE}" pid="4" name="MSIP_Label_9cdd97af-22dc-49fa-ac47-e24224ce56c4_Method">
    <vt:lpwstr>Standard</vt:lpwstr>
  </property>
  <property fmtid="{D5CDD505-2E9C-101B-9397-08002B2CF9AE}" pid="5" name="MSIP_Label_9cdd97af-22dc-49fa-ac47-e24224ce56c4_Name">
    <vt:lpwstr>General</vt:lpwstr>
  </property>
  <property fmtid="{D5CDD505-2E9C-101B-9397-08002B2CF9AE}" pid="6" name="MSIP_Label_9cdd97af-22dc-49fa-ac47-e24224ce56c4_SiteId">
    <vt:lpwstr>41149801-8e93-4eae-a438-1ff037fd4bdc</vt:lpwstr>
  </property>
  <property fmtid="{D5CDD505-2E9C-101B-9397-08002B2CF9AE}" pid="7" name="MSIP_Label_9cdd97af-22dc-49fa-ac47-e24224ce56c4_ActionId">
    <vt:lpwstr>c6d514ec-4d1b-4344-960c-a3242d81c412</vt:lpwstr>
  </property>
  <property fmtid="{D5CDD505-2E9C-101B-9397-08002B2CF9AE}" pid="8" name="MSIP_Label_9cdd97af-22dc-49fa-ac47-e24224ce56c4_ContentBits">
    <vt:lpwstr>0</vt:lpwstr>
  </property>
  <property fmtid="{D5CDD505-2E9C-101B-9397-08002B2CF9AE}" pid="9" name="MSIP_Label_9cdd97af-22dc-49fa-ac47-e24224ce56c4_Tag">
    <vt:lpwstr>10, 3, 0, 1</vt:lpwstr>
  </property>
  <property fmtid="{D5CDD505-2E9C-101B-9397-08002B2CF9AE}" pid="10" name="ContentTypeId">
    <vt:lpwstr>0x010100BB748690335E3F45B6D32F35E393220A</vt:lpwstr>
  </property>
</Properties>
</file>
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311" r:id="rId5"/>
    <p:sldId id="313" r:id="rId6"/>
    <p:sldId id="314" r:id="rId7"/>
    <p:sldId id="315" r:id="rId8"/>
    <p:sldId id="316" r:id="rId9"/>
    <p:sldId id="318" r:id="rId10"/>
    <p:sldId id="319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BE8E25-B1BC-4D61-8218-A8E2B5D5C8FD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98EF6-8A2B-4B20-A376-0BFBC4652C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69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7539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5181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6642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8341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519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1725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3235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440434"/>
            <a:ext cx="6918959" cy="2574290"/>
          </a:xfrm>
          <a:custGeom>
            <a:avLst/>
            <a:gdLst/>
            <a:ahLst/>
            <a:cxnLst/>
            <a:rect l="l" t="t" r="r" b="b"/>
            <a:pathLst>
              <a:path w="6918959" h="2574290">
                <a:moveTo>
                  <a:pt x="6918959" y="0"/>
                </a:moveTo>
                <a:lnTo>
                  <a:pt x="0" y="0"/>
                </a:lnTo>
                <a:lnTo>
                  <a:pt x="0" y="2574036"/>
                </a:lnTo>
                <a:lnTo>
                  <a:pt x="6736080" y="2574036"/>
                </a:lnTo>
                <a:lnTo>
                  <a:pt x="6751074" y="2573429"/>
                </a:lnTo>
                <a:lnTo>
                  <a:pt x="6793870" y="2564709"/>
                </a:lnTo>
                <a:lnTo>
                  <a:pt x="6832397" y="2546627"/>
                </a:lnTo>
                <a:lnTo>
                  <a:pt x="6865381" y="2520457"/>
                </a:lnTo>
                <a:lnTo>
                  <a:pt x="6891551" y="2487473"/>
                </a:lnTo>
                <a:lnTo>
                  <a:pt x="6909633" y="2448946"/>
                </a:lnTo>
                <a:lnTo>
                  <a:pt x="6918353" y="2406150"/>
                </a:lnTo>
                <a:lnTo>
                  <a:pt x="6918959" y="2391156"/>
                </a:lnTo>
                <a:lnTo>
                  <a:pt x="6918959" y="0"/>
                </a:lnTo>
                <a:close/>
              </a:path>
            </a:pathLst>
          </a:custGeom>
          <a:solidFill>
            <a:srgbClr val="652D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1376170"/>
            <a:ext cx="11913107" cy="5481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0960530" y="6432938"/>
            <a:ext cx="198120" cy="208279"/>
          </a:xfrm>
          <a:custGeom>
            <a:avLst/>
            <a:gdLst/>
            <a:ahLst/>
            <a:cxnLst/>
            <a:rect l="l" t="t" r="r" b="b"/>
            <a:pathLst>
              <a:path w="198120" h="208279">
                <a:moveTo>
                  <a:pt x="101275" y="0"/>
                </a:moveTo>
                <a:lnTo>
                  <a:pt x="57255" y="9074"/>
                </a:lnTo>
                <a:lnTo>
                  <a:pt x="24680" y="33573"/>
                </a:lnTo>
                <a:lnTo>
                  <a:pt x="5088" y="69416"/>
                </a:lnTo>
                <a:lnTo>
                  <a:pt x="0" y="97596"/>
                </a:lnTo>
                <a:lnTo>
                  <a:pt x="562" y="111833"/>
                </a:lnTo>
                <a:lnTo>
                  <a:pt x="10110" y="152172"/>
                </a:lnTo>
                <a:lnTo>
                  <a:pt x="32678" y="184973"/>
                </a:lnTo>
                <a:lnTo>
                  <a:pt x="69850" y="205127"/>
                </a:lnTo>
                <a:lnTo>
                  <a:pt x="85760" y="208151"/>
                </a:lnTo>
                <a:lnTo>
                  <a:pt x="108387" y="207184"/>
                </a:lnTo>
                <a:lnTo>
                  <a:pt x="156877" y="192472"/>
                </a:lnTo>
                <a:lnTo>
                  <a:pt x="182405" y="168159"/>
                </a:lnTo>
                <a:lnTo>
                  <a:pt x="107139" y="168159"/>
                </a:lnTo>
                <a:lnTo>
                  <a:pt x="84743" y="165136"/>
                </a:lnTo>
                <a:lnTo>
                  <a:pt x="69918" y="157249"/>
                </a:lnTo>
                <a:lnTo>
                  <a:pt x="61062" y="146466"/>
                </a:lnTo>
                <a:lnTo>
                  <a:pt x="56570" y="134759"/>
                </a:lnTo>
                <a:lnTo>
                  <a:pt x="54837" y="124099"/>
                </a:lnTo>
                <a:lnTo>
                  <a:pt x="197744" y="118008"/>
                </a:lnTo>
                <a:lnTo>
                  <a:pt x="198044" y="104074"/>
                </a:lnTo>
                <a:lnTo>
                  <a:pt x="196985" y="90226"/>
                </a:lnTo>
                <a:lnTo>
                  <a:pt x="195768" y="83439"/>
                </a:lnTo>
                <a:lnTo>
                  <a:pt x="54387" y="83439"/>
                </a:lnTo>
                <a:lnTo>
                  <a:pt x="55095" y="77287"/>
                </a:lnTo>
                <a:lnTo>
                  <a:pt x="58448" y="66252"/>
                </a:lnTo>
                <a:lnTo>
                  <a:pt x="66289" y="54069"/>
                </a:lnTo>
                <a:lnTo>
                  <a:pt x="80463" y="44473"/>
                </a:lnTo>
                <a:lnTo>
                  <a:pt x="181543" y="44338"/>
                </a:lnTo>
                <a:lnTo>
                  <a:pt x="178845" y="39668"/>
                </a:lnTo>
                <a:lnTo>
                  <a:pt x="150185" y="12391"/>
                </a:lnTo>
                <a:lnTo>
                  <a:pt x="108132" y="198"/>
                </a:lnTo>
                <a:lnTo>
                  <a:pt x="101275" y="0"/>
                </a:lnTo>
                <a:close/>
              </a:path>
              <a:path w="198120" h="208279">
                <a:moveTo>
                  <a:pt x="159619" y="142595"/>
                </a:moveTo>
                <a:lnTo>
                  <a:pt x="151643" y="142595"/>
                </a:lnTo>
                <a:lnTo>
                  <a:pt x="145839" y="145757"/>
                </a:lnTo>
                <a:lnTo>
                  <a:pt x="140416" y="152450"/>
                </a:lnTo>
                <a:lnTo>
                  <a:pt x="135439" y="157303"/>
                </a:lnTo>
                <a:lnTo>
                  <a:pt x="124495" y="164020"/>
                </a:lnTo>
                <a:lnTo>
                  <a:pt x="107139" y="168159"/>
                </a:lnTo>
                <a:lnTo>
                  <a:pt x="182405" y="168159"/>
                </a:lnTo>
                <a:lnTo>
                  <a:pt x="182705" y="167762"/>
                </a:lnTo>
                <a:lnTo>
                  <a:pt x="187706" y="159018"/>
                </a:lnTo>
                <a:lnTo>
                  <a:pt x="191412" y="150634"/>
                </a:lnTo>
                <a:lnTo>
                  <a:pt x="194129" y="142976"/>
                </a:lnTo>
                <a:lnTo>
                  <a:pt x="159619" y="142595"/>
                </a:lnTo>
                <a:close/>
              </a:path>
              <a:path w="198120" h="208279">
                <a:moveTo>
                  <a:pt x="181543" y="44338"/>
                </a:moveTo>
                <a:lnTo>
                  <a:pt x="100843" y="44338"/>
                </a:lnTo>
                <a:lnTo>
                  <a:pt x="116097" y="47064"/>
                </a:lnTo>
                <a:lnTo>
                  <a:pt x="127075" y="52424"/>
                </a:lnTo>
                <a:lnTo>
                  <a:pt x="134630" y="60195"/>
                </a:lnTo>
                <a:lnTo>
                  <a:pt x="139614" y="70151"/>
                </a:lnTo>
                <a:lnTo>
                  <a:pt x="142878" y="82066"/>
                </a:lnTo>
                <a:lnTo>
                  <a:pt x="54387" y="83439"/>
                </a:lnTo>
                <a:lnTo>
                  <a:pt x="195768" y="83439"/>
                </a:lnTo>
                <a:lnTo>
                  <a:pt x="194552" y="76663"/>
                </a:lnTo>
                <a:lnTo>
                  <a:pt x="190729" y="63583"/>
                </a:lnTo>
                <a:lnTo>
                  <a:pt x="185499" y="51185"/>
                </a:lnTo>
                <a:lnTo>
                  <a:pt x="181543" y="44338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1192066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3" y="240797"/>
                </a:lnTo>
                <a:lnTo>
                  <a:pt x="4051" y="254048"/>
                </a:lnTo>
                <a:lnTo>
                  <a:pt x="10296" y="263682"/>
                </a:lnTo>
                <a:lnTo>
                  <a:pt x="20692" y="270040"/>
                </a:lnTo>
                <a:lnTo>
                  <a:pt x="36241" y="273467"/>
                </a:lnTo>
                <a:lnTo>
                  <a:pt x="54216" y="44094"/>
                </a:lnTo>
                <a:lnTo>
                  <a:pt x="42242" y="6524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1297394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5" y="240801"/>
                </a:lnTo>
                <a:lnTo>
                  <a:pt x="4058" y="254054"/>
                </a:lnTo>
                <a:lnTo>
                  <a:pt x="10309" y="263688"/>
                </a:lnTo>
                <a:lnTo>
                  <a:pt x="20708" y="270045"/>
                </a:lnTo>
                <a:lnTo>
                  <a:pt x="36256" y="273470"/>
                </a:lnTo>
                <a:lnTo>
                  <a:pt x="54203" y="44094"/>
                </a:lnTo>
                <a:lnTo>
                  <a:pt x="42246" y="6521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10743934" y="6433095"/>
            <a:ext cx="194310" cy="208915"/>
          </a:xfrm>
          <a:custGeom>
            <a:avLst/>
            <a:gdLst/>
            <a:ahLst/>
            <a:cxnLst/>
            <a:rect l="l" t="t" r="r" b="b"/>
            <a:pathLst>
              <a:path w="194309" h="208915">
                <a:moveTo>
                  <a:pt x="107342" y="0"/>
                </a:moveTo>
                <a:lnTo>
                  <a:pt x="58794" y="8559"/>
                </a:lnTo>
                <a:lnTo>
                  <a:pt x="25172" y="31878"/>
                </a:lnTo>
                <a:lnTo>
                  <a:pt x="5628" y="66045"/>
                </a:lnTo>
                <a:lnTo>
                  <a:pt x="0" y="92919"/>
                </a:lnTo>
                <a:lnTo>
                  <a:pt x="741" y="111589"/>
                </a:lnTo>
                <a:lnTo>
                  <a:pt x="12961" y="157536"/>
                </a:lnTo>
                <a:lnTo>
                  <a:pt x="37701" y="188702"/>
                </a:lnTo>
                <a:lnTo>
                  <a:pt x="84663" y="207944"/>
                </a:lnTo>
                <a:lnTo>
                  <a:pt x="98114" y="208868"/>
                </a:lnTo>
                <a:lnTo>
                  <a:pt x="112807" y="208127"/>
                </a:lnTo>
                <a:lnTo>
                  <a:pt x="151845" y="196588"/>
                </a:lnTo>
                <a:lnTo>
                  <a:pt x="180541" y="170041"/>
                </a:lnTo>
                <a:lnTo>
                  <a:pt x="182274" y="166805"/>
                </a:lnTo>
                <a:lnTo>
                  <a:pt x="111932" y="166805"/>
                </a:lnTo>
                <a:lnTo>
                  <a:pt x="94013" y="165401"/>
                </a:lnTo>
                <a:lnTo>
                  <a:pt x="61811" y="142099"/>
                </a:lnTo>
                <a:lnTo>
                  <a:pt x="54459" y="116576"/>
                </a:lnTo>
                <a:lnTo>
                  <a:pt x="55040" y="99093"/>
                </a:lnTo>
                <a:lnTo>
                  <a:pt x="67914" y="57488"/>
                </a:lnTo>
                <a:lnTo>
                  <a:pt x="100151" y="40982"/>
                </a:lnTo>
                <a:lnTo>
                  <a:pt x="183997" y="40982"/>
                </a:lnTo>
                <a:lnTo>
                  <a:pt x="180154" y="34481"/>
                </a:lnTo>
                <a:lnTo>
                  <a:pt x="148738" y="9617"/>
                </a:lnTo>
                <a:lnTo>
                  <a:pt x="121789" y="1549"/>
                </a:lnTo>
                <a:lnTo>
                  <a:pt x="107342" y="0"/>
                </a:lnTo>
                <a:close/>
              </a:path>
              <a:path w="194309" h="208915">
                <a:moveTo>
                  <a:pt x="144244" y="127380"/>
                </a:moveTo>
                <a:lnTo>
                  <a:pt x="139481" y="140448"/>
                </a:lnTo>
                <a:lnTo>
                  <a:pt x="133013" y="153041"/>
                </a:lnTo>
                <a:lnTo>
                  <a:pt x="123937" y="161807"/>
                </a:lnTo>
                <a:lnTo>
                  <a:pt x="111932" y="166805"/>
                </a:lnTo>
                <a:lnTo>
                  <a:pt x="182274" y="166805"/>
                </a:lnTo>
                <a:lnTo>
                  <a:pt x="187190" y="157627"/>
                </a:lnTo>
                <a:lnTo>
                  <a:pt x="192162" y="143348"/>
                </a:lnTo>
                <a:lnTo>
                  <a:pt x="156677" y="127824"/>
                </a:lnTo>
                <a:lnTo>
                  <a:pt x="144244" y="127380"/>
                </a:lnTo>
                <a:close/>
              </a:path>
              <a:path w="194309" h="208915">
                <a:moveTo>
                  <a:pt x="183997" y="40982"/>
                </a:moveTo>
                <a:lnTo>
                  <a:pt x="100151" y="40982"/>
                </a:lnTo>
                <a:lnTo>
                  <a:pt x="116434" y="43278"/>
                </a:lnTo>
                <a:lnTo>
                  <a:pt x="127989" y="49481"/>
                </a:lnTo>
                <a:lnTo>
                  <a:pt x="135401" y="58567"/>
                </a:lnTo>
                <a:lnTo>
                  <a:pt x="142430" y="70584"/>
                </a:lnTo>
                <a:lnTo>
                  <a:pt x="154559" y="75188"/>
                </a:lnTo>
                <a:lnTo>
                  <a:pt x="194129" y="75208"/>
                </a:lnTo>
                <a:lnTo>
                  <a:pt x="191869" y="59832"/>
                </a:lnTo>
                <a:lnTo>
                  <a:pt x="187119" y="46264"/>
                </a:lnTo>
                <a:lnTo>
                  <a:pt x="183997" y="40982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10500741" y="6363506"/>
            <a:ext cx="253365" cy="274955"/>
          </a:xfrm>
          <a:custGeom>
            <a:avLst/>
            <a:gdLst/>
            <a:ahLst/>
            <a:cxnLst/>
            <a:rect l="l" t="t" r="r" b="b"/>
            <a:pathLst>
              <a:path w="253365" h="274954">
                <a:moveTo>
                  <a:pt x="7952" y="49"/>
                </a:moveTo>
                <a:lnTo>
                  <a:pt x="0" y="274358"/>
                </a:lnTo>
                <a:lnTo>
                  <a:pt x="60083" y="274358"/>
                </a:lnTo>
                <a:lnTo>
                  <a:pt x="60083" y="186029"/>
                </a:lnTo>
                <a:lnTo>
                  <a:pt x="94640" y="151015"/>
                </a:lnTo>
                <a:lnTo>
                  <a:pt x="165656" y="151015"/>
                </a:lnTo>
                <a:lnTo>
                  <a:pt x="138837" y="113141"/>
                </a:lnTo>
                <a:lnTo>
                  <a:pt x="60671" y="113141"/>
                </a:lnTo>
                <a:lnTo>
                  <a:pt x="60083" y="53352"/>
                </a:lnTo>
                <a:lnTo>
                  <a:pt x="51219" y="13076"/>
                </a:lnTo>
                <a:lnTo>
                  <a:pt x="27757" y="1858"/>
                </a:lnTo>
                <a:lnTo>
                  <a:pt x="7952" y="49"/>
                </a:lnTo>
                <a:close/>
              </a:path>
              <a:path w="253365" h="274954">
                <a:moveTo>
                  <a:pt x="165656" y="151015"/>
                </a:moveTo>
                <a:lnTo>
                  <a:pt x="94640" y="151015"/>
                </a:lnTo>
                <a:lnTo>
                  <a:pt x="121278" y="190598"/>
                </a:lnTo>
                <a:lnTo>
                  <a:pt x="143576" y="224025"/>
                </a:lnTo>
                <a:lnTo>
                  <a:pt x="173088" y="260876"/>
                </a:lnTo>
                <a:lnTo>
                  <a:pt x="216737" y="274277"/>
                </a:lnTo>
                <a:lnTo>
                  <a:pt x="252996" y="274358"/>
                </a:lnTo>
                <a:lnTo>
                  <a:pt x="165656" y="151015"/>
                </a:lnTo>
                <a:close/>
              </a:path>
              <a:path w="253365" h="274954">
                <a:moveTo>
                  <a:pt x="242620" y="0"/>
                </a:moveTo>
                <a:lnTo>
                  <a:pt x="213258" y="0"/>
                </a:lnTo>
                <a:lnTo>
                  <a:pt x="199402" y="204"/>
                </a:lnTo>
                <a:lnTo>
                  <a:pt x="153073" y="16249"/>
                </a:lnTo>
                <a:lnTo>
                  <a:pt x="121035" y="49437"/>
                </a:lnTo>
                <a:lnTo>
                  <a:pt x="60671" y="113141"/>
                </a:lnTo>
                <a:lnTo>
                  <a:pt x="138837" y="113141"/>
                </a:lnTo>
                <a:lnTo>
                  <a:pt x="135458" y="108369"/>
                </a:lnTo>
                <a:lnTo>
                  <a:pt x="24262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1510" y="859560"/>
            <a:ext cx="11288979" cy="949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D6F7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862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52D8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D6F7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437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52D8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D6F7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9417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52D8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D6F7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8338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6D6F7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280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7613" y="311660"/>
            <a:ext cx="10856772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652D8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9536" y="1141475"/>
            <a:ext cx="10472927" cy="187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37235" y="6551812"/>
            <a:ext cx="179069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6D6F7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7040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613" y="311660"/>
            <a:ext cx="1085677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3000" spc="-30" dirty="0"/>
              <a:t>Целевая аудитория и типы клиентов ВАТС</a:t>
            </a:r>
            <a:endParaRPr sz="3000" dirty="0"/>
          </a:p>
        </p:txBody>
      </p:sp>
      <p:sp>
        <p:nvSpPr>
          <p:cNvPr id="9" name="object 9"/>
          <p:cNvSpPr/>
          <p:nvPr/>
        </p:nvSpPr>
        <p:spPr>
          <a:xfrm>
            <a:off x="10960517" y="6432938"/>
            <a:ext cx="198120" cy="208279"/>
          </a:xfrm>
          <a:custGeom>
            <a:avLst/>
            <a:gdLst/>
            <a:ahLst/>
            <a:cxnLst/>
            <a:rect l="l" t="t" r="r" b="b"/>
            <a:pathLst>
              <a:path w="198120" h="208279">
                <a:moveTo>
                  <a:pt x="101287" y="0"/>
                </a:moveTo>
                <a:lnTo>
                  <a:pt x="57267" y="9072"/>
                </a:lnTo>
                <a:lnTo>
                  <a:pt x="24688" y="33570"/>
                </a:lnTo>
                <a:lnTo>
                  <a:pt x="5091" y="69409"/>
                </a:lnTo>
                <a:lnTo>
                  <a:pt x="0" y="97586"/>
                </a:lnTo>
                <a:lnTo>
                  <a:pt x="562" y="111824"/>
                </a:lnTo>
                <a:lnTo>
                  <a:pt x="10113" y="152163"/>
                </a:lnTo>
                <a:lnTo>
                  <a:pt x="32683" y="184966"/>
                </a:lnTo>
                <a:lnTo>
                  <a:pt x="69850" y="205123"/>
                </a:lnTo>
                <a:lnTo>
                  <a:pt x="85755" y="208148"/>
                </a:lnTo>
                <a:lnTo>
                  <a:pt x="108384" y="207182"/>
                </a:lnTo>
                <a:lnTo>
                  <a:pt x="156879" y="192475"/>
                </a:lnTo>
                <a:lnTo>
                  <a:pt x="182417" y="168159"/>
                </a:lnTo>
                <a:lnTo>
                  <a:pt x="107153" y="168159"/>
                </a:lnTo>
                <a:lnTo>
                  <a:pt x="84756" y="165136"/>
                </a:lnTo>
                <a:lnTo>
                  <a:pt x="69932" y="157249"/>
                </a:lnTo>
                <a:lnTo>
                  <a:pt x="61075" y="146467"/>
                </a:lnTo>
                <a:lnTo>
                  <a:pt x="56582" y="134760"/>
                </a:lnTo>
                <a:lnTo>
                  <a:pt x="54849" y="124100"/>
                </a:lnTo>
                <a:lnTo>
                  <a:pt x="197756" y="118008"/>
                </a:lnTo>
                <a:lnTo>
                  <a:pt x="198056" y="104074"/>
                </a:lnTo>
                <a:lnTo>
                  <a:pt x="196997" y="90226"/>
                </a:lnTo>
                <a:lnTo>
                  <a:pt x="195780" y="83439"/>
                </a:lnTo>
                <a:lnTo>
                  <a:pt x="54399" y="83439"/>
                </a:lnTo>
                <a:lnTo>
                  <a:pt x="55107" y="77287"/>
                </a:lnTo>
                <a:lnTo>
                  <a:pt x="58460" y="66252"/>
                </a:lnTo>
                <a:lnTo>
                  <a:pt x="66301" y="54069"/>
                </a:lnTo>
                <a:lnTo>
                  <a:pt x="80475" y="44473"/>
                </a:lnTo>
                <a:lnTo>
                  <a:pt x="181555" y="44338"/>
                </a:lnTo>
                <a:lnTo>
                  <a:pt x="178857" y="39668"/>
                </a:lnTo>
                <a:lnTo>
                  <a:pt x="150197" y="12391"/>
                </a:lnTo>
                <a:lnTo>
                  <a:pt x="108144" y="198"/>
                </a:lnTo>
                <a:lnTo>
                  <a:pt x="101287" y="0"/>
                </a:lnTo>
                <a:close/>
              </a:path>
              <a:path w="198120" h="208279">
                <a:moveTo>
                  <a:pt x="159631" y="142595"/>
                </a:moveTo>
                <a:lnTo>
                  <a:pt x="151655" y="142595"/>
                </a:lnTo>
                <a:lnTo>
                  <a:pt x="145851" y="145757"/>
                </a:lnTo>
                <a:lnTo>
                  <a:pt x="140428" y="152450"/>
                </a:lnTo>
                <a:lnTo>
                  <a:pt x="135454" y="157303"/>
                </a:lnTo>
                <a:lnTo>
                  <a:pt x="124512" y="164020"/>
                </a:lnTo>
                <a:lnTo>
                  <a:pt x="107153" y="168159"/>
                </a:lnTo>
                <a:lnTo>
                  <a:pt x="182417" y="168159"/>
                </a:lnTo>
                <a:lnTo>
                  <a:pt x="182711" y="167769"/>
                </a:lnTo>
                <a:lnTo>
                  <a:pt x="187713" y="159027"/>
                </a:lnTo>
                <a:lnTo>
                  <a:pt x="191420" y="150643"/>
                </a:lnTo>
                <a:lnTo>
                  <a:pt x="194138" y="142985"/>
                </a:lnTo>
                <a:lnTo>
                  <a:pt x="159631" y="142595"/>
                </a:lnTo>
                <a:close/>
              </a:path>
              <a:path w="198120" h="208279">
                <a:moveTo>
                  <a:pt x="181555" y="44338"/>
                </a:moveTo>
                <a:lnTo>
                  <a:pt x="100855" y="44338"/>
                </a:lnTo>
                <a:lnTo>
                  <a:pt x="116109" y="47064"/>
                </a:lnTo>
                <a:lnTo>
                  <a:pt x="127087" y="52424"/>
                </a:lnTo>
                <a:lnTo>
                  <a:pt x="134642" y="60195"/>
                </a:lnTo>
                <a:lnTo>
                  <a:pt x="139626" y="70151"/>
                </a:lnTo>
                <a:lnTo>
                  <a:pt x="142891" y="82066"/>
                </a:lnTo>
                <a:lnTo>
                  <a:pt x="54399" y="83439"/>
                </a:lnTo>
                <a:lnTo>
                  <a:pt x="195780" y="83439"/>
                </a:lnTo>
                <a:lnTo>
                  <a:pt x="194564" y="76663"/>
                </a:lnTo>
                <a:lnTo>
                  <a:pt x="190741" y="63583"/>
                </a:lnTo>
                <a:lnTo>
                  <a:pt x="185511" y="51185"/>
                </a:lnTo>
                <a:lnTo>
                  <a:pt x="181555" y="44338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92060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7" y="240797"/>
                </a:lnTo>
                <a:lnTo>
                  <a:pt x="4056" y="254048"/>
                </a:lnTo>
                <a:lnTo>
                  <a:pt x="10301" y="263682"/>
                </a:lnTo>
                <a:lnTo>
                  <a:pt x="20695" y="270040"/>
                </a:lnTo>
                <a:lnTo>
                  <a:pt x="36242" y="273467"/>
                </a:lnTo>
                <a:lnTo>
                  <a:pt x="54228" y="44094"/>
                </a:lnTo>
                <a:lnTo>
                  <a:pt x="42251" y="6526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297392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5" y="240801"/>
                </a:lnTo>
                <a:lnTo>
                  <a:pt x="4058" y="254054"/>
                </a:lnTo>
                <a:lnTo>
                  <a:pt x="10309" y="263688"/>
                </a:lnTo>
                <a:lnTo>
                  <a:pt x="20708" y="270045"/>
                </a:lnTo>
                <a:lnTo>
                  <a:pt x="36256" y="273470"/>
                </a:lnTo>
                <a:lnTo>
                  <a:pt x="54216" y="44094"/>
                </a:lnTo>
                <a:lnTo>
                  <a:pt x="42251" y="6524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43938" y="6433094"/>
            <a:ext cx="194310" cy="208915"/>
          </a:xfrm>
          <a:custGeom>
            <a:avLst/>
            <a:gdLst/>
            <a:ahLst/>
            <a:cxnLst/>
            <a:rect l="l" t="t" r="r" b="b"/>
            <a:pathLst>
              <a:path w="194309" h="208915">
                <a:moveTo>
                  <a:pt x="107330" y="0"/>
                </a:moveTo>
                <a:lnTo>
                  <a:pt x="58782" y="8560"/>
                </a:lnTo>
                <a:lnTo>
                  <a:pt x="25164" y="31882"/>
                </a:lnTo>
                <a:lnTo>
                  <a:pt x="5625" y="66053"/>
                </a:lnTo>
                <a:lnTo>
                  <a:pt x="0" y="92929"/>
                </a:lnTo>
                <a:lnTo>
                  <a:pt x="741" y="111597"/>
                </a:lnTo>
                <a:lnTo>
                  <a:pt x="13002" y="157614"/>
                </a:lnTo>
                <a:lnTo>
                  <a:pt x="37701" y="188706"/>
                </a:lnTo>
                <a:lnTo>
                  <a:pt x="84669" y="207945"/>
                </a:lnTo>
                <a:lnTo>
                  <a:pt x="98123" y="208868"/>
                </a:lnTo>
                <a:lnTo>
                  <a:pt x="112816" y="208127"/>
                </a:lnTo>
                <a:lnTo>
                  <a:pt x="151853" y="196586"/>
                </a:lnTo>
                <a:lnTo>
                  <a:pt x="180544" y="170032"/>
                </a:lnTo>
                <a:lnTo>
                  <a:pt x="182271" y="166805"/>
                </a:lnTo>
                <a:lnTo>
                  <a:pt x="111931" y="166805"/>
                </a:lnTo>
                <a:lnTo>
                  <a:pt x="94014" y="165402"/>
                </a:lnTo>
                <a:lnTo>
                  <a:pt x="61807" y="142104"/>
                </a:lnTo>
                <a:lnTo>
                  <a:pt x="54449" y="116584"/>
                </a:lnTo>
                <a:lnTo>
                  <a:pt x="55029" y="99099"/>
                </a:lnTo>
                <a:lnTo>
                  <a:pt x="67900" y="57492"/>
                </a:lnTo>
                <a:lnTo>
                  <a:pt x="100132" y="40983"/>
                </a:lnTo>
                <a:lnTo>
                  <a:pt x="183991" y="40983"/>
                </a:lnTo>
                <a:lnTo>
                  <a:pt x="180147" y="34479"/>
                </a:lnTo>
                <a:lnTo>
                  <a:pt x="148727" y="9615"/>
                </a:lnTo>
                <a:lnTo>
                  <a:pt x="121777" y="1548"/>
                </a:lnTo>
                <a:lnTo>
                  <a:pt x="107330" y="0"/>
                </a:lnTo>
                <a:close/>
              </a:path>
              <a:path w="194309" h="208915">
                <a:moveTo>
                  <a:pt x="144232" y="127380"/>
                </a:moveTo>
                <a:lnTo>
                  <a:pt x="139483" y="140449"/>
                </a:lnTo>
                <a:lnTo>
                  <a:pt x="133008" y="153041"/>
                </a:lnTo>
                <a:lnTo>
                  <a:pt x="123934" y="161807"/>
                </a:lnTo>
                <a:lnTo>
                  <a:pt x="111931" y="166805"/>
                </a:lnTo>
                <a:lnTo>
                  <a:pt x="182271" y="166805"/>
                </a:lnTo>
                <a:lnTo>
                  <a:pt x="187216" y="157542"/>
                </a:lnTo>
                <a:lnTo>
                  <a:pt x="192158" y="143331"/>
                </a:lnTo>
                <a:lnTo>
                  <a:pt x="156678" y="127825"/>
                </a:lnTo>
                <a:lnTo>
                  <a:pt x="144232" y="127380"/>
                </a:lnTo>
                <a:close/>
              </a:path>
              <a:path w="194309" h="208915">
                <a:moveTo>
                  <a:pt x="183991" y="40983"/>
                </a:moveTo>
                <a:lnTo>
                  <a:pt x="100132" y="40983"/>
                </a:lnTo>
                <a:lnTo>
                  <a:pt x="116423" y="43276"/>
                </a:lnTo>
                <a:lnTo>
                  <a:pt x="127981" y="49475"/>
                </a:lnTo>
                <a:lnTo>
                  <a:pt x="135395" y="58555"/>
                </a:lnTo>
                <a:lnTo>
                  <a:pt x="142421" y="70579"/>
                </a:lnTo>
                <a:lnTo>
                  <a:pt x="154543" y="75188"/>
                </a:lnTo>
                <a:lnTo>
                  <a:pt x="194118" y="75209"/>
                </a:lnTo>
                <a:lnTo>
                  <a:pt x="191861" y="59831"/>
                </a:lnTo>
                <a:lnTo>
                  <a:pt x="187111" y="46262"/>
                </a:lnTo>
                <a:lnTo>
                  <a:pt x="183991" y="40983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00741" y="6363506"/>
            <a:ext cx="253365" cy="274955"/>
          </a:xfrm>
          <a:custGeom>
            <a:avLst/>
            <a:gdLst/>
            <a:ahLst/>
            <a:cxnLst/>
            <a:rect l="l" t="t" r="r" b="b"/>
            <a:pathLst>
              <a:path w="253365" h="274954">
                <a:moveTo>
                  <a:pt x="7952" y="49"/>
                </a:moveTo>
                <a:lnTo>
                  <a:pt x="0" y="274358"/>
                </a:lnTo>
                <a:lnTo>
                  <a:pt x="60083" y="274358"/>
                </a:lnTo>
                <a:lnTo>
                  <a:pt x="60083" y="186029"/>
                </a:lnTo>
                <a:lnTo>
                  <a:pt x="94640" y="151015"/>
                </a:lnTo>
                <a:lnTo>
                  <a:pt x="165659" y="151015"/>
                </a:lnTo>
                <a:lnTo>
                  <a:pt x="138837" y="113141"/>
                </a:lnTo>
                <a:lnTo>
                  <a:pt x="60671" y="113141"/>
                </a:lnTo>
                <a:lnTo>
                  <a:pt x="60083" y="53352"/>
                </a:lnTo>
                <a:lnTo>
                  <a:pt x="51219" y="13076"/>
                </a:lnTo>
                <a:lnTo>
                  <a:pt x="27757" y="1858"/>
                </a:lnTo>
                <a:lnTo>
                  <a:pt x="7952" y="49"/>
                </a:lnTo>
                <a:close/>
              </a:path>
              <a:path w="253365" h="274954">
                <a:moveTo>
                  <a:pt x="165659" y="151015"/>
                </a:moveTo>
                <a:lnTo>
                  <a:pt x="94640" y="151015"/>
                </a:lnTo>
                <a:lnTo>
                  <a:pt x="121278" y="190598"/>
                </a:lnTo>
                <a:lnTo>
                  <a:pt x="143576" y="224025"/>
                </a:lnTo>
                <a:lnTo>
                  <a:pt x="173081" y="260874"/>
                </a:lnTo>
                <a:lnTo>
                  <a:pt x="216736" y="274277"/>
                </a:lnTo>
                <a:lnTo>
                  <a:pt x="253009" y="274358"/>
                </a:lnTo>
                <a:lnTo>
                  <a:pt x="165659" y="151015"/>
                </a:lnTo>
                <a:close/>
              </a:path>
              <a:path w="253365" h="274954">
                <a:moveTo>
                  <a:pt x="242620" y="0"/>
                </a:moveTo>
                <a:lnTo>
                  <a:pt x="213258" y="0"/>
                </a:lnTo>
                <a:lnTo>
                  <a:pt x="199402" y="204"/>
                </a:lnTo>
                <a:lnTo>
                  <a:pt x="153073" y="16249"/>
                </a:lnTo>
                <a:lnTo>
                  <a:pt x="121030" y="49437"/>
                </a:lnTo>
                <a:lnTo>
                  <a:pt x="60671" y="113141"/>
                </a:lnTo>
                <a:lnTo>
                  <a:pt x="138837" y="113141"/>
                </a:lnTo>
                <a:lnTo>
                  <a:pt x="135458" y="108369"/>
                </a:lnTo>
                <a:lnTo>
                  <a:pt x="24262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6D6F7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254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6D6F7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49CCE7B-FCB8-B045-B405-BDAE9C39C9EB}"/>
              </a:ext>
            </a:extLst>
          </p:cNvPr>
          <p:cNvSpPr/>
          <p:nvPr/>
        </p:nvSpPr>
        <p:spPr>
          <a:xfrm>
            <a:off x="586513" y="829967"/>
            <a:ext cx="10660157" cy="4619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Виртуальную АТС используют самые разные типы компаний. Клиентом ВАТС может быть любая компания, которая продает товары и услуги. Например это: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торговые и дистрибьюторские компании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производства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медицинские центры и клиники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образовательные учреждения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интернет-магазины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транспортные компании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ломбарды и микрофинансовые организации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Разберем несколько типов клиентов на слайдах ниже:</a:t>
            </a:r>
          </a:p>
        </p:txBody>
      </p:sp>
    </p:spTree>
    <p:extLst>
      <p:ext uri="{BB962C8B-B14F-4D97-AF65-F5344CB8AC3E}">
        <p14:creationId xmlns:p14="http://schemas.microsoft.com/office/powerpoint/2010/main" val="16116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613" y="311660"/>
            <a:ext cx="1085677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dirty="0"/>
              <a:t>Use case</a:t>
            </a:r>
            <a:r>
              <a:rPr lang="ru-RU" sz="3200" dirty="0"/>
              <a:t> </a:t>
            </a:r>
            <a:r>
              <a:rPr lang="en-US" sz="3200" dirty="0"/>
              <a:t>1</a:t>
            </a:r>
            <a:r>
              <a:rPr lang="ru-RU" sz="3200" dirty="0"/>
              <a:t>:Медицинские центры</a:t>
            </a:r>
            <a:endParaRPr sz="3000" dirty="0"/>
          </a:p>
        </p:txBody>
      </p:sp>
      <p:sp>
        <p:nvSpPr>
          <p:cNvPr id="9" name="object 9"/>
          <p:cNvSpPr/>
          <p:nvPr/>
        </p:nvSpPr>
        <p:spPr>
          <a:xfrm>
            <a:off x="10960517" y="6432938"/>
            <a:ext cx="198120" cy="208279"/>
          </a:xfrm>
          <a:custGeom>
            <a:avLst/>
            <a:gdLst/>
            <a:ahLst/>
            <a:cxnLst/>
            <a:rect l="l" t="t" r="r" b="b"/>
            <a:pathLst>
              <a:path w="198120" h="208279">
                <a:moveTo>
                  <a:pt x="101287" y="0"/>
                </a:moveTo>
                <a:lnTo>
                  <a:pt x="57267" y="9072"/>
                </a:lnTo>
                <a:lnTo>
                  <a:pt x="24688" y="33570"/>
                </a:lnTo>
                <a:lnTo>
                  <a:pt x="5091" y="69409"/>
                </a:lnTo>
                <a:lnTo>
                  <a:pt x="0" y="97586"/>
                </a:lnTo>
                <a:lnTo>
                  <a:pt x="562" y="111824"/>
                </a:lnTo>
                <a:lnTo>
                  <a:pt x="10113" y="152163"/>
                </a:lnTo>
                <a:lnTo>
                  <a:pt x="32683" y="184966"/>
                </a:lnTo>
                <a:lnTo>
                  <a:pt x="69850" y="205123"/>
                </a:lnTo>
                <a:lnTo>
                  <a:pt x="85755" y="208148"/>
                </a:lnTo>
                <a:lnTo>
                  <a:pt x="108384" y="207182"/>
                </a:lnTo>
                <a:lnTo>
                  <a:pt x="156879" y="192475"/>
                </a:lnTo>
                <a:lnTo>
                  <a:pt x="182417" y="168159"/>
                </a:lnTo>
                <a:lnTo>
                  <a:pt x="107153" y="168159"/>
                </a:lnTo>
                <a:lnTo>
                  <a:pt x="84756" y="165136"/>
                </a:lnTo>
                <a:lnTo>
                  <a:pt x="69932" y="157249"/>
                </a:lnTo>
                <a:lnTo>
                  <a:pt x="61075" y="146467"/>
                </a:lnTo>
                <a:lnTo>
                  <a:pt x="56582" y="134760"/>
                </a:lnTo>
                <a:lnTo>
                  <a:pt x="54849" y="124100"/>
                </a:lnTo>
                <a:lnTo>
                  <a:pt x="197756" y="118008"/>
                </a:lnTo>
                <a:lnTo>
                  <a:pt x="198056" y="104074"/>
                </a:lnTo>
                <a:lnTo>
                  <a:pt x="196997" y="90226"/>
                </a:lnTo>
                <a:lnTo>
                  <a:pt x="195780" y="83439"/>
                </a:lnTo>
                <a:lnTo>
                  <a:pt x="54399" y="83439"/>
                </a:lnTo>
                <a:lnTo>
                  <a:pt x="55107" y="77287"/>
                </a:lnTo>
                <a:lnTo>
                  <a:pt x="58460" y="66252"/>
                </a:lnTo>
                <a:lnTo>
                  <a:pt x="66301" y="54069"/>
                </a:lnTo>
                <a:lnTo>
                  <a:pt x="80475" y="44473"/>
                </a:lnTo>
                <a:lnTo>
                  <a:pt x="181555" y="44338"/>
                </a:lnTo>
                <a:lnTo>
                  <a:pt x="178857" y="39668"/>
                </a:lnTo>
                <a:lnTo>
                  <a:pt x="150197" y="12391"/>
                </a:lnTo>
                <a:lnTo>
                  <a:pt x="108144" y="198"/>
                </a:lnTo>
                <a:lnTo>
                  <a:pt x="101287" y="0"/>
                </a:lnTo>
                <a:close/>
              </a:path>
              <a:path w="198120" h="208279">
                <a:moveTo>
                  <a:pt x="159631" y="142595"/>
                </a:moveTo>
                <a:lnTo>
                  <a:pt x="151655" y="142595"/>
                </a:lnTo>
                <a:lnTo>
                  <a:pt x="145851" y="145757"/>
                </a:lnTo>
                <a:lnTo>
                  <a:pt x="140428" y="152450"/>
                </a:lnTo>
                <a:lnTo>
                  <a:pt x="135454" y="157303"/>
                </a:lnTo>
                <a:lnTo>
                  <a:pt x="124512" y="164020"/>
                </a:lnTo>
                <a:lnTo>
                  <a:pt x="107153" y="168159"/>
                </a:lnTo>
                <a:lnTo>
                  <a:pt x="182417" y="168159"/>
                </a:lnTo>
                <a:lnTo>
                  <a:pt x="182711" y="167769"/>
                </a:lnTo>
                <a:lnTo>
                  <a:pt x="187713" y="159027"/>
                </a:lnTo>
                <a:lnTo>
                  <a:pt x="191420" y="150643"/>
                </a:lnTo>
                <a:lnTo>
                  <a:pt x="194138" y="142985"/>
                </a:lnTo>
                <a:lnTo>
                  <a:pt x="159631" y="142595"/>
                </a:lnTo>
                <a:close/>
              </a:path>
              <a:path w="198120" h="208279">
                <a:moveTo>
                  <a:pt x="181555" y="44338"/>
                </a:moveTo>
                <a:lnTo>
                  <a:pt x="100855" y="44338"/>
                </a:lnTo>
                <a:lnTo>
                  <a:pt x="116109" y="47064"/>
                </a:lnTo>
                <a:lnTo>
                  <a:pt x="127087" y="52424"/>
                </a:lnTo>
                <a:lnTo>
                  <a:pt x="134642" y="60195"/>
                </a:lnTo>
                <a:lnTo>
                  <a:pt x="139626" y="70151"/>
                </a:lnTo>
                <a:lnTo>
                  <a:pt x="142891" y="82066"/>
                </a:lnTo>
                <a:lnTo>
                  <a:pt x="54399" y="83439"/>
                </a:lnTo>
                <a:lnTo>
                  <a:pt x="195780" y="83439"/>
                </a:lnTo>
                <a:lnTo>
                  <a:pt x="194564" y="76663"/>
                </a:lnTo>
                <a:lnTo>
                  <a:pt x="190741" y="63583"/>
                </a:lnTo>
                <a:lnTo>
                  <a:pt x="185511" y="51185"/>
                </a:lnTo>
                <a:lnTo>
                  <a:pt x="181555" y="44338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92060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7" y="240797"/>
                </a:lnTo>
                <a:lnTo>
                  <a:pt x="4056" y="254048"/>
                </a:lnTo>
                <a:lnTo>
                  <a:pt x="10301" y="263682"/>
                </a:lnTo>
                <a:lnTo>
                  <a:pt x="20695" y="270040"/>
                </a:lnTo>
                <a:lnTo>
                  <a:pt x="36242" y="273467"/>
                </a:lnTo>
                <a:lnTo>
                  <a:pt x="54228" y="44094"/>
                </a:lnTo>
                <a:lnTo>
                  <a:pt x="42251" y="6526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297392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5" y="240801"/>
                </a:lnTo>
                <a:lnTo>
                  <a:pt x="4058" y="254054"/>
                </a:lnTo>
                <a:lnTo>
                  <a:pt x="10309" y="263688"/>
                </a:lnTo>
                <a:lnTo>
                  <a:pt x="20708" y="270045"/>
                </a:lnTo>
                <a:lnTo>
                  <a:pt x="36256" y="273470"/>
                </a:lnTo>
                <a:lnTo>
                  <a:pt x="54216" y="44094"/>
                </a:lnTo>
                <a:lnTo>
                  <a:pt x="42251" y="6524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43938" y="6433094"/>
            <a:ext cx="194310" cy="208915"/>
          </a:xfrm>
          <a:custGeom>
            <a:avLst/>
            <a:gdLst/>
            <a:ahLst/>
            <a:cxnLst/>
            <a:rect l="l" t="t" r="r" b="b"/>
            <a:pathLst>
              <a:path w="194309" h="208915">
                <a:moveTo>
                  <a:pt x="107330" y="0"/>
                </a:moveTo>
                <a:lnTo>
                  <a:pt x="58782" y="8560"/>
                </a:lnTo>
                <a:lnTo>
                  <a:pt x="25164" y="31882"/>
                </a:lnTo>
                <a:lnTo>
                  <a:pt x="5625" y="66053"/>
                </a:lnTo>
                <a:lnTo>
                  <a:pt x="0" y="92929"/>
                </a:lnTo>
                <a:lnTo>
                  <a:pt x="741" y="111597"/>
                </a:lnTo>
                <a:lnTo>
                  <a:pt x="13002" y="157614"/>
                </a:lnTo>
                <a:lnTo>
                  <a:pt x="37701" y="188706"/>
                </a:lnTo>
                <a:lnTo>
                  <a:pt x="84669" y="207945"/>
                </a:lnTo>
                <a:lnTo>
                  <a:pt x="98123" y="208868"/>
                </a:lnTo>
                <a:lnTo>
                  <a:pt x="112816" y="208127"/>
                </a:lnTo>
                <a:lnTo>
                  <a:pt x="151853" y="196586"/>
                </a:lnTo>
                <a:lnTo>
                  <a:pt x="180544" y="170032"/>
                </a:lnTo>
                <a:lnTo>
                  <a:pt x="182271" y="166805"/>
                </a:lnTo>
                <a:lnTo>
                  <a:pt x="111931" y="166805"/>
                </a:lnTo>
                <a:lnTo>
                  <a:pt x="94014" y="165402"/>
                </a:lnTo>
                <a:lnTo>
                  <a:pt x="61807" y="142104"/>
                </a:lnTo>
                <a:lnTo>
                  <a:pt x="54449" y="116584"/>
                </a:lnTo>
                <a:lnTo>
                  <a:pt x="55029" y="99099"/>
                </a:lnTo>
                <a:lnTo>
                  <a:pt x="67900" y="57492"/>
                </a:lnTo>
                <a:lnTo>
                  <a:pt x="100132" y="40983"/>
                </a:lnTo>
                <a:lnTo>
                  <a:pt x="183991" y="40983"/>
                </a:lnTo>
                <a:lnTo>
                  <a:pt x="180147" y="34479"/>
                </a:lnTo>
                <a:lnTo>
                  <a:pt x="148727" y="9615"/>
                </a:lnTo>
                <a:lnTo>
                  <a:pt x="121777" y="1548"/>
                </a:lnTo>
                <a:lnTo>
                  <a:pt x="107330" y="0"/>
                </a:lnTo>
                <a:close/>
              </a:path>
              <a:path w="194309" h="208915">
                <a:moveTo>
                  <a:pt x="144232" y="127380"/>
                </a:moveTo>
                <a:lnTo>
                  <a:pt x="139483" y="140449"/>
                </a:lnTo>
                <a:lnTo>
                  <a:pt x="133008" y="153041"/>
                </a:lnTo>
                <a:lnTo>
                  <a:pt x="123934" y="161807"/>
                </a:lnTo>
                <a:lnTo>
                  <a:pt x="111931" y="166805"/>
                </a:lnTo>
                <a:lnTo>
                  <a:pt x="182271" y="166805"/>
                </a:lnTo>
                <a:lnTo>
                  <a:pt x="187216" y="157542"/>
                </a:lnTo>
                <a:lnTo>
                  <a:pt x="192158" y="143331"/>
                </a:lnTo>
                <a:lnTo>
                  <a:pt x="156678" y="127825"/>
                </a:lnTo>
                <a:lnTo>
                  <a:pt x="144232" y="127380"/>
                </a:lnTo>
                <a:close/>
              </a:path>
              <a:path w="194309" h="208915">
                <a:moveTo>
                  <a:pt x="183991" y="40983"/>
                </a:moveTo>
                <a:lnTo>
                  <a:pt x="100132" y="40983"/>
                </a:lnTo>
                <a:lnTo>
                  <a:pt x="116423" y="43276"/>
                </a:lnTo>
                <a:lnTo>
                  <a:pt x="127981" y="49475"/>
                </a:lnTo>
                <a:lnTo>
                  <a:pt x="135395" y="58555"/>
                </a:lnTo>
                <a:lnTo>
                  <a:pt x="142421" y="70579"/>
                </a:lnTo>
                <a:lnTo>
                  <a:pt x="154543" y="75188"/>
                </a:lnTo>
                <a:lnTo>
                  <a:pt x="194118" y="75209"/>
                </a:lnTo>
                <a:lnTo>
                  <a:pt x="191861" y="59831"/>
                </a:lnTo>
                <a:lnTo>
                  <a:pt x="187111" y="46262"/>
                </a:lnTo>
                <a:lnTo>
                  <a:pt x="183991" y="40983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00741" y="6363506"/>
            <a:ext cx="253365" cy="274955"/>
          </a:xfrm>
          <a:custGeom>
            <a:avLst/>
            <a:gdLst/>
            <a:ahLst/>
            <a:cxnLst/>
            <a:rect l="l" t="t" r="r" b="b"/>
            <a:pathLst>
              <a:path w="253365" h="274954">
                <a:moveTo>
                  <a:pt x="7952" y="49"/>
                </a:moveTo>
                <a:lnTo>
                  <a:pt x="0" y="274358"/>
                </a:lnTo>
                <a:lnTo>
                  <a:pt x="60083" y="274358"/>
                </a:lnTo>
                <a:lnTo>
                  <a:pt x="60083" y="186029"/>
                </a:lnTo>
                <a:lnTo>
                  <a:pt x="94640" y="151015"/>
                </a:lnTo>
                <a:lnTo>
                  <a:pt x="165659" y="151015"/>
                </a:lnTo>
                <a:lnTo>
                  <a:pt x="138837" y="113141"/>
                </a:lnTo>
                <a:lnTo>
                  <a:pt x="60671" y="113141"/>
                </a:lnTo>
                <a:lnTo>
                  <a:pt x="60083" y="53352"/>
                </a:lnTo>
                <a:lnTo>
                  <a:pt x="51219" y="13076"/>
                </a:lnTo>
                <a:lnTo>
                  <a:pt x="27757" y="1858"/>
                </a:lnTo>
                <a:lnTo>
                  <a:pt x="7952" y="49"/>
                </a:lnTo>
                <a:close/>
              </a:path>
              <a:path w="253365" h="274954">
                <a:moveTo>
                  <a:pt x="165659" y="151015"/>
                </a:moveTo>
                <a:lnTo>
                  <a:pt x="94640" y="151015"/>
                </a:lnTo>
                <a:lnTo>
                  <a:pt x="121278" y="190598"/>
                </a:lnTo>
                <a:lnTo>
                  <a:pt x="143576" y="224025"/>
                </a:lnTo>
                <a:lnTo>
                  <a:pt x="173081" y="260874"/>
                </a:lnTo>
                <a:lnTo>
                  <a:pt x="216736" y="274277"/>
                </a:lnTo>
                <a:lnTo>
                  <a:pt x="253009" y="274358"/>
                </a:lnTo>
                <a:lnTo>
                  <a:pt x="165659" y="151015"/>
                </a:lnTo>
                <a:close/>
              </a:path>
              <a:path w="253365" h="274954">
                <a:moveTo>
                  <a:pt x="242620" y="0"/>
                </a:moveTo>
                <a:lnTo>
                  <a:pt x="213258" y="0"/>
                </a:lnTo>
                <a:lnTo>
                  <a:pt x="199402" y="204"/>
                </a:lnTo>
                <a:lnTo>
                  <a:pt x="153073" y="16249"/>
                </a:lnTo>
                <a:lnTo>
                  <a:pt x="121030" y="49437"/>
                </a:lnTo>
                <a:lnTo>
                  <a:pt x="60671" y="113141"/>
                </a:lnTo>
                <a:lnTo>
                  <a:pt x="138837" y="113141"/>
                </a:lnTo>
                <a:lnTo>
                  <a:pt x="135458" y="108369"/>
                </a:lnTo>
                <a:lnTo>
                  <a:pt x="24262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6D6F7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254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6D6F7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1B026C4-AAF5-FA44-AA22-1F708F13A5D4}"/>
              </a:ext>
            </a:extLst>
          </p:cNvPr>
          <p:cNvSpPr/>
          <p:nvPr/>
        </p:nvSpPr>
        <p:spPr>
          <a:xfrm>
            <a:off x="637235" y="873691"/>
            <a:ext cx="492536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Примеры: Акниет плюс, Центр перинатальной профилактики, Ортопедический центр "Экстра комфорт", Медицинский центр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iClinic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Сетевые медицинские центры: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Interteach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University Medical Center.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Особенность использования: компании активно используют ВАТС для обработки большого количества входящих звонков, обеспечивают высокое качество обслуживания и эффективное распределение звонков.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ВАТС позволяет контролировать в одной точке звонки многочисленных филиалов.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 сожалению, та же самая проблема, что и с производствами: клиенты не знают о возможности использовать ВАТС в качестве замены офисной АТС и подключают к ней свои собственные АТС.</a:t>
            </a:r>
          </a:p>
        </p:txBody>
      </p:sp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F7D54BA3-EBAC-3646-A156-9FA735679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754" y="4727441"/>
            <a:ext cx="5612663" cy="21305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239DA2-2D85-6449-9618-B088F27421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417" y="557881"/>
            <a:ext cx="6096000" cy="429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30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613" y="311660"/>
            <a:ext cx="1085677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dirty="0"/>
              <a:t>Use case</a:t>
            </a:r>
            <a:r>
              <a:rPr lang="ru-RU" sz="3200" dirty="0"/>
              <a:t> </a:t>
            </a:r>
            <a:r>
              <a:rPr lang="en-US" sz="3200" dirty="0"/>
              <a:t>2</a:t>
            </a:r>
            <a:r>
              <a:rPr lang="ru-RU" sz="3200" dirty="0"/>
              <a:t>:Ломбард/Коллекторское агентство</a:t>
            </a:r>
            <a:endParaRPr sz="3000" dirty="0"/>
          </a:p>
        </p:txBody>
      </p:sp>
      <p:sp>
        <p:nvSpPr>
          <p:cNvPr id="9" name="object 9"/>
          <p:cNvSpPr/>
          <p:nvPr/>
        </p:nvSpPr>
        <p:spPr>
          <a:xfrm>
            <a:off x="10960517" y="6432938"/>
            <a:ext cx="198120" cy="208279"/>
          </a:xfrm>
          <a:custGeom>
            <a:avLst/>
            <a:gdLst/>
            <a:ahLst/>
            <a:cxnLst/>
            <a:rect l="l" t="t" r="r" b="b"/>
            <a:pathLst>
              <a:path w="198120" h="208279">
                <a:moveTo>
                  <a:pt x="101287" y="0"/>
                </a:moveTo>
                <a:lnTo>
                  <a:pt x="57267" y="9072"/>
                </a:lnTo>
                <a:lnTo>
                  <a:pt x="24688" y="33570"/>
                </a:lnTo>
                <a:lnTo>
                  <a:pt x="5091" y="69409"/>
                </a:lnTo>
                <a:lnTo>
                  <a:pt x="0" y="97586"/>
                </a:lnTo>
                <a:lnTo>
                  <a:pt x="562" y="111824"/>
                </a:lnTo>
                <a:lnTo>
                  <a:pt x="10113" y="152163"/>
                </a:lnTo>
                <a:lnTo>
                  <a:pt x="32683" y="184966"/>
                </a:lnTo>
                <a:lnTo>
                  <a:pt x="69850" y="205123"/>
                </a:lnTo>
                <a:lnTo>
                  <a:pt x="85755" y="208148"/>
                </a:lnTo>
                <a:lnTo>
                  <a:pt x="108384" y="207182"/>
                </a:lnTo>
                <a:lnTo>
                  <a:pt x="156879" y="192475"/>
                </a:lnTo>
                <a:lnTo>
                  <a:pt x="182417" y="168159"/>
                </a:lnTo>
                <a:lnTo>
                  <a:pt x="107153" y="168159"/>
                </a:lnTo>
                <a:lnTo>
                  <a:pt x="84756" y="165136"/>
                </a:lnTo>
                <a:lnTo>
                  <a:pt x="69932" y="157249"/>
                </a:lnTo>
                <a:lnTo>
                  <a:pt x="61075" y="146467"/>
                </a:lnTo>
                <a:lnTo>
                  <a:pt x="56582" y="134760"/>
                </a:lnTo>
                <a:lnTo>
                  <a:pt x="54849" y="124100"/>
                </a:lnTo>
                <a:lnTo>
                  <a:pt x="197756" y="118008"/>
                </a:lnTo>
                <a:lnTo>
                  <a:pt x="198056" y="104074"/>
                </a:lnTo>
                <a:lnTo>
                  <a:pt x="196997" y="90226"/>
                </a:lnTo>
                <a:lnTo>
                  <a:pt x="195780" y="83439"/>
                </a:lnTo>
                <a:lnTo>
                  <a:pt x="54399" y="83439"/>
                </a:lnTo>
                <a:lnTo>
                  <a:pt x="55107" y="77287"/>
                </a:lnTo>
                <a:lnTo>
                  <a:pt x="58460" y="66252"/>
                </a:lnTo>
                <a:lnTo>
                  <a:pt x="66301" y="54069"/>
                </a:lnTo>
                <a:lnTo>
                  <a:pt x="80475" y="44473"/>
                </a:lnTo>
                <a:lnTo>
                  <a:pt x="181555" y="44338"/>
                </a:lnTo>
                <a:lnTo>
                  <a:pt x="178857" y="39668"/>
                </a:lnTo>
                <a:lnTo>
                  <a:pt x="150197" y="12391"/>
                </a:lnTo>
                <a:lnTo>
                  <a:pt x="108144" y="198"/>
                </a:lnTo>
                <a:lnTo>
                  <a:pt x="101287" y="0"/>
                </a:lnTo>
                <a:close/>
              </a:path>
              <a:path w="198120" h="208279">
                <a:moveTo>
                  <a:pt x="159631" y="142595"/>
                </a:moveTo>
                <a:lnTo>
                  <a:pt x="151655" y="142595"/>
                </a:lnTo>
                <a:lnTo>
                  <a:pt x="145851" y="145757"/>
                </a:lnTo>
                <a:lnTo>
                  <a:pt x="140428" y="152450"/>
                </a:lnTo>
                <a:lnTo>
                  <a:pt x="135454" y="157303"/>
                </a:lnTo>
                <a:lnTo>
                  <a:pt x="124512" y="164020"/>
                </a:lnTo>
                <a:lnTo>
                  <a:pt x="107153" y="168159"/>
                </a:lnTo>
                <a:lnTo>
                  <a:pt x="182417" y="168159"/>
                </a:lnTo>
                <a:lnTo>
                  <a:pt x="182711" y="167769"/>
                </a:lnTo>
                <a:lnTo>
                  <a:pt x="187713" y="159027"/>
                </a:lnTo>
                <a:lnTo>
                  <a:pt x="191420" y="150643"/>
                </a:lnTo>
                <a:lnTo>
                  <a:pt x="194138" y="142985"/>
                </a:lnTo>
                <a:lnTo>
                  <a:pt x="159631" y="142595"/>
                </a:lnTo>
                <a:close/>
              </a:path>
              <a:path w="198120" h="208279">
                <a:moveTo>
                  <a:pt x="181555" y="44338"/>
                </a:moveTo>
                <a:lnTo>
                  <a:pt x="100855" y="44338"/>
                </a:lnTo>
                <a:lnTo>
                  <a:pt x="116109" y="47064"/>
                </a:lnTo>
                <a:lnTo>
                  <a:pt x="127087" y="52424"/>
                </a:lnTo>
                <a:lnTo>
                  <a:pt x="134642" y="60195"/>
                </a:lnTo>
                <a:lnTo>
                  <a:pt x="139626" y="70151"/>
                </a:lnTo>
                <a:lnTo>
                  <a:pt x="142891" y="82066"/>
                </a:lnTo>
                <a:lnTo>
                  <a:pt x="54399" y="83439"/>
                </a:lnTo>
                <a:lnTo>
                  <a:pt x="195780" y="83439"/>
                </a:lnTo>
                <a:lnTo>
                  <a:pt x="194564" y="76663"/>
                </a:lnTo>
                <a:lnTo>
                  <a:pt x="190741" y="63583"/>
                </a:lnTo>
                <a:lnTo>
                  <a:pt x="185511" y="51185"/>
                </a:lnTo>
                <a:lnTo>
                  <a:pt x="181555" y="44338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92060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7" y="240797"/>
                </a:lnTo>
                <a:lnTo>
                  <a:pt x="4056" y="254048"/>
                </a:lnTo>
                <a:lnTo>
                  <a:pt x="10301" y="263682"/>
                </a:lnTo>
                <a:lnTo>
                  <a:pt x="20695" y="270040"/>
                </a:lnTo>
                <a:lnTo>
                  <a:pt x="36242" y="273467"/>
                </a:lnTo>
                <a:lnTo>
                  <a:pt x="54228" y="44094"/>
                </a:lnTo>
                <a:lnTo>
                  <a:pt x="42251" y="6526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297392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5" y="240801"/>
                </a:lnTo>
                <a:lnTo>
                  <a:pt x="4058" y="254054"/>
                </a:lnTo>
                <a:lnTo>
                  <a:pt x="10309" y="263688"/>
                </a:lnTo>
                <a:lnTo>
                  <a:pt x="20708" y="270045"/>
                </a:lnTo>
                <a:lnTo>
                  <a:pt x="36256" y="273470"/>
                </a:lnTo>
                <a:lnTo>
                  <a:pt x="54216" y="44094"/>
                </a:lnTo>
                <a:lnTo>
                  <a:pt x="42251" y="6524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43938" y="6433094"/>
            <a:ext cx="194310" cy="208915"/>
          </a:xfrm>
          <a:custGeom>
            <a:avLst/>
            <a:gdLst/>
            <a:ahLst/>
            <a:cxnLst/>
            <a:rect l="l" t="t" r="r" b="b"/>
            <a:pathLst>
              <a:path w="194309" h="208915">
                <a:moveTo>
                  <a:pt x="107330" y="0"/>
                </a:moveTo>
                <a:lnTo>
                  <a:pt x="58782" y="8560"/>
                </a:lnTo>
                <a:lnTo>
                  <a:pt x="25164" y="31882"/>
                </a:lnTo>
                <a:lnTo>
                  <a:pt x="5625" y="66053"/>
                </a:lnTo>
                <a:lnTo>
                  <a:pt x="0" y="92929"/>
                </a:lnTo>
                <a:lnTo>
                  <a:pt x="741" y="111597"/>
                </a:lnTo>
                <a:lnTo>
                  <a:pt x="13002" y="157614"/>
                </a:lnTo>
                <a:lnTo>
                  <a:pt x="37701" y="188706"/>
                </a:lnTo>
                <a:lnTo>
                  <a:pt x="84669" y="207945"/>
                </a:lnTo>
                <a:lnTo>
                  <a:pt x="98123" y="208868"/>
                </a:lnTo>
                <a:lnTo>
                  <a:pt x="112816" y="208127"/>
                </a:lnTo>
                <a:lnTo>
                  <a:pt x="151853" y="196586"/>
                </a:lnTo>
                <a:lnTo>
                  <a:pt x="180544" y="170032"/>
                </a:lnTo>
                <a:lnTo>
                  <a:pt x="182271" y="166805"/>
                </a:lnTo>
                <a:lnTo>
                  <a:pt x="111931" y="166805"/>
                </a:lnTo>
                <a:lnTo>
                  <a:pt x="94014" y="165402"/>
                </a:lnTo>
                <a:lnTo>
                  <a:pt x="61807" y="142104"/>
                </a:lnTo>
                <a:lnTo>
                  <a:pt x="54449" y="116584"/>
                </a:lnTo>
                <a:lnTo>
                  <a:pt x="55029" y="99099"/>
                </a:lnTo>
                <a:lnTo>
                  <a:pt x="67900" y="57492"/>
                </a:lnTo>
                <a:lnTo>
                  <a:pt x="100132" y="40983"/>
                </a:lnTo>
                <a:lnTo>
                  <a:pt x="183991" y="40983"/>
                </a:lnTo>
                <a:lnTo>
                  <a:pt x="180147" y="34479"/>
                </a:lnTo>
                <a:lnTo>
                  <a:pt x="148727" y="9615"/>
                </a:lnTo>
                <a:lnTo>
                  <a:pt x="121777" y="1548"/>
                </a:lnTo>
                <a:lnTo>
                  <a:pt x="107330" y="0"/>
                </a:lnTo>
                <a:close/>
              </a:path>
              <a:path w="194309" h="208915">
                <a:moveTo>
                  <a:pt x="144232" y="127380"/>
                </a:moveTo>
                <a:lnTo>
                  <a:pt x="139483" y="140449"/>
                </a:lnTo>
                <a:lnTo>
                  <a:pt x="133008" y="153041"/>
                </a:lnTo>
                <a:lnTo>
                  <a:pt x="123934" y="161807"/>
                </a:lnTo>
                <a:lnTo>
                  <a:pt x="111931" y="166805"/>
                </a:lnTo>
                <a:lnTo>
                  <a:pt x="182271" y="166805"/>
                </a:lnTo>
                <a:lnTo>
                  <a:pt x="187216" y="157542"/>
                </a:lnTo>
                <a:lnTo>
                  <a:pt x="192158" y="143331"/>
                </a:lnTo>
                <a:lnTo>
                  <a:pt x="156678" y="127825"/>
                </a:lnTo>
                <a:lnTo>
                  <a:pt x="144232" y="127380"/>
                </a:lnTo>
                <a:close/>
              </a:path>
              <a:path w="194309" h="208915">
                <a:moveTo>
                  <a:pt x="183991" y="40983"/>
                </a:moveTo>
                <a:lnTo>
                  <a:pt x="100132" y="40983"/>
                </a:lnTo>
                <a:lnTo>
                  <a:pt x="116423" y="43276"/>
                </a:lnTo>
                <a:lnTo>
                  <a:pt x="127981" y="49475"/>
                </a:lnTo>
                <a:lnTo>
                  <a:pt x="135395" y="58555"/>
                </a:lnTo>
                <a:lnTo>
                  <a:pt x="142421" y="70579"/>
                </a:lnTo>
                <a:lnTo>
                  <a:pt x="154543" y="75188"/>
                </a:lnTo>
                <a:lnTo>
                  <a:pt x="194118" y="75209"/>
                </a:lnTo>
                <a:lnTo>
                  <a:pt x="191861" y="59831"/>
                </a:lnTo>
                <a:lnTo>
                  <a:pt x="187111" y="46262"/>
                </a:lnTo>
                <a:lnTo>
                  <a:pt x="183991" y="40983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00741" y="6363506"/>
            <a:ext cx="253365" cy="274955"/>
          </a:xfrm>
          <a:custGeom>
            <a:avLst/>
            <a:gdLst/>
            <a:ahLst/>
            <a:cxnLst/>
            <a:rect l="l" t="t" r="r" b="b"/>
            <a:pathLst>
              <a:path w="253365" h="274954">
                <a:moveTo>
                  <a:pt x="7952" y="49"/>
                </a:moveTo>
                <a:lnTo>
                  <a:pt x="0" y="274358"/>
                </a:lnTo>
                <a:lnTo>
                  <a:pt x="60083" y="274358"/>
                </a:lnTo>
                <a:lnTo>
                  <a:pt x="60083" y="186029"/>
                </a:lnTo>
                <a:lnTo>
                  <a:pt x="94640" y="151015"/>
                </a:lnTo>
                <a:lnTo>
                  <a:pt x="165659" y="151015"/>
                </a:lnTo>
                <a:lnTo>
                  <a:pt x="138837" y="113141"/>
                </a:lnTo>
                <a:lnTo>
                  <a:pt x="60671" y="113141"/>
                </a:lnTo>
                <a:lnTo>
                  <a:pt x="60083" y="53352"/>
                </a:lnTo>
                <a:lnTo>
                  <a:pt x="51219" y="13076"/>
                </a:lnTo>
                <a:lnTo>
                  <a:pt x="27757" y="1858"/>
                </a:lnTo>
                <a:lnTo>
                  <a:pt x="7952" y="49"/>
                </a:lnTo>
                <a:close/>
              </a:path>
              <a:path w="253365" h="274954">
                <a:moveTo>
                  <a:pt x="165659" y="151015"/>
                </a:moveTo>
                <a:lnTo>
                  <a:pt x="94640" y="151015"/>
                </a:lnTo>
                <a:lnTo>
                  <a:pt x="121278" y="190598"/>
                </a:lnTo>
                <a:lnTo>
                  <a:pt x="143576" y="224025"/>
                </a:lnTo>
                <a:lnTo>
                  <a:pt x="173081" y="260874"/>
                </a:lnTo>
                <a:lnTo>
                  <a:pt x="216736" y="274277"/>
                </a:lnTo>
                <a:lnTo>
                  <a:pt x="253009" y="274358"/>
                </a:lnTo>
                <a:lnTo>
                  <a:pt x="165659" y="151015"/>
                </a:lnTo>
                <a:close/>
              </a:path>
              <a:path w="253365" h="274954">
                <a:moveTo>
                  <a:pt x="242620" y="0"/>
                </a:moveTo>
                <a:lnTo>
                  <a:pt x="213258" y="0"/>
                </a:lnTo>
                <a:lnTo>
                  <a:pt x="199402" y="204"/>
                </a:lnTo>
                <a:lnTo>
                  <a:pt x="153073" y="16249"/>
                </a:lnTo>
                <a:lnTo>
                  <a:pt x="121030" y="49437"/>
                </a:lnTo>
                <a:lnTo>
                  <a:pt x="60671" y="113141"/>
                </a:lnTo>
                <a:lnTo>
                  <a:pt x="138837" y="113141"/>
                </a:lnTo>
                <a:lnTo>
                  <a:pt x="135458" y="108369"/>
                </a:lnTo>
                <a:lnTo>
                  <a:pt x="24262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6D6F7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254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6D6F7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12A8A0F-7E77-D441-AC40-BDFFBB2DDC4C}"/>
              </a:ext>
            </a:extLst>
          </p:cNvPr>
          <p:cNvSpPr/>
          <p:nvPr/>
        </p:nvSpPr>
        <p:spPr>
          <a:xfrm>
            <a:off x="700270" y="990600"/>
            <a:ext cx="379553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Примеры: Актив Ломбард, Коллекторское агентство «АДИЛЕТ-ҚАЗЫНА», Ломбард "Деньги населению»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Особенность использования: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Сетевая структура, очень много мелких подразделений. Необходимость контроля сотрудников. Необходимость сохранять записи разговоров с клиентами. Большой поток входящих и исходящих звонков.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0B85196-975F-8C48-8198-DF65814872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247" y="873691"/>
            <a:ext cx="632033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592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613" y="311660"/>
            <a:ext cx="1085677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dirty="0"/>
              <a:t>Use case 3</a:t>
            </a:r>
            <a:r>
              <a:rPr lang="ru-RU" sz="3200" dirty="0"/>
              <a:t>:Торговая компания/сеть магазинов</a:t>
            </a:r>
            <a:endParaRPr sz="3000" dirty="0"/>
          </a:p>
        </p:txBody>
      </p:sp>
      <p:sp>
        <p:nvSpPr>
          <p:cNvPr id="9" name="object 9"/>
          <p:cNvSpPr/>
          <p:nvPr/>
        </p:nvSpPr>
        <p:spPr>
          <a:xfrm>
            <a:off x="10960517" y="6432938"/>
            <a:ext cx="198120" cy="208279"/>
          </a:xfrm>
          <a:custGeom>
            <a:avLst/>
            <a:gdLst/>
            <a:ahLst/>
            <a:cxnLst/>
            <a:rect l="l" t="t" r="r" b="b"/>
            <a:pathLst>
              <a:path w="198120" h="208279">
                <a:moveTo>
                  <a:pt x="101287" y="0"/>
                </a:moveTo>
                <a:lnTo>
                  <a:pt x="57267" y="9072"/>
                </a:lnTo>
                <a:lnTo>
                  <a:pt x="24688" y="33570"/>
                </a:lnTo>
                <a:lnTo>
                  <a:pt x="5091" y="69409"/>
                </a:lnTo>
                <a:lnTo>
                  <a:pt x="0" y="97586"/>
                </a:lnTo>
                <a:lnTo>
                  <a:pt x="562" y="111824"/>
                </a:lnTo>
                <a:lnTo>
                  <a:pt x="10113" y="152163"/>
                </a:lnTo>
                <a:lnTo>
                  <a:pt x="32683" y="184966"/>
                </a:lnTo>
                <a:lnTo>
                  <a:pt x="69850" y="205123"/>
                </a:lnTo>
                <a:lnTo>
                  <a:pt x="85755" y="208148"/>
                </a:lnTo>
                <a:lnTo>
                  <a:pt x="108384" y="207182"/>
                </a:lnTo>
                <a:lnTo>
                  <a:pt x="156879" y="192475"/>
                </a:lnTo>
                <a:lnTo>
                  <a:pt x="182417" y="168159"/>
                </a:lnTo>
                <a:lnTo>
                  <a:pt x="107153" y="168159"/>
                </a:lnTo>
                <a:lnTo>
                  <a:pt x="84756" y="165136"/>
                </a:lnTo>
                <a:lnTo>
                  <a:pt x="69932" y="157249"/>
                </a:lnTo>
                <a:lnTo>
                  <a:pt x="61075" y="146467"/>
                </a:lnTo>
                <a:lnTo>
                  <a:pt x="56582" y="134760"/>
                </a:lnTo>
                <a:lnTo>
                  <a:pt x="54849" y="124100"/>
                </a:lnTo>
                <a:lnTo>
                  <a:pt x="197756" y="118008"/>
                </a:lnTo>
                <a:lnTo>
                  <a:pt x="198056" y="104074"/>
                </a:lnTo>
                <a:lnTo>
                  <a:pt x="196997" y="90226"/>
                </a:lnTo>
                <a:lnTo>
                  <a:pt x="195780" y="83439"/>
                </a:lnTo>
                <a:lnTo>
                  <a:pt x="54399" y="83439"/>
                </a:lnTo>
                <a:lnTo>
                  <a:pt x="55107" y="77287"/>
                </a:lnTo>
                <a:lnTo>
                  <a:pt x="58460" y="66252"/>
                </a:lnTo>
                <a:lnTo>
                  <a:pt x="66301" y="54069"/>
                </a:lnTo>
                <a:lnTo>
                  <a:pt x="80475" y="44473"/>
                </a:lnTo>
                <a:lnTo>
                  <a:pt x="181555" y="44338"/>
                </a:lnTo>
                <a:lnTo>
                  <a:pt x="178857" y="39668"/>
                </a:lnTo>
                <a:lnTo>
                  <a:pt x="150197" y="12391"/>
                </a:lnTo>
                <a:lnTo>
                  <a:pt x="108144" y="198"/>
                </a:lnTo>
                <a:lnTo>
                  <a:pt x="101287" y="0"/>
                </a:lnTo>
                <a:close/>
              </a:path>
              <a:path w="198120" h="208279">
                <a:moveTo>
                  <a:pt x="159631" y="142595"/>
                </a:moveTo>
                <a:lnTo>
                  <a:pt x="151655" y="142595"/>
                </a:lnTo>
                <a:lnTo>
                  <a:pt x="145851" y="145757"/>
                </a:lnTo>
                <a:lnTo>
                  <a:pt x="140428" y="152450"/>
                </a:lnTo>
                <a:lnTo>
                  <a:pt x="135454" y="157303"/>
                </a:lnTo>
                <a:lnTo>
                  <a:pt x="124512" y="164020"/>
                </a:lnTo>
                <a:lnTo>
                  <a:pt x="107153" y="168159"/>
                </a:lnTo>
                <a:lnTo>
                  <a:pt x="182417" y="168159"/>
                </a:lnTo>
                <a:lnTo>
                  <a:pt x="182711" y="167769"/>
                </a:lnTo>
                <a:lnTo>
                  <a:pt x="187713" y="159027"/>
                </a:lnTo>
                <a:lnTo>
                  <a:pt x="191420" y="150643"/>
                </a:lnTo>
                <a:lnTo>
                  <a:pt x="194138" y="142985"/>
                </a:lnTo>
                <a:lnTo>
                  <a:pt x="159631" y="142595"/>
                </a:lnTo>
                <a:close/>
              </a:path>
              <a:path w="198120" h="208279">
                <a:moveTo>
                  <a:pt x="181555" y="44338"/>
                </a:moveTo>
                <a:lnTo>
                  <a:pt x="100855" y="44338"/>
                </a:lnTo>
                <a:lnTo>
                  <a:pt x="116109" y="47064"/>
                </a:lnTo>
                <a:lnTo>
                  <a:pt x="127087" y="52424"/>
                </a:lnTo>
                <a:lnTo>
                  <a:pt x="134642" y="60195"/>
                </a:lnTo>
                <a:lnTo>
                  <a:pt x="139626" y="70151"/>
                </a:lnTo>
                <a:lnTo>
                  <a:pt x="142891" y="82066"/>
                </a:lnTo>
                <a:lnTo>
                  <a:pt x="54399" y="83439"/>
                </a:lnTo>
                <a:lnTo>
                  <a:pt x="195780" y="83439"/>
                </a:lnTo>
                <a:lnTo>
                  <a:pt x="194564" y="76663"/>
                </a:lnTo>
                <a:lnTo>
                  <a:pt x="190741" y="63583"/>
                </a:lnTo>
                <a:lnTo>
                  <a:pt x="185511" y="51185"/>
                </a:lnTo>
                <a:lnTo>
                  <a:pt x="181555" y="44338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92060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7" y="240797"/>
                </a:lnTo>
                <a:lnTo>
                  <a:pt x="4056" y="254048"/>
                </a:lnTo>
                <a:lnTo>
                  <a:pt x="10301" y="263682"/>
                </a:lnTo>
                <a:lnTo>
                  <a:pt x="20695" y="270040"/>
                </a:lnTo>
                <a:lnTo>
                  <a:pt x="36242" y="273467"/>
                </a:lnTo>
                <a:lnTo>
                  <a:pt x="54228" y="44094"/>
                </a:lnTo>
                <a:lnTo>
                  <a:pt x="42251" y="6526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297392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5" y="240801"/>
                </a:lnTo>
                <a:lnTo>
                  <a:pt x="4058" y="254054"/>
                </a:lnTo>
                <a:lnTo>
                  <a:pt x="10309" y="263688"/>
                </a:lnTo>
                <a:lnTo>
                  <a:pt x="20708" y="270045"/>
                </a:lnTo>
                <a:lnTo>
                  <a:pt x="36256" y="273470"/>
                </a:lnTo>
                <a:lnTo>
                  <a:pt x="54216" y="44094"/>
                </a:lnTo>
                <a:lnTo>
                  <a:pt x="42251" y="6524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43938" y="6433094"/>
            <a:ext cx="194310" cy="208915"/>
          </a:xfrm>
          <a:custGeom>
            <a:avLst/>
            <a:gdLst/>
            <a:ahLst/>
            <a:cxnLst/>
            <a:rect l="l" t="t" r="r" b="b"/>
            <a:pathLst>
              <a:path w="194309" h="208915">
                <a:moveTo>
                  <a:pt x="107330" y="0"/>
                </a:moveTo>
                <a:lnTo>
                  <a:pt x="58782" y="8560"/>
                </a:lnTo>
                <a:lnTo>
                  <a:pt x="25164" y="31882"/>
                </a:lnTo>
                <a:lnTo>
                  <a:pt x="5625" y="66053"/>
                </a:lnTo>
                <a:lnTo>
                  <a:pt x="0" y="92929"/>
                </a:lnTo>
                <a:lnTo>
                  <a:pt x="741" y="111597"/>
                </a:lnTo>
                <a:lnTo>
                  <a:pt x="13002" y="157614"/>
                </a:lnTo>
                <a:lnTo>
                  <a:pt x="37701" y="188706"/>
                </a:lnTo>
                <a:lnTo>
                  <a:pt x="84669" y="207945"/>
                </a:lnTo>
                <a:lnTo>
                  <a:pt x="98123" y="208868"/>
                </a:lnTo>
                <a:lnTo>
                  <a:pt x="112816" y="208127"/>
                </a:lnTo>
                <a:lnTo>
                  <a:pt x="151853" y="196586"/>
                </a:lnTo>
                <a:lnTo>
                  <a:pt x="180544" y="170032"/>
                </a:lnTo>
                <a:lnTo>
                  <a:pt x="182271" y="166805"/>
                </a:lnTo>
                <a:lnTo>
                  <a:pt x="111931" y="166805"/>
                </a:lnTo>
                <a:lnTo>
                  <a:pt x="94014" y="165402"/>
                </a:lnTo>
                <a:lnTo>
                  <a:pt x="61807" y="142104"/>
                </a:lnTo>
                <a:lnTo>
                  <a:pt x="54449" y="116584"/>
                </a:lnTo>
                <a:lnTo>
                  <a:pt x="55029" y="99099"/>
                </a:lnTo>
                <a:lnTo>
                  <a:pt x="67900" y="57492"/>
                </a:lnTo>
                <a:lnTo>
                  <a:pt x="100132" y="40983"/>
                </a:lnTo>
                <a:lnTo>
                  <a:pt x="183991" y="40983"/>
                </a:lnTo>
                <a:lnTo>
                  <a:pt x="180147" y="34479"/>
                </a:lnTo>
                <a:lnTo>
                  <a:pt x="148727" y="9615"/>
                </a:lnTo>
                <a:lnTo>
                  <a:pt x="121777" y="1548"/>
                </a:lnTo>
                <a:lnTo>
                  <a:pt x="107330" y="0"/>
                </a:lnTo>
                <a:close/>
              </a:path>
              <a:path w="194309" h="208915">
                <a:moveTo>
                  <a:pt x="144232" y="127380"/>
                </a:moveTo>
                <a:lnTo>
                  <a:pt x="139483" y="140449"/>
                </a:lnTo>
                <a:lnTo>
                  <a:pt x="133008" y="153041"/>
                </a:lnTo>
                <a:lnTo>
                  <a:pt x="123934" y="161807"/>
                </a:lnTo>
                <a:lnTo>
                  <a:pt x="111931" y="166805"/>
                </a:lnTo>
                <a:lnTo>
                  <a:pt x="182271" y="166805"/>
                </a:lnTo>
                <a:lnTo>
                  <a:pt x="187216" y="157542"/>
                </a:lnTo>
                <a:lnTo>
                  <a:pt x="192158" y="143331"/>
                </a:lnTo>
                <a:lnTo>
                  <a:pt x="156678" y="127825"/>
                </a:lnTo>
                <a:lnTo>
                  <a:pt x="144232" y="127380"/>
                </a:lnTo>
                <a:close/>
              </a:path>
              <a:path w="194309" h="208915">
                <a:moveTo>
                  <a:pt x="183991" y="40983"/>
                </a:moveTo>
                <a:lnTo>
                  <a:pt x="100132" y="40983"/>
                </a:lnTo>
                <a:lnTo>
                  <a:pt x="116423" y="43276"/>
                </a:lnTo>
                <a:lnTo>
                  <a:pt x="127981" y="49475"/>
                </a:lnTo>
                <a:lnTo>
                  <a:pt x="135395" y="58555"/>
                </a:lnTo>
                <a:lnTo>
                  <a:pt x="142421" y="70579"/>
                </a:lnTo>
                <a:lnTo>
                  <a:pt x="154543" y="75188"/>
                </a:lnTo>
                <a:lnTo>
                  <a:pt x="194118" y="75209"/>
                </a:lnTo>
                <a:lnTo>
                  <a:pt x="191861" y="59831"/>
                </a:lnTo>
                <a:lnTo>
                  <a:pt x="187111" y="46262"/>
                </a:lnTo>
                <a:lnTo>
                  <a:pt x="183991" y="40983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00741" y="6363506"/>
            <a:ext cx="253365" cy="274955"/>
          </a:xfrm>
          <a:custGeom>
            <a:avLst/>
            <a:gdLst/>
            <a:ahLst/>
            <a:cxnLst/>
            <a:rect l="l" t="t" r="r" b="b"/>
            <a:pathLst>
              <a:path w="253365" h="274954">
                <a:moveTo>
                  <a:pt x="7952" y="49"/>
                </a:moveTo>
                <a:lnTo>
                  <a:pt x="0" y="274358"/>
                </a:lnTo>
                <a:lnTo>
                  <a:pt x="60083" y="274358"/>
                </a:lnTo>
                <a:lnTo>
                  <a:pt x="60083" y="186029"/>
                </a:lnTo>
                <a:lnTo>
                  <a:pt x="94640" y="151015"/>
                </a:lnTo>
                <a:lnTo>
                  <a:pt x="165659" y="151015"/>
                </a:lnTo>
                <a:lnTo>
                  <a:pt x="138837" y="113141"/>
                </a:lnTo>
                <a:lnTo>
                  <a:pt x="60671" y="113141"/>
                </a:lnTo>
                <a:lnTo>
                  <a:pt x="60083" y="53352"/>
                </a:lnTo>
                <a:lnTo>
                  <a:pt x="51219" y="13076"/>
                </a:lnTo>
                <a:lnTo>
                  <a:pt x="27757" y="1858"/>
                </a:lnTo>
                <a:lnTo>
                  <a:pt x="7952" y="49"/>
                </a:lnTo>
                <a:close/>
              </a:path>
              <a:path w="253365" h="274954">
                <a:moveTo>
                  <a:pt x="165659" y="151015"/>
                </a:moveTo>
                <a:lnTo>
                  <a:pt x="94640" y="151015"/>
                </a:lnTo>
                <a:lnTo>
                  <a:pt x="121278" y="190598"/>
                </a:lnTo>
                <a:lnTo>
                  <a:pt x="143576" y="224025"/>
                </a:lnTo>
                <a:lnTo>
                  <a:pt x="173081" y="260874"/>
                </a:lnTo>
                <a:lnTo>
                  <a:pt x="216736" y="274277"/>
                </a:lnTo>
                <a:lnTo>
                  <a:pt x="253009" y="274358"/>
                </a:lnTo>
                <a:lnTo>
                  <a:pt x="165659" y="151015"/>
                </a:lnTo>
                <a:close/>
              </a:path>
              <a:path w="253365" h="274954">
                <a:moveTo>
                  <a:pt x="242620" y="0"/>
                </a:moveTo>
                <a:lnTo>
                  <a:pt x="213258" y="0"/>
                </a:lnTo>
                <a:lnTo>
                  <a:pt x="199402" y="204"/>
                </a:lnTo>
                <a:lnTo>
                  <a:pt x="153073" y="16249"/>
                </a:lnTo>
                <a:lnTo>
                  <a:pt x="121030" y="49437"/>
                </a:lnTo>
                <a:lnTo>
                  <a:pt x="60671" y="113141"/>
                </a:lnTo>
                <a:lnTo>
                  <a:pt x="138837" y="113141"/>
                </a:lnTo>
                <a:lnTo>
                  <a:pt x="135458" y="108369"/>
                </a:lnTo>
                <a:lnTo>
                  <a:pt x="24262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6D6F7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254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6D6F7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DAA465C-AE61-3D41-90A8-195D7866A044}"/>
              </a:ext>
            </a:extLst>
          </p:cNvPr>
          <p:cNvSpPr/>
          <p:nvPr/>
        </p:nvSpPr>
        <p:spPr>
          <a:xfrm>
            <a:off x="637235" y="884577"/>
            <a:ext cx="1117376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Примеры: Бюстье, Мир паркета, Алматерм, Адидас, Комфорт в дом, Теплолюкс.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Особенность использования: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Огромное количество входящих и исходящих звонков. Использование разных номеров для разных отделов. Свое приветствие и свое голосовое меню для каждого филиала.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Входящие звонки централизованно обрабатываются контакт-центром.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1A2F9F-21D8-9C4F-A0B9-EE9188FE27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96" y="2505557"/>
            <a:ext cx="5443904" cy="423347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E3342E-64F7-FF44-A13C-D9F2392890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2361905"/>
            <a:ext cx="6113972" cy="428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07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613" y="311660"/>
            <a:ext cx="1085677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3200" dirty="0"/>
              <a:t>Use case 4</a:t>
            </a:r>
            <a:r>
              <a:rPr lang="ru-RU" sz="3200" dirty="0"/>
              <a:t>: Дилерский центр </a:t>
            </a:r>
            <a:r>
              <a:rPr lang="en-US" sz="3200" dirty="0"/>
              <a:t>KAMAZ</a:t>
            </a:r>
            <a:endParaRPr sz="3000" dirty="0"/>
          </a:p>
        </p:txBody>
      </p:sp>
      <p:sp>
        <p:nvSpPr>
          <p:cNvPr id="9" name="object 9"/>
          <p:cNvSpPr/>
          <p:nvPr/>
        </p:nvSpPr>
        <p:spPr>
          <a:xfrm>
            <a:off x="10960517" y="6432938"/>
            <a:ext cx="198120" cy="208279"/>
          </a:xfrm>
          <a:custGeom>
            <a:avLst/>
            <a:gdLst/>
            <a:ahLst/>
            <a:cxnLst/>
            <a:rect l="l" t="t" r="r" b="b"/>
            <a:pathLst>
              <a:path w="198120" h="208279">
                <a:moveTo>
                  <a:pt x="101287" y="0"/>
                </a:moveTo>
                <a:lnTo>
                  <a:pt x="57267" y="9072"/>
                </a:lnTo>
                <a:lnTo>
                  <a:pt x="24688" y="33570"/>
                </a:lnTo>
                <a:lnTo>
                  <a:pt x="5091" y="69409"/>
                </a:lnTo>
                <a:lnTo>
                  <a:pt x="0" y="97586"/>
                </a:lnTo>
                <a:lnTo>
                  <a:pt x="562" y="111824"/>
                </a:lnTo>
                <a:lnTo>
                  <a:pt x="10113" y="152163"/>
                </a:lnTo>
                <a:lnTo>
                  <a:pt x="32683" y="184966"/>
                </a:lnTo>
                <a:lnTo>
                  <a:pt x="69850" y="205123"/>
                </a:lnTo>
                <a:lnTo>
                  <a:pt x="85755" y="208148"/>
                </a:lnTo>
                <a:lnTo>
                  <a:pt x="108384" y="207182"/>
                </a:lnTo>
                <a:lnTo>
                  <a:pt x="156879" y="192475"/>
                </a:lnTo>
                <a:lnTo>
                  <a:pt x="182417" y="168159"/>
                </a:lnTo>
                <a:lnTo>
                  <a:pt x="107153" y="168159"/>
                </a:lnTo>
                <a:lnTo>
                  <a:pt x="84756" y="165136"/>
                </a:lnTo>
                <a:lnTo>
                  <a:pt x="69932" y="157249"/>
                </a:lnTo>
                <a:lnTo>
                  <a:pt x="61075" y="146467"/>
                </a:lnTo>
                <a:lnTo>
                  <a:pt x="56582" y="134760"/>
                </a:lnTo>
                <a:lnTo>
                  <a:pt x="54849" y="124100"/>
                </a:lnTo>
                <a:lnTo>
                  <a:pt x="197756" y="118008"/>
                </a:lnTo>
                <a:lnTo>
                  <a:pt x="198056" y="104074"/>
                </a:lnTo>
                <a:lnTo>
                  <a:pt x="196997" y="90226"/>
                </a:lnTo>
                <a:lnTo>
                  <a:pt x="195780" y="83439"/>
                </a:lnTo>
                <a:lnTo>
                  <a:pt x="54399" y="83439"/>
                </a:lnTo>
                <a:lnTo>
                  <a:pt x="55107" y="77287"/>
                </a:lnTo>
                <a:lnTo>
                  <a:pt x="58460" y="66252"/>
                </a:lnTo>
                <a:lnTo>
                  <a:pt x="66301" y="54069"/>
                </a:lnTo>
                <a:lnTo>
                  <a:pt x="80475" y="44473"/>
                </a:lnTo>
                <a:lnTo>
                  <a:pt x="181555" y="44338"/>
                </a:lnTo>
                <a:lnTo>
                  <a:pt x="178857" y="39668"/>
                </a:lnTo>
                <a:lnTo>
                  <a:pt x="150197" y="12391"/>
                </a:lnTo>
                <a:lnTo>
                  <a:pt x="108144" y="198"/>
                </a:lnTo>
                <a:lnTo>
                  <a:pt x="101287" y="0"/>
                </a:lnTo>
                <a:close/>
              </a:path>
              <a:path w="198120" h="208279">
                <a:moveTo>
                  <a:pt x="159631" y="142595"/>
                </a:moveTo>
                <a:lnTo>
                  <a:pt x="151655" y="142595"/>
                </a:lnTo>
                <a:lnTo>
                  <a:pt x="145851" y="145757"/>
                </a:lnTo>
                <a:lnTo>
                  <a:pt x="140428" y="152450"/>
                </a:lnTo>
                <a:lnTo>
                  <a:pt x="135454" y="157303"/>
                </a:lnTo>
                <a:lnTo>
                  <a:pt x="124512" y="164020"/>
                </a:lnTo>
                <a:lnTo>
                  <a:pt x="107153" y="168159"/>
                </a:lnTo>
                <a:lnTo>
                  <a:pt x="182417" y="168159"/>
                </a:lnTo>
                <a:lnTo>
                  <a:pt x="182711" y="167769"/>
                </a:lnTo>
                <a:lnTo>
                  <a:pt x="187713" y="159027"/>
                </a:lnTo>
                <a:lnTo>
                  <a:pt x="191420" y="150643"/>
                </a:lnTo>
                <a:lnTo>
                  <a:pt x="194138" y="142985"/>
                </a:lnTo>
                <a:lnTo>
                  <a:pt x="159631" y="142595"/>
                </a:lnTo>
                <a:close/>
              </a:path>
              <a:path w="198120" h="208279">
                <a:moveTo>
                  <a:pt x="181555" y="44338"/>
                </a:moveTo>
                <a:lnTo>
                  <a:pt x="100855" y="44338"/>
                </a:lnTo>
                <a:lnTo>
                  <a:pt x="116109" y="47064"/>
                </a:lnTo>
                <a:lnTo>
                  <a:pt x="127087" y="52424"/>
                </a:lnTo>
                <a:lnTo>
                  <a:pt x="134642" y="60195"/>
                </a:lnTo>
                <a:lnTo>
                  <a:pt x="139626" y="70151"/>
                </a:lnTo>
                <a:lnTo>
                  <a:pt x="142891" y="82066"/>
                </a:lnTo>
                <a:lnTo>
                  <a:pt x="54399" y="83439"/>
                </a:lnTo>
                <a:lnTo>
                  <a:pt x="195780" y="83439"/>
                </a:lnTo>
                <a:lnTo>
                  <a:pt x="194564" y="76663"/>
                </a:lnTo>
                <a:lnTo>
                  <a:pt x="190741" y="63583"/>
                </a:lnTo>
                <a:lnTo>
                  <a:pt x="185511" y="51185"/>
                </a:lnTo>
                <a:lnTo>
                  <a:pt x="181555" y="44338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92060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7" y="240797"/>
                </a:lnTo>
                <a:lnTo>
                  <a:pt x="4056" y="254048"/>
                </a:lnTo>
                <a:lnTo>
                  <a:pt x="10301" y="263682"/>
                </a:lnTo>
                <a:lnTo>
                  <a:pt x="20695" y="270040"/>
                </a:lnTo>
                <a:lnTo>
                  <a:pt x="36242" y="273467"/>
                </a:lnTo>
                <a:lnTo>
                  <a:pt x="54228" y="44094"/>
                </a:lnTo>
                <a:lnTo>
                  <a:pt x="42251" y="6526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297392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5" y="240801"/>
                </a:lnTo>
                <a:lnTo>
                  <a:pt x="4058" y="254054"/>
                </a:lnTo>
                <a:lnTo>
                  <a:pt x="10309" y="263688"/>
                </a:lnTo>
                <a:lnTo>
                  <a:pt x="20708" y="270045"/>
                </a:lnTo>
                <a:lnTo>
                  <a:pt x="36256" y="273470"/>
                </a:lnTo>
                <a:lnTo>
                  <a:pt x="54216" y="44094"/>
                </a:lnTo>
                <a:lnTo>
                  <a:pt x="42251" y="6524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43938" y="6433094"/>
            <a:ext cx="194310" cy="208915"/>
          </a:xfrm>
          <a:custGeom>
            <a:avLst/>
            <a:gdLst/>
            <a:ahLst/>
            <a:cxnLst/>
            <a:rect l="l" t="t" r="r" b="b"/>
            <a:pathLst>
              <a:path w="194309" h="208915">
                <a:moveTo>
                  <a:pt x="107330" y="0"/>
                </a:moveTo>
                <a:lnTo>
                  <a:pt x="58782" y="8560"/>
                </a:lnTo>
                <a:lnTo>
                  <a:pt x="25164" y="31882"/>
                </a:lnTo>
                <a:lnTo>
                  <a:pt x="5625" y="66053"/>
                </a:lnTo>
                <a:lnTo>
                  <a:pt x="0" y="92929"/>
                </a:lnTo>
                <a:lnTo>
                  <a:pt x="741" y="111597"/>
                </a:lnTo>
                <a:lnTo>
                  <a:pt x="13002" y="157614"/>
                </a:lnTo>
                <a:lnTo>
                  <a:pt x="37701" y="188706"/>
                </a:lnTo>
                <a:lnTo>
                  <a:pt x="84669" y="207945"/>
                </a:lnTo>
                <a:lnTo>
                  <a:pt x="98123" y="208868"/>
                </a:lnTo>
                <a:lnTo>
                  <a:pt x="112816" y="208127"/>
                </a:lnTo>
                <a:lnTo>
                  <a:pt x="151853" y="196586"/>
                </a:lnTo>
                <a:lnTo>
                  <a:pt x="180544" y="170032"/>
                </a:lnTo>
                <a:lnTo>
                  <a:pt x="182271" y="166805"/>
                </a:lnTo>
                <a:lnTo>
                  <a:pt x="111931" y="166805"/>
                </a:lnTo>
                <a:lnTo>
                  <a:pt x="94014" y="165402"/>
                </a:lnTo>
                <a:lnTo>
                  <a:pt x="61807" y="142104"/>
                </a:lnTo>
                <a:lnTo>
                  <a:pt x="54449" y="116584"/>
                </a:lnTo>
                <a:lnTo>
                  <a:pt x="55029" y="99099"/>
                </a:lnTo>
                <a:lnTo>
                  <a:pt x="67900" y="57492"/>
                </a:lnTo>
                <a:lnTo>
                  <a:pt x="100132" y="40983"/>
                </a:lnTo>
                <a:lnTo>
                  <a:pt x="183991" y="40983"/>
                </a:lnTo>
                <a:lnTo>
                  <a:pt x="180147" y="34479"/>
                </a:lnTo>
                <a:lnTo>
                  <a:pt x="148727" y="9615"/>
                </a:lnTo>
                <a:lnTo>
                  <a:pt x="121777" y="1548"/>
                </a:lnTo>
                <a:lnTo>
                  <a:pt x="107330" y="0"/>
                </a:lnTo>
                <a:close/>
              </a:path>
              <a:path w="194309" h="208915">
                <a:moveTo>
                  <a:pt x="144232" y="127380"/>
                </a:moveTo>
                <a:lnTo>
                  <a:pt x="139483" y="140449"/>
                </a:lnTo>
                <a:lnTo>
                  <a:pt x="133008" y="153041"/>
                </a:lnTo>
                <a:lnTo>
                  <a:pt x="123934" y="161807"/>
                </a:lnTo>
                <a:lnTo>
                  <a:pt x="111931" y="166805"/>
                </a:lnTo>
                <a:lnTo>
                  <a:pt x="182271" y="166805"/>
                </a:lnTo>
                <a:lnTo>
                  <a:pt x="187216" y="157542"/>
                </a:lnTo>
                <a:lnTo>
                  <a:pt x="192158" y="143331"/>
                </a:lnTo>
                <a:lnTo>
                  <a:pt x="156678" y="127825"/>
                </a:lnTo>
                <a:lnTo>
                  <a:pt x="144232" y="127380"/>
                </a:lnTo>
                <a:close/>
              </a:path>
              <a:path w="194309" h="208915">
                <a:moveTo>
                  <a:pt x="183991" y="40983"/>
                </a:moveTo>
                <a:lnTo>
                  <a:pt x="100132" y="40983"/>
                </a:lnTo>
                <a:lnTo>
                  <a:pt x="116423" y="43276"/>
                </a:lnTo>
                <a:lnTo>
                  <a:pt x="127981" y="49475"/>
                </a:lnTo>
                <a:lnTo>
                  <a:pt x="135395" y="58555"/>
                </a:lnTo>
                <a:lnTo>
                  <a:pt x="142421" y="70579"/>
                </a:lnTo>
                <a:lnTo>
                  <a:pt x="154543" y="75188"/>
                </a:lnTo>
                <a:lnTo>
                  <a:pt x="194118" y="75209"/>
                </a:lnTo>
                <a:lnTo>
                  <a:pt x="191861" y="59831"/>
                </a:lnTo>
                <a:lnTo>
                  <a:pt x="187111" y="46262"/>
                </a:lnTo>
                <a:lnTo>
                  <a:pt x="183991" y="40983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00741" y="6363506"/>
            <a:ext cx="253365" cy="274955"/>
          </a:xfrm>
          <a:custGeom>
            <a:avLst/>
            <a:gdLst/>
            <a:ahLst/>
            <a:cxnLst/>
            <a:rect l="l" t="t" r="r" b="b"/>
            <a:pathLst>
              <a:path w="253365" h="274954">
                <a:moveTo>
                  <a:pt x="7952" y="49"/>
                </a:moveTo>
                <a:lnTo>
                  <a:pt x="0" y="274358"/>
                </a:lnTo>
                <a:lnTo>
                  <a:pt x="60083" y="274358"/>
                </a:lnTo>
                <a:lnTo>
                  <a:pt x="60083" y="186029"/>
                </a:lnTo>
                <a:lnTo>
                  <a:pt x="94640" y="151015"/>
                </a:lnTo>
                <a:lnTo>
                  <a:pt x="165659" y="151015"/>
                </a:lnTo>
                <a:lnTo>
                  <a:pt x="138837" y="113141"/>
                </a:lnTo>
                <a:lnTo>
                  <a:pt x="60671" y="113141"/>
                </a:lnTo>
                <a:lnTo>
                  <a:pt x="60083" y="53352"/>
                </a:lnTo>
                <a:lnTo>
                  <a:pt x="51219" y="13076"/>
                </a:lnTo>
                <a:lnTo>
                  <a:pt x="27757" y="1858"/>
                </a:lnTo>
                <a:lnTo>
                  <a:pt x="7952" y="49"/>
                </a:lnTo>
                <a:close/>
              </a:path>
              <a:path w="253365" h="274954">
                <a:moveTo>
                  <a:pt x="165659" y="151015"/>
                </a:moveTo>
                <a:lnTo>
                  <a:pt x="94640" y="151015"/>
                </a:lnTo>
                <a:lnTo>
                  <a:pt x="121278" y="190598"/>
                </a:lnTo>
                <a:lnTo>
                  <a:pt x="143576" y="224025"/>
                </a:lnTo>
                <a:lnTo>
                  <a:pt x="173081" y="260874"/>
                </a:lnTo>
                <a:lnTo>
                  <a:pt x="216736" y="274277"/>
                </a:lnTo>
                <a:lnTo>
                  <a:pt x="253009" y="274358"/>
                </a:lnTo>
                <a:lnTo>
                  <a:pt x="165659" y="151015"/>
                </a:lnTo>
                <a:close/>
              </a:path>
              <a:path w="253365" h="274954">
                <a:moveTo>
                  <a:pt x="242620" y="0"/>
                </a:moveTo>
                <a:lnTo>
                  <a:pt x="213258" y="0"/>
                </a:lnTo>
                <a:lnTo>
                  <a:pt x="199402" y="204"/>
                </a:lnTo>
                <a:lnTo>
                  <a:pt x="153073" y="16249"/>
                </a:lnTo>
                <a:lnTo>
                  <a:pt x="121030" y="49437"/>
                </a:lnTo>
                <a:lnTo>
                  <a:pt x="60671" y="113141"/>
                </a:lnTo>
                <a:lnTo>
                  <a:pt x="138837" y="113141"/>
                </a:lnTo>
                <a:lnTo>
                  <a:pt x="135458" y="108369"/>
                </a:lnTo>
                <a:lnTo>
                  <a:pt x="24262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6D6F7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254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6D6F7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D815553-DA63-244B-B114-63CC4510C1B4}"/>
              </a:ext>
            </a:extLst>
          </p:cNvPr>
          <p:cNvSpPr/>
          <p:nvPr/>
        </p:nvSpPr>
        <p:spPr>
          <a:xfrm>
            <a:off x="669150" y="1129527"/>
            <a:ext cx="55030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обработка входящих звонков в дилерские центры и на общий номер компании.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прием звонков на мобильных телефонах, полный контроль за работой сотрудников.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уведомление о пропущенных звонках приходит на электронную почту</a:t>
            </a:r>
          </a:p>
        </p:txBody>
      </p:sp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C96BBB2E-9CC3-F940-A278-17CF08D15A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857" y="1151232"/>
            <a:ext cx="5638620" cy="15355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321786-61B3-D14D-81E8-3E91CAE575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077476"/>
            <a:ext cx="7722507" cy="348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5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613" y="311660"/>
            <a:ext cx="1085677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dirty="0"/>
              <a:t>Use case 5</a:t>
            </a:r>
            <a:r>
              <a:rPr lang="ru-RU" sz="3200" dirty="0"/>
              <a:t>: Сеть </a:t>
            </a:r>
            <a:r>
              <a:rPr lang="ru-RU" sz="3200" dirty="0" err="1"/>
              <a:t>мед.центров</a:t>
            </a:r>
            <a:r>
              <a:rPr lang="ru-RU" sz="3200" dirty="0"/>
              <a:t>: </a:t>
            </a:r>
            <a:r>
              <a:rPr lang="ru-RU" sz="3200" dirty="0" err="1"/>
              <a:t>Экомед</a:t>
            </a:r>
            <a:endParaRPr sz="3000" dirty="0"/>
          </a:p>
        </p:txBody>
      </p:sp>
      <p:sp>
        <p:nvSpPr>
          <p:cNvPr id="9" name="object 9"/>
          <p:cNvSpPr/>
          <p:nvPr/>
        </p:nvSpPr>
        <p:spPr>
          <a:xfrm>
            <a:off x="10960517" y="6432938"/>
            <a:ext cx="198120" cy="208279"/>
          </a:xfrm>
          <a:custGeom>
            <a:avLst/>
            <a:gdLst/>
            <a:ahLst/>
            <a:cxnLst/>
            <a:rect l="l" t="t" r="r" b="b"/>
            <a:pathLst>
              <a:path w="198120" h="208279">
                <a:moveTo>
                  <a:pt x="101287" y="0"/>
                </a:moveTo>
                <a:lnTo>
                  <a:pt x="57267" y="9072"/>
                </a:lnTo>
                <a:lnTo>
                  <a:pt x="24688" y="33570"/>
                </a:lnTo>
                <a:lnTo>
                  <a:pt x="5091" y="69409"/>
                </a:lnTo>
                <a:lnTo>
                  <a:pt x="0" y="97586"/>
                </a:lnTo>
                <a:lnTo>
                  <a:pt x="562" y="111824"/>
                </a:lnTo>
                <a:lnTo>
                  <a:pt x="10113" y="152163"/>
                </a:lnTo>
                <a:lnTo>
                  <a:pt x="32683" y="184966"/>
                </a:lnTo>
                <a:lnTo>
                  <a:pt x="69850" y="205123"/>
                </a:lnTo>
                <a:lnTo>
                  <a:pt x="85755" y="208148"/>
                </a:lnTo>
                <a:lnTo>
                  <a:pt x="108384" y="207182"/>
                </a:lnTo>
                <a:lnTo>
                  <a:pt x="156879" y="192475"/>
                </a:lnTo>
                <a:lnTo>
                  <a:pt x="182417" y="168159"/>
                </a:lnTo>
                <a:lnTo>
                  <a:pt x="107153" y="168159"/>
                </a:lnTo>
                <a:lnTo>
                  <a:pt x="84756" y="165136"/>
                </a:lnTo>
                <a:lnTo>
                  <a:pt x="69932" y="157249"/>
                </a:lnTo>
                <a:lnTo>
                  <a:pt x="61075" y="146467"/>
                </a:lnTo>
                <a:lnTo>
                  <a:pt x="56582" y="134760"/>
                </a:lnTo>
                <a:lnTo>
                  <a:pt x="54849" y="124100"/>
                </a:lnTo>
                <a:lnTo>
                  <a:pt x="197756" y="118008"/>
                </a:lnTo>
                <a:lnTo>
                  <a:pt x="198056" y="104074"/>
                </a:lnTo>
                <a:lnTo>
                  <a:pt x="196997" y="90226"/>
                </a:lnTo>
                <a:lnTo>
                  <a:pt x="195780" y="83439"/>
                </a:lnTo>
                <a:lnTo>
                  <a:pt x="54399" y="83439"/>
                </a:lnTo>
                <a:lnTo>
                  <a:pt x="55107" y="77287"/>
                </a:lnTo>
                <a:lnTo>
                  <a:pt x="58460" y="66252"/>
                </a:lnTo>
                <a:lnTo>
                  <a:pt x="66301" y="54069"/>
                </a:lnTo>
                <a:lnTo>
                  <a:pt x="80475" y="44473"/>
                </a:lnTo>
                <a:lnTo>
                  <a:pt x="181555" y="44338"/>
                </a:lnTo>
                <a:lnTo>
                  <a:pt x="178857" y="39668"/>
                </a:lnTo>
                <a:lnTo>
                  <a:pt x="150197" y="12391"/>
                </a:lnTo>
                <a:lnTo>
                  <a:pt x="108144" y="198"/>
                </a:lnTo>
                <a:lnTo>
                  <a:pt x="101287" y="0"/>
                </a:lnTo>
                <a:close/>
              </a:path>
              <a:path w="198120" h="208279">
                <a:moveTo>
                  <a:pt x="159631" y="142595"/>
                </a:moveTo>
                <a:lnTo>
                  <a:pt x="151655" y="142595"/>
                </a:lnTo>
                <a:lnTo>
                  <a:pt x="145851" y="145757"/>
                </a:lnTo>
                <a:lnTo>
                  <a:pt x="140428" y="152450"/>
                </a:lnTo>
                <a:lnTo>
                  <a:pt x="135454" y="157303"/>
                </a:lnTo>
                <a:lnTo>
                  <a:pt x="124512" y="164020"/>
                </a:lnTo>
                <a:lnTo>
                  <a:pt x="107153" y="168159"/>
                </a:lnTo>
                <a:lnTo>
                  <a:pt x="182417" y="168159"/>
                </a:lnTo>
                <a:lnTo>
                  <a:pt x="182711" y="167769"/>
                </a:lnTo>
                <a:lnTo>
                  <a:pt x="187713" y="159027"/>
                </a:lnTo>
                <a:lnTo>
                  <a:pt x="191420" y="150643"/>
                </a:lnTo>
                <a:lnTo>
                  <a:pt x="194138" y="142985"/>
                </a:lnTo>
                <a:lnTo>
                  <a:pt x="159631" y="142595"/>
                </a:lnTo>
                <a:close/>
              </a:path>
              <a:path w="198120" h="208279">
                <a:moveTo>
                  <a:pt x="181555" y="44338"/>
                </a:moveTo>
                <a:lnTo>
                  <a:pt x="100855" y="44338"/>
                </a:lnTo>
                <a:lnTo>
                  <a:pt x="116109" y="47064"/>
                </a:lnTo>
                <a:lnTo>
                  <a:pt x="127087" y="52424"/>
                </a:lnTo>
                <a:lnTo>
                  <a:pt x="134642" y="60195"/>
                </a:lnTo>
                <a:lnTo>
                  <a:pt x="139626" y="70151"/>
                </a:lnTo>
                <a:lnTo>
                  <a:pt x="142891" y="82066"/>
                </a:lnTo>
                <a:lnTo>
                  <a:pt x="54399" y="83439"/>
                </a:lnTo>
                <a:lnTo>
                  <a:pt x="195780" y="83439"/>
                </a:lnTo>
                <a:lnTo>
                  <a:pt x="194564" y="76663"/>
                </a:lnTo>
                <a:lnTo>
                  <a:pt x="190741" y="63583"/>
                </a:lnTo>
                <a:lnTo>
                  <a:pt x="185511" y="51185"/>
                </a:lnTo>
                <a:lnTo>
                  <a:pt x="181555" y="44338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92060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7" y="240797"/>
                </a:lnTo>
                <a:lnTo>
                  <a:pt x="4056" y="254048"/>
                </a:lnTo>
                <a:lnTo>
                  <a:pt x="10301" y="263682"/>
                </a:lnTo>
                <a:lnTo>
                  <a:pt x="20695" y="270040"/>
                </a:lnTo>
                <a:lnTo>
                  <a:pt x="36242" y="273467"/>
                </a:lnTo>
                <a:lnTo>
                  <a:pt x="54228" y="44094"/>
                </a:lnTo>
                <a:lnTo>
                  <a:pt x="42251" y="6526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297392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5" y="240801"/>
                </a:lnTo>
                <a:lnTo>
                  <a:pt x="4058" y="254054"/>
                </a:lnTo>
                <a:lnTo>
                  <a:pt x="10309" y="263688"/>
                </a:lnTo>
                <a:lnTo>
                  <a:pt x="20708" y="270045"/>
                </a:lnTo>
                <a:lnTo>
                  <a:pt x="36256" y="273470"/>
                </a:lnTo>
                <a:lnTo>
                  <a:pt x="54216" y="44094"/>
                </a:lnTo>
                <a:lnTo>
                  <a:pt x="42251" y="6524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43938" y="6433094"/>
            <a:ext cx="194310" cy="208915"/>
          </a:xfrm>
          <a:custGeom>
            <a:avLst/>
            <a:gdLst/>
            <a:ahLst/>
            <a:cxnLst/>
            <a:rect l="l" t="t" r="r" b="b"/>
            <a:pathLst>
              <a:path w="194309" h="208915">
                <a:moveTo>
                  <a:pt x="107330" y="0"/>
                </a:moveTo>
                <a:lnTo>
                  <a:pt x="58782" y="8560"/>
                </a:lnTo>
                <a:lnTo>
                  <a:pt x="25164" y="31882"/>
                </a:lnTo>
                <a:lnTo>
                  <a:pt x="5625" y="66053"/>
                </a:lnTo>
                <a:lnTo>
                  <a:pt x="0" y="92929"/>
                </a:lnTo>
                <a:lnTo>
                  <a:pt x="741" y="111597"/>
                </a:lnTo>
                <a:lnTo>
                  <a:pt x="13002" y="157614"/>
                </a:lnTo>
                <a:lnTo>
                  <a:pt x="37701" y="188706"/>
                </a:lnTo>
                <a:lnTo>
                  <a:pt x="84669" y="207945"/>
                </a:lnTo>
                <a:lnTo>
                  <a:pt x="98123" y="208868"/>
                </a:lnTo>
                <a:lnTo>
                  <a:pt x="112816" y="208127"/>
                </a:lnTo>
                <a:lnTo>
                  <a:pt x="151853" y="196586"/>
                </a:lnTo>
                <a:lnTo>
                  <a:pt x="180544" y="170032"/>
                </a:lnTo>
                <a:lnTo>
                  <a:pt x="182271" y="166805"/>
                </a:lnTo>
                <a:lnTo>
                  <a:pt x="111931" y="166805"/>
                </a:lnTo>
                <a:lnTo>
                  <a:pt x="94014" y="165402"/>
                </a:lnTo>
                <a:lnTo>
                  <a:pt x="61807" y="142104"/>
                </a:lnTo>
                <a:lnTo>
                  <a:pt x="54449" y="116584"/>
                </a:lnTo>
                <a:lnTo>
                  <a:pt x="55029" y="99099"/>
                </a:lnTo>
                <a:lnTo>
                  <a:pt x="67900" y="57492"/>
                </a:lnTo>
                <a:lnTo>
                  <a:pt x="100132" y="40983"/>
                </a:lnTo>
                <a:lnTo>
                  <a:pt x="183991" y="40983"/>
                </a:lnTo>
                <a:lnTo>
                  <a:pt x="180147" y="34479"/>
                </a:lnTo>
                <a:lnTo>
                  <a:pt x="148727" y="9615"/>
                </a:lnTo>
                <a:lnTo>
                  <a:pt x="121777" y="1548"/>
                </a:lnTo>
                <a:lnTo>
                  <a:pt x="107330" y="0"/>
                </a:lnTo>
                <a:close/>
              </a:path>
              <a:path w="194309" h="208915">
                <a:moveTo>
                  <a:pt x="144232" y="127380"/>
                </a:moveTo>
                <a:lnTo>
                  <a:pt x="139483" y="140449"/>
                </a:lnTo>
                <a:lnTo>
                  <a:pt x="133008" y="153041"/>
                </a:lnTo>
                <a:lnTo>
                  <a:pt x="123934" y="161807"/>
                </a:lnTo>
                <a:lnTo>
                  <a:pt x="111931" y="166805"/>
                </a:lnTo>
                <a:lnTo>
                  <a:pt x="182271" y="166805"/>
                </a:lnTo>
                <a:lnTo>
                  <a:pt x="187216" y="157542"/>
                </a:lnTo>
                <a:lnTo>
                  <a:pt x="192158" y="143331"/>
                </a:lnTo>
                <a:lnTo>
                  <a:pt x="156678" y="127825"/>
                </a:lnTo>
                <a:lnTo>
                  <a:pt x="144232" y="127380"/>
                </a:lnTo>
                <a:close/>
              </a:path>
              <a:path w="194309" h="208915">
                <a:moveTo>
                  <a:pt x="183991" y="40983"/>
                </a:moveTo>
                <a:lnTo>
                  <a:pt x="100132" y="40983"/>
                </a:lnTo>
                <a:lnTo>
                  <a:pt x="116423" y="43276"/>
                </a:lnTo>
                <a:lnTo>
                  <a:pt x="127981" y="49475"/>
                </a:lnTo>
                <a:lnTo>
                  <a:pt x="135395" y="58555"/>
                </a:lnTo>
                <a:lnTo>
                  <a:pt x="142421" y="70579"/>
                </a:lnTo>
                <a:lnTo>
                  <a:pt x="154543" y="75188"/>
                </a:lnTo>
                <a:lnTo>
                  <a:pt x="194118" y="75209"/>
                </a:lnTo>
                <a:lnTo>
                  <a:pt x="191861" y="59831"/>
                </a:lnTo>
                <a:lnTo>
                  <a:pt x="187111" y="46262"/>
                </a:lnTo>
                <a:lnTo>
                  <a:pt x="183991" y="40983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00741" y="6363506"/>
            <a:ext cx="253365" cy="274955"/>
          </a:xfrm>
          <a:custGeom>
            <a:avLst/>
            <a:gdLst/>
            <a:ahLst/>
            <a:cxnLst/>
            <a:rect l="l" t="t" r="r" b="b"/>
            <a:pathLst>
              <a:path w="253365" h="274954">
                <a:moveTo>
                  <a:pt x="7952" y="49"/>
                </a:moveTo>
                <a:lnTo>
                  <a:pt x="0" y="274358"/>
                </a:lnTo>
                <a:lnTo>
                  <a:pt x="60083" y="274358"/>
                </a:lnTo>
                <a:lnTo>
                  <a:pt x="60083" y="186029"/>
                </a:lnTo>
                <a:lnTo>
                  <a:pt x="94640" y="151015"/>
                </a:lnTo>
                <a:lnTo>
                  <a:pt x="165659" y="151015"/>
                </a:lnTo>
                <a:lnTo>
                  <a:pt x="138837" y="113141"/>
                </a:lnTo>
                <a:lnTo>
                  <a:pt x="60671" y="113141"/>
                </a:lnTo>
                <a:lnTo>
                  <a:pt x="60083" y="53352"/>
                </a:lnTo>
                <a:lnTo>
                  <a:pt x="51219" y="13076"/>
                </a:lnTo>
                <a:lnTo>
                  <a:pt x="27757" y="1858"/>
                </a:lnTo>
                <a:lnTo>
                  <a:pt x="7952" y="49"/>
                </a:lnTo>
                <a:close/>
              </a:path>
              <a:path w="253365" h="274954">
                <a:moveTo>
                  <a:pt x="165659" y="151015"/>
                </a:moveTo>
                <a:lnTo>
                  <a:pt x="94640" y="151015"/>
                </a:lnTo>
                <a:lnTo>
                  <a:pt x="121278" y="190598"/>
                </a:lnTo>
                <a:lnTo>
                  <a:pt x="143576" y="224025"/>
                </a:lnTo>
                <a:lnTo>
                  <a:pt x="173081" y="260874"/>
                </a:lnTo>
                <a:lnTo>
                  <a:pt x="216736" y="274277"/>
                </a:lnTo>
                <a:lnTo>
                  <a:pt x="253009" y="274358"/>
                </a:lnTo>
                <a:lnTo>
                  <a:pt x="165659" y="151015"/>
                </a:lnTo>
                <a:close/>
              </a:path>
              <a:path w="253365" h="274954">
                <a:moveTo>
                  <a:pt x="242620" y="0"/>
                </a:moveTo>
                <a:lnTo>
                  <a:pt x="213258" y="0"/>
                </a:lnTo>
                <a:lnTo>
                  <a:pt x="199402" y="204"/>
                </a:lnTo>
                <a:lnTo>
                  <a:pt x="153073" y="16249"/>
                </a:lnTo>
                <a:lnTo>
                  <a:pt x="121030" y="49437"/>
                </a:lnTo>
                <a:lnTo>
                  <a:pt x="60671" y="113141"/>
                </a:lnTo>
                <a:lnTo>
                  <a:pt x="138837" y="113141"/>
                </a:lnTo>
                <a:lnTo>
                  <a:pt x="135458" y="108369"/>
                </a:lnTo>
                <a:lnTo>
                  <a:pt x="24262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6D6F7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254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6D6F7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EB1F769-65B0-D142-99CE-97F61EE324F5}"/>
              </a:ext>
            </a:extLst>
          </p:cNvPr>
          <p:cNvSpPr/>
          <p:nvPr/>
        </p:nvSpPr>
        <p:spPr>
          <a:xfrm>
            <a:off x="484352" y="994415"/>
            <a:ext cx="44686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Огромная сеть клиник.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151 рабочее место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сотрудники используют переносные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IP-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телефоны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настроено использование уведомление о пропущенных звонках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настроен колл-трекинг от компании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Callibri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807AFE-E832-514B-96B7-83D4373743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801" y="771446"/>
            <a:ext cx="5732241" cy="476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064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613" y="311660"/>
            <a:ext cx="1085677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3200" dirty="0"/>
              <a:t>Use case 6</a:t>
            </a:r>
            <a:r>
              <a:rPr lang="ru-RU" sz="3200" dirty="0"/>
              <a:t>: Доставка еды - Ресторан Наша Узбечка</a:t>
            </a:r>
            <a:endParaRPr sz="3000" dirty="0"/>
          </a:p>
        </p:txBody>
      </p:sp>
      <p:sp>
        <p:nvSpPr>
          <p:cNvPr id="9" name="object 9"/>
          <p:cNvSpPr/>
          <p:nvPr/>
        </p:nvSpPr>
        <p:spPr>
          <a:xfrm>
            <a:off x="10960517" y="6432938"/>
            <a:ext cx="198120" cy="208279"/>
          </a:xfrm>
          <a:custGeom>
            <a:avLst/>
            <a:gdLst/>
            <a:ahLst/>
            <a:cxnLst/>
            <a:rect l="l" t="t" r="r" b="b"/>
            <a:pathLst>
              <a:path w="198120" h="208279">
                <a:moveTo>
                  <a:pt x="101287" y="0"/>
                </a:moveTo>
                <a:lnTo>
                  <a:pt x="57267" y="9072"/>
                </a:lnTo>
                <a:lnTo>
                  <a:pt x="24688" y="33570"/>
                </a:lnTo>
                <a:lnTo>
                  <a:pt x="5091" y="69409"/>
                </a:lnTo>
                <a:lnTo>
                  <a:pt x="0" y="97586"/>
                </a:lnTo>
                <a:lnTo>
                  <a:pt x="562" y="111824"/>
                </a:lnTo>
                <a:lnTo>
                  <a:pt x="10113" y="152163"/>
                </a:lnTo>
                <a:lnTo>
                  <a:pt x="32683" y="184966"/>
                </a:lnTo>
                <a:lnTo>
                  <a:pt x="69850" y="205123"/>
                </a:lnTo>
                <a:lnTo>
                  <a:pt x="85755" y="208148"/>
                </a:lnTo>
                <a:lnTo>
                  <a:pt x="108384" y="207182"/>
                </a:lnTo>
                <a:lnTo>
                  <a:pt x="156879" y="192475"/>
                </a:lnTo>
                <a:lnTo>
                  <a:pt x="182417" y="168159"/>
                </a:lnTo>
                <a:lnTo>
                  <a:pt x="107153" y="168159"/>
                </a:lnTo>
                <a:lnTo>
                  <a:pt x="84756" y="165136"/>
                </a:lnTo>
                <a:lnTo>
                  <a:pt x="69932" y="157249"/>
                </a:lnTo>
                <a:lnTo>
                  <a:pt x="61075" y="146467"/>
                </a:lnTo>
                <a:lnTo>
                  <a:pt x="56582" y="134760"/>
                </a:lnTo>
                <a:lnTo>
                  <a:pt x="54849" y="124100"/>
                </a:lnTo>
                <a:lnTo>
                  <a:pt x="197756" y="118008"/>
                </a:lnTo>
                <a:lnTo>
                  <a:pt x="198056" y="104074"/>
                </a:lnTo>
                <a:lnTo>
                  <a:pt x="196997" y="90226"/>
                </a:lnTo>
                <a:lnTo>
                  <a:pt x="195780" y="83439"/>
                </a:lnTo>
                <a:lnTo>
                  <a:pt x="54399" y="83439"/>
                </a:lnTo>
                <a:lnTo>
                  <a:pt x="55107" y="77287"/>
                </a:lnTo>
                <a:lnTo>
                  <a:pt x="58460" y="66252"/>
                </a:lnTo>
                <a:lnTo>
                  <a:pt x="66301" y="54069"/>
                </a:lnTo>
                <a:lnTo>
                  <a:pt x="80475" y="44473"/>
                </a:lnTo>
                <a:lnTo>
                  <a:pt x="181555" y="44338"/>
                </a:lnTo>
                <a:lnTo>
                  <a:pt x="178857" y="39668"/>
                </a:lnTo>
                <a:lnTo>
                  <a:pt x="150197" y="12391"/>
                </a:lnTo>
                <a:lnTo>
                  <a:pt x="108144" y="198"/>
                </a:lnTo>
                <a:lnTo>
                  <a:pt x="101287" y="0"/>
                </a:lnTo>
                <a:close/>
              </a:path>
              <a:path w="198120" h="208279">
                <a:moveTo>
                  <a:pt x="159631" y="142595"/>
                </a:moveTo>
                <a:lnTo>
                  <a:pt x="151655" y="142595"/>
                </a:lnTo>
                <a:lnTo>
                  <a:pt x="145851" y="145757"/>
                </a:lnTo>
                <a:lnTo>
                  <a:pt x="140428" y="152450"/>
                </a:lnTo>
                <a:lnTo>
                  <a:pt x="135454" y="157303"/>
                </a:lnTo>
                <a:lnTo>
                  <a:pt x="124512" y="164020"/>
                </a:lnTo>
                <a:lnTo>
                  <a:pt x="107153" y="168159"/>
                </a:lnTo>
                <a:lnTo>
                  <a:pt x="182417" y="168159"/>
                </a:lnTo>
                <a:lnTo>
                  <a:pt x="182711" y="167769"/>
                </a:lnTo>
                <a:lnTo>
                  <a:pt x="187713" y="159027"/>
                </a:lnTo>
                <a:lnTo>
                  <a:pt x="191420" y="150643"/>
                </a:lnTo>
                <a:lnTo>
                  <a:pt x="194138" y="142985"/>
                </a:lnTo>
                <a:lnTo>
                  <a:pt x="159631" y="142595"/>
                </a:lnTo>
                <a:close/>
              </a:path>
              <a:path w="198120" h="208279">
                <a:moveTo>
                  <a:pt x="181555" y="44338"/>
                </a:moveTo>
                <a:lnTo>
                  <a:pt x="100855" y="44338"/>
                </a:lnTo>
                <a:lnTo>
                  <a:pt x="116109" y="47064"/>
                </a:lnTo>
                <a:lnTo>
                  <a:pt x="127087" y="52424"/>
                </a:lnTo>
                <a:lnTo>
                  <a:pt x="134642" y="60195"/>
                </a:lnTo>
                <a:lnTo>
                  <a:pt x="139626" y="70151"/>
                </a:lnTo>
                <a:lnTo>
                  <a:pt x="142891" y="82066"/>
                </a:lnTo>
                <a:lnTo>
                  <a:pt x="54399" y="83439"/>
                </a:lnTo>
                <a:lnTo>
                  <a:pt x="195780" y="83439"/>
                </a:lnTo>
                <a:lnTo>
                  <a:pt x="194564" y="76663"/>
                </a:lnTo>
                <a:lnTo>
                  <a:pt x="190741" y="63583"/>
                </a:lnTo>
                <a:lnTo>
                  <a:pt x="185511" y="51185"/>
                </a:lnTo>
                <a:lnTo>
                  <a:pt x="181555" y="44338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192060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7" y="240797"/>
                </a:lnTo>
                <a:lnTo>
                  <a:pt x="4056" y="254048"/>
                </a:lnTo>
                <a:lnTo>
                  <a:pt x="10301" y="263682"/>
                </a:lnTo>
                <a:lnTo>
                  <a:pt x="20695" y="270040"/>
                </a:lnTo>
                <a:lnTo>
                  <a:pt x="36242" y="273467"/>
                </a:lnTo>
                <a:lnTo>
                  <a:pt x="54228" y="44094"/>
                </a:lnTo>
                <a:lnTo>
                  <a:pt x="42251" y="6526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297392" y="6363536"/>
            <a:ext cx="54610" cy="273685"/>
          </a:xfrm>
          <a:custGeom>
            <a:avLst/>
            <a:gdLst/>
            <a:ahLst/>
            <a:cxnLst/>
            <a:rect l="l" t="t" r="r" b="b"/>
            <a:pathLst>
              <a:path w="54609" h="273684">
                <a:moveTo>
                  <a:pt x="0" y="0"/>
                </a:moveTo>
                <a:lnTo>
                  <a:pt x="0" y="223583"/>
                </a:lnTo>
                <a:lnTo>
                  <a:pt x="955" y="240801"/>
                </a:lnTo>
                <a:lnTo>
                  <a:pt x="4058" y="254054"/>
                </a:lnTo>
                <a:lnTo>
                  <a:pt x="10309" y="263688"/>
                </a:lnTo>
                <a:lnTo>
                  <a:pt x="20708" y="270045"/>
                </a:lnTo>
                <a:lnTo>
                  <a:pt x="36256" y="273470"/>
                </a:lnTo>
                <a:lnTo>
                  <a:pt x="54216" y="44094"/>
                </a:lnTo>
                <a:lnTo>
                  <a:pt x="42251" y="6524"/>
                </a:lnTo>
                <a:lnTo>
                  <a:pt x="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743938" y="6433094"/>
            <a:ext cx="194310" cy="208915"/>
          </a:xfrm>
          <a:custGeom>
            <a:avLst/>
            <a:gdLst/>
            <a:ahLst/>
            <a:cxnLst/>
            <a:rect l="l" t="t" r="r" b="b"/>
            <a:pathLst>
              <a:path w="194309" h="208915">
                <a:moveTo>
                  <a:pt x="107330" y="0"/>
                </a:moveTo>
                <a:lnTo>
                  <a:pt x="58782" y="8560"/>
                </a:lnTo>
                <a:lnTo>
                  <a:pt x="25164" y="31882"/>
                </a:lnTo>
                <a:lnTo>
                  <a:pt x="5625" y="66053"/>
                </a:lnTo>
                <a:lnTo>
                  <a:pt x="0" y="92929"/>
                </a:lnTo>
                <a:lnTo>
                  <a:pt x="741" y="111597"/>
                </a:lnTo>
                <a:lnTo>
                  <a:pt x="13002" y="157614"/>
                </a:lnTo>
                <a:lnTo>
                  <a:pt x="37701" y="188706"/>
                </a:lnTo>
                <a:lnTo>
                  <a:pt x="84669" y="207945"/>
                </a:lnTo>
                <a:lnTo>
                  <a:pt x="98123" y="208868"/>
                </a:lnTo>
                <a:lnTo>
                  <a:pt x="112816" y="208127"/>
                </a:lnTo>
                <a:lnTo>
                  <a:pt x="151853" y="196586"/>
                </a:lnTo>
                <a:lnTo>
                  <a:pt x="180544" y="170032"/>
                </a:lnTo>
                <a:lnTo>
                  <a:pt x="182271" y="166805"/>
                </a:lnTo>
                <a:lnTo>
                  <a:pt x="111931" y="166805"/>
                </a:lnTo>
                <a:lnTo>
                  <a:pt x="94014" y="165402"/>
                </a:lnTo>
                <a:lnTo>
                  <a:pt x="61807" y="142104"/>
                </a:lnTo>
                <a:lnTo>
                  <a:pt x="54449" y="116584"/>
                </a:lnTo>
                <a:lnTo>
                  <a:pt x="55029" y="99099"/>
                </a:lnTo>
                <a:lnTo>
                  <a:pt x="67900" y="57492"/>
                </a:lnTo>
                <a:lnTo>
                  <a:pt x="100132" y="40983"/>
                </a:lnTo>
                <a:lnTo>
                  <a:pt x="183991" y="40983"/>
                </a:lnTo>
                <a:lnTo>
                  <a:pt x="180147" y="34479"/>
                </a:lnTo>
                <a:lnTo>
                  <a:pt x="148727" y="9615"/>
                </a:lnTo>
                <a:lnTo>
                  <a:pt x="121777" y="1548"/>
                </a:lnTo>
                <a:lnTo>
                  <a:pt x="107330" y="0"/>
                </a:lnTo>
                <a:close/>
              </a:path>
              <a:path w="194309" h="208915">
                <a:moveTo>
                  <a:pt x="144232" y="127380"/>
                </a:moveTo>
                <a:lnTo>
                  <a:pt x="139483" y="140449"/>
                </a:lnTo>
                <a:lnTo>
                  <a:pt x="133008" y="153041"/>
                </a:lnTo>
                <a:lnTo>
                  <a:pt x="123934" y="161807"/>
                </a:lnTo>
                <a:lnTo>
                  <a:pt x="111931" y="166805"/>
                </a:lnTo>
                <a:lnTo>
                  <a:pt x="182271" y="166805"/>
                </a:lnTo>
                <a:lnTo>
                  <a:pt x="187216" y="157542"/>
                </a:lnTo>
                <a:lnTo>
                  <a:pt x="192158" y="143331"/>
                </a:lnTo>
                <a:lnTo>
                  <a:pt x="156678" y="127825"/>
                </a:lnTo>
                <a:lnTo>
                  <a:pt x="144232" y="127380"/>
                </a:lnTo>
                <a:close/>
              </a:path>
              <a:path w="194309" h="208915">
                <a:moveTo>
                  <a:pt x="183991" y="40983"/>
                </a:moveTo>
                <a:lnTo>
                  <a:pt x="100132" y="40983"/>
                </a:lnTo>
                <a:lnTo>
                  <a:pt x="116423" y="43276"/>
                </a:lnTo>
                <a:lnTo>
                  <a:pt x="127981" y="49475"/>
                </a:lnTo>
                <a:lnTo>
                  <a:pt x="135395" y="58555"/>
                </a:lnTo>
                <a:lnTo>
                  <a:pt x="142421" y="70579"/>
                </a:lnTo>
                <a:lnTo>
                  <a:pt x="154543" y="75188"/>
                </a:lnTo>
                <a:lnTo>
                  <a:pt x="194118" y="75209"/>
                </a:lnTo>
                <a:lnTo>
                  <a:pt x="191861" y="59831"/>
                </a:lnTo>
                <a:lnTo>
                  <a:pt x="187111" y="46262"/>
                </a:lnTo>
                <a:lnTo>
                  <a:pt x="183991" y="40983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00741" y="6363506"/>
            <a:ext cx="253365" cy="274955"/>
          </a:xfrm>
          <a:custGeom>
            <a:avLst/>
            <a:gdLst/>
            <a:ahLst/>
            <a:cxnLst/>
            <a:rect l="l" t="t" r="r" b="b"/>
            <a:pathLst>
              <a:path w="253365" h="274954">
                <a:moveTo>
                  <a:pt x="7952" y="49"/>
                </a:moveTo>
                <a:lnTo>
                  <a:pt x="0" y="274358"/>
                </a:lnTo>
                <a:lnTo>
                  <a:pt x="60083" y="274358"/>
                </a:lnTo>
                <a:lnTo>
                  <a:pt x="60083" y="186029"/>
                </a:lnTo>
                <a:lnTo>
                  <a:pt x="94640" y="151015"/>
                </a:lnTo>
                <a:lnTo>
                  <a:pt x="165659" y="151015"/>
                </a:lnTo>
                <a:lnTo>
                  <a:pt x="138837" y="113141"/>
                </a:lnTo>
                <a:lnTo>
                  <a:pt x="60671" y="113141"/>
                </a:lnTo>
                <a:lnTo>
                  <a:pt x="60083" y="53352"/>
                </a:lnTo>
                <a:lnTo>
                  <a:pt x="51219" y="13076"/>
                </a:lnTo>
                <a:lnTo>
                  <a:pt x="27757" y="1858"/>
                </a:lnTo>
                <a:lnTo>
                  <a:pt x="7952" y="49"/>
                </a:lnTo>
                <a:close/>
              </a:path>
              <a:path w="253365" h="274954">
                <a:moveTo>
                  <a:pt x="165659" y="151015"/>
                </a:moveTo>
                <a:lnTo>
                  <a:pt x="94640" y="151015"/>
                </a:lnTo>
                <a:lnTo>
                  <a:pt x="121278" y="190598"/>
                </a:lnTo>
                <a:lnTo>
                  <a:pt x="143576" y="224025"/>
                </a:lnTo>
                <a:lnTo>
                  <a:pt x="173081" y="260874"/>
                </a:lnTo>
                <a:lnTo>
                  <a:pt x="216736" y="274277"/>
                </a:lnTo>
                <a:lnTo>
                  <a:pt x="253009" y="274358"/>
                </a:lnTo>
                <a:lnTo>
                  <a:pt x="165659" y="151015"/>
                </a:lnTo>
                <a:close/>
              </a:path>
              <a:path w="253365" h="274954">
                <a:moveTo>
                  <a:pt x="242620" y="0"/>
                </a:moveTo>
                <a:lnTo>
                  <a:pt x="213258" y="0"/>
                </a:lnTo>
                <a:lnTo>
                  <a:pt x="199402" y="204"/>
                </a:lnTo>
                <a:lnTo>
                  <a:pt x="153073" y="16249"/>
                </a:lnTo>
                <a:lnTo>
                  <a:pt x="121030" y="49437"/>
                </a:lnTo>
                <a:lnTo>
                  <a:pt x="60671" y="113141"/>
                </a:lnTo>
                <a:lnTo>
                  <a:pt x="138837" y="113141"/>
                </a:lnTo>
                <a:lnTo>
                  <a:pt x="135458" y="108369"/>
                </a:lnTo>
                <a:lnTo>
                  <a:pt x="242620" y="0"/>
                </a:lnTo>
                <a:close/>
              </a:path>
            </a:pathLst>
          </a:custGeom>
          <a:solidFill>
            <a:srgbClr val="6A2C91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6D6F7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254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6D6F7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707DC0B-8E4A-2F43-9F90-7AEDC74EBDF0}"/>
              </a:ext>
            </a:extLst>
          </p:cNvPr>
          <p:cNvSpPr/>
          <p:nvPr/>
        </p:nvSpPr>
        <p:spPr>
          <a:xfrm>
            <a:off x="533400" y="98745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голосовое меню с возможностью заказать столик или доставку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настроен заказ звонков с сайта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 настройках отдела включена реклама для клиентов, ожидающих на линии</a:t>
            </a:r>
          </a:p>
        </p:txBody>
      </p:sp>
      <p:pic>
        <p:nvPicPr>
          <p:cNvPr id="6" name="Рисунок 5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2B013E5C-E3F9-B941-BA48-D0CE925B0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733" y="4708326"/>
            <a:ext cx="7583756" cy="179205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D68BE06-C2F1-A048-8D67-97BFF032B3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775" y="823596"/>
            <a:ext cx="2499802" cy="54102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DBD904F-CA2B-5D42-9D41-387F06E46C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71" y="2577344"/>
            <a:ext cx="4976296" cy="201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191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A2C9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48690335E3F45B6D32F35E393220A" ma:contentTypeVersion="0" ma:contentTypeDescription="Create a new document." ma:contentTypeScope="" ma:versionID="7bebcf5451cb4fd0a5969123f2c8bff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e49189b09f1ade3a025730c41919c3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202ED-20D3-4A1A-8D83-3D646BF43C5F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9DF75A3-66FF-4713-9C7E-B125F40A33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DB0264-7C98-44F6-822D-4A9ECC592B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384</Words>
  <Application>Microsoft Office PowerPoint</Application>
  <PresentationFormat>Широкоэкранный</PresentationFormat>
  <Paragraphs>48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1_Office Theme</vt:lpstr>
      <vt:lpstr>Целевая аудитория и типы клиентов ВАТС</vt:lpstr>
      <vt:lpstr>Use case 1:Медицинские центры</vt:lpstr>
      <vt:lpstr>Use case 2:Ломбард/Коллекторское агентство</vt:lpstr>
      <vt:lpstr>Use case 3:Торговая компания/сеть магазинов</vt:lpstr>
      <vt:lpstr>Use case 4: Дилерский центр KAMAZ</vt:lpstr>
      <vt:lpstr>Use case 5: Сеть мед.центров: Экомед</vt:lpstr>
      <vt:lpstr>Use case 6: Доставка еды - Ресторан Наша Узбечка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Aisulu Kapassova</dc:creator>
  <cp:lastModifiedBy>Alexandr Murdassov</cp:lastModifiedBy>
  <cp:revision>2</cp:revision>
  <dcterms:created xsi:type="dcterms:W3CDTF">2022-12-01T05:36:04Z</dcterms:created>
  <dcterms:modified xsi:type="dcterms:W3CDTF">2025-12-02T06:56:06Z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0x010100BB748690335E3F45B6D32F35E393220A</vt:lpwstr>
  </property>
  <property fmtid="{D5CDD505-2E9C-101B-9397-08002B2CF9AE}" pid="3" name="MSIP_Label_9cdd97af-22dc-49fa-ac47-e24224ce56c4_Enabled">
    <vt:lpwstr>true</vt:lpwstr>
  </property>
  <property fmtid="{D5CDD505-2E9C-101B-9397-08002B2CF9AE}" pid="4" name="MSIP_Label_9cdd97af-22dc-49fa-ac47-e24224ce56c4_SetDate">
    <vt:lpwstr>2025-12-02T06:56:00Z</vt:lpwstr>
  </property>
  <property fmtid="{D5CDD505-2E9C-101B-9397-08002B2CF9AE}" pid="5" name="MSIP_Label_9cdd97af-22dc-49fa-ac47-e24224ce56c4_Method">
    <vt:lpwstr>Standard</vt:lpwstr>
  </property>
  <property fmtid="{D5CDD505-2E9C-101B-9397-08002B2CF9AE}" pid="6" name="MSIP_Label_9cdd97af-22dc-49fa-ac47-e24224ce56c4_Name">
    <vt:lpwstr>General</vt:lpwstr>
  </property>
  <property fmtid="{D5CDD505-2E9C-101B-9397-08002B2CF9AE}" pid="7" name="MSIP_Label_9cdd97af-22dc-49fa-ac47-e24224ce56c4_SiteId">
    <vt:lpwstr>41149801-8e93-4eae-a438-1ff037fd4bdc</vt:lpwstr>
  </property>
  <property fmtid="{D5CDD505-2E9C-101B-9397-08002B2CF9AE}" pid="8" name="MSIP_Label_9cdd97af-22dc-49fa-ac47-e24224ce56c4_ActionId">
    <vt:lpwstr>42b9309c-dcfe-40f7-b09c-3b4dd3ff9e19</vt:lpwstr>
  </property>
  <property fmtid="{D5CDD505-2E9C-101B-9397-08002B2CF9AE}" pid="9" name="MSIP_Label_9cdd97af-22dc-49fa-ac47-e24224ce56c4_ContentBits">
    <vt:lpwstr>0</vt:lpwstr>
  </property>
</Properties>
</file>
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378935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emf"/><Relationship Id="rId5" Type="http://schemas.openxmlformats.org/officeDocument/2006/relationships/tags" Target="../tags/tag5.xml"/><Relationship Id="rId10" Type="http://schemas.openxmlformats.org/officeDocument/2006/relationships/oleObject" Target="../embeddings/oleObject1.bin"/><Relationship Id="rId4" Type="http://schemas.openxmlformats.org/officeDocument/2006/relationships/tags" Target="../tags/tag4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1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9842-AED1-4780-A0AD-1987AAF1D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2368E-DEF8-4355-B5F8-A8CB7C49B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09" indent="0" algn="ctr">
              <a:buNone/>
              <a:defRPr sz="2000"/>
            </a:lvl2pPr>
            <a:lvl3pPr marL="914217" indent="0" algn="ctr">
              <a:buNone/>
              <a:defRPr sz="1800"/>
            </a:lvl3pPr>
            <a:lvl4pPr marL="1371326" indent="0" algn="ctr">
              <a:buNone/>
              <a:defRPr sz="1600"/>
            </a:lvl4pPr>
            <a:lvl5pPr marL="1828434" indent="0" algn="ctr">
              <a:buNone/>
              <a:defRPr sz="1600"/>
            </a:lvl5pPr>
            <a:lvl6pPr marL="2285543" indent="0" algn="ctr">
              <a:buNone/>
              <a:defRPr sz="1600"/>
            </a:lvl6pPr>
            <a:lvl7pPr marL="2742651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06C1-E118-43A5-B029-91A2C952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3F8A-F7D0-4DC8-BE3A-A09211BA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908F-68B9-4A6D-BA59-E756E788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2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BA81-7B55-4C18-B6A5-E2456360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98177-32F7-45C3-8D3C-D647C2EB6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B889-D267-4F28-885B-3D5D8F07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A25F1-FB6E-4A32-9857-7C5E9880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305D2-23BB-42BB-9673-FB3B973A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5921-45D3-483B-95EC-A33710431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2B392-5B0C-4EE7-A472-FCB942CDD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E96BD-A247-4D35-B726-FB928F46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ED2B-D3A1-43E0-BD02-3EF6F1C6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8E852-A599-400D-B9F3-C9CDE5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3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FA47-3989-47FF-9B3C-ED5A9138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92E3-013B-48C7-9864-26F3C3046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D50B6-4554-4328-A283-E9FB9E871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068F1-46B6-4B70-A8CB-D8B6277D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6004A-D499-4F27-893D-E5A24ABB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FA31D-2DEB-4C47-8B96-25DF0DBB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55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874C-A52B-4C39-9497-CC792B41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57BC8-3634-4EBE-9C4B-AE58BB944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66D70-B94D-4A8E-86D7-9BCC6A322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4FE26-B2E1-4890-8045-CEA44269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0C1D4-9C19-4104-803F-AD7C27ADC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7F3C7-6AD8-44FA-8BEE-642D5CF9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76A94-C525-491B-81B3-2AC1B52E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7B8D1-BE4B-4066-9784-D66DB83B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C421-62D7-4573-8ED0-28BFA4B3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3EFB5-163E-426D-A44B-819A6D87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D8939-BB32-48A3-B0AE-49C8E353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0DC62-1A7C-4CB6-872E-D5D03E43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27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1E57A-4488-400B-AEB0-DD78B1E3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DD435-9EED-450D-A972-62C66A9C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4C4F5-AC45-4E57-AF4B-A88858FA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4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6E65-6E08-4CC6-893A-A9780B86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0F51-5088-4F87-B2AA-E98148FE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06439-C0E7-4FCB-BE6C-CA0519198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67A30-FE8C-4203-BDF9-9BFAF451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12F3F-B6F7-426C-B214-1C542506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805F3-A2C2-4F2E-857D-D856C3CB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1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08D2-3EC1-41B7-9227-D729460F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E493-F01F-461B-8340-E35044F52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09" indent="0">
              <a:buNone/>
              <a:defRPr sz="2800"/>
            </a:lvl2pPr>
            <a:lvl3pPr marL="914217" indent="0">
              <a:buNone/>
              <a:defRPr sz="2400"/>
            </a:lvl3pPr>
            <a:lvl4pPr marL="1371326" indent="0">
              <a:buNone/>
              <a:defRPr sz="2000"/>
            </a:lvl4pPr>
            <a:lvl5pPr marL="1828434" indent="0">
              <a:buNone/>
              <a:defRPr sz="2000"/>
            </a:lvl5pPr>
            <a:lvl6pPr marL="2285543" indent="0">
              <a:buNone/>
              <a:defRPr sz="2000"/>
            </a:lvl6pPr>
            <a:lvl7pPr marL="2742651" indent="0">
              <a:buNone/>
              <a:defRPr sz="2000"/>
            </a:lvl7pPr>
            <a:lvl8pPr marL="3199760" indent="0">
              <a:buNone/>
              <a:defRPr sz="2000"/>
            </a:lvl8pPr>
            <a:lvl9pPr marL="365686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DD3F8-309F-4BAE-9B97-A5A932AF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11C4F-9BF7-4232-90C8-4B99278F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C3DD4-4B2A-481D-9601-ECD11A46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4A86E-B189-4104-A869-0E298460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3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29F3-A8F1-498D-9945-BAB605AA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AD56C-BDC2-4BFE-B986-FA598A071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3058B-2B3A-4AF1-8D13-3FE66812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FB9C-5982-4EBD-A492-76892993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EACDB-F389-4C56-B0C1-C418F3B4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2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13F35-1A56-4F8D-B16D-DA5476850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9D777-F0C9-4EAF-AB06-5E9E5F91F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5F89-D6CB-4166-A746-D7FBCCF6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CB549-2998-4818-9D12-6AB8AC0C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14DC0-54DE-4724-A94D-632A65D0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5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per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066972"/>
            <a:ext cx="12192000" cy="79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598"/>
          </a:p>
        </p:txBody>
      </p:sp>
    </p:spTree>
    <p:extLst>
      <p:ext uri="{BB962C8B-B14F-4D97-AF65-F5344CB8AC3E}">
        <p14:creationId xmlns:p14="http://schemas.microsoft.com/office/powerpoint/2010/main" val="152062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800" y="230400"/>
            <a:ext cx="9408000" cy="2235600"/>
          </a:xfrm>
        </p:spPr>
        <p:txBody>
          <a:bodyPr anchor="b" anchorCtr="0"/>
          <a:lstStyle>
            <a:lvl1pPr>
              <a:defRPr sz="3599" baseline="0">
                <a:solidFill>
                  <a:srgbClr val="652D8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914217" rtl="0" eaLnBrk="1" latinLnBrk="0" hangingPunct="1">
              <a:defRPr lang="en-US" sz="9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914217" rtl="0" eaLnBrk="1" latinLnBrk="0" hangingPunct="1">
              <a:defRPr lang="en-US" sz="9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914217" rtl="0" eaLnBrk="1" latinLnBrk="0" hangingPunct="1">
              <a:defRPr lang="en-US" sz="9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8000" y="2564960"/>
            <a:ext cx="9312000" cy="504000"/>
          </a:xfrm>
        </p:spPr>
        <p:txBody>
          <a:bodyPr anchor="ctr"/>
          <a:lstStyle>
            <a:lvl1pPr marL="0" indent="0">
              <a:buNone/>
              <a:defRPr lang="en-US" sz="2400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356329" indent="0">
              <a:buNone/>
              <a:defRPr/>
            </a:lvl2pPr>
            <a:lvl3pPr marL="835033" indent="0">
              <a:buNone/>
              <a:defRPr/>
            </a:lvl3pPr>
            <a:lvl4pPr marL="1247151" indent="0">
              <a:buNone/>
              <a:defRPr/>
            </a:lvl4pPr>
            <a:lvl5pPr marL="1652070" indent="0">
              <a:buNone/>
              <a:defRPr/>
            </a:lvl5pPr>
          </a:lstStyle>
          <a:p>
            <a:pPr marL="0" lvl="0" indent="0" algn="l" defTabSz="914217" rtl="0" eaLnBrk="1" latinLnBrk="0" hangingPunct="1">
              <a:lnSpc>
                <a:spcPct val="95000"/>
              </a:lnSpc>
              <a:spcBef>
                <a:spcPts val="1056"/>
              </a:spcBef>
              <a:spcAft>
                <a:spcPts val="792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48001" y="3140968"/>
            <a:ext cx="9346900" cy="1296000"/>
          </a:xfrm>
        </p:spPr>
        <p:txBody>
          <a:bodyPr anchor="t"/>
          <a:lstStyle>
            <a:lvl1pPr marL="0" indent="0">
              <a:buNone/>
              <a:defRPr lang="en-US" sz="1600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356329" indent="0">
              <a:buNone/>
              <a:defRPr/>
            </a:lvl2pPr>
            <a:lvl3pPr marL="835033" indent="0">
              <a:buNone/>
              <a:defRPr/>
            </a:lvl3pPr>
            <a:lvl4pPr marL="1247151" indent="0">
              <a:buNone/>
              <a:defRPr/>
            </a:lvl4pPr>
            <a:lvl5pPr marL="1652070" indent="0">
              <a:buNone/>
              <a:defRPr/>
            </a:lvl5pPr>
          </a:lstStyle>
          <a:p>
            <a:pPr marL="0" lvl="0" indent="0" algn="l" defTabSz="914217" rtl="0" eaLnBrk="1" latinLnBrk="0" hangingPunct="1">
              <a:lnSpc>
                <a:spcPct val="95000"/>
              </a:lnSpc>
              <a:spcBef>
                <a:spcPts val="1056"/>
              </a:spcBef>
              <a:spcAft>
                <a:spcPts val="792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3666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8098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4" y="6514143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592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latin typeface="+mn-lt"/>
                <a:cs typeface="Segoe UI Light" panose="020B0502040204020203" pitchFamily="34" charset="0"/>
              </a:rPr>
              <a:pPr lvl="0" algn="r" defTabSz="610592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latin typeface="+mn-lt"/>
              <a:cs typeface="Segoe UI Light" panose="020B0502040204020203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-314935"/>
            <a:ext cx="7918704" cy="1218667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8597"/>
            <a:ext cx="7918704" cy="22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10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cs typeface="+mn-cs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4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800" dirty="0" err="1"/>
              <a:t>Footnotes</a:t>
            </a:r>
            <a:endParaRPr lang="ru-RU" sz="800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514143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</p:spTree>
    <p:extLst>
      <p:ext uri="{BB962C8B-B14F-4D97-AF65-F5344CB8AC3E}">
        <p14:creationId xmlns:p14="http://schemas.microsoft.com/office/powerpoint/2010/main" val="68713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3171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8" imgW="413" imgH="416" progId="TCLayout.ActiveDocument.1">
                  <p:embed/>
                </p:oleObj>
              </mc:Choice>
              <mc:Fallback>
                <p:oleObj name="Слайд think-cell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58597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Verdana Pro Light" panose="020B0304030504040204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14143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592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Segoe UI Light" panose="020B0502040204020203" pitchFamily="34" charset="0"/>
              </a:rPr>
              <a:pPr algn="r" defTabSz="610592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5" y="6514143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10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cs typeface="Segoe UI Light" panose="020B0502040204020203" pitchFamily="34" charset="0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3" name="Sticker" hidden="1">
            <a:extLst>
              <a:ext uri="{FF2B5EF4-FFF2-40B4-BE49-F238E27FC236}">
                <a16:creationId xmlns:a16="http://schemas.microsoft.com/office/drawing/2014/main" id="{8AA71194-4628-46D8-A8C5-534B2C93EFE0}"/>
              </a:ext>
            </a:extLst>
          </p:cNvPr>
          <p:cNvSpPr txBox="1"/>
          <p:nvPr userDrawn="1"/>
        </p:nvSpPr>
        <p:spPr>
          <a:xfrm>
            <a:off x="8881111" y="958597"/>
            <a:ext cx="275615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latin typeface="+mn-lt"/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08325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2C5BD-FB19-4022-B1BB-F589F4087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A0AE8-8878-4766-84BB-733068E0A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1CC1-B823-4FA3-B227-70FD49F47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FF10-0D54-4B77-8615-8160D0C2A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9478A-79B1-4891-B296-6C6A9E523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8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5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508CE494-2FDE-49C6-BBC5-901ABB4FA806}"/>
              </a:ext>
            </a:extLst>
          </p:cNvPr>
          <p:cNvSpPr>
            <a:spLocks/>
          </p:cNvSpPr>
          <p:nvPr/>
        </p:nvSpPr>
        <p:spPr>
          <a:xfrm>
            <a:off x="-11015" y="507598"/>
            <a:ext cx="12185649" cy="6282576"/>
          </a:xfrm>
          <a:prstGeom prst="roundRect">
            <a:avLst>
              <a:gd name="adj" fmla="val 3336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r="2700000" sx="101000" sy="101000" algn="t" rotWithShape="0">
              <a:srgbClr val="7F7F7F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89977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172">
              <a:defRPr/>
            </a:pPr>
            <a:endParaRPr lang="en-US" sz="2800" dirty="0">
              <a:solidFill>
                <a:srgbClr val="485966"/>
              </a:solidFill>
              <a:latin typeface="Verdana Pro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9" name="Прямоугольник: скругленные углы 11">
            <a:extLst>
              <a:ext uri="{FF2B5EF4-FFF2-40B4-BE49-F238E27FC236}">
                <a16:creationId xmlns:a16="http://schemas.microsoft.com/office/drawing/2014/main" id="{C7E6B76B-8065-4BAB-B160-78365926B268}"/>
              </a:ext>
            </a:extLst>
          </p:cNvPr>
          <p:cNvSpPr/>
          <p:nvPr/>
        </p:nvSpPr>
        <p:spPr>
          <a:xfrm>
            <a:off x="-11277" y="2112764"/>
            <a:ext cx="12216864" cy="10704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80">
              <a:spcBef>
                <a:spcPts val="300"/>
              </a:spcBef>
              <a:spcAft>
                <a:spcPts val="300"/>
              </a:spcAft>
            </a:pPr>
            <a:endParaRPr lang="ru-RU" sz="1200" dirty="0">
              <a:solidFill>
                <a:srgbClr val="EAE5EB"/>
              </a:solidFill>
              <a:latin typeface="Calibri" panose="020F0502020204030204"/>
            </a:endParaRPr>
          </a:p>
        </p:txBody>
      </p:sp>
      <p:graphicFrame>
        <p:nvGraphicFramePr>
          <p:cNvPr id="28" name="Object 6" hidden="1">
            <a:extLst>
              <a:ext uri="{FF2B5EF4-FFF2-40B4-BE49-F238E27FC236}">
                <a16:creationId xmlns:a16="http://schemas.microsoft.com/office/drawing/2014/main" id="{E2B15F88-684E-4ACA-9669-AD2A150218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248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28" name="Object 6" hidden="1">
                        <a:extLst>
                          <a:ext uri="{FF2B5EF4-FFF2-40B4-BE49-F238E27FC236}">
                            <a16:creationId xmlns:a16="http://schemas.microsoft.com/office/drawing/2014/main" id="{E2B15F88-684E-4ACA-9669-AD2A150218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5" y="248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CF7045D-F4D6-4265-B145-352EB77CA568}"/>
              </a:ext>
            </a:extLst>
          </p:cNvPr>
          <p:cNvGrpSpPr/>
          <p:nvPr/>
        </p:nvGrpSpPr>
        <p:grpSpPr>
          <a:xfrm>
            <a:off x="-9047" y="365939"/>
            <a:ext cx="12185649" cy="1161457"/>
            <a:chOff x="156644" y="766509"/>
            <a:chExt cx="12073985" cy="1141564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0356283-F3F7-4E7C-BA4D-B2FAB067502E}"/>
                </a:ext>
              </a:extLst>
            </p:cNvPr>
            <p:cNvSpPr txBox="1">
              <a:spLocks/>
            </p:cNvSpPr>
            <p:nvPr/>
          </p:nvSpPr>
          <p:spPr>
            <a:xfrm>
              <a:off x="156644" y="805540"/>
              <a:ext cx="12073985" cy="1102533"/>
            </a:xfrm>
            <a:prstGeom prst="roundRect">
              <a:avLst>
                <a:gd name="adj" fmla="val 1302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tx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</p:spPr>
          <p:txBody>
            <a:bodyPr vert="horz" wrap="square" lIns="71982" tIns="71982" rIns="71982" bIns="71982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Segoe UI" panose="020B0502040204020203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cs typeface="Segoe UI" panose="020B0502040204020203" pitchFamily="34" charset="0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cs typeface="Segoe UI" panose="020B0502040204020203" pitchFamily="34" charset="0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cs typeface="Segoe UI" panose="020B0502040204020203" pitchFamily="34" charset="0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cs typeface="Segoe UI" panose="020B0502040204020203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defTabSz="914080">
                <a:spcBef>
                  <a:spcPts val="150"/>
                </a:spcBef>
                <a:spcAft>
                  <a:spcPts val="150"/>
                </a:spcAft>
                <a:buClr>
                  <a:srgbClr val="FFFFFF"/>
                </a:buClr>
              </a:pPr>
              <a:r>
                <a:rPr lang="en-US" sz="1100" b="1" dirty="0">
                  <a:solidFill>
                    <a:srgbClr val="632E62"/>
                  </a:solidFill>
                  <a:latin typeface="Calibri" panose="020F0502020204030204"/>
                </a:rPr>
                <a:t>Stage</a:t>
              </a:r>
            </a:p>
            <a:p>
              <a:pPr defTabSz="914080">
                <a:spcBef>
                  <a:spcPts val="150"/>
                </a:spcBef>
                <a:spcAft>
                  <a:spcPts val="150"/>
                </a:spcAft>
                <a:buClr>
                  <a:srgbClr val="FFFFFF"/>
                </a:buClr>
              </a:pPr>
              <a:r>
                <a:rPr lang="en-US" sz="1100" b="1" dirty="0">
                  <a:solidFill>
                    <a:srgbClr val="632E62"/>
                  </a:solidFill>
                  <a:latin typeface="Calibri" panose="020F0502020204030204"/>
                </a:rPr>
                <a:t>(</a:t>
              </a:r>
              <a:r>
                <a:rPr lang="ru-RU" sz="1100" b="1" dirty="0">
                  <a:solidFill>
                    <a:srgbClr val="632E62"/>
                  </a:solidFill>
                  <a:latin typeface="Calibri" panose="020F0502020204030204"/>
                </a:rPr>
                <a:t>Наименование</a:t>
              </a:r>
            </a:p>
            <a:p>
              <a:pPr defTabSz="914080">
                <a:spcBef>
                  <a:spcPts val="150"/>
                </a:spcBef>
                <a:spcAft>
                  <a:spcPts val="150"/>
                </a:spcAft>
                <a:buClr>
                  <a:srgbClr val="FFFFFF"/>
                </a:buClr>
              </a:pPr>
              <a:r>
                <a:rPr lang="ru-RU" sz="1100" b="1" dirty="0">
                  <a:solidFill>
                    <a:srgbClr val="632E62"/>
                  </a:solidFill>
                  <a:latin typeface="Calibri" panose="020F0502020204030204"/>
                </a:rPr>
                <a:t> этапа)</a:t>
              </a:r>
              <a:endParaRPr lang="en-US" sz="1100" b="1" dirty="0">
                <a:solidFill>
                  <a:srgbClr val="632E62"/>
                </a:solidFill>
                <a:latin typeface="Calibri" panose="020F0502020204030204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3BA2817-9F3A-49AC-9DFD-9F059B4FB1E2}"/>
                </a:ext>
              </a:extLst>
            </p:cNvPr>
            <p:cNvGrpSpPr/>
            <p:nvPr/>
          </p:nvGrpSpPr>
          <p:grpSpPr>
            <a:xfrm>
              <a:off x="1316150" y="952187"/>
              <a:ext cx="1652371" cy="921160"/>
              <a:chOff x="-18376" y="1045463"/>
              <a:chExt cx="1652371" cy="921160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11ABE0A-A31C-4C60-AB0A-2FF8E57A7C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376" y="1146650"/>
                <a:ext cx="254878" cy="646302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algn="r" defTabSz="914080"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ru-RU" sz="2800" b="1" dirty="0">
                    <a:solidFill>
                      <a:srgbClr val="632E62"/>
                    </a:solidFill>
                    <a:latin typeface="Calibri" panose="020F0502020204030204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58" name="Rectangle: Rounded Corners 16">
                <a:extLst>
                  <a:ext uri="{FF2B5EF4-FFF2-40B4-BE49-F238E27FC236}">
                    <a16:creationId xmlns:a16="http://schemas.microsoft.com/office/drawing/2014/main" id="{BF2694D3-C790-4AD4-BCCE-C14D881E24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0527" y="1045463"/>
                <a:ext cx="1363468" cy="92116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172">
                  <a:buClr>
                    <a:srgbClr val="652D86"/>
                  </a:buClr>
                  <a:buSzPct val="110000"/>
                  <a:defRPr/>
                </a:pPr>
                <a:r>
                  <a:rPr lang="en-US" sz="950" b="1" spc="-10" dirty="0">
                    <a:solidFill>
                      <a:srgbClr val="000000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Consider</a:t>
                </a:r>
                <a:r>
                  <a:rPr lang="ru-RU" sz="950" b="1" spc="-10" dirty="0">
                    <a:solidFill>
                      <a:srgbClr val="000000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 (Определение потребности и сбор информации</a:t>
                </a:r>
                <a:r>
                  <a:rPr lang="ru-RU" sz="950" spc="-10" dirty="0">
                    <a:solidFill>
                      <a:srgbClr val="000000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  <a:endParaRPr lang="ru-RU" sz="95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7070237-34C4-4002-B773-DD611F3B371F}"/>
                </a:ext>
              </a:extLst>
            </p:cNvPr>
            <p:cNvGrpSpPr/>
            <p:nvPr/>
          </p:nvGrpSpPr>
          <p:grpSpPr>
            <a:xfrm>
              <a:off x="3265123" y="918131"/>
              <a:ext cx="1696158" cy="877891"/>
              <a:chOff x="156623" y="1011407"/>
              <a:chExt cx="1696158" cy="877891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DA018B-42F6-4D25-942A-F3832A7A1C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6623" y="1120782"/>
                <a:ext cx="254878" cy="646302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algn="r" defTabSz="914080"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sz="2800" b="1" dirty="0">
                    <a:solidFill>
                      <a:srgbClr val="632E62"/>
                    </a:solidFill>
                    <a:latin typeface="Calibri" panose="020F0502020204030204"/>
                    <a:cs typeface="Arial" panose="020B0604020202020204" pitchFamily="34" charset="0"/>
                  </a:rPr>
                  <a:t>2</a:t>
                </a:r>
                <a:endParaRPr lang="ru-RU" sz="2800" b="1" dirty="0">
                  <a:solidFill>
                    <a:srgbClr val="632E62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106" name="Rectangle: Rounded Corners 16">
                <a:extLst>
                  <a:ext uri="{FF2B5EF4-FFF2-40B4-BE49-F238E27FC236}">
                    <a16:creationId xmlns:a16="http://schemas.microsoft.com/office/drawing/2014/main" id="{BC144760-D763-4F29-AA80-55899C5440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9315" y="1011407"/>
                <a:ext cx="1363466" cy="877891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172">
                  <a:buClr>
                    <a:srgbClr val="652D86"/>
                  </a:buClr>
                  <a:buSzPct val="110000"/>
                  <a:defRPr/>
                </a:pPr>
                <a:r>
                  <a:rPr lang="en-US" sz="10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Evaluate</a:t>
                </a:r>
                <a:r>
                  <a:rPr lang="ru-RU" sz="10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(оценка и выбор)</a:t>
                </a: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74F7442-5601-45AE-B3FC-F13652271914}"/>
                </a:ext>
              </a:extLst>
            </p:cNvPr>
            <p:cNvGrpSpPr/>
            <p:nvPr/>
          </p:nvGrpSpPr>
          <p:grpSpPr>
            <a:xfrm>
              <a:off x="5293737" y="884891"/>
              <a:ext cx="1651857" cy="819690"/>
              <a:chOff x="411263" y="978167"/>
              <a:chExt cx="1651857" cy="819690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2F4EBF2-B14E-43C0-9647-EC75B21F85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263" y="1120782"/>
                <a:ext cx="254878" cy="646302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algn="r" defTabSz="914080"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sz="2800" b="1" dirty="0">
                    <a:solidFill>
                      <a:srgbClr val="632E62"/>
                    </a:solidFill>
                    <a:latin typeface="Calibri" panose="020F0502020204030204"/>
                    <a:cs typeface="Arial" panose="020B0604020202020204" pitchFamily="34" charset="0"/>
                  </a:rPr>
                  <a:t>3</a:t>
                </a:r>
                <a:endParaRPr lang="ru-RU" sz="2800" b="1" dirty="0">
                  <a:solidFill>
                    <a:srgbClr val="632E62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109" name="Rectangle: Rounded Corners 16">
                <a:extLst>
                  <a:ext uri="{FF2B5EF4-FFF2-40B4-BE49-F238E27FC236}">
                    <a16:creationId xmlns:a16="http://schemas.microsoft.com/office/drawing/2014/main" id="{BB2C09C9-8D04-45A2-969F-2E34A159F49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9654" y="978167"/>
                <a:ext cx="1363466" cy="81969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Взаимодействие клиента и торгового представителя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82D560AD-5BE3-4862-8C8B-765CC5DE1C9D}"/>
                </a:ext>
              </a:extLst>
            </p:cNvPr>
            <p:cNvGrpSpPr/>
            <p:nvPr/>
          </p:nvGrpSpPr>
          <p:grpSpPr>
            <a:xfrm>
              <a:off x="7119079" y="841205"/>
              <a:ext cx="1406148" cy="819690"/>
              <a:chOff x="462631" y="934481"/>
              <a:chExt cx="1406148" cy="819690"/>
            </a:xfrm>
          </p:grpSpPr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8CE40AA-F09C-48C3-B9AE-8135AFE7D3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631" y="1093316"/>
                <a:ext cx="254878" cy="646302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algn="r" defTabSz="914080"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sz="2800" b="1" dirty="0">
                    <a:solidFill>
                      <a:srgbClr val="632E62"/>
                    </a:solidFill>
                    <a:latin typeface="Calibri" panose="020F0502020204030204"/>
                    <a:cs typeface="Arial" panose="020B0604020202020204" pitchFamily="34" charset="0"/>
                  </a:rPr>
                  <a:t>4</a:t>
                </a:r>
                <a:endParaRPr lang="ru-RU" sz="2800" b="1" dirty="0">
                  <a:solidFill>
                    <a:srgbClr val="632E62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113" name="Rectangle: Rounded Corners 16">
                <a:extLst>
                  <a:ext uri="{FF2B5EF4-FFF2-40B4-BE49-F238E27FC236}">
                    <a16:creationId xmlns:a16="http://schemas.microsoft.com/office/drawing/2014/main" id="{466BDDE4-AEBA-4083-9956-7782B5139D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57488" y="934481"/>
                <a:ext cx="1111291" cy="81969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Этап переговоров о цене и функционала услуги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3F046FE3-4BC3-4274-9F8F-3A04267103BE}"/>
                </a:ext>
              </a:extLst>
            </p:cNvPr>
            <p:cNvGrpSpPr/>
            <p:nvPr/>
          </p:nvGrpSpPr>
          <p:grpSpPr>
            <a:xfrm>
              <a:off x="8893053" y="766509"/>
              <a:ext cx="1604755" cy="913982"/>
              <a:chOff x="462631" y="859785"/>
              <a:chExt cx="1604755" cy="913982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6CD2755-0AB5-4D57-BE68-A0961331F5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631" y="1093316"/>
                <a:ext cx="254878" cy="646302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algn="r" defTabSz="914080"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sz="2800" b="1" dirty="0">
                    <a:solidFill>
                      <a:srgbClr val="632E62"/>
                    </a:solidFill>
                    <a:latin typeface="Calibri" panose="020F0502020204030204"/>
                    <a:cs typeface="Arial" panose="020B0604020202020204" pitchFamily="34" charset="0"/>
                  </a:rPr>
                  <a:t>5</a:t>
                </a:r>
                <a:endParaRPr lang="ru-RU" sz="2800" b="1" dirty="0">
                  <a:solidFill>
                    <a:srgbClr val="632E62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116" name="Rectangle: Rounded Corners 16">
                <a:extLst>
                  <a:ext uri="{FF2B5EF4-FFF2-40B4-BE49-F238E27FC236}">
                    <a16:creationId xmlns:a16="http://schemas.microsoft.com/office/drawing/2014/main" id="{FBD4C9CF-3405-4E04-8F74-19A35E2538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7509" y="859785"/>
                <a:ext cx="1349877" cy="913982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10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Настройка тестирование и подключение услуги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A2535F22-5214-49D3-9B60-CDA5E4D0BAA6}"/>
                </a:ext>
              </a:extLst>
            </p:cNvPr>
            <p:cNvGrpSpPr/>
            <p:nvPr/>
          </p:nvGrpSpPr>
          <p:grpSpPr>
            <a:xfrm>
              <a:off x="10544396" y="801513"/>
              <a:ext cx="1488799" cy="878979"/>
              <a:chOff x="340001" y="894789"/>
              <a:chExt cx="1488799" cy="878979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D60EEFF-8003-4212-B18C-7A4482D93D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0001" y="1066913"/>
                <a:ext cx="254878" cy="646302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algn="r" defTabSz="914080">
                  <a:spcBef>
                    <a:spcPts val="150"/>
                  </a:spcBef>
                  <a:spcAft>
                    <a:spcPts val="150"/>
                  </a:spcAft>
                </a:pPr>
                <a:r>
                  <a:rPr lang="en-US" sz="2800" b="1" dirty="0">
                    <a:solidFill>
                      <a:srgbClr val="632E62"/>
                    </a:solidFill>
                    <a:latin typeface="Calibri" panose="020F0502020204030204"/>
                    <a:cs typeface="Arial" panose="020B0604020202020204" pitchFamily="34" charset="0"/>
                  </a:rPr>
                  <a:t>6</a:t>
                </a:r>
                <a:endParaRPr lang="ru-RU" sz="2800" b="1" dirty="0">
                  <a:solidFill>
                    <a:srgbClr val="632E62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119" name="Rectangle: Rounded Corners 16">
                <a:extLst>
                  <a:ext uri="{FF2B5EF4-FFF2-40B4-BE49-F238E27FC236}">
                    <a16:creationId xmlns:a16="http://schemas.microsoft.com/office/drawing/2014/main" id="{95972930-A623-4C6E-8C80-03BB866F56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7509" y="894789"/>
                <a:ext cx="1111291" cy="878979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b="1" spc="-1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Принятие итогового решения о покупке</a:t>
                </a:r>
                <a:endParaRPr lang="ru-RU" sz="950" b="1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5693189-4806-4C5C-97AC-3DF4B1539BB9}"/>
              </a:ext>
            </a:extLst>
          </p:cNvPr>
          <p:cNvGrpSpPr/>
          <p:nvPr/>
        </p:nvGrpSpPr>
        <p:grpSpPr>
          <a:xfrm>
            <a:off x="121195" y="1316262"/>
            <a:ext cx="11987499" cy="786295"/>
            <a:chOff x="119638" y="1661340"/>
            <a:chExt cx="11990621" cy="786499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96E50715-F635-4A04-BA5A-0E2126744A71}"/>
                </a:ext>
              </a:extLst>
            </p:cNvPr>
            <p:cNvGrpSpPr/>
            <p:nvPr/>
          </p:nvGrpSpPr>
          <p:grpSpPr>
            <a:xfrm>
              <a:off x="119638" y="1929786"/>
              <a:ext cx="1619119" cy="322731"/>
              <a:chOff x="384835" y="1390565"/>
              <a:chExt cx="1619119" cy="322731"/>
            </a:xfrm>
          </p:grpSpPr>
          <p:sp>
            <p:nvSpPr>
              <p:cNvPr id="126" name="Rectangle: Rounded Corners 16">
                <a:extLst>
                  <a:ext uri="{FF2B5EF4-FFF2-40B4-BE49-F238E27FC236}">
                    <a16:creationId xmlns:a16="http://schemas.microsoft.com/office/drawing/2014/main" id="{B6CCBE58-02A6-4C5A-AE11-517BD3D63B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4835" y="1390565"/>
                <a:ext cx="811598" cy="322731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10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Клиент: 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8E312E96-E0EC-4765-BE04-8CF1BA6F262B}"/>
                  </a:ext>
                </a:extLst>
              </p:cNvPr>
              <p:cNvSpPr txBox="1"/>
              <p:nvPr/>
            </p:nvSpPr>
            <p:spPr>
              <a:xfrm>
                <a:off x="1739572" y="1497255"/>
                <a:ext cx="264382" cy="13853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sp>
          <p:nvSpPr>
            <p:cNvPr id="128" name="Rectangle: Rounded Corners 29">
              <a:extLst>
                <a:ext uri="{FF2B5EF4-FFF2-40B4-BE49-F238E27FC236}">
                  <a16:creationId xmlns:a16="http://schemas.microsoft.com/office/drawing/2014/main" id="{202C4E28-374B-4AB3-8E08-A8023FC7B02D}"/>
                </a:ext>
              </a:extLst>
            </p:cNvPr>
            <p:cNvSpPr>
              <a:spLocks/>
            </p:cNvSpPr>
            <p:nvPr/>
          </p:nvSpPr>
          <p:spPr>
            <a:xfrm>
              <a:off x="1341389" y="1912460"/>
              <a:ext cx="1767048" cy="46849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Есть проблема и потребность (воля к решению)</a:t>
              </a:r>
            </a:p>
          </p:txBody>
        </p:sp>
        <p:sp>
          <p:nvSpPr>
            <p:cNvPr id="129" name="Rectangle: Rounded Corners 29">
              <a:extLst>
                <a:ext uri="{FF2B5EF4-FFF2-40B4-BE49-F238E27FC236}">
                  <a16:creationId xmlns:a16="http://schemas.microsoft.com/office/drawing/2014/main" id="{ADED1426-37EF-4741-9ADD-C89EF444FF26}"/>
                </a:ext>
              </a:extLst>
            </p:cNvPr>
            <p:cNvSpPr>
              <a:spLocks/>
            </p:cNvSpPr>
            <p:nvPr/>
          </p:nvSpPr>
          <p:spPr>
            <a:xfrm>
              <a:off x="3550444" y="1957238"/>
              <a:ext cx="1376434" cy="46212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Поиск выгодного предложения</a:t>
              </a:r>
            </a:p>
          </p:txBody>
        </p:sp>
        <p:sp>
          <p:nvSpPr>
            <p:cNvPr id="132" name="Rectangle: Rounded Corners 29">
              <a:extLst>
                <a:ext uri="{FF2B5EF4-FFF2-40B4-BE49-F238E27FC236}">
                  <a16:creationId xmlns:a16="http://schemas.microsoft.com/office/drawing/2014/main" id="{DBF50306-8A6B-4C4D-A941-938BFB0F5785}"/>
                </a:ext>
              </a:extLst>
            </p:cNvPr>
            <p:cNvSpPr>
              <a:spLocks/>
            </p:cNvSpPr>
            <p:nvPr/>
          </p:nvSpPr>
          <p:spPr>
            <a:xfrm>
              <a:off x="5485458" y="1897656"/>
              <a:ext cx="1585402" cy="518232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Контакт торгового представителя с Клиентом</a:t>
              </a:r>
            </a:p>
          </p:txBody>
        </p:sp>
        <p:sp>
          <p:nvSpPr>
            <p:cNvPr id="133" name="Rectangle: Rounded Corners 29">
              <a:extLst>
                <a:ext uri="{FF2B5EF4-FFF2-40B4-BE49-F238E27FC236}">
                  <a16:creationId xmlns:a16="http://schemas.microsoft.com/office/drawing/2014/main" id="{FE6132DF-5DA8-437B-AF4C-543A33505378}"/>
                </a:ext>
              </a:extLst>
            </p:cNvPr>
            <p:cNvSpPr>
              <a:spLocks/>
            </p:cNvSpPr>
            <p:nvPr/>
          </p:nvSpPr>
          <p:spPr>
            <a:xfrm>
              <a:off x="7294083" y="1771266"/>
              <a:ext cx="1268229" cy="671904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 Ведет переговоры с торговым представителем</a:t>
              </a:r>
            </a:p>
          </p:txBody>
        </p:sp>
        <p:sp>
          <p:nvSpPr>
            <p:cNvPr id="134" name="Rectangle: Rounded Corners 29">
              <a:extLst>
                <a:ext uri="{FF2B5EF4-FFF2-40B4-BE49-F238E27FC236}">
                  <a16:creationId xmlns:a16="http://schemas.microsoft.com/office/drawing/2014/main" id="{882CDDD2-7CC2-4A01-99E7-322F4FB4CD92}"/>
                </a:ext>
              </a:extLst>
            </p:cNvPr>
            <p:cNvSpPr>
              <a:spLocks/>
            </p:cNvSpPr>
            <p:nvPr/>
          </p:nvSpPr>
          <p:spPr>
            <a:xfrm>
              <a:off x="8861706" y="1730671"/>
              <a:ext cx="1726430" cy="717168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dirty="0" err="1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Delivery</a:t>
              </a:r>
              <a:r>
                <a:rPr lang="ru-RU" sz="95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 высылает настройки тех. Администратору со стороны клиента, по </a:t>
              </a:r>
              <a:r>
                <a:rPr lang="ru-RU" sz="950" dirty="0" err="1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mail</a:t>
              </a:r>
              <a:endParaRPr lang="ru-RU" sz="950" dirty="0">
                <a:solidFill>
                  <a:srgbClr val="000000"/>
                </a:solidFill>
                <a:latin typeface="Verdana Pro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36" name="Rectangle: Rounded Corners 29">
              <a:extLst>
                <a:ext uri="{FF2B5EF4-FFF2-40B4-BE49-F238E27FC236}">
                  <a16:creationId xmlns:a16="http://schemas.microsoft.com/office/drawing/2014/main" id="{B631B259-0270-4558-BE41-E0F6A57C3EDC}"/>
                </a:ext>
              </a:extLst>
            </p:cNvPr>
            <p:cNvSpPr>
              <a:spLocks/>
            </p:cNvSpPr>
            <p:nvPr/>
          </p:nvSpPr>
          <p:spPr>
            <a:xfrm>
              <a:off x="10744959" y="1661340"/>
              <a:ext cx="1365300" cy="781613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Получает запрос на заключение сделки от Торгового специалиста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3B8D34-BC0B-4098-A183-4DC3F63321F5}"/>
              </a:ext>
            </a:extLst>
          </p:cNvPr>
          <p:cNvGrpSpPr/>
          <p:nvPr/>
        </p:nvGrpSpPr>
        <p:grpSpPr>
          <a:xfrm>
            <a:off x="123607" y="2149234"/>
            <a:ext cx="11827748" cy="1030320"/>
            <a:chOff x="121937" y="2347751"/>
            <a:chExt cx="11830829" cy="853037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6850936C-4636-49D3-9B06-5AA8D4AB6278}"/>
                </a:ext>
              </a:extLst>
            </p:cNvPr>
            <p:cNvGrpSpPr/>
            <p:nvPr/>
          </p:nvGrpSpPr>
          <p:grpSpPr>
            <a:xfrm>
              <a:off x="121937" y="2347751"/>
              <a:ext cx="1564954" cy="735724"/>
              <a:chOff x="387134" y="1699770"/>
              <a:chExt cx="1486240" cy="804841"/>
            </a:xfrm>
          </p:grpSpPr>
          <p:sp>
            <p:nvSpPr>
              <p:cNvPr id="123" name="Rectangle: Rounded Corners 16">
                <a:extLst>
                  <a:ext uri="{FF2B5EF4-FFF2-40B4-BE49-F238E27FC236}">
                    <a16:creationId xmlns:a16="http://schemas.microsoft.com/office/drawing/2014/main" id="{B0A48894-1AEB-4738-83FE-46156FF650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7134" y="1699770"/>
                <a:ext cx="862540" cy="804841"/>
              </a:xfrm>
              <a:prstGeom prst="roundRect">
                <a:avLst>
                  <a:gd name="adj" fmla="val 6894"/>
                </a:avLst>
              </a:prstGeom>
              <a:solidFill>
                <a:srgbClr val="FFFFFF">
                  <a:alpha val="71000"/>
                </a:srgbClr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en-US" sz="950" b="1" i="1" dirty="0">
                    <a:solidFill>
                      <a:srgbClr val="652D86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Experience trigger:</a:t>
                </a:r>
                <a:endParaRPr lang="ru-RU" sz="950" b="1" i="1" dirty="0">
                  <a:solidFill>
                    <a:srgbClr val="652D86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F18C50-A3B2-48AA-81F8-4DC5E5D89705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2544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sp>
          <p:nvSpPr>
            <p:cNvPr id="138" name="Rectangle: Rounded Corners 16">
              <a:extLst>
                <a:ext uri="{FF2B5EF4-FFF2-40B4-BE49-F238E27FC236}">
                  <a16:creationId xmlns:a16="http://schemas.microsoft.com/office/drawing/2014/main" id="{E650FFC8-8A94-472C-A036-CC7F82DC1AE5}"/>
                </a:ext>
              </a:extLst>
            </p:cNvPr>
            <p:cNvSpPr>
              <a:spLocks/>
            </p:cNvSpPr>
            <p:nvPr/>
          </p:nvSpPr>
          <p:spPr>
            <a:xfrm>
              <a:off x="1335965" y="2347751"/>
              <a:ext cx="1771573" cy="837299"/>
            </a:xfrm>
            <a:prstGeom prst="roundRect">
              <a:avLst>
                <a:gd name="adj" fmla="val 6894"/>
              </a:avLst>
            </a:prstGeom>
            <a:solidFill>
              <a:srgbClr val="FFFFFF">
                <a:alpha val="71000"/>
              </a:srgbClr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72">
                <a:buClr>
                  <a:srgbClr val="652D86"/>
                </a:buClr>
                <a:buSzPct val="110000"/>
                <a:defRPr/>
              </a:pPr>
              <a:r>
                <a:rPr lang="ru-RU" sz="950" spc="-1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Осознание проблемы или потребности(Составление списка возможных решений))</a:t>
              </a:r>
              <a:endParaRPr lang="ru-RU" sz="950" dirty="0">
                <a:solidFill>
                  <a:srgbClr val="000000"/>
                </a:solidFill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44" name="Rectangle: Rounded Corners 16">
              <a:extLst>
                <a:ext uri="{FF2B5EF4-FFF2-40B4-BE49-F238E27FC236}">
                  <a16:creationId xmlns:a16="http://schemas.microsoft.com/office/drawing/2014/main" id="{12B37AEC-C3BB-4244-A5B0-7028B9AE4E02}"/>
                </a:ext>
              </a:extLst>
            </p:cNvPr>
            <p:cNvSpPr>
              <a:spLocks/>
            </p:cNvSpPr>
            <p:nvPr/>
          </p:nvSpPr>
          <p:spPr>
            <a:xfrm>
              <a:off x="5478075" y="2364843"/>
              <a:ext cx="1648059" cy="798187"/>
            </a:xfrm>
            <a:prstGeom prst="roundRect">
              <a:avLst>
                <a:gd name="adj" fmla="val 6894"/>
              </a:avLst>
            </a:prstGeom>
            <a:solidFill>
              <a:srgbClr val="FFFFFF">
                <a:alpha val="71000"/>
              </a:srgbClr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spc="-1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Получает дополнительную консультацию от торгового представителя по услуге</a:t>
              </a:r>
            </a:p>
          </p:txBody>
        </p:sp>
        <p:sp>
          <p:nvSpPr>
            <p:cNvPr id="149" name="Rectangle: Rounded Corners 16">
              <a:extLst>
                <a:ext uri="{FF2B5EF4-FFF2-40B4-BE49-F238E27FC236}">
                  <a16:creationId xmlns:a16="http://schemas.microsoft.com/office/drawing/2014/main" id="{C29E129B-5C62-4DB9-BCE1-4BD32B6A05EC}"/>
                </a:ext>
              </a:extLst>
            </p:cNvPr>
            <p:cNvSpPr>
              <a:spLocks/>
            </p:cNvSpPr>
            <p:nvPr/>
          </p:nvSpPr>
          <p:spPr>
            <a:xfrm>
              <a:off x="7373956" y="2347751"/>
              <a:ext cx="1197642" cy="853037"/>
            </a:xfrm>
            <a:prstGeom prst="roundRect">
              <a:avLst>
                <a:gd name="adj" fmla="val 6894"/>
              </a:avLst>
            </a:prstGeom>
            <a:solidFill>
              <a:srgbClr val="FFFFFF">
                <a:alpha val="71000"/>
              </a:srgbClr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spc="-1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Уточняет может ли поставщик предоставить тот функционал по услуге, который ему требуется.</a:t>
              </a:r>
              <a:endParaRPr lang="ru-RU" sz="950" dirty="0">
                <a:solidFill>
                  <a:srgbClr val="000000"/>
                </a:solidFill>
                <a:latin typeface="Verdana Pro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D074B61A-1F1F-447A-AF00-C33331839CC4}"/>
                </a:ext>
              </a:extLst>
            </p:cNvPr>
            <p:cNvGrpSpPr/>
            <p:nvPr/>
          </p:nvGrpSpPr>
          <p:grpSpPr>
            <a:xfrm>
              <a:off x="9149175" y="2423169"/>
              <a:ext cx="1188355" cy="735724"/>
              <a:chOff x="388726" y="1782273"/>
              <a:chExt cx="1519696" cy="804841"/>
            </a:xfrm>
          </p:grpSpPr>
          <p:sp>
            <p:nvSpPr>
              <p:cNvPr id="155" name="Rectangle: Rounded Corners 16">
                <a:extLst>
                  <a:ext uri="{FF2B5EF4-FFF2-40B4-BE49-F238E27FC236}">
                    <a16:creationId xmlns:a16="http://schemas.microsoft.com/office/drawing/2014/main" id="{DD02F5D9-61E5-4B03-B96D-3480CEA949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8726" y="1782273"/>
                <a:ext cx="1519696" cy="804841"/>
              </a:xfrm>
              <a:prstGeom prst="roundRect">
                <a:avLst>
                  <a:gd name="adj" fmla="val 6894"/>
                </a:avLst>
              </a:prstGeom>
              <a:solidFill>
                <a:srgbClr val="FFFFFF">
                  <a:alpha val="71000"/>
                </a:srgbClr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spc="-10" dirty="0">
                    <a:solidFill>
                      <a:srgbClr val="000000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Администратор производит настройку услугу по мануалу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E8D4DC07-8C0E-4852-826B-6103F255ADAF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2544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sp>
          <p:nvSpPr>
            <p:cNvPr id="164" name="Rectangle: Rounded Corners 16">
              <a:extLst>
                <a:ext uri="{FF2B5EF4-FFF2-40B4-BE49-F238E27FC236}">
                  <a16:creationId xmlns:a16="http://schemas.microsoft.com/office/drawing/2014/main" id="{E8806E33-C397-4E59-8BCA-B1D4971F814B}"/>
                </a:ext>
              </a:extLst>
            </p:cNvPr>
            <p:cNvSpPr>
              <a:spLocks/>
            </p:cNvSpPr>
            <p:nvPr/>
          </p:nvSpPr>
          <p:spPr>
            <a:xfrm>
              <a:off x="10764411" y="2381451"/>
              <a:ext cx="1188355" cy="735724"/>
            </a:xfrm>
            <a:prstGeom prst="roundRect">
              <a:avLst>
                <a:gd name="adj" fmla="val 6894"/>
              </a:avLst>
            </a:prstGeom>
            <a:solidFill>
              <a:srgbClr val="FFFFFF">
                <a:alpha val="71000"/>
              </a:srgbClr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 defTabSz="914172">
                <a:buClr>
                  <a:srgbClr val="652D86"/>
                </a:buClr>
                <a:buSzPct val="110000"/>
                <a:buFont typeface="Arial" panose="020B0604020202020204" pitchFamily="34" charset="0"/>
                <a:buChar char="•"/>
                <a:defRPr/>
              </a:pPr>
              <a:r>
                <a:rPr lang="ru-RU" sz="950" spc="-1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Подписание договора</a:t>
              </a:r>
            </a:p>
            <a:p>
              <a:pPr marL="171450" indent="-171450" defTabSz="914172">
                <a:buClr>
                  <a:srgbClr val="652D86"/>
                </a:buClr>
                <a:buSzPct val="110000"/>
                <a:buFont typeface="Arial" panose="020B0604020202020204" pitchFamily="34" charset="0"/>
                <a:buChar char="•"/>
                <a:defRPr/>
              </a:pPr>
              <a:r>
                <a:rPr lang="ru-RU" sz="950" i="1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Биллинг настройка</a:t>
              </a:r>
            </a:p>
            <a:p>
              <a:pPr marL="171450" indent="-171450" defTabSz="914172">
                <a:buClr>
                  <a:srgbClr val="652D86"/>
                </a:buClr>
                <a:buSzPct val="110000"/>
                <a:buFont typeface="Arial" panose="020B0604020202020204" pitchFamily="34" charset="0"/>
                <a:buChar char="•"/>
                <a:defRPr/>
              </a:pPr>
              <a:r>
                <a:rPr lang="ru-RU" sz="950" i="1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Коммерческий запуск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798459F-CB8B-4B23-842D-A5268DF851C2}"/>
              </a:ext>
            </a:extLst>
          </p:cNvPr>
          <p:cNvGrpSpPr/>
          <p:nvPr/>
        </p:nvGrpSpPr>
        <p:grpSpPr>
          <a:xfrm>
            <a:off x="48820" y="3210728"/>
            <a:ext cx="12052376" cy="1384888"/>
            <a:chOff x="121937" y="2300026"/>
            <a:chExt cx="12055515" cy="924301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DB4184B3-35DA-4C83-94C0-C062D00D0C3F}"/>
                </a:ext>
              </a:extLst>
            </p:cNvPr>
            <p:cNvGrpSpPr/>
            <p:nvPr/>
          </p:nvGrpSpPr>
          <p:grpSpPr>
            <a:xfrm>
              <a:off x="121937" y="2347752"/>
              <a:ext cx="1564954" cy="681172"/>
              <a:chOff x="387134" y="1699770"/>
              <a:chExt cx="1486240" cy="745164"/>
            </a:xfrm>
          </p:grpSpPr>
          <p:sp>
            <p:nvSpPr>
              <p:cNvPr id="190" name="Rectangle: Rounded Corners 16">
                <a:extLst>
                  <a:ext uri="{FF2B5EF4-FFF2-40B4-BE49-F238E27FC236}">
                    <a16:creationId xmlns:a16="http://schemas.microsoft.com/office/drawing/2014/main" id="{73D56064-398A-43E9-919B-80575B1DEF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7134" y="1699770"/>
                <a:ext cx="933584" cy="745164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en-US" sz="950" spc="-10" dirty="0">
                    <a:solidFill>
                      <a:srgbClr val="000000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Doing </a:t>
                </a:r>
                <a:r>
                  <a:rPr lang="ru-RU" sz="950" spc="-10" dirty="0">
                    <a:solidFill>
                      <a:srgbClr val="000000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(действия клиента)</a:t>
                </a: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B771DB9D-C12D-491C-97D7-EACC64E332E5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011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C720A76-E2AA-49C3-8002-FB1E7501DF6E}"/>
                </a:ext>
              </a:extLst>
            </p:cNvPr>
            <p:cNvSpPr txBox="1"/>
            <p:nvPr/>
          </p:nvSpPr>
          <p:spPr>
            <a:xfrm>
              <a:off x="3005681" y="2936486"/>
              <a:ext cx="170014" cy="9243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Segoe UI" panose="020B0502040204020203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cs typeface="Segoe UI" panose="020B0502040204020203" pitchFamily="34" charset="0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cs typeface="Segoe UI" panose="020B0502040204020203" pitchFamily="34" charset="0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cs typeface="Segoe UI" panose="020B0502040204020203" pitchFamily="34" charset="0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cs typeface="Segoe UI" panose="020B0502040204020203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defTabSz="914172">
                <a:buNone/>
                <a:defRPr/>
              </a:pPr>
              <a:endParaRPr lang="ru-RU" sz="900" dirty="0">
                <a:solidFill>
                  <a:srgbClr val="000000"/>
                </a:solidFill>
                <a:latin typeface="Verdana Pro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5C91128-7157-485F-AADD-E16D95370C41}"/>
                </a:ext>
              </a:extLst>
            </p:cNvPr>
            <p:cNvSpPr txBox="1"/>
            <p:nvPr/>
          </p:nvSpPr>
          <p:spPr>
            <a:xfrm>
              <a:off x="4785779" y="2936486"/>
              <a:ext cx="170014" cy="9243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Segoe UI" panose="020B0502040204020203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cs typeface="Segoe UI" panose="020B0502040204020203" pitchFamily="34" charset="0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cs typeface="Segoe UI" panose="020B0502040204020203" pitchFamily="34" charset="0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cs typeface="Segoe UI" panose="020B0502040204020203" pitchFamily="34" charset="0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cs typeface="Segoe UI" panose="020B0502040204020203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defTabSz="914172">
                <a:buNone/>
                <a:defRPr/>
              </a:pPr>
              <a:r>
                <a:rPr lang="ru-KZ" sz="900" dirty="0">
                  <a:solidFill>
                    <a:srgbClr val="000000"/>
                  </a:solidFill>
                  <a:latin typeface="Verdana Pro"/>
                </a:rPr>
                <a:t>х</a:t>
              </a:r>
              <a:r>
                <a:rPr lang="en-US" sz="900" dirty="0">
                  <a:solidFill>
                    <a:srgbClr val="000000"/>
                  </a:solidFill>
                  <a:latin typeface="Verdana Pro"/>
                </a:rPr>
                <a:t>3</a:t>
              </a:r>
              <a:endParaRPr lang="ru-RU" sz="900" dirty="0">
                <a:solidFill>
                  <a:srgbClr val="000000"/>
                </a:solidFill>
                <a:latin typeface="Verdana Pro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C27EE90-2EDD-4208-AFA0-2BA309C454A9}"/>
                </a:ext>
              </a:extLst>
            </p:cNvPr>
            <p:cNvSpPr txBox="1"/>
            <p:nvPr/>
          </p:nvSpPr>
          <p:spPr>
            <a:xfrm>
              <a:off x="6551416" y="2936486"/>
              <a:ext cx="170014" cy="9243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Segoe UI" panose="020B0502040204020203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cs typeface="Segoe UI" panose="020B0502040204020203" pitchFamily="34" charset="0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cs typeface="Segoe UI" panose="020B0502040204020203" pitchFamily="34" charset="0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cs typeface="Segoe UI" panose="020B0502040204020203" pitchFamily="34" charset="0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cs typeface="Segoe UI" panose="020B0502040204020203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defTabSz="914172">
                <a:buNone/>
                <a:defRPr/>
              </a:pPr>
              <a:endParaRPr lang="ru-RU" sz="900" dirty="0">
                <a:solidFill>
                  <a:srgbClr val="000000"/>
                </a:solidFill>
                <a:latin typeface="Verdana Pro"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F718F197-CA2C-4204-AE20-B17BDD5180C6}"/>
                </a:ext>
              </a:extLst>
            </p:cNvPr>
            <p:cNvGrpSpPr/>
            <p:nvPr/>
          </p:nvGrpSpPr>
          <p:grpSpPr>
            <a:xfrm>
              <a:off x="9285000" y="2391546"/>
              <a:ext cx="1377830" cy="735724"/>
              <a:chOff x="562422" y="1747679"/>
              <a:chExt cx="1762001" cy="804841"/>
            </a:xfrm>
          </p:grpSpPr>
          <p:sp>
            <p:nvSpPr>
              <p:cNvPr id="180" name="Rectangle: Rounded Corners 16">
                <a:extLst>
                  <a:ext uri="{FF2B5EF4-FFF2-40B4-BE49-F238E27FC236}">
                    <a16:creationId xmlns:a16="http://schemas.microsoft.com/office/drawing/2014/main" id="{A47291B3-FBDB-4E76-9A58-EC448A038B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422" y="1747679"/>
                <a:ext cx="1762001" cy="804841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100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Не получается настроить услугу -  КАЕ подключает менеджера по персональной настройке услуги </a:t>
                </a:r>
                <a:r>
                  <a:rPr lang="ru-RU" sz="1200" b="1" dirty="0">
                    <a:solidFill>
                      <a:srgbClr val="7030A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(2-3 часа)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8995581E-AEB6-44B9-8D9E-AAC2B443A892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011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F8902E62-A532-4D27-82AD-C8AC5D5CB892}"/>
                </a:ext>
              </a:extLst>
            </p:cNvPr>
            <p:cNvGrpSpPr/>
            <p:nvPr/>
          </p:nvGrpSpPr>
          <p:grpSpPr>
            <a:xfrm>
              <a:off x="10777657" y="2300026"/>
              <a:ext cx="1399795" cy="924301"/>
              <a:chOff x="214544" y="1647562"/>
              <a:chExt cx="1790091" cy="1011134"/>
            </a:xfrm>
          </p:grpSpPr>
          <p:sp>
            <p:nvSpPr>
              <p:cNvPr id="178" name="Rectangle: Rounded Corners 16">
                <a:extLst>
                  <a:ext uri="{FF2B5EF4-FFF2-40B4-BE49-F238E27FC236}">
                    <a16:creationId xmlns:a16="http://schemas.microsoft.com/office/drawing/2014/main" id="{6660EC65-8D1E-4A8A-9E93-A734090AC6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4544" y="1647562"/>
                <a:ext cx="1790091" cy="1011134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indent="-171450" defTabSz="914172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Торговый представитель/Деливери информирует, что услуга подключена.</a:t>
                </a:r>
              </a:p>
              <a:p>
                <a:pPr marL="171450" indent="-171450" defTabSz="914172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Клиент начинает пользоваться услугой.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2B91D99-B91E-42DD-A445-1FDBFFF7EDC6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011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4A973B9-17EE-44BC-9C63-3701A147FB9F}"/>
              </a:ext>
            </a:extLst>
          </p:cNvPr>
          <p:cNvGrpSpPr/>
          <p:nvPr/>
        </p:nvGrpSpPr>
        <p:grpSpPr>
          <a:xfrm>
            <a:off x="48821" y="4604088"/>
            <a:ext cx="12094359" cy="2020263"/>
            <a:chOff x="44893" y="2086757"/>
            <a:chExt cx="12097509" cy="2134117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85C473B5-399A-4A8F-A42E-F73676CD7E22}"/>
                </a:ext>
              </a:extLst>
            </p:cNvPr>
            <p:cNvGrpSpPr/>
            <p:nvPr/>
          </p:nvGrpSpPr>
          <p:grpSpPr>
            <a:xfrm>
              <a:off x="44893" y="2086757"/>
              <a:ext cx="1641998" cy="2134117"/>
              <a:chOff x="313965" y="1414258"/>
              <a:chExt cx="1559409" cy="2334606"/>
            </a:xfrm>
          </p:grpSpPr>
          <p:sp>
            <p:nvSpPr>
              <p:cNvPr id="212" name="Rectangle: Rounded Corners 16">
                <a:extLst>
                  <a:ext uri="{FF2B5EF4-FFF2-40B4-BE49-F238E27FC236}">
                    <a16:creationId xmlns:a16="http://schemas.microsoft.com/office/drawing/2014/main" id="{3B131B46-C9C9-41D9-B48D-06FBE13398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965" y="1414258"/>
                <a:ext cx="1005475" cy="2334606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i="1" dirty="0">
                    <a:solidFill>
                      <a:srgbClr val="000000"/>
                    </a:solidFill>
                    <a:latin typeface="Verdana Pro"/>
                    <a:ea typeface="Tahoma" panose="020B0604030504040204" pitchFamily="34" charset="0"/>
                    <a:cs typeface="Tahoma" panose="020B0604030504040204" pitchFamily="34" charset="0"/>
                  </a:rPr>
                  <a:t>Становление (Поиск решения проблемы)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5C3D17CD-7F45-4543-A67F-59127F0CE1CF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600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sp>
          <p:nvSpPr>
            <p:cNvPr id="210" name="Rectangle: Rounded Corners 16">
              <a:extLst>
                <a:ext uri="{FF2B5EF4-FFF2-40B4-BE49-F238E27FC236}">
                  <a16:creationId xmlns:a16="http://schemas.microsoft.com/office/drawing/2014/main" id="{5C879E3C-838C-4E83-98BA-AF7D5E40D5C4}"/>
                </a:ext>
              </a:extLst>
            </p:cNvPr>
            <p:cNvSpPr>
              <a:spLocks/>
            </p:cNvSpPr>
            <p:nvPr/>
          </p:nvSpPr>
          <p:spPr>
            <a:xfrm>
              <a:off x="1309071" y="2141396"/>
              <a:ext cx="1887565" cy="989124"/>
            </a:xfrm>
            <a:prstGeom prst="roundRect">
              <a:avLst>
                <a:gd name="adj" fmla="val 6894"/>
              </a:avLst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 defTabSz="914172">
                <a:buClr>
                  <a:srgbClr val="652D86"/>
                </a:buClr>
                <a:buSzPct val="110000"/>
                <a:buFont typeface="Arial" panose="020B0604020202020204" pitchFamily="34" charset="0"/>
                <a:buChar char="•"/>
                <a:defRPr/>
              </a:pPr>
              <a:r>
                <a:rPr lang="ru-RU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Поиск </a:t>
              </a:r>
              <a:r>
                <a:rPr lang="en-US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CRM </a:t>
              </a:r>
              <a:r>
                <a:rPr lang="ru-RU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с интегрированной телефонией</a:t>
              </a:r>
            </a:p>
            <a:p>
              <a:pPr marL="171450" indent="-171450" defTabSz="914172">
                <a:buClr>
                  <a:srgbClr val="652D86"/>
                </a:buClr>
                <a:buSzPct val="110000"/>
                <a:buFont typeface="Arial" panose="020B0604020202020204" pitchFamily="34" charset="0"/>
                <a:buChar char="•"/>
                <a:defRPr/>
              </a:pPr>
              <a:r>
                <a:rPr lang="ru-RU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ВАТС различных операторов в К</a:t>
              </a:r>
              <a:r>
                <a:rPr lang="en-US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Z</a:t>
              </a:r>
              <a:r>
                <a:rPr lang="ru-RU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rPr>
                <a:t> и вендоров  других стран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32807B83-DAC4-40E0-B955-7A6B2C870C8B}"/>
                </a:ext>
              </a:extLst>
            </p:cNvPr>
            <p:cNvSpPr txBox="1"/>
            <p:nvPr/>
          </p:nvSpPr>
          <p:spPr>
            <a:xfrm>
              <a:off x="4785779" y="2936486"/>
              <a:ext cx="170014" cy="1463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Segoe UI" panose="020B0502040204020203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cs typeface="Segoe UI" panose="020B0502040204020203" pitchFamily="34" charset="0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cs typeface="Segoe UI" panose="020B0502040204020203" pitchFamily="34" charset="0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cs typeface="Segoe UI" panose="020B0502040204020203" pitchFamily="34" charset="0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cs typeface="Segoe UI" panose="020B0502040204020203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defTabSz="914172">
                <a:buNone/>
                <a:defRPr/>
              </a:pPr>
              <a:endParaRPr lang="ru-RU" sz="900" dirty="0">
                <a:solidFill>
                  <a:srgbClr val="000000"/>
                </a:solidFill>
                <a:latin typeface="Verdana Pro"/>
              </a:endParaRP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52F7F778-42EE-4D81-ABFF-B933D0A03341}"/>
                </a:ext>
              </a:extLst>
            </p:cNvPr>
            <p:cNvGrpSpPr/>
            <p:nvPr/>
          </p:nvGrpSpPr>
          <p:grpSpPr>
            <a:xfrm>
              <a:off x="5493983" y="2102808"/>
              <a:ext cx="1739423" cy="1269681"/>
              <a:chOff x="303687" y="1431815"/>
              <a:chExt cx="2224416" cy="1388959"/>
            </a:xfrm>
          </p:grpSpPr>
          <p:sp>
            <p:nvSpPr>
              <p:cNvPr id="206" name="Rectangle: Rounded Corners 16">
                <a:extLst>
                  <a:ext uri="{FF2B5EF4-FFF2-40B4-BE49-F238E27FC236}">
                    <a16:creationId xmlns:a16="http://schemas.microsoft.com/office/drawing/2014/main" id="{0BB8B5FF-9E14-4F2B-8D9F-2EDEA59AD81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3687" y="1431815"/>
                <a:ext cx="2224416" cy="1388959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indent="-171450" defTabSz="914172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1450" indent="-171450" defTabSz="914172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1450" indent="-171450" defTabSz="914172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71450" indent="-171450" defTabSz="914172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endParaRPr lang="ru-RU" sz="1200" i="1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endParaRPr>
              </a:p>
              <a:p>
                <a:pPr marL="142875" indent="-142875" defTabSz="914080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r>
                  <a:rPr lang="ru-RU" sz="12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Анализ КП </a:t>
                </a:r>
              </a:p>
              <a:p>
                <a:pPr marL="142875" indent="-142875" defTabSz="914080">
                  <a:buClr>
                    <a:srgbClr val="652D86"/>
                  </a:buClr>
                  <a:buSzPct val="110000"/>
                  <a:buFont typeface="Arial" panose="020B0604020202020204" pitchFamily="34" charset="0"/>
                  <a:buChar char="•"/>
                  <a:defRPr/>
                </a:pPr>
                <a:r>
                  <a:rPr lang="ru-RU" sz="12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(сравнение, оценка, приоритезация)</a:t>
                </a:r>
              </a:p>
              <a:p>
                <a:pPr defTabSz="914080">
                  <a:buClr>
                    <a:srgbClr val="652D86"/>
                  </a:buClr>
                  <a:buSzPct val="110000"/>
                  <a:defRPr/>
                </a:pPr>
                <a:endPara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endParaRPr lang="ru-RU" sz="950" i="1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476B474-8DCE-4671-8292-4156098F754E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600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69429002-7C74-4D31-B54A-9AE2725382F1}"/>
                </a:ext>
              </a:extLst>
            </p:cNvPr>
            <p:cNvGrpSpPr/>
            <p:nvPr/>
          </p:nvGrpSpPr>
          <p:grpSpPr>
            <a:xfrm>
              <a:off x="7514877" y="2229900"/>
              <a:ext cx="1473129" cy="882034"/>
              <a:chOff x="567347" y="1570847"/>
              <a:chExt cx="1883872" cy="964896"/>
            </a:xfrm>
          </p:grpSpPr>
          <p:sp>
            <p:nvSpPr>
              <p:cNvPr id="204" name="Rectangle: Rounded Corners 16">
                <a:extLst>
                  <a:ext uri="{FF2B5EF4-FFF2-40B4-BE49-F238E27FC236}">
                    <a16:creationId xmlns:a16="http://schemas.microsoft.com/office/drawing/2014/main" id="{8B8FC755-404B-429C-8AD5-10A2855B26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7347" y="1570847"/>
                <a:ext cx="1883872" cy="964896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Подбор номера по требованию Клиента</a:t>
                </a: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E9A76B3-6F04-4886-B2DF-D87A6D070B0D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600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sp>
          <p:nvSpPr>
            <p:cNvPr id="202" name="Rectangle: Rounded Corners 16">
              <a:extLst>
                <a:ext uri="{FF2B5EF4-FFF2-40B4-BE49-F238E27FC236}">
                  <a16:creationId xmlns:a16="http://schemas.microsoft.com/office/drawing/2014/main" id="{84BB653E-3592-4751-BD94-0369B623E77A}"/>
                </a:ext>
              </a:extLst>
            </p:cNvPr>
            <p:cNvSpPr>
              <a:spLocks/>
            </p:cNvSpPr>
            <p:nvPr/>
          </p:nvSpPr>
          <p:spPr>
            <a:xfrm>
              <a:off x="9218343" y="2166260"/>
              <a:ext cx="1473129" cy="879386"/>
            </a:xfrm>
            <a:prstGeom prst="roundRect">
              <a:avLst>
                <a:gd name="adj" fmla="val 6894"/>
              </a:avLst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 defTabSz="914172">
                <a:buClr>
                  <a:srgbClr val="652D86"/>
                </a:buClr>
                <a:buSzPct val="110000"/>
                <a:buFont typeface="Arial" panose="020B0604020202020204" pitchFamily="34" charset="0"/>
                <a:buChar char="•"/>
                <a:defRPr/>
              </a:pPr>
              <a:r>
                <a:rPr lang="ru-RU" sz="950" spc="-1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Производится настройка и отладка  услуги</a:t>
              </a:r>
            </a:p>
            <a:p>
              <a:pPr marL="171450" indent="-171450" defTabSz="914172">
                <a:buClr>
                  <a:srgbClr val="652D86"/>
                </a:buClr>
                <a:buSzPct val="110000"/>
                <a:buFont typeface="Arial" panose="020B0604020202020204" pitchFamily="34" charset="0"/>
                <a:buChar char="•"/>
                <a:defRPr/>
              </a:pPr>
              <a:r>
                <a:rPr lang="ru-RU" sz="950" spc="-1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Тестирование услуги</a:t>
              </a:r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62A19E58-8765-46A7-B448-D74B881DF4CA}"/>
                </a:ext>
              </a:extLst>
            </p:cNvPr>
            <p:cNvGrpSpPr/>
            <p:nvPr/>
          </p:nvGrpSpPr>
          <p:grpSpPr>
            <a:xfrm>
              <a:off x="10760765" y="2150381"/>
              <a:ext cx="1381637" cy="1170971"/>
              <a:chOff x="192943" y="1483858"/>
              <a:chExt cx="1766869" cy="1280976"/>
            </a:xfrm>
          </p:grpSpPr>
          <p:sp>
            <p:nvSpPr>
              <p:cNvPr id="200" name="Rectangle: Rounded Corners 16">
                <a:extLst>
                  <a:ext uri="{FF2B5EF4-FFF2-40B4-BE49-F238E27FC236}">
                    <a16:creationId xmlns:a16="http://schemas.microsoft.com/office/drawing/2014/main" id="{A8449B2E-1634-4C2A-98E6-136BA4ED89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2943" y="1483858"/>
                <a:ext cx="1766869" cy="1280976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dirty="0" err="1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Customer</a:t>
                </a: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 </a:t>
                </a:r>
                <a:r>
                  <a:rPr lang="ru-RU" sz="950" dirty="0" err="1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Experience</a:t>
                </a:r>
                <a:endParaRPr lang="ru-RU" sz="950" dirty="0">
                  <a:solidFill>
                    <a:srgbClr val="00000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endParaRPr>
              </a:p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(</a:t>
                </a:r>
                <a:r>
                  <a:rPr lang="ru-RU" sz="950" dirty="0" err="1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Постпродажный</a:t>
                </a: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 опыт: получение первого счета, </a:t>
                </a:r>
                <a:r>
                  <a:rPr lang="ru-RU" sz="950" dirty="0" err="1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тех.обслуживание</a:t>
                </a: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, устранение жалоб и т.д.)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B10E1BAA-0A6F-4F88-BB27-30DD98D3C118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6004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8537365-6F47-42AE-A819-11728D77C452}"/>
              </a:ext>
            </a:extLst>
          </p:cNvPr>
          <p:cNvGrpSpPr/>
          <p:nvPr/>
        </p:nvGrpSpPr>
        <p:grpSpPr>
          <a:xfrm>
            <a:off x="1437630" y="5658068"/>
            <a:ext cx="10614085" cy="1132105"/>
            <a:chOff x="1457959" y="2322293"/>
            <a:chExt cx="10616850" cy="751391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F10468F-D514-415E-AE52-E871057E3C7E}"/>
                </a:ext>
              </a:extLst>
            </p:cNvPr>
            <p:cNvSpPr txBox="1"/>
            <p:nvPr/>
          </p:nvSpPr>
          <p:spPr>
            <a:xfrm>
              <a:off x="1457959" y="2936485"/>
              <a:ext cx="228933" cy="9192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Segoe UI" panose="020B0502040204020203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cs typeface="Segoe UI" panose="020B0502040204020203" pitchFamily="34" charset="0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cs typeface="Segoe UI" panose="020B0502040204020203" pitchFamily="34" charset="0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cs typeface="Segoe UI" panose="020B0502040204020203" pitchFamily="34" charset="0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cs typeface="Segoe UI" panose="020B0502040204020203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defTabSz="914172">
                <a:buNone/>
                <a:defRPr/>
              </a:pPr>
              <a:endParaRPr lang="ru-RU" sz="900" dirty="0">
                <a:solidFill>
                  <a:srgbClr val="000000"/>
                </a:solidFill>
                <a:latin typeface="Verdana Pro"/>
              </a:endParaRP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85FB9973-8A1F-496C-8DCC-1EC1FB10CF07}"/>
                </a:ext>
              </a:extLst>
            </p:cNvPr>
            <p:cNvGrpSpPr/>
            <p:nvPr/>
          </p:nvGrpSpPr>
          <p:grpSpPr>
            <a:xfrm>
              <a:off x="3416969" y="2436289"/>
              <a:ext cx="1855465" cy="592120"/>
              <a:chOff x="-94509" y="1796626"/>
              <a:chExt cx="2372811" cy="647746"/>
            </a:xfrm>
          </p:grpSpPr>
          <p:sp>
            <p:nvSpPr>
              <p:cNvPr id="230" name="Rectangle: Rounded Corners 16">
                <a:extLst>
                  <a:ext uri="{FF2B5EF4-FFF2-40B4-BE49-F238E27FC236}">
                    <a16:creationId xmlns:a16="http://schemas.microsoft.com/office/drawing/2014/main" id="{51B2707D-CA30-4404-9A99-9161D7806A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94509" y="1796626"/>
                <a:ext cx="2372811" cy="592809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0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получает ответ, что с ним свяжется торговый представитель для предоставления консультации и предоставления КП</a:t>
                </a: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6169D89E-5CA3-4AE9-8C89-6773B4D095F5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0055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637101A8-F330-44E0-8016-5C1D415E91A3}"/>
                </a:ext>
              </a:extLst>
            </p:cNvPr>
            <p:cNvGrpSpPr/>
            <p:nvPr/>
          </p:nvGrpSpPr>
          <p:grpSpPr>
            <a:xfrm>
              <a:off x="5562018" y="2514658"/>
              <a:ext cx="1716592" cy="513750"/>
              <a:chOff x="390690" y="1882358"/>
              <a:chExt cx="2195218" cy="562014"/>
            </a:xfrm>
          </p:grpSpPr>
          <p:sp>
            <p:nvSpPr>
              <p:cNvPr id="228" name="Rectangle: Rounded Corners 16">
                <a:extLst>
                  <a:ext uri="{FF2B5EF4-FFF2-40B4-BE49-F238E27FC236}">
                    <a16:creationId xmlns:a16="http://schemas.microsoft.com/office/drawing/2014/main" id="{E5CCDC32-81A1-4240-A047-7A80752F39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690" y="1882358"/>
                <a:ext cx="2195218" cy="491145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Делает выбор поставщика услуги – </a:t>
                </a:r>
                <a:r>
                  <a:rPr lang="ru-RU" sz="950" b="1" dirty="0">
                    <a:solidFill>
                      <a:srgbClr val="7030A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Виртуальная АТС от </a:t>
                </a:r>
                <a:r>
                  <a:rPr lang="ru-RU" sz="950" b="1" dirty="0" err="1">
                    <a:solidFill>
                      <a:srgbClr val="7030A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Кселл</a:t>
                </a:r>
                <a:endParaRPr lang="ru-RU" sz="950" b="1" dirty="0">
                  <a:solidFill>
                    <a:srgbClr val="7030A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6E7B9EB4-DD99-4651-B711-BF8707E8C315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0055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sp>
          <p:nvSpPr>
            <p:cNvPr id="226" name="Rectangle: Rounded Corners 16">
              <a:extLst>
                <a:ext uri="{FF2B5EF4-FFF2-40B4-BE49-F238E27FC236}">
                  <a16:creationId xmlns:a16="http://schemas.microsoft.com/office/drawing/2014/main" id="{03C52FA3-2226-4DE9-8D5F-6658A9EB3057}"/>
                </a:ext>
              </a:extLst>
            </p:cNvPr>
            <p:cNvSpPr>
              <a:spLocks/>
            </p:cNvSpPr>
            <p:nvPr/>
          </p:nvSpPr>
          <p:spPr>
            <a:xfrm>
              <a:off x="7628649" y="2337960"/>
              <a:ext cx="1188355" cy="735724"/>
            </a:xfrm>
            <a:prstGeom prst="roundRect">
              <a:avLst>
                <a:gd name="adj" fmla="val 6894"/>
              </a:avLst>
            </a:prstGeom>
            <a:solidFill>
              <a:srgbClr val="FFFFFF"/>
            </a:solidFill>
            <a:ln>
              <a:noFill/>
            </a:ln>
            <a:effectLst>
              <a:outerShdw blurRad="50800" dist="38100" algn="l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172">
                <a:buClr>
                  <a:srgbClr val="652D86"/>
                </a:buClr>
                <a:buSzPct val="110000"/>
                <a:defRPr/>
              </a:pPr>
              <a:r>
                <a:rPr lang="ru-RU" sz="950" spc="-10" dirty="0">
                  <a:solidFill>
                    <a:srgbClr val="00000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Настройка и подключение </a:t>
              </a:r>
              <a:r>
                <a:rPr lang="ru-RU" sz="950" b="1" spc="-10" dirty="0">
                  <a:solidFill>
                    <a:srgbClr val="7030A0"/>
                  </a:solidFill>
                  <a:latin typeface="Verdana Pro"/>
                  <a:ea typeface="Tahoma" panose="020B0604030504040204" pitchFamily="34" charset="0"/>
                  <a:cs typeface="Tahoma" panose="020B0604030504040204" pitchFamily="34" charset="0"/>
                </a:rPr>
                <a:t>(роботизирована – занимает 3 минуты)</a:t>
              </a:r>
              <a:endParaRPr lang="ru-RU" sz="950" b="1" dirty="0">
                <a:solidFill>
                  <a:srgbClr val="7030A0"/>
                </a:solidFill>
                <a:latin typeface="Verdana Pro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8223AC7A-E16C-49B8-9DBA-BE00F79FB256}"/>
                </a:ext>
              </a:extLst>
            </p:cNvPr>
            <p:cNvGrpSpPr/>
            <p:nvPr/>
          </p:nvGrpSpPr>
          <p:grpSpPr>
            <a:xfrm>
              <a:off x="9377549" y="2322293"/>
              <a:ext cx="1188355" cy="735724"/>
              <a:chOff x="680776" y="1671921"/>
              <a:chExt cx="1519696" cy="804841"/>
            </a:xfrm>
          </p:grpSpPr>
          <p:sp>
            <p:nvSpPr>
              <p:cNvPr id="224" name="Rectangle: Rounded Corners 16">
                <a:extLst>
                  <a:ext uri="{FF2B5EF4-FFF2-40B4-BE49-F238E27FC236}">
                    <a16:creationId xmlns:a16="http://schemas.microsoft.com/office/drawing/2014/main" id="{7560CC78-2837-4390-9EB9-D89E915F5AD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776" y="1671921"/>
                <a:ext cx="1519696" cy="804841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172">
                  <a:buClr>
                    <a:srgbClr val="652D86"/>
                  </a:buClr>
                  <a:buSzPct val="110000"/>
                  <a:defRPr/>
                </a:pPr>
                <a:r>
                  <a:rPr lang="ru-RU" sz="950" dirty="0">
                    <a:solidFill>
                      <a:srgbClr val="00000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Торговый представитель уточняет готов ли Клиент к запуску услуги</a:t>
                </a:r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D33F77B-EE90-4176-B3C7-0AA38205B70D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0055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346E2FE3-6765-4BA6-B861-9805B3FB4B09}"/>
                </a:ext>
              </a:extLst>
            </p:cNvPr>
            <p:cNvGrpSpPr/>
            <p:nvPr/>
          </p:nvGrpSpPr>
          <p:grpSpPr>
            <a:xfrm>
              <a:off x="10836420" y="2453023"/>
              <a:ext cx="1238389" cy="575868"/>
              <a:chOff x="289692" y="1814936"/>
              <a:chExt cx="1583682" cy="629969"/>
            </a:xfrm>
          </p:grpSpPr>
          <p:sp>
            <p:nvSpPr>
              <p:cNvPr id="222" name="Rectangle: Rounded Corners 16">
                <a:extLst>
                  <a:ext uri="{FF2B5EF4-FFF2-40B4-BE49-F238E27FC236}">
                    <a16:creationId xmlns:a16="http://schemas.microsoft.com/office/drawing/2014/main" id="{D4B5C7C1-1ABF-42B9-9F18-D6CCC3A6A9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9692" y="1814936"/>
                <a:ext cx="1519696" cy="629969"/>
              </a:xfrm>
              <a:prstGeom prst="roundRect">
                <a:avLst>
                  <a:gd name="adj" fmla="val 6894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algn="l" rotWithShape="0">
                  <a:schemeClr val="accent4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172">
                  <a:buClr>
                    <a:srgbClr val="652D86"/>
                  </a:buClr>
                  <a:buSzPct val="110000"/>
                  <a:defRPr/>
                </a:pPr>
                <a:r>
                  <a:rPr lang="en-US" sz="950" b="1" dirty="0">
                    <a:solidFill>
                      <a:srgbClr val="00B050"/>
                    </a:solidFill>
                    <a:latin typeface="Helvetica" panose="020B0604020202020204" pitchFamily="34" charset="0"/>
                    <a:ea typeface="Tahoma" panose="020B0604030504040204" pitchFamily="34" charset="0"/>
                    <a:cs typeface="Helvetica" panose="020B0604020202020204" pitchFamily="34" charset="0"/>
                  </a:rPr>
                  <a:t>Retention</a:t>
                </a:r>
                <a:endParaRPr lang="ru-RU" sz="950" b="1" dirty="0">
                  <a:solidFill>
                    <a:srgbClr val="00B050"/>
                  </a:solidFill>
                  <a:latin typeface="Helvetica" panose="020B0604020202020204" pitchFamily="34" charset="0"/>
                  <a:ea typeface="Tahoma" panose="020B060403050404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7A0E17C-CE7D-4A53-9A6E-57CD0547175B}"/>
                  </a:ext>
                </a:extLst>
              </p:cNvPr>
              <p:cNvSpPr txBox="1"/>
              <p:nvPr/>
            </p:nvSpPr>
            <p:spPr>
              <a:xfrm>
                <a:off x="1655956" y="2343813"/>
                <a:ext cx="217418" cy="10055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cs typeface="Segoe UI" panose="020B0502040204020203" pitchFamily="34" charset="0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cs typeface="Segoe UI" panose="020B0502040204020203" pitchFamily="34" charset="0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cs typeface="Segoe UI" panose="020B0502040204020203" pitchFamily="34" charset="0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cs typeface="Segoe UI" panose="020B0502040204020203" pitchFamily="34" charset="0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cs typeface="Segoe UI" panose="020B0502040204020203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defTabSz="914172">
                  <a:buNone/>
                  <a:defRPr/>
                </a:pPr>
                <a:endParaRPr lang="ru-RU" sz="900" dirty="0">
                  <a:solidFill>
                    <a:srgbClr val="000000"/>
                  </a:solidFill>
                  <a:latin typeface="Verdana Pro"/>
                </a:endParaRPr>
              </a:p>
            </p:txBody>
          </p:sp>
        </p:grpSp>
      </p:grpSp>
      <p:sp>
        <p:nvSpPr>
          <p:cNvPr id="236" name="2. Slide Title">
            <a:extLst>
              <a:ext uri="{FF2B5EF4-FFF2-40B4-BE49-F238E27FC236}">
                <a16:creationId xmlns:a16="http://schemas.microsoft.com/office/drawing/2014/main" id="{6323F823-7044-4CEE-8D28-8DA997FD1C4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56179" y="25545"/>
            <a:ext cx="11079642" cy="41478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200" b="1" kern="1200" spc="0" baseline="0" dirty="0">
                <a:ln w="6350" cap="flat">
                  <a:noFill/>
                  <a:miter lim="800000"/>
                </a:ln>
                <a:solidFill>
                  <a:schemeClr val="accent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pPr algn="ctr" defTabSz="457200"/>
            <a:r>
              <a:rPr lang="en-US" dirty="0">
                <a:solidFill>
                  <a:srgbClr val="7030A0"/>
                </a:solidFill>
                <a:latin typeface="Calibri Light" panose="020F0302020204030204"/>
              </a:rPr>
              <a:t>CJM </a:t>
            </a:r>
            <a:r>
              <a:rPr lang="ru-RU" dirty="0">
                <a:solidFill>
                  <a:srgbClr val="7030A0"/>
                </a:solidFill>
                <a:latin typeface="Calibri Light" panose="020F0302020204030204"/>
              </a:rPr>
              <a:t>клиента по услуге </a:t>
            </a:r>
            <a:r>
              <a:rPr lang="ru-RU" dirty="0">
                <a:solidFill>
                  <a:srgbClr val="92D050"/>
                </a:solidFill>
                <a:latin typeface="Calibri Light" panose="020F0302020204030204"/>
              </a:rPr>
              <a:t>Виртуальная АТС</a:t>
            </a:r>
            <a:endParaRPr lang="en-US" dirty="0">
              <a:solidFill>
                <a:srgbClr val="92278F"/>
              </a:solidFill>
              <a:latin typeface="Calibri Light" panose="020F0302020204030204"/>
            </a:endParaRPr>
          </a:p>
        </p:txBody>
      </p:sp>
      <p:grpSp>
        <p:nvGrpSpPr>
          <p:cNvPr id="130" name="object 10">
            <a:extLst>
              <a:ext uri="{FF2B5EF4-FFF2-40B4-BE49-F238E27FC236}">
                <a16:creationId xmlns:a16="http://schemas.microsoft.com/office/drawing/2014/main" id="{45E95A46-1958-4AAE-94C0-04C18904BA3A}"/>
              </a:ext>
            </a:extLst>
          </p:cNvPr>
          <p:cNvGrpSpPr/>
          <p:nvPr/>
        </p:nvGrpSpPr>
        <p:grpSpPr>
          <a:xfrm>
            <a:off x="1292819" y="3277683"/>
            <a:ext cx="2364017" cy="1343788"/>
            <a:chOff x="-83050" y="1824361"/>
            <a:chExt cx="3448295" cy="1417694"/>
          </a:xfrm>
        </p:grpSpPr>
        <p:sp>
          <p:nvSpPr>
            <p:cNvPr id="131" name="object 11">
              <a:extLst>
                <a:ext uri="{FF2B5EF4-FFF2-40B4-BE49-F238E27FC236}">
                  <a16:creationId xmlns:a16="http://schemas.microsoft.com/office/drawing/2014/main" id="{063BA42C-409F-4308-8628-DE0F6FD91599}"/>
                </a:ext>
              </a:extLst>
            </p:cNvPr>
            <p:cNvSpPr/>
            <p:nvPr/>
          </p:nvSpPr>
          <p:spPr>
            <a:xfrm>
              <a:off x="554735" y="1949195"/>
              <a:ext cx="2810510" cy="1292860"/>
            </a:xfrm>
            <a:custGeom>
              <a:avLst/>
              <a:gdLst/>
              <a:ahLst/>
              <a:cxnLst/>
              <a:rect l="l" t="t" r="r" b="b"/>
              <a:pathLst>
                <a:path w="2810510" h="1292860">
                  <a:moveTo>
                    <a:pt x="0" y="171323"/>
                  </a:moveTo>
                  <a:lnTo>
                    <a:pt x="6119" y="125779"/>
                  </a:lnTo>
                  <a:lnTo>
                    <a:pt x="23388" y="84854"/>
                  </a:lnTo>
                  <a:lnTo>
                    <a:pt x="50174" y="50180"/>
                  </a:lnTo>
                  <a:lnTo>
                    <a:pt x="84845" y="23391"/>
                  </a:lnTo>
                  <a:lnTo>
                    <a:pt x="125768" y="6120"/>
                  </a:lnTo>
                  <a:lnTo>
                    <a:pt x="171310" y="0"/>
                  </a:lnTo>
                  <a:lnTo>
                    <a:pt x="2638933" y="0"/>
                  </a:lnTo>
                  <a:lnTo>
                    <a:pt x="2684476" y="6120"/>
                  </a:lnTo>
                  <a:lnTo>
                    <a:pt x="2725401" y="23391"/>
                  </a:lnTo>
                  <a:lnTo>
                    <a:pt x="2760075" y="50180"/>
                  </a:lnTo>
                  <a:lnTo>
                    <a:pt x="2786864" y="84854"/>
                  </a:lnTo>
                  <a:lnTo>
                    <a:pt x="2804135" y="125779"/>
                  </a:lnTo>
                  <a:lnTo>
                    <a:pt x="2810255" y="171323"/>
                  </a:lnTo>
                  <a:lnTo>
                    <a:pt x="2810255" y="1121028"/>
                  </a:lnTo>
                  <a:lnTo>
                    <a:pt x="2804135" y="1166572"/>
                  </a:lnTo>
                  <a:lnTo>
                    <a:pt x="2786864" y="1207497"/>
                  </a:lnTo>
                  <a:lnTo>
                    <a:pt x="2760075" y="1242171"/>
                  </a:lnTo>
                  <a:lnTo>
                    <a:pt x="2725401" y="1268960"/>
                  </a:lnTo>
                  <a:lnTo>
                    <a:pt x="2684476" y="1286231"/>
                  </a:lnTo>
                  <a:lnTo>
                    <a:pt x="2638933" y="1292352"/>
                  </a:lnTo>
                  <a:lnTo>
                    <a:pt x="171310" y="1292352"/>
                  </a:lnTo>
                  <a:lnTo>
                    <a:pt x="125768" y="1286231"/>
                  </a:lnTo>
                  <a:lnTo>
                    <a:pt x="84845" y="1268960"/>
                  </a:lnTo>
                  <a:lnTo>
                    <a:pt x="50174" y="1242171"/>
                  </a:lnTo>
                  <a:lnTo>
                    <a:pt x="23388" y="1207497"/>
                  </a:lnTo>
                  <a:lnTo>
                    <a:pt x="6119" y="1166572"/>
                  </a:lnTo>
                  <a:lnTo>
                    <a:pt x="0" y="1121028"/>
                  </a:lnTo>
                  <a:lnTo>
                    <a:pt x="0" y="171323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914080"/>
              <a:endParaRPr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7" name="object 13">
              <a:extLst>
                <a:ext uri="{FF2B5EF4-FFF2-40B4-BE49-F238E27FC236}">
                  <a16:creationId xmlns:a16="http://schemas.microsoft.com/office/drawing/2014/main" id="{14EDCACC-EA37-4293-B2C1-0C40388FB998}"/>
                </a:ext>
              </a:extLst>
            </p:cNvPr>
            <p:cNvSpPr/>
            <p:nvPr/>
          </p:nvSpPr>
          <p:spPr>
            <a:xfrm>
              <a:off x="-83050" y="1824361"/>
              <a:ext cx="2810510" cy="1290955"/>
            </a:xfrm>
            <a:custGeom>
              <a:avLst/>
              <a:gdLst/>
              <a:ahLst/>
              <a:cxnLst/>
              <a:rect l="l" t="t" r="r" b="b"/>
              <a:pathLst>
                <a:path w="2810510" h="1290955">
                  <a:moveTo>
                    <a:pt x="2639187" y="0"/>
                  </a:moveTo>
                  <a:lnTo>
                    <a:pt x="171107" y="0"/>
                  </a:lnTo>
                  <a:lnTo>
                    <a:pt x="125619" y="6110"/>
                  </a:lnTo>
                  <a:lnTo>
                    <a:pt x="84745" y="23353"/>
                  </a:lnTo>
                  <a:lnTo>
                    <a:pt x="50115" y="50101"/>
                  </a:lnTo>
                  <a:lnTo>
                    <a:pt x="23360" y="84723"/>
                  </a:lnTo>
                  <a:lnTo>
                    <a:pt x="6112" y="125588"/>
                  </a:lnTo>
                  <a:lnTo>
                    <a:pt x="0" y="171068"/>
                  </a:lnTo>
                  <a:lnTo>
                    <a:pt x="0" y="1119758"/>
                  </a:lnTo>
                  <a:lnTo>
                    <a:pt x="6112" y="1165239"/>
                  </a:lnTo>
                  <a:lnTo>
                    <a:pt x="23360" y="1206104"/>
                  </a:lnTo>
                  <a:lnTo>
                    <a:pt x="50115" y="1240726"/>
                  </a:lnTo>
                  <a:lnTo>
                    <a:pt x="84745" y="1267474"/>
                  </a:lnTo>
                  <a:lnTo>
                    <a:pt x="125619" y="1284717"/>
                  </a:lnTo>
                  <a:lnTo>
                    <a:pt x="171107" y="1290827"/>
                  </a:lnTo>
                  <a:lnTo>
                    <a:pt x="2639187" y="1290827"/>
                  </a:lnTo>
                  <a:lnTo>
                    <a:pt x="2684667" y="1284717"/>
                  </a:lnTo>
                  <a:lnTo>
                    <a:pt x="2725532" y="1267474"/>
                  </a:lnTo>
                  <a:lnTo>
                    <a:pt x="2760154" y="1240726"/>
                  </a:lnTo>
                  <a:lnTo>
                    <a:pt x="2786902" y="1206104"/>
                  </a:lnTo>
                  <a:lnTo>
                    <a:pt x="2804145" y="1165239"/>
                  </a:lnTo>
                  <a:lnTo>
                    <a:pt x="2810255" y="1119758"/>
                  </a:lnTo>
                  <a:lnTo>
                    <a:pt x="2810255" y="171068"/>
                  </a:lnTo>
                  <a:lnTo>
                    <a:pt x="2804145" y="125588"/>
                  </a:lnTo>
                  <a:lnTo>
                    <a:pt x="2786902" y="84723"/>
                  </a:lnTo>
                  <a:lnTo>
                    <a:pt x="2760154" y="50101"/>
                  </a:lnTo>
                  <a:lnTo>
                    <a:pt x="2725532" y="23353"/>
                  </a:lnTo>
                  <a:lnTo>
                    <a:pt x="2684667" y="6110"/>
                  </a:lnTo>
                  <a:lnTo>
                    <a:pt x="26391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285750" indent="-285750" defTabSz="914080">
                <a:buFont typeface="Arial" panose="020B0604020202020204" pitchFamily="34" charset="0"/>
                <a:buChar char="•"/>
              </a:pPr>
              <a:r>
                <a:rPr lang="ru-RU" sz="900" dirty="0" err="1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Серфит</a:t>
              </a: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интернет</a:t>
              </a:r>
            </a:p>
            <a:p>
              <a:pPr marL="285750" indent="-285750" defTabSz="914080"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Смотрит в </a:t>
              </a:r>
              <a:r>
                <a:rPr lang="ru-RU" sz="900" dirty="0" err="1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Social</a:t>
              </a: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</a:t>
              </a:r>
              <a:r>
                <a:rPr lang="ru-RU" sz="900" dirty="0" err="1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Media</a:t>
              </a: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и </a:t>
              </a:r>
              <a:r>
                <a:rPr lang="ru-RU" sz="900" dirty="0" err="1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Youtube</a:t>
              </a:r>
              <a:endPara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 defTabSz="914080"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Посещает тренинги и </a:t>
              </a:r>
              <a:r>
                <a:rPr lang="en-US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workshop</a:t>
              </a: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ы</a:t>
              </a:r>
            </a:p>
            <a:p>
              <a:pPr marL="285750" indent="-285750" defTabSz="914080">
                <a:buFont typeface="Arial" panose="020B0604020202020204" pitchFamily="34" charset="0"/>
                <a:buChar char="•"/>
              </a:pPr>
              <a:r>
                <a:rPr lang="ru-RU" sz="900" dirty="0" err="1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Рекалама</a:t>
              </a: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на TV, баннерах, радио, на сайтах</a:t>
              </a:r>
            </a:p>
            <a:p>
              <a:pPr marL="285750" indent="-285750" defTabSz="914080"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Просматривает сайт </a:t>
              </a:r>
              <a:r>
                <a:rPr lang="en-US" sz="9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kcell.kz</a:t>
              </a:r>
              <a:endParaRPr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53" name="object 13">
            <a:extLst>
              <a:ext uri="{FF2B5EF4-FFF2-40B4-BE49-F238E27FC236}">
                <a16:creationId xmlns:a16="http://schemas.microsoft.com/office/drawing/2014/main" id="{0536A174-03B2-484F-982A-D406532A2E35}"/>
              </a:ext>
            </a:extLst>
          </p:cNvPr>
          <p:cNvSpPr/>
          <p:nvPr/>
        </p:nvSpPr>
        <p:spPr>
          <a:xfrm>
            <a:off x="3382818" y="3307526"/>
            <a:ext cx="1926777" cy="1197239"/>
          </a:xfrm>
          <a:custGeom>
            <a:avLst/>
            <a:gdLst/>
            <a:ahLst/>
            <a:cxnLst/>
            <a:rect l="l" t="t" r="r" b="b"/>
            <a:pathLst>
              <a:path w="2810510" h="1290955">
                <a:moveTo>
                  <a:pt x="2639187" y="0"/>
                </a:moveTo>
                <a:lnTo>
                  <a:pt x="171107" y="0"/>
                </a:lnTo>
                <a:lnTo>
                  <a:pt x="125619" y="6110"/>
                </a:lnTo>
                <a:lnTo>
                  <a:pt x="84745" y="23353"/>
                </a:lnTo>
                <a:lnTo>
                  <a:pt x="50115" y="50101"/>
                </a:lnTo>
                <a:lnTo>
                  <a:pt x="23360" y="84723"/>
                </a:lnTo>
                <a:lnTo>
                  <a:pt x="6112" y="125588"/>
                </a:lnTo>
                <a:lnTo>
                  <a:pt x="0" y="171068"/>
                </a:lnTo>
                <a:lnTo>
                  <a:pt x="0" y="1119758"/>
                </a:lnTo>
                <a:lnTo>
                  <a:pt x="6112" y="1165239"/>
                </a:lnTo>
                <a:lnTo>
                  <a:pt x="23360" y="1206104"/>
                </a:lnTo>
                <a:lnTo>
                  <a:pt x="50115" y="1240726"/>
                </a:lnTo>
                <a:lnTo>
                  <a:pt x="84745" y="1267474"/>
                </a:lnTo>
                <a:lnTo>
                  <a:pt x="125619" y="1284717"/>
                </a:lnTo>
                <a:lnTo>
                  <a:pt x="171107" y="1290827"/>
                </a:lnTo>
                <a:lnTo>
                  <a:pt x="2639187" y="1290827"/>
                </a:lnTo>
                <a:lnTo>
                  <a:pt x="2684667" y="1284717"/>
                </a:lnTo>
                <a:lnTo>
                  <a:pt x="2725532" y="1267474"/>
                </a:lnTo>
                <a:lnTo>
                  <a:pt x="2760154" y="1240726"/>
                </a:lnTo>
                <a:lnTo>
                  <a:pt x="2786902" y="1206104"/>
                </a:lnTo>
                <a:lnTo>
                  <a:pt x="2804145" y="1165239"/>
                </a:lnTo>
                <a:lnTo>
                  <a:pt x="2810255" y="1119758"/>
                </a:lnTo>
                <a:lnTo>
                  <a:pt x="2810255" y="171068"/>
                </a:lnTo>
                <a:lnTo>
                  <a:pt x="2804145" y="125588"/>
                </a:lnTo>
                <a:lnTo>
                  <a:pt x="2786902" y="84723"/>
                </a:lnTo>
                <a:lnTo>
                  <a:pt x="2760154" y="50101"/>
                </a:lnTo>
                <a:lnTo>
                  <a:pt x="2725532" y="23353"/>
                </a:lnTo>
                <a:lnTo>
                  <a:pt x="2684667" y="6110"/>
                </a:lnTo>
                <a:lnTo>
                  <a:pt x="2639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Запрос коммерческого предложения и презентации об услуге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производит запрос КП через колл-центр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оставляет заявку на сайте kcell.kz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приходит в точки продаж (АО) и получает КП</a:t>
            </a:r>
            <a:endParaRPr sz="9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60" name="object 10">
            <a:extLst>
              <a:ext uri="{FF2B5EF4-FFF2-40B4-BE49-F238E27FC236}">
                <a16:creationId xmlns:a16="http://schemas.microsoft.com/office/drawing/2014/main" id="{BA901266-EF44-41A9-91CA-96D688F80D3A}"/>
              </a:ext>
            </a:extLst>
          </p:cNvPr>
          <p:cNvGrpSpPr/>
          <p:nvPr/>
        </p:nvGrpSpPr>
        <p:grpSpPr>
          <a:xfrm>
            <a:off x="1251062" y="5627693"/>
            <a:ext cx="2333401" cy="1237866"/>
            <a:chOff x="-38391" y="1924090"/>
            <a:chExt cx="3403636" cy="1317965"/>
          </a:xfrm>
        </p:grpSpPr>
        <p:sp>
          <p:nvSpPr>
            <p:cNvPr id="161" name="object 11">
              <a:extLst>
                <a:ext uri="{FF2B5EF4-FFF2-40B4-BE49-F238E27FC236}">
                  <a16:creationId xmlns:a16="http://schemas.microsoft.com/office/drawing/2014/main" id="{8117063C-A01E-4E32-9C62-0DB67F30B2C3}"/>
                </a:ext>
              </a:extLst>
            </p:cNvPr>
            <p:cNvSpPr/>
            <p:nvPr/>
          </p:nvSpPr>
          <p:spPr>
            <a:xfrm>
              <a:off x="554735" y="1949195"/>
              <a:ext cx="2810510" cy="1292860"/>
            </a:xfrm>
            <a:custGeom>
              <a:avLst/>
              <a:gdLst/>
              <a:ahLst/>
              <a:cxnLst/>
              <a:rect l="l" t="t" r="r" b="b"/>
              <a:pathLst>
                <a:path w="2810510" h="1292860">
                  <a:moveTo>
                    <a:pt x="0" y="171323"/>
                  </a:moveTo>
                  <a:lnTo>
                    <a:pt x="6119" y="125779"/>
                  </a:lnTo>
                  <a:lnTo>
                    <a:pt x="23388" y="84854"/>
                  </a:lnTo>
                  <a:lnTo>
                    <a:pt x="50174" y="50180"/>
                  </a:lnTo>
                  <a:lnTo>
                    <a:pt x="84845" y="23391"/>
                  </a:lnTo>
                  <a:lnTo>
                    <a:pt x="125768" y="6120"/>
                  </a:lnTo>
                  <a:lnTo>
                    <a:pt x="171310" y="0"/>
                  </a:lnTo>
                  <a:lnTo>
                    <a:pt x="2638933" y="0"/>
                  </a:lnTo>
                  <a:lnTo>
                    <a:pt x="2684476" y="6120"/>
                  </a:lnTo>
                  <a:lnTo>
                    <a:pt x="2725401" y="23391"/>
                  </a:lnTo>
                  <a:lnTo>
                    <a:pt x="2760075" y="50180"/>
                  </a:lnTo>
                  <a:lnTo>
                    <a:pt x="2786864" y="84854"/>
                  </a:lnTo>
                  <a:lnTo>
                    <a:pt x="2804135" y="125779"/>
                  </a:lnTo>
                  <a:lnTo>
                    <a:pt x="2810255" y="171323"/>
                  </a:lnTo>
                  <a:lnTo>
                    <a:pt x="2810255" y="1121028"/>
                  </a:lnTo>
                  <a:lnTo>
                    <a:pt x="2804135" y="1166572"/>
                  </a:lnTo>
                  <a:lnTo>
                    <a:pt x="2786864" y="1207497"/>
                  </a:lnTo>
                  <a:lnTo>
                    <a:pt x="2760075" y="1242171"/>
                  </a:lnTo>
                  <a:lnTo>
                    <a:pt x="2725401" y="1268960"/>
                  </a:lnTo>
                  <a:lnTo>
                    <a:pt x="2684476" y="1286231"/>
                  </a:lnTo>
                  <a:lnTo>
                    <a:pt x="2638933" y="1292352"/>
                  </a:lnTo>
                  <a:lnTo>
                    <a:pt x="171310" y="1292352"/>
                  </a:lnTo>
                  <a:lnTo>
                    <a:pt x="125768" y="1286231"/>
                  </a:lnTo>
                  <a:lnTo>
                    <a:pt x="84845" y="1268960"/>
                  </a:lnTo>
                  <a:lnTo>
                    <a:pt x="50174" y="1242171"/>
                  </a:lnTo>
                  <a:lnTo>
                    <a:pt x="23388" y="1207497"/>
                  </a:lnTo>
                  <a:lnTo>
                    <a:pt x="6119" y="1166572"/>
                  </a:lnTo>
                  <a:lnTo>
                    <a:pt x="0" y="1121028"/>
                  </a:lnTo>
                  <a:lnTo>
                    <a:pt x="0" y="171323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914080"/>
              <a:endParaRPr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3" name="object 13">
              <a:extLst>
                <a:ext uri="{FF2B5EF4-FFF2-40B4-BE49-F238E27FC236}">
                  <a16:creationId xmlns:a16="http://schemas.microsoft.com/office/drawing/2014/main" id="{A92850CC-DBEE-498C-B785-30C454019DA9}"/>
                </a:ext>
              </a:extLst>
            </p:cNvPr>
            <p:cNvSpPr/>
            <p:nvPr/>
          </p:nvSpPr>
          <p:spPr>
            <a:xfrm>
              <a:off x="-38391" y="1924090"/>
              <a:ext cx="2810510" cy="1051912"/>
            </a:xfrm>
            <a:custGeom>
              <a:avLst/>
              <a:gdLst/>
              <a:ahLst/>
              <a:cxnLst/>
              <a:rect l="l" t="t" r="r" b="b"/>
              <a:pathLst>
                <a:path w="2810510" h="1290955">
                  <a:moveTo>
                    <a:pt x="2639187" y="0"/>
                  </a:moveTo>
                  <a:lnTo>
                    <a:pt x="171107" y="0"/>
                  </a:lnTo>
                  <a:lnTo>
                    <a:pt x="125619" y="6110"/>
                  </a:lnTo>
                  <a:lnTo>
                    <a:pt x="84745" y="23353"/>
                  </a:lnTo>
                  <a:lnTo>
                    <a:pt x="50115" y="50101"/>
                  </a:lnTo>
                  <a:lnTo>
                    <a:pt x="23360" y="84723"/>
                  </a:lnTo>
                  <a:lnTo>
                    <a:pt x="6112" y="125588"/>
                  </a:lnTo>
                  <a:lnTo>
                    <a:pt x="0" y="171068"/>
                  </a:lnTo>
                  <a:lnTo>
                    <a:pt x="0" y="1119758"/>
                  </a:lnTo>
                  <a:lnTo>
                    <a:pt x="6112" y="1165239"/>
                  </a:lnTo>
                  <a:lnTo>
                    <a:pt x="23360" y="1206104"/>
                  </a:lnTo>
                  <a:lnTo>
                    <a:pt x="50115" y="1240726"/>
                  </a:lnTo>
                  <a:lnTo>
                    <a:pt x="84745" y="1267474"/>
                  </a:lnTo>
                  <a:lnTo>
                    <a:pt x="125619" y="1284717"/>
                  </a:lnTo>
                  <a:lnTo>
                    <a:pt x="171107" y="1290827"/>
                  </a:lnTo>
                  <a:lnTo>
                    <a:pt x="2639187" y="1290827"/>
                  </a:lnTo>
                  <a:lnTo>
                    <a:pt x="2684667" y="1284717"/>
                  </a:lnTo>
                  <a:lnTo>
                    <a:pt x="2725532" y="1267474"/>
                  </a:lnTo>
                  <a:lnTo>
                    <a:pt x="2760154" y="1240726"/>
                  </a:lnTo>
                  <a:lnTo>
                    <a:pt x="2786902" y="1206104"/>
                  </a:lnTo>
                  <a:lnTo>
                    <a:pt x="2804145" y="1165239"/>
                  </a:lnTo>
                  <a:lnTo>
                    <a:pt x="2810255" y="1119758"/>
                  </a:lnTo>
                  <a:lnTo>
                    <a:pt x="2810255" y="171068"/>
                  </a:lnTo>
                  <a:lnTo>
                    <a:pt x="2804145" y="125588"/>
                  </a:lnTo>
                  <a:lnTo>
                    <a:pt x="2786902" y="84723"/>
                  </a:lnTo>
                  <a:lnTo>
                    <a:pt x="2760154" y="50101"/>
                  </a:lnTo>
                  <a:lnTo>
                    <a:pt x="2725532" y="23353"/>
                  </a:lnTo>
                  <a:lnTo>
                    <a:pt x="2684667" y="6110"/>
                  </a:lnTo>
                  <a:lnTo>
                    <a:pt x="26391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142875" indent="-142875" defTabSz="914080">
                <a:buFont typeface="Arial" panose="020B0604020202020204" pitchFamily="34" charset="0"/>
                <a:buChar char="•"/>
              </a:pPr>
              <a:r>
                <a:rPr lang="ru-RU" sz="10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обзванивает потенциальных поставщиков</a:t>
              </a:r>
            </a:p>
            <a:p>
              <a:pPr marL="142875" indent="-142875" defTabSz="914080">
                <a:buFont typeface="Arial" panose="020B0604020202020204" pitchFamily="34" charset="0"/>
                <a:buChar char="•"/>
              </a:pPr>
              <a:r>
                <a:rPr lang="ru-RU" sz="10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собирает информацию по ценам и условиям услуги</a:t>
              </a:r>
            </a:p>
            <a:p>
              <a:pPr marL="142875" indent="-142875" defTabSz="914080">
                <a:buFont typeface="Arial" panose="020B0604020202020204" pitchFamily="34" charset="0"/>
                <a:buChar char="•"/>
              </a:pPr>
              <a:r>
                <a:rPr lang="ru-RU" sz="1000" dirty="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проводит ценовой анализ </a:t>
              </a:r>
            </a:p>
            <a:p>
              <a:pPr defTabSz="914080"/>
              <a:endPara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65" name="Rectangle: Rounded Corners 16">
            <a:extLst>
              <a:ext uri="{FF2B5EF4-FFF2-40B4-BE49-F238E27FC236}">
                <a16:creationId xmlns:a16="http://schemas.microsoft.com/office/drawing/2014/main" id="{4C01FD36-D7F1-49F3-B4B5-0B0E015503B1}"/>
              </a:ext>
            </a:extLst>
          </p:cNvPr>
          <p:cNvSpPr>
            <a:spLocks/>
          </p:cNvSpPr>
          <p:nvPr/>
        </p:nvSpPr>
        <p:spPr>
          <a:xfrm>
            <a:off x="3438243" y="2156282"/>
            <a:ext cx="1647630" cy="1011311"/>
          </a:xfrm>
          <a:prstGeom prst="roundRect">
            <a:avLst>
              <a:gd name="adj" fmla="val 6894"/>
            </a:avLst>
          </a:prstGeom>
          <a:solidFill>
            <a:srgbClr val="FFFFFF">
              <a:alpha val="71000"/>
            </a:srgbClr>
          </a:solidFill>
          <a:ln>
            <a:noFill/>
          </a:ln>
          <a:effectLst>
            <a:outerShdw blurRad="50800" dist="38100" algn="l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850" tIns="54850" rIns="54850" bIns="548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72">
              <a:buClr>
                <a:srgbClr val="652D86"/>
              </a:buClr>
              <a:buSzPct val="110000"/>
              <a:defRPr/>
            </a:pPr>
            <a:r>
              <a:rPr lang="en-US" sz="950" spc="-10" dirty="0">
                <a:solidFill>
                  <a:srgbClr val="000000"/>
                </a:solidFill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rPr>
              <a:t>Touchpoints </a:t>
            </a:r>
          </a:p>
          <a:p>
            <a:pPr algn="ctr" defTabSz="914172">
              <a:buClr>
                <a:srgbClr val="652D86"/>
              </a:buClr>
              <a:buSzPct val="110000"/>
              <a:defRPr/>
            </a:pPr>
            <a:r>
              <a:rPr lang="en-US" sz="950" spc="-10" dirty="0">
                <a:solidFill>
                  <a:srgbClr val="000000"/>
                </a:solidFill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rPr>
              <a:t>(</a:t>
            </a:r>
            <a:r>
              <a:rPr lang="ru-RU" sz="950" spc="-10" dirty="0">
                <a:solidFill>
                  <a:srgbClr val="000000"/>
                </a:solidFill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rPr>
              <a:t>Поиск точек взаимодействия клиента с поставщиком услуги)</a:t>
            </a:r>
            <a:endParaRPr lang="ru-RU" sz="950" dirty="0">
              <a:solidFill>
                <a:srgbClr val="000000"/>
              </a:solidFill>
              <a:latin typeface="Helvetica" panose="020B0604020202020204" pitchFamily="34" charset="0"/>
              <a:ea typeface="Tahom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66" name="object 13">
            <a:extLst>
              <a:ext uri="{FF2B5EF4-FFF2-40B4-BE49-F238E27FC236}">
                <a16:creationId xmlns:a16="http://schemas.microsoft.com/office/drawing/2014/main" id="{CF0C8416-6278-41D0-A551-F8856780D0CF}"/>
              </a:ext>
            </a:extLst>
          </p:cNvPr>
          <p:cNvSpPr/>
          <p:nvPr/>
        </p:nvSpPr>
        <p:spPr>
          <a:xfrm>
            <a:off x="3343533" y="4655537"/>
            <a:ext cx="1926777" cy="1061668"/>
          </a:xfrm>
          <a:custGeom>
            <a:avLst/>
            <a:gdLst/>
            <a:ahLst/>
            <a:cxnLst/>
            <a:rect l="l" t="t" r="r" b="b"/>
            <a:pathLst>
              <a:path w="2810510" h="1290955">
                <a:moveTo>
                  <a:pt x="2639187" y="0"/>
                </a:moveTo>
                <a:lnTo>
                  <a:pt x="171107" y="0"/>
                </a:lnTo>
                <a:lnTo>
                  <a:pt x="125619" y="6110"/>
                </a:lnTo>
                <a:lnTo>
                  <a:pt x="84745" y="23353"/>
                </a:lnTo>
                <a:lnTo>
                  <a:pt x="50115" y="50101"/>
                </a:lnTo>
                <a:lnTo>
                  <a:pt x="23360" y="84723"/>
                </a:lnTo>
                <a:lnTo>
                  <a:pt x="6112" y="125588"/>
                </a:lnTo>
                <a:lnTo>
                  <a:pt x="0" y="171068"/>
                </a:lnTo>
                <a:lnTo>
                  <a:pt x="0" y="1119758"/>
                </a:lnTo>
                <a:lnTo>
                  <a:pt x="6112" y="1165239"/>
                </a:lnTo>
                <a:lnTo>
                  <a:pt x="23360" y="1206104"/>
                </a:lnTo>
                <a:lnTo>
                  <a:pt x="50115" y="1240726"/>
                </a:lnTo>
                <a:lnTo>
                  <a:pt x="84745" y="1267474"/>
                </a:lnTo>
                <a:lnTo>
                  <a:pt x="125619" y="1284717"/>
                </a:lnTo>
                <a:lnTo>
                  <a:pt x="171107" y="1290827"/>
                </a:lnTo>
                <a:lnTo>
                  <a:pt x="2639187" y="1290827"/>
                </a:lnTo>
                <a:lnTo>
                  <a:pt x="2684667" y="1284717"/>
                </a:lnTo>
                <a:lnTo>
                  <a:pt x="2725532" y="1267474"/>
                </a:lnTo>
                <a:lnTo>
                  <a:pt x="2760154" y="1240726"/>
                </a:lnTo>
                <a:lnTo>
                  <a:pt x="2786902" y="1206104"/>
                </a:lnTo>
                <a:lnTo>
                  <a:pt x="2804145" y="1165239"/>
                </a:lnTo>
                <a:lnTo>
                  <a:pt x="2810255" y="1119758"/>
                </a:lnTo>
                <a:lnTo>
                  <a:pt x="2810255" y="171068"/>
                </a:lnTo>
                <a:lnTo>
                  <a:pt x="2804145" y="125588"/>
                </a:lnTo>
                <a:lnTo>
                  <a:pt x="2786902" y="84723"/>
                </a:lnTo>
                <a:lnTo>
                  <a:pt x="2760154" y="50101"/>
                </a:lnTo>
                <a:lnTo>
                  <a:pt x="2725532" y="23353"/>
                </a:lnTo>
                <a:lnTo>
                  <a:pt x="2684667" y="6110"/>
                </a:lnTo>
                <a:lnTo>
                  <a:pt x="2639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оценивает качество и полноту предоставляемой информации, скорости ответов, обслуживания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оценивает качество и полноту предоставляемой информации, скорости ответов, обслуживания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endParaRPr sz="9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2" name="object 13">
            <a:extLst>
              <a:ext uri="{FF2B5EF4-FFF2-40B4-BE49-F238E27FC236}">
                <a16:creationId xmlns:a16="http://schemas.microsoft.com/office/drawing/2014/main" id="{91D88CFA-C756-4F83-B778-CEE545FE571B}"/>
              </a:ext>
            </a:extLst>
          </p:cNvPr>
          <p:cNvSpPr/>
          <p:nvPr/>
        </p:nvSpPr>
        <p:spPr>
          <a:xfrm>
            <a:off x="5404048" y="3347853"/>
            <a:ext cx="1809588" cy="1073185"/>
          </a:xfrm>
          <a:custGeom>
            <a:avLst/>
            <a:gdLst/>
            <a:ahLst/>
            <a:cxnLst/>
            <a:rect l="l" t="t" r="r" b="b"/>
            <a:pathLst>
              <a:path w="2810510" h="1290955">
                <a:moveTo>
                  <a:pt x="2639187" y="0"/>
                </a:moveTo>
                <a:lnTo>
                  <a:pt x="171107" y="0"/>
                </a:lnTo>
                <a:lnTo>
                  <a:pt x="125619" y="6110"/>
                </a:lnTo>
                <a:lnTo>
                  <a:pt x="84745" y="23353"/>
                </a:lnTo>
                <a:lnTo>
                  <a:pt x="50115" y="50101"/>
                </a:lnTo>
                <a:lnTo>
                  <a:pt x="23360" y="84723"/>
                </a:lnTo>
                <a:lnTo>
                  <a:pt x="6112" y="125588"/>
                </a:lnTo>
                <a:lnTo>
                  <a:pt x="0" y="171068"/>
                </a:lnTo>
                <a:lnTo>
                  <a:pt x="0" y="1119758"/>
                </a:lnTo>
                <a:lnTo>
                  <a:pt x="6112" y="1165239"/>
                </a:lnTo>
                <a:lnTo>
                  <a:pt x="23360" y="1206104"/>
                </a:lnTo>
                <a:lnTo>
                  <a:pt x="50115" y="1240726"/>
                </a:lnTo>
                <a:lnTo>
                  <a:pt x="84745" y="1267474"/>
                </a:lnTo>
                <a:lnTo>
                  <a:pt x="125619" y="1284717"/>
                </a:lnTo>
                <a:lnTo>
                  <a:pt x="171107" y="1290827"/>
                </a:lnTo>
                <a:lnTo>
                  <a:pt x="2639187" y="1290827"/>
                </a:lnTo>
                <a:lnTo>
                  <a:pt x="2684667" y="1284717"/>
                </a:lnTo>
                <a:lnTo>
                  <a:pt x="2725532" y="1267474"/>
                </a:lnTo>
                <a:lnTo>
                  <a:pt x="2760154" y="1240726"/>
                </a:lnTo>
                <a:lnTo>
                  <a:pt x="2786902" y="1206104"/>
                </a:lnTo>
                <a:lnTo>
                  <a:pt x="2804145" y="1165239"/>
                </a:lnTo>
                <a:lnTo>
                  <a:pt x="2810255" y="1119758"/>
                </a:lnTo>
                <a:lnTo>
                  <a:pt x="2810255" y="171068"/>
                </a:lnTo>
                <a:lnTo>
                  <a:pt x="2804145" y="125588"/>
                </a:lnTo>
                <a:lnTo>
                  <a:pt x="2786902" y="84723"/>
                </a:lnTo>
                <a:lnTo>
                  <a:pt x="2760154" y="50101"/>
                </a:lnTo>
                <a:lnTo>
                  <a:pt x="2725532" y="23353"/>
                </a:lnTo>
                <a:lnTo>
                  <a:pt x="2684667" y="6110"/>
                </a:lnTo>
                <a:lnTo>
                  <a:pt x="2639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Получает КП от торгового представителя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Сравнивает предложения нескольких поставщиков с одинаковым набором оборудования.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endParaRPr sz="9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5" name="object 13">
            <a:extLst>
              <a:ext uri="{FF2B5EF4-FFF2-40B4-BE49-F238E27FC236}">
                <a16:creationId xmlns:a16="http://schemas.microsoft.com/office/drawing/2014/main" id="{AC31A2C6-71FF-41BA-A6C4-0CECE45EB1F9}"/>
              </a:ext>
            </a:extLst>
          </p:cNvPr>
          <p:cNvSpPr/>
          <p:nvPr/>
        </p:nvSpPr>
        <p:spPr>
          <a:xfrm>
            <a:off x="7418971" y="3285860"/>
            <a:ext cx="1655309" cy="1280156"/>
          </a:xfrm>
          <a:custGeom>
            <a:avLst/>
            <a:gdLst/>
            <a:ahLst/>
            <a:cxnLst/>
            <a:rect l="l" t="t" r="r" b="b"/>
            <a:pathLst>
              <a:path w="2810510" h="1290955">
                <a:moveTo>
                  <a:pt x="2639187" y="0"/>
                </a:moveTo>
                <a:lnTo>
                  <a:pt x="171107" y="0"/>
                </a:lnTo>
                <a:lnTo>
                  <a:pt x="125619" y="6110"/>
                </a:lnTo>
                <a:lnTo>
                  <a:pt x="84745" y="23353"/>
                </a:lnTo>
                <a:lnTo>
                  <a:pt x="50115" y="50101"/>
                </a:lnTo>
                <a:lnTo>
                  <a:pt x="23360" y="84723"/>
                </a:lnTo>
                <a:lnTo>
                  <a:pt x="6112" y="125588"/>
                </a:lnTo>
                <a:lnTo>
                  <a:pt x="0" y="171068"/>
                </a:lnTo>
                <a:lnTo>
                  <a:pt x="0" y="1119758"/>
                </a:lnTo>
                <a:lnTo>
                  <a:pt x="6112" y="1165239"/>
                </a:lnTo>
                <a:lnTo>
                  <a:pt x="23360" y="1206104"/>
                </a:lnTo>
                <a:lnTo>
                  <a:pt x="50115" y="1240726"/>
                </a:lnTo>
                <a:lnTo>
                  <a:pt x="84745" y="1267474"/>
                </a:lnTo>
                <a:lnTo>
                  <a:pt x="125619" y="1284717"/>
                </a:lnTo>
                <a:lnTo>
                  <a:pt x="171107" y="1290827"/>
                </a:lnTo>
                <a:lnTo>
                  <a:pt x="2639187" y="1290827"/>
                </a:lnTo>
                <a:lnTo>
                  <a:pt x="2684667" y="1284717"/>
                </a:lnTo>
                <a:lnTo>
                  <a:pt x="2725532" y="1267474"/>
                </a:lnTo>
                <a:lnTo>
                  <a:pt x="2760154" y="1240726"/>
                </a:lnTo>
                <a:lnTo>
                  <a:pt x="2786902" y="1206104"/>
                </a:lnTo>
                <a:lnTo>
                  <a:pt x="2804145" y="1165239"/>
                </a:lnTo>
                <a:lnTo>
                  <a:pt x="2810255" y="1119758"/>
                </a:lnTo>
                <a:lnTo>
                  <a:pt x="2810255" y="171068"/>
                </a:lnTo>
                <a:lnTo>
                  <a:pt x="2804145" y="125588"/>
                </a:lnTo>
                <a:lnTo>
                  <a:pt x="2786902" y="84723"/>
                </a:lnTo>
                <a:lnTo>
                  <a:pt x="2760154" y="50101"/>
                </a:lnTo>
                <a:lnTo>
                  <a:pt x="2725532" y="23353"/>
                </a:lnTo>
                <a:lnTo>
                  <a:pt x="2684667" y="6110"/>
                </a:lnTo>
                <a:lnTo>
                  <a:pt x="2639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Запрашивает шаблон Заявления для заполнения и подписания 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Получает шаблон Заявления от торгового представителя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Заполняет и подписывает Заявление и отправляет Торговому представителю</a:t>
            </a: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endParaRPr lang="ru-RU" sz="9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42875" indent="-142875" defTabSz="914080">
              <a:buFont typeface="Arial" panose="020B0604020202020204" pitchFamily="34" charset="0"/>
              <a:buChar char="•"/>
            </a:pPr>
            <a:endParaRPr sz="9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79365559-9F84-4129-98B2-45A253815044}"/>
              </a:ext>
            </a:extLst>
          </p:cNvPr>
          <p:cNvSpPr/>
          <p:nvPr/>
        </p:nvSpPr>
        <p:spPr>
          <a:xfrm>
            <a:off x="6851943" y="1183498"/>
            <a:ext cx="327273" cy="468369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C16E090-F186-4CE3-938A-F3233B13A4AD}"/>
              </a:ext>
            </a:extLst>
          </p:cNvPr>
          <p:cNvSpPr/>
          <p:nvPr/>
        </p:nvSpPr>
        <p:spPr>
          <a:xfrm>
            <a:off x="2738594" y="1951427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7" name="Arrow: Down 246">
            <a:extLst>
              <a:ext uri="{FF2B5EF4-FFF2-40B4-BE49-F238E27FC236}">
                <a16:creationId xmlns:a16="http://schemas.microsoft.com/office/drawing/2014/main" id="{3F6B475F-406C-4857-83EB-249955E91704}"/>
              </a:ext>
            </a:extLst>
          </p:cNvPr>
          <p:cNvSpPr/>
          <p:nvPr/>
        </p:nvSpPr>
        <p:spPr>
          <a:xfrm>
            <a:off x="2866761" y="3034912"/>
            <a:ext cx="246020" cy="33019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8" name="Arrow: Down 247">
            <a:extLst>
              <a:ext uri="{FF2B5EF4-FFF2-40B4-BE49-F238E27FC236}">
                <a16:creationId xmlns:a16="http://schemas.microsoft.com/office/drawing/2014/main" id="{007D6E7F-1D6C-4470-B63C-38ACACE2535E}"/>
              </a:ext>
            </a:extLst>
          </p:cNvPr>
          <p:cNvSpPr/>
          <p:nvPr/>
        </p:nvSpPr>
        <p:spPr>
          <a:xfrm>
            <a:off x="3018860" y="4418447"/>
            <a:ext cx="225572" cy="295730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9" name="Arrow: Down 248">
            <a:extLst>
              <a:ext uri="{FF2B5EF4-FFF2-40B4-BE49-F238E27FC236}">
                <a16:creationId xmlns:a16="http://schemas.microsoft.com/office/drawing/2014/main" id="{26AFE0F3-CB72-4EC2-BD54-BF255D6219BC}"/>
              </a:ext>
            </a:extLst>
          </p:cNvPr>
          <p:cNvSpPr/>
          <p:nvPr/>
        </p:nvSpPr>
        <p:spPr>
          <a:xfrm>
            <a:off x="3051912" y="5497370"/>
            <a:ext cx="208322" cy="24839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0" name="Arrow: Curved Left 249">
            <a:extLst>
              <a:ext uri="{FF2B5EF4-FFF2-40B4-BE49-F238E27FC236}">
                <a16:creationId xmlns:a16="http://schemas.microsoft.com/office/drawing/2014/main" id="{38058B87-3B97-4555-972F-9C825A7EDD50}"/>
              </a:ext>
            </a:extLst>
          </p:cNvPr>
          <p:cNvSpPr/>
          <p:nvPr/>
        </p:nvSpPr>
        <p:spPr>
          <a:xfrm>
            <a:off x="2826134" y="1215766"/>
            <a:ext cx="327273" cy="468369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1" name="Arrow: Down 250">
            <a:extLst>
              <a:ext uri="{FF2B5EF4-FFF2-40B4-BE49-F238E27FC236}">
                <a16:creationId xmlns:a16="http://schemas.microsoft.com/office/drawing/2014/main" id="{09FD937D-84C5-4195-A944-A58C9EB86168}"/>
              </a:ext>
            </a:extLst>
          </p:cNvPr>
          <p:cNvSpPr/>
          <p:nvPr/>
        </p:nvSpPr>
        <p:spPr>
          <a:xfrm>
            <a:off x="4564134" y="1988408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44170988-F79B-46EC-8094-AD698738C36E}"/>
              </a:ext>
            </a:extLst>
          </p:cNvPr>
          <p:cNvSpPr/>
          <p:nvPr/>
        </p:nvSpPr>
        <p:spPr>
          <a:xfrm>
            <a:off x="4758235" y="3064095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3" name="Arrow: Down 252">
            <a:extLst>
              <a:ext uri="{FF2B5EF4-FFF2-40B4-BE49-F238E27FC236}">
                <a16:creationId xmlns:a16="http://schemas.microsoft.com/office/drawing/2014/main" id="{5C6DF023-8581-41B6-A2EE-5F82EB636432}"/>
              </a:ext>
            </a:extLst>
          </p:cNvPr>
          <p:cNvSpPr/>
          <p:nvPr/>
        </p:nvSpPr>
        <p:spPr>
          <a:xfrm>
            <a:off x="4944891" y="4421038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4" name="Arrow: Down 253">
            <a:extLst>
              <a:ext uri="{FF2B5EF4-FFF2-40B4-BE49-F238E27FC236}">
                <a16:creationId xmlns:a16="http://schemas.microsoft.com/office/drawing/2014/main" id="{30ED79E3-4C53-4749-B2FF-959DC808AB7A}"/>
              </a:ext>
            </a:extLst>
          </p:cNvPr>
          <p:cNvSpPr/>
          <p:nvPr/>
        </p:nvSpPr>
        <p:spPr>
          <a:xfrm>
            <a:off x="5019814" y="5768158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5" name="Arrow: Curved Left 254">
            <a:extLst>
              <a:ext uri="{FF2B5EF4-FFF2-40B4-BE49-F238E27FC236}">
                <a16:creationId xmlns:a16="http://schemas.microsoft.com/office/drawing/2014/main" id="{BBA7B7A2-6C50-4A89-AC11-EF1CFE7ED19D}"/>
              </a:ext>
            </a:extLst>
          </p:cNvPr>
          <p:cNvSpPr/>
          <p:nvPr/>
        </p:nvSpPr>
        <p:spPr>
          <a:xfrm>
            <a:off x="11835123" y="978881"/>
            <a:ext cx="327273" cy="447279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6" name="Arrow: Down 255">
            <a:extLst>
              <a:ext uri="{FF2B5EF4-FFF2-40B4-BE49-F238E27FC236}">
                <a16:creationId xmlns:a16="http://schemas.microsoft.com/office/drawing/2014/main" id="{A5EDCFE1-4DFF-47DD-BE09-A441AEA1FCD7}"/>
              </a:ext>
            </a:extLst>
          </p:cNvPr>
          <p:cNvSpPr/>
          <p:nvPr/>
        </p:nvSpPr>
        <p:spPr>
          <a:xfrm>
            <a:off x="6801246" y="1956805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7" name="Arrow: Down 256">
            <a:extLst>
              <a:ext uri="{FF2B5EF4-FFF2-40B4-BE49-F238E27FC236}">
                <a16:creationId xmlns:a16="http://schemas.microsoft.com/office/drawing/2014/main" id="{15BB56D4-25A3-40B1-809B-ABFE66168971}"/>
              </a:ext>
            </a:extLst>
          </p:cNvPr>
          <p:cNvSpPr/>
          <p:nvPr/>
        </p:nvSpPr>
        <p:spPr>
          <a:xfrm>
            <a:off x="6913133" y="3061656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8" name="Arrow: Down 257">
            <a:extLst>
              <a:ext uri="{FF2B5EF4-FFF2-40B4-BE49-F238E27FC236}">
                <a16:creationId xmlns:a16="http://schemas.microsoft.com/office/drawing/2014/main" id="{A78A6137-F56A-4366-AF1C-752FE22FFBD2}"/>
              </a:ext>
            </a:extLst>
          </p:cNvPr>
          <p:cNvSpPr/>
          <p:nvPr/>
        </p:nvSpPr>
        <p:spPr>
          <a:xfrm>
            <a:off x="6860344" y="4431216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9" name="Arrow: Down 258">
            <a:extLst>
              <a:ext uri="{FF2B5EF4-FFF2-40B4-BE49-F238E27FC236}">
                <a16:creationId xmlns:a16="http://schemas.microsoft.com/office/drawing/2014/main" id="{06C679F8-5844-4E50-8A3E-531226B19867}"/>
              </a:ext>
            </a:extLst>
          </p:cNvPr>
          <p:cNvSpPr/>
          <p:nvPr/>
        </p:nvSpPr>
        <p:spPr>
          <a:xfrm>
            <a:off x="6926757" y="5768158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0" name="Arrow: Curved Left 259">
            <a:extLst>
              <a:ext uri="{FF2B5EF4-FFF2-40B4-BE49-F238E27FC236}">
                <a16:creationId xmlns:a16="http://schemas.microsoft.com/office/drawing/2014/main" id="{2A4CCDFE-2577-4989-B86B-F2B44356FA31}"/>
              </a:ext>
            </a:extLst>
          </p:cNvPr>
          <p:cNvSpPr/>
          <p:nvPr/>
        </p:nvSpPr>
        <p:spPr>
          <a:xfrm>
            <a:off x="10355209" y="1072447"/>
            <a:ext cx="373481" cy="468369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1" name="Arrow: Down 260">
            <a:extLst>
              <a:ext uri="{FF2B5EF4-FFF2-40B4-BE49-F238E27FC236}">
                <a16:creationId xmlns:a16="http://schemas.microsoft.com/office/drawing/2014/main" id="{31ACC05E-95A7-44D2-94DE-CE4D7719624C}"/>
              </a:ext>
            </a:extLst>
          </p:cNvPr>
          <p:cNvSpPr/>
          <p:nvPr/>
        </p:nvSpPr>
        <p:spPr>
          <a:xfrm>
            <a:off x="8329941" y="2004254"/>
            <a:ext cx="301770" cy="20110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2" name="Arrow: Down 261">
            <a:extLst>
              <a:ext uri="{FF2B5EF4-FFF2-40B4-BE49-F238E27FC236}">
                <a16:creationId xmlns:a16="http://schemas.microsoft.com/office/drawing/2014/main" id="{D2784DF5-7E3C-401A-B154-8FB3D144D475}"/>
              </a:ext>
            </a:extLst>
          </p:cNvPr>
          <p:cNvSpPr/>
          <p:nvPr/>
        </p:nvSpPr>
        <p:spPr>
          <a:xfrm>
            <a:off x="8379842" y="3014691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3" name="Arrow: Down 262">
            <a:extLst>
              <a:ext uri="{FF2B5EF4-FFF2-40B4-BE49-F238E27FC236}">
                <a16:creationId xmlns:a16="http://schemas.microsoft.com/office/drawing/2014/main" id="{22B6606E-3326-4A9C-A230-BD98A3EA0F33}"/>
              </a:ext>
            </a:extLst>
          </p:cNvPr>
          <p:cNvSpPr/>
          <p:nvPr/>
        </p:nvSpPr>
        <p:spPr>
          <a:xfrm>
            <a:off x="8639439" y="4506742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4" name="Arrow: Down 263">
            <a:extLst>
              <a:ext uri="{FF2B5EF4-FFF2-40B4-BE49-F238E27FC236}">
                <a16:creationId xmlns:a16="http://schemas.microsoft.com/office/drawing/2014/main" id="{BD171B95-06F2-4EB1-90DA-3C32796851AA}"/>
              </a:ext>
            </a:extLst>
          </p:cNvPr>
          <p:cNvSpPr/>
          <p:nvPr/>
        </p:nvSpPr>
        <p:spPr>
          <a:xfrm>
            <a:off x="8589251" y="5463250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5" name="Arrow: Curved Left 264">
            <a:extLst>
              <a:ext uri="{FF2B5EF4-FFF2-40B4-BE49-F238E27FC236}">
                <a16:creationId xmlns:a16="http://schemas.microsoft.com/office/drawing/2014/main" id="{81CA905B-98E2-4663-8359-C13D591D3FA5}"/>
              </a:ext>
            </a:extLst>
          </p:cNvPr>
          <p:cNvSpPr/>
          <p:nvPr/>
        </p:nvSpPr>
        <p:spPr>
          <a:xfrm>
            <a:off x="8404972" y="1104537"/>
            <a:ext cx="431541" cy="484069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6" name="Arrow: Down 265">
            <a:extLst>
              <a:ext uri="{FF2B5EF4-FFF2-40B4-BE49-F238E27FC236}">
                <a16:creationId xmlns:a16="http://schemas.microsoft.com/office/drawing/2014/main" id="{943A6BBE-743A-409A-828C-F5E7FB12F066}"/>
              </a:ext>
            </a:extLst>
          </p:cNvPr>
          <p:cNvSpPr/>
          <p:nvPr/>
        </p:nvSpPr>
        <p:spPr>
          <a:xfrm>
            <a:off x="10162922" y="2032434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Arrow: Down 266">
            <a:extLst>
              <a:ext uri="{FF2B5EF4-FFF2-40B4-BE49-F238E27FC236}">
                <a16:creationId xmlns:a16="http://schemas.microsoft.com/office/drawing/2014/main" id="{EF49140F-C704-4371-B41F-B3D741CB57BF}"/>
              </a:ext>
            </a:extLst>
          </p:cNvPr>
          <p:cNvSpPr/>
          <p:nvPr/>
        </p:nvSpPr>
        <p:spPr>
          <a:xfrm>
            <a:off x="10160085" y="3080997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8" name="Arrow: Down 267">
            <a:extLst>
              <a:ext uri="{FF2B5EF4-FFF2-40B4-BE49-F238E27FC236}">
                <a16:creationId xmlns:a16="http://schemas.microsoft.com/office/drawing/2014/main" id="{5B6CCC5F-709D-44A8-9956-F423E48DF551}"/>
              </a:ext>
            </a:extLst>
          </p:cNvPr>
          <p:cNvSpPr/>
          <p:nvPr/>
        </p:nvSpPr>
        <p:spPr>
          <a:xfrm>
            <a:off x="10336540" y="4401890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9" name="Arrow: Down 268">
            <a:extLst>
              <a:ext uri="{FF2B5EF4-FFF2-40B4-BE49-F238E27FC236}">
                <a16:creationId xmlns:a16="http://schemas.microsoft.com/office/drawing/2014/main" id="{4F35F7AE-1BE7-42A5-9D9C-9D2D3EE0BC1C}"/>
              </a:ext>
            </a:extLst>
          </p:cNvPr>
          <p:cNvSpPr/>
          <p:nvPr/>
        </p:nvSpPr>
        <p:spPr>
          <a:xfrm>
            <a:off x="10235192" y="5416742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0" name="Arrow: Curved Left 289">
            <a:extLst>
              <a:ext uri="{FF2B5EF4-FFF2-40B4-BE49-F238E27FC236}">
                <a16:creationId xmlns:a16="http://schemas.microsoft.com/office/drawing/2014/main" id="{DA73DE95-781E-4296-B3D6-B12790615033}"/>
              </a:ext>
            </a:extLst>
          </p:cNvPr>
          <p:cNvSpPr/>
          <p:nvPr/>
        </p:nvSpPr>
        <p:spPr>
          <a:xfrm>
            <a:off x="4849568" y="1244077"/>
            <a:ext cx="396790" cy="530633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1" name="Arrow: Down 290">
            <a:extLst>
              <a:ext uri="{FF2B5EF4-FFF2-40B4-BE49-F238E27FC236}">
                <a16:creationId xmlns:a16="http://schemas.microsoft.com/office/drawing/2014/main" id="{4940CFDC-0E5D-4900-B74A-844CF2D4BAF4}"/>
              </a:ext>
            </a:extLst>
          </p:cNvPr>
          <p:cNvSpPr/>
          <p:nvPr/>
        </p:nvSpPr>
        <p:spPr>
          <a:xfrm>
            <a:off x="11892824" y="1939768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2" name="Arrow: Down 291">
            <a:extLst>
              <a:ext uri="{FF2B5EF4-FFF2-40B4-BE49-F238E27FC236}">
                <a16:creationId xmlns:a16="http://schemas.microsoft.com/office/drawing/2014/main" id="{53B4BA99-F684-4165-B522-B636DA2153AF}"/>
              </a:ext>
            </a:extLst>
          </p:cNvPr>
          <p:cNvSpPr/>
          <p:nvPr/>
        </p:nvSpPr>
        <p:spPr>
          <a:xfrm>
            <a:off x="11866582" y="2974342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3" name="Arrow: Down 292">
            <a:extLst>
              <a:ext uri="{FF2B5EF4-FFF2-40B4-BE49-F238E27FC236}">
                <a16:creationId xmlns:a16="http://schemas.microsoft.com/office/drawing/2014/main" id="{E06F3CB0-91E9-4AD1-9CF8-48D711667E19}"/>
              </a:ext>
            </a:extLst>
          </p:cNvPr>
          <p:cNvSpPr/>
          <p:nvPr/>
        </p:nvSpPr>
        <p:spPr>
          <a:xfrm>
            <a:off x="11906623" y="4479655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4" name="Arrow: Down 293">
            <a:extLst>
              <a:ext uri="{FF2B5EF4-FFF2-40B4-BE49-F238E27FC236}">
                <a16:creationId xmlns:a16="http://schemas.microsoft.com/office/drawing/2014/main" id="{CC18E6D0-9356-4EA2-AE59-5F66F052B293}"/>
              </a:ext>
            </a:extLst>
          </p:cNvPr>
          <p:cNvSpPr/>
          <p:nvPr/>
        </p:nvSpPr>
        <p:spPr>
          <a:xfrm>
            <a:off x="11795849" y="5663475"/>
            <a:ext cx="221548" cy="28251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689721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Custom Design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48690335E3F45B6D32F35E393220A" ma:contentTypeVersion="0" ma:contentTypeDescription="Create a new document." ma:contentTypeScope="" ma:versionID="7bebcf5451cb4fd0a5969123f2c8bff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e49189b09f1ade3a025730c41919c3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3B0BF5-D722-4EA8-B483-DC486AAF5FD0}">
  <ds:schemaRefs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676CAB-0692-406E-A2DB-02E82205A0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D85276-28D2-4417-A58E-3F58B5DCF5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Широкоэкранный</PresentationFormat>
  <Paragraphs>79</Paragraphs>
  <Slides>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Verdana Pro</vt:lpstr>
      <vt:lpstr>Verdana Pro Light</vt:lpstr>
      <vt:lpstr>Custom Design</vt:lpstr>
      <vt:lpstr>think-cell Slide</vt:lpstr>
      <vt:lpstr>Слайд think-cell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Aisulu Kapassova</dc:creator>
  <cp:lastModifiedBy>Alexandr Murdassov</cp:lastModifiedBy>
  <cp:revision>1</cp:revision>
  <dcterms:created xsi:type="dcterms:W3CDTF">2022-11-21T09:22:38Z</dcterms:created>
  <dcterms:modified xsi:type="dcterms:W3CDTF">2025-12-02T06:57:07Z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2025-12-02T06:57:07Z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6903e19e-d5fc-4481-abfd-5d21b562070f</vt:lpwstr>
  </property>
  <property fmtid="{D5CDD505-2E9C-101B-9397-08002B2CF9AE}" pid="9" name="MSIP_Label_9cdd97af-22dc-49fa-ac47-e24224ce56c4_ContentBits">
    <vt:lpwstr>0</vt:lpwstr>
  </property>
</Properties>
</file>